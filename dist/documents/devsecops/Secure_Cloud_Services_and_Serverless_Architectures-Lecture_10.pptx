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96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3009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2194560" y="4206240"/>
            <a:ext cx="4572000" cy="45720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Shape 2"/>
          <p:cNvSpPr/>
          <p:nvPr/>
        </p:nvSpPr>
        <p:spPr>
          <a:xfrm>
            <a:off x="9784080" y="5120640"/>
            <a:ext cx="1828800" cy="1828800"/>
          </a:xfrm>
          <a:prstGeom prst="ellipse">
            <a:avLst/>
          </a:prstGeom>
          <a:solidFill>
            <a:srgbClr val="0090C9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Cloud Services and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 Architectures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389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F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10 - From Cloud-Native Foundations to Serverless Security, Monitoring, and Incident Response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92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F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 Wijesooriya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26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ROADMAP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 Covered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7" name="Text 5"/>
          <p:cNvSpPr txBox="1"/>
          <p:nvPr/>
        </p:nvSpPr>
        <p:spPr>
          <a:xfrm>
            <a:off x="548640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42416" y="1517904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Applications and Services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 txBox="1"/>
          <p:nvPr/>
        </p:nvSpPr>
        <p:spPr>
          <a:xfrm>
            <a:off x="54864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42416" y="2084832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Serverless Computing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70048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 txBox="1"/>
          <p:nvPr/>
        </p:nvSpPr>
        <p:spPr>
          <a:xfrm>
            <a:off x="548640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42416" y="2651760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as a Service (FaaS)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36976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6" name="Text 14"/>
          <p:cNvSpPr txBox="1"/>
          <p:nvPr/>
        </p:nvSpPr>
        <p:spPr>
          <a:xfrm>
            <a:off x="548640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42416" y="3218688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803904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9" name="Text 17"/>
          <p:cNvSpPr txBox="1"/>
          <p:nvPr/>
        </p:nvSpPr>
        <p:spPr>
          <a:xfrm>
            <a:off x="54864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42416" y="3785616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370832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2" name="Text 20"/>
          <p:cNvSpPr txBox="1"/>
          <p:nvPr/>
        </p:nvSpPr>
        <p:spPr>
          <a:xfrm>
            <a:off x="548640" y="4370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42416" y="4352544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Architecture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937760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5" name="Text 23"/>
          <p:cNvSpPr txBox="1"/>
          <p:nvPr/>
        </p:nvSpPr>
        <p:spPr>
          <a:xfrm>
            <a:off x="548640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42416" y="4919472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Security Threats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035040" y="1536192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8" name="Text 26"/>
          <p:cNvSpPr txBox="1"/>
          <p:nvPr/>
        </p:nvSpPr>
        <p:spPr>
          <a:xfrm>
            <a:off x="6035040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528816" y="1517904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and Least Privilege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035040" y="2103120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1" name="Text 29"/>
          <p:cNvSpPr txBox="1"/>
          <p:nvPr/>
        </p:nvSpPr>
        <p:spPr>
          <a:xfrm>
            <a:off x="603504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528816" y="2084832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Functions and APIs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035040" y="2670048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4" name="Text 32"/>
          <p:cNvSpPr txBox="1"/>
          <p:nvPr/>
        </p:nvSpPr>
        <p:spPr>
          <a:xfrm>
            <a:off x="6035040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528816" y="2651760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and Data Protection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035040" y="3236976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7" name="Text 35"/>
          <p:cNvSpPr txBox="1"/>
          <p:nvPr/>
        </p:nvSpPr>
        <p:spPr>
          <a:xfrm>
            <a:off x="6035040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528816" y="3218688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and Supply-Chain Security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035040" y="3803904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0" name="Text 38"/>
          <p:cNvSpPr txBox="1"/>
          <p:nvPr/>
        </p:nvSpPr>
        <p:spPr>
          <a:xfrm>
            <a:off x="603504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528816" y="3785616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Security Best Practices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035040" y="4370832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3" name="Text 41"/>
          <p:cNvSpPr txBox="1"/>
          <p:nvPr/>
        </p:nvSpPr>
        <p:spPr>
          <a:xfrm>
            <a:off x="6035040" y="4370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528816" y="4352544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Monitoring and Logging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035040" y="4937760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6" name="Text 44"/>
          <p:cNvSpPr txBox="1"/>
          <p:nvPr/>
        </p:nvSpPr>
        <p:spPr>
          <a:xfrm>
            <a:off x="6035040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528816" y="4919472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Detection and Response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2194560" y="4206240"/>
            <a:ext cx="4572000" cy="45720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Shape 2"/>
          <p:cNvSpPr/>
          <p:nvPr/>
        </p:nvSpPr>
        <p:spPr>
          <a:xfrm>
            <a:off x="9784080" y="5120640"/>
            <a:ext cx="1828800" cy="1828800"/>
          </a:xfrm>
          <a:prstGeom prst="ellipse">
            <a:avLst/>
          </a:prstGeom>
          <a:solidFill>
            <a:srgbClr val="0090C9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 txBox="1"/>
          <p:nvPr/>
        </p:nvSpPr>
        <p:spPr>
          <a:xfrm>
            <a:off x="822960" y="2788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15468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Cloud-Native and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 Computing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FOUNDATIONS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Traditional to Cloud-Native Architecture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Architecture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3566160" cy="420624"/>
          </a:xfrm>
          <a:prstGeom prst="roundRect">
            <a:avLst>
              <a:gd name="adj" fmla="val 13043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 txBox="1"/>
          <p:nvPr/>
        </p:nvSpPr>
        <p:spPr>
          <a:xfrm>
            <a:off x="640080" y="190195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322576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3566160" cy="420624"/>
          </a:xfrm>
          <a:prstGeom prst="roundRect">
            <a:avLst>
              <a:gd name="adj" fmla="val 13043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 txBox="1"/>
          <p:nvPr/>
        </p:nvSpPr>
        <p:spPr>
          <a:xfrm>
            <a:off x="640080" y="246888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88950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035808"/>
            <a:ext cx="3566160" cy="420624"/>
          </a:xfrm>
          <a:prstGeom prst="roundRect">
            <a:avLst>
              <a:gd name="adj" fmla="val 13043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6" name="Text 14"/>
          <p:cNvSpPr txBox="1"/>
          <p:nvPr/>
        </p:nvSpPr>
        <p:spPr>
          <a:xfrm>
            <a:off x="640080" y="303580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Server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45643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602736"/>
            <a:ext cx="3566160" cy="420624"/>
          </a:xfrm>
          <a:prstGeom prst="roundRect">
            <a:avLst>
              <a:gd name="adj" fmla="val 13043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9" name="Text 17"/>
          <p:cNvSpPr txBox="1"/>
          <p:nvPr/>
        </p:nvSpPr>
        <p:spPr>
          <a:xfrm>
            <a:off x="640080" y="360273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02336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169664"/>
            <a:ext cx="3566160" cy="420624"/>
          </a:xfrm>
          <a:prstGeom prst="roundRect">
            <a:avLst>
              <a:gd name="adj" fmla="val 13043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2" name="Text 20"/>
          <p:cNvSpPr txBox="1"/>
          <p:nvPr/>
        </p:nvSpPr>
        <p:spPr>
          <a:xfrm>
            <a:off x="640080" y="416966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/ Virtual Infrastructure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15361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Manages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1901952"/>
            <a:ext cx="30175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25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environments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909560" y="1901952"/>
            <a:ext cx="3730752" cy="2743200"/>
          </a:xfrm>
          <a:prstGeom prst="roundRect">
            <a:avLst>
              <a:gd name="adj" fmla="val 2667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6" name="Text 24"/>
          <p:cNvSpPr txBox="1"/>
          <p:nvPr/>
        </p:nvSpPr>
        <p:spPr>
          <a:xfrm>
            <a:off x="8165592" y="1901952"/>
            <a:ext cx="32186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kern="0" spc="100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
</a:t>
            </a:r>
            <a:endParaRPr lang="en-US" sz="1150" dirty="0"/>
          </a:p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does not simply mean an application hosted in the cloud — it refers to applications designed to take advantage of cloud computing models and services.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FOUNDATIONS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Cloud-Native Capabilities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cloud applications increasingly use cloud-native services designed to take advantage of: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039112"/>
            <a:ext cx="2567864" cy="1581912"/>
          </a:xfrm>
          <a:prstGeom prst="roundRect">
            <a:avLst>
              <a:gd name="adj" fmla="val 4046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0" name="Shape 8"/>
          <p:cNvSpPr/>
          <p:nvPr/>
        </p:nvSpPr>
        <p:spPr>
          <a:xfrm>
            <a:off x="694944" y="2167128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1" name="Text 9"/>
          <p:cNvSpPr txBox="1"/>
          <p:nvPr/>
        </p:nvSpPr>
        <p:spPr>
          <a:xfrm>
            <a:off x="694944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167128"/>
            <a:ext cx="1836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Scaling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496312"/>
            <a:ext cx="22386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grow and shrink automatically with demand.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90824" y="2039112"/>
            <a:ext cx="2567864" cy="1581912"/>
          </a:xfrm>
          <a:prstGeom prst="roundRect">
            <a:avLst>
              <a:gd name="adj" fmla="val 4046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5" name="Shape 13"/>
          <p:cNvSpPr/>
          <p:nvPr/>
        </p:nvSpPr>
        <p:spPr>
          <a:xfrm>
            <a:off x="3537128" y="2167128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6" name="Text 14"/>
          <p:cNvSpPr txBox="1"/>
          <p:nvPr/>
        </p:nvSpPr>
        <p:spPr>
          <a:xfrm>
            <a:off x="3537128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957752" y="2167128"/>
            <a:ext cx="1836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555416" y="2496312"/>
            <a:ext cx="22386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operate the underlying infrastructure.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33008" y="2039112"/>
            <a:ext cx="2567864" cy="1581912"/>
          </a:xfrm>
          <a:prstGeom prst="roundRect">
            <a:avLst>
              <a:gd name="adj" fmla="val 4046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0" name="Shape 18"/>
          <p:cNvSpPr/>
          <p:nvPr/>
        </p:nvSpPr>
        <p:spPr>
          <a:xfrm>
            <a:off x="6379312" y="2167128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1" name="Text 19"/>
          <p:cNvSpPr txBox="1"/>
          <p:nvPr/>
        </p:nvSpPr>
        <p:spPr>
          <a:xfrm>
            <a:off x="6379312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799936" y="2167128"/>
            <a:ext cx="1836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397600" y="2496312"/>
            <a:ext cx="22386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Portable, consistent packaging for applications.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75191" y="2039112"/>
            <a:ext cx="2567864" cy="1581912"/>
          </a:xfrm>
          <a:prstGeom prst="roundRect">
            <a:avLst>
              <a:gd name="adj" fmla="val 4046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5" name="Shape 23"/>
          <p:cNvSpPr/>
          <p:nvPr/>
        </p:nvSpPr>
        <p:spPr>
          <a:xfrm>
            <a:off x="9221495" y="2167128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6" name="Text 24"/>
          <p:cNvSpPr txBox="1"/>
          <p:nvPr/>
        </p:nvSpPr>
        <p:spPr>
          <a:xfrm>
            <a:off x="9221495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642119" y="2167128"/>
            <a:ext cx="1836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239783" y="2496312"/>
            <a:ext cx="22386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deployable application components.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840480"/>
            <a:ext cx="2567864" cy="1581912"/>
          </a:xfrm>
          <a:prstGeom prst="roundRect">
            <a:avLst>
              <a:gd name="adj" fmla="val 4046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30" name="Shape 28"/>
          <p:cNvSpPr/>
          <p:nvPr/>
        </p:nvSpPr>
        <p:spPr>
          <a:xfrm>
            <a:off x="694944" y="3968496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1" name="Text 29"/>
          <p:cNvSpPr txBox="1"/>
          <p:nvPr/>
        </p:nvSpPr>
        <p:spPr>
          <a:xfrm>
            <a:off x="694944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8496"/>
            <a:ext cx="1836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713232" y="4297680"/>
            <a:ext cx="22386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interfaces connecting services.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390824" y="3840480"/>
            <a:ext cx="2567864" cy="1581912"/>
          </a:xfrm>
          <a:prstGeom prst="roundRect">
            <a:avLst>
              <a:gd name="adj" fmla="val 4046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35" name="Shape 33"/>
          <p:cNvSpPr/>
          <p:nvPr/>
        </p:nvSpPr>
        <p:spPr>
          <a:xfrm>
            <a:off x="3537128" y="3968496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6" name="Text 34"/>
          <p:cNvSpPr txBox="1"/>
          <p:nvPr/>
        </p:nvSpPr>
        <p:spPr>
          <a:xfrm>
            <a:off x="3537128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3957752" y="3968496"/>
            <a:ext cx="1836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3555416" y="4297680"/>
            <a:ext cx="22386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and operations without manual steps.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33008" y="3840480"/>
            <a:ext cx="2567864" cy="1581912"/>
          </a:xfrm>
          <a:prstGeom prst="roundRect">
            <a:avLst>
              <a:gd name="adj" fmla="val 4046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40" name="Shape 38"/>
          <p:cNvSpPr/>
          <p:nvPr/>
        </p:nvSpPr>
        <p:spPr>
          <a:xfrm>
            <a:off x="6379312" y="3968496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1" name="Text 39"/>
          <p:cNvSpPr txBox="1"/>
          <p:nvPr/>
        </p:nvSpPr>
        <p:spPr>
          <a:xfrm>
            <a:off x="6379312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799936" y="3968496"/>
            <a:ext cx="1836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6397600" y="4297680"/>
            <a:ext cx="22386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defined and versioned in code.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075191" y="3840480"/>
            <a:ext cx="2567864" cy="1581912"/>
          </a:xfrm>
          <a:prstGeom prst="roundRect">
            <a:avLst>
              <a:gd name="adj" fmla="val 4046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45" name="Shape 43"/>
          <p:cNvSpPr/>
          <p:nvPr/>
        </p:nvSpPr>
        <p:spPr>
          <a:xfrm>
            <a:off x="9221495" y="3968496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6" name="Text 44"/>
          <p:cNvSpPr txBox="1"/>
          <p:nvPr/>
        </p:nvSpPr>
        <p:spPr>
          <a:xfrm>
            <a:off x="9221495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9642119" y="3968496"/>
            <a:ext cx="1836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Computing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9239783" y="4297680"/>
            <a:ext cx="22386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without directly managing servers.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FOUNDATIONS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Cloud-Native Services?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designed and operated within cloud environments to provide compute, storage, databases, messaging, identity, monitoring, and application execution.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130552"/>
            <a:ext cx="3515258" cy="1513332"/>
          </a:xfrm>
          <a:prstGeom prst="roundRect">
            <a:avLst>
              <a:gd name="adj" fmla="val 4230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 txBox="1"/>
          <p:nvPr/>
        </p:nvSpPr>
        <p:spPr>
          <a:xfrm>
            <a:off x="713232" y="2240280"/>
            <a:ext cx="3186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587752"/>
            <a:ext cx="318607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· Azure Functions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38218" y="2130552"/>
            <a:ext cx="3515258" cy="1513332"/>
          </a:xfrm>
          <a:prstGeom prst="roundRect">
            <a:avLst>
              <a:gd name="adj" fmla="val 4230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 txBox="1"/>
          <p:nvPr/>
        </p:nvSpPr>
        <p:spPr>
          <a:xfrm>
            <a:off x="4502810" y="2240280"/>
            <a:ext cx="3186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02810" y="2587752"/>
            <a:ext cx="318607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· Azure Blob Storage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27797" y="2130552"/>
            <a:ext cx="3515258" cy="1513332"/>
          </a:xfrm>
          <a:prstGeom prst="roundRect">
            <a:avLst>
              <a:gd name="adj" fmla="val 4230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6" name="Text 14"/>
          <p:cNvSpPr txBox="1"/>
          <p:nvPr/>
        </p:nvSpPr>
        <p:spPr>
          <a:xfrm>
            <a:off x="8292389" y="2240280"/>
            <a:ext cx="3186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92389" y="2587752"/>
            <a:ext cx="318607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DynamoDB · Azure Cosmos DB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863340"/>
            <a:ext cx="3515258" cy="1513332"/>
          </a:xfrm>
          <a:prstGeom prst="roundRect">
            <a:avLst>
              <a:gd name="adj" fmla="val 4230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9" name="Text 17"/>
          <p:cNvSpPr txBox="1"/>
          <p:nvPr/>
        </p:nvSpPr>
        <p:spPr>
          <a:xfrm>
            <a:off x="713232" y="3973068"/>
            <a:ext cx="3186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/ Events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" y="4320540"/>
            <a:ext cx="318607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EventBridge · SQS · Azure Service Bus · Event Grid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38218" y="3863340"/>
            <a:ext cx="3515258" cy="1513332"/>
          </a:xfrm>
          <a:prstGeom prst="roundRect">
            <a:avLst>
              <a:gd name="adj" fmla="val 4230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2" name="Text 20"/>
          <p:cNvSpPr txBox="1"/>
          <p:nvPr/>
        </p:nvSpPr>
        <p:spPr>
          <a:xfrm>
            <a:off x="4502810" y="3973068"/>
            <a:ext cx="3186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Services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02810" y="4320540"/>
            <a:ext cx="318607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API Gateway · Azure API Management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5" name="Text 23"/>
          <p:cNvSpPr txBox="1"/>
          <p:nvPr/>
        </p:nvSpPr>
        <p:spPr>
          <a:xfrm>
            <a:off x="804672" y="5623560"/>
            <a:ext cx="105823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applications often combine several managed services instead of relying on one large server.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FUNDAMENTALS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Serverless Computing?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 computing execution model where the provider manages the underlying servers, operating systems, runtime infrastructure, availability, and much of the scaling required to execute an application.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334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Focus 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99232"/>
            <a:ext cx="5486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code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configuration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5361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Stack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1901952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 txBox="1"/>
          <p:nvPr/>
        </p:nvSpPr>
        <p:spPr>
          <a:xfrm>
            <a:off x="6492240" y="19019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286000"/>
            <a:ext cx="2377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2404872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6" name="Text 14"/>
          <p:cNvSpPr txBox="1"/>
          <p:nvPr/>
        </p:nvSpPr>
        <p:spPr>
          <a:xfrm>
            <a:off x="6492240" y="24048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788920"/>
            <a:ext cx="2377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2907792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9" name="Text 17"/>
          <p:cNvSpPr txBox="1"/>
          <p:nvPr/>
        </p:nvSpPr>
        <p:spPr>
          <a:xfrm>
            <a:off x="6492240" y="29077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291840"/>
            <a:ext cx="2377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3410712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2" name="Text 20"/>
          <p:cNvSpPr txBox="1"/>
          <p:nvPr/>
        </p:nvSpPr>
        <p:spPr>
          <a:xfrm>
            <a:off x="6492240" y="34107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3794760"/>
            <a:ext cx="2377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0" y="3913632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5" name="Text 23"/>
          <p:cNvSpPr txBox="1"/>
          <p:nvPr/>
        </p:nvSpPr>
        <p:spPr>
          <a:xfrm>
            <a:off x="6492240" y="39136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1536192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Stack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098280" y="1901952"/>
            <a:ext cx="2542032" cy="566928"/>
          </a:xfrm>
          <a:prstGeom prst="roundRect">
            <a:avLst>
              <a:gd name="adj" fmla="val 9677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8" name="Text 26"/>
          <p:cNvSpPr txBox="1"/>
          <p:nvPr/>
        </p:nvSpPr>
        <p:spPr>
          <a:xfrm>
            <a:off x="9189720" y="1901952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/ App Code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098280" y="2468880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098280" y="2651760"/>
            <a:ext cx="2542032" cy="566928"/>
          </a:xfrm>
          <a:prstGeom prst="roundRect">
            <a:avLst>
              <a:gd name="adj" fmla="val 9677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1" name="Text 29"/>
          <p:cNvSpPr txBox="1"/>
          <p:nvPr/>
        </p:nvSpPr>
        <p:spPr>
          <a:xfrm>
            <a:off x="9189720" y="2651760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 manages runtime, OS &amp; infra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532120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3" name="Text 31"/>
          <p:cNvSpPr txBox="1"/>
          <p:nvPr/>
        </p:nvSpPr>
        <p:spPr>
          <a:xfrm>
            <a:off x="804672" y="5532120"/>
            <a:ext cx="105823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kern="0" spc="100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POINT
</a:t>
            </a:r>
            <a:endParaRPr lang="en-US" sz="1150" dirty="0"/>
          </a:p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does NOT mean there are no servers - developers and organizations simply do not directly provision or manage them.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FUNDAMENTALS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Serverless Computing?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36192"/>
            <a:ext cx="3515258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9" name="Shape 7"/>
          <p:cNvSpPr/>
          <p:nvPr/>
        </p:nvSpPr>
        <p:spPr>
          <a:xfrm>
            <a:off x="694944" y="1664208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 txBox="1"/>
          <p:nvPr/>
        </p:nvSpPr>
        <p:spPr>
          <a:xfrm>
            <a:off x="694944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1664208"/>
            <a:ext cx="2783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Scaling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1993392"/>
            <a:ext cx="318607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scale automatically with incoming requests or events.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38218" y="1536192"/>
            <a:ext cx="3515258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4" name="Shape 12"/>
          <p:cNvSpPr/>
          <p:nvPr/>
        </p:nvSpPr>
        <p:spPr>
          <a:xfrm>
            <a:off x="4484522" y="1664208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5" name="Text 13"/>
          <p:cNvSpPr txBox="1"/>
          <p:nvPr/>
        </p:nvSpPr>
        <p:spPr>
          <a:xfrm>
            <a:off x="4484522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905146" y="1664208"/>
            <a:ext cx="2783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Infrastructure Management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02810" y="1993392"/>
            <a:ext cx="318607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directly manage servers or operating systems.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27797" y="1536192"/>
            <a:ext cx="3515258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9" name="Shape 17"/>
          <p:cNvSpPr/>
          <p:nvPr/>
        </p:nvSpPr>
        <p:spPr>
          <a:xfrm>
            <a:off x="8274101" y="1664208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0" name="Text 18"/>
          <p:cNvSpPr txBox="1"/>
          <p:nvPr/>
        </p:nvSpPr>
        <p:spPr>
          <a:xfrm>
            <a:off x="8274101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94725" y="1664208"/>
            <a:ext cx="2783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292389" y="1993392"/>
            <a:ext cx="318607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based on actual execution and resource consumption.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3515258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4" name="Shape 22"/>
          <p:cNvSpPr/>
          <p:nvPr/>
        </p:nvSpPr>
        <p:spPr>
          <a:xfrm>
            <a:off x="694944" y="4014216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5" name="Text 23"/>
          <p:cNvSpPr txBox="1"/>
          <p:nvPr/>
        </p:nvSpPr>
        <p:spPr>
          <a:xfrm>
            <a:off x="694944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" y="4014216"/>
            <a:ext cx="2783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Development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4343400"/>
            <a:ext cx="318607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focus more on application functionality.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38218" y="3886200"/>
            <a:ext cx="3515258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9" name="Shape 27"/>
          <p:cNvSpPr/>
          <p:nvPr/>
        </p:nvSpPr>
        <p:spPr>
          <a:xfrm>
            <a:off x="4484522" y="4014216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0" name="Text 28"/>
          <p:cNvSpPr txBox="1"/>
          <p:nvPr/>
        </p:nvSpPr>
        <p:spPr>
          <a:xfrm>
            <a:off x="4484522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905146" y="4014216"/>
            <a:ext cx="2783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4502810" y="4343400"/>
            <a:ext cx="318607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manages underlying availability infrastructure.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127797" y="3886200"/>
            <a:ext cx="3515258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34" name="Shape 32"/>
          <p:cNvSpPr/>
          <p:nvPr/>
        </p:nvSpPr>
        <p:spPr>
          <a:xfrm>
            <a:off x="8274101" y="4014216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5" name="Text 33"/>
          <p:cNvSpPr txBox="1"/>
          <p:nvPr/>
        </p:nvSpPr>
        <p:spPr>
          <a:xfrm>
            <a:off x="8274101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694725" y="4014216"/>
            <a:ext cx="2783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Architecture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8292389" y="4343400"/>
            <a:ext cx="318607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execute automatically when events occur.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FUNDAMENTALS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Function as a Service (FaaS)?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serverless computing model where developers deploy individual functions that execute in response to specific events. A function normally performs a focused task.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4963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862072"/>
            <a:ext cx="5394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8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350" dirty="0"/>
          </a:p>
          <a:p>
            <a:pPr marL="177800" indent="-177800">
              <a:lnSpc>
                <a:spcPts val="168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</a:t>
            </a:r>
            <a:endParaRPr lang="en-US" sz="1350" dirty="0"/>
          </a:p>
          <a:p>
            <a:pPr marL="177800" indent="-177800">
              <a:lnSpc>
                <a:spcPts val="168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Functions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32511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runs when required and does not need a continuously running application server managed by the developer.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1536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Image Processing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75120" y="1901952"/>
            <a:ext cx="4937760" cy="420624"/>
          </a:xfrm>
          <a:prstGeom prst="roundRect">
            <a:avLst>
              <a:gd name="adj" fmla="val 13043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4" name="Text 12"/>
          <p:cNvSpPr txBox="1"/>
          <p:nvPr/>
        </p:nvSpPr>
        <p:spPr>
          <a:xfrm>
            <a:off x="6766560" y="190195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Uploads Image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322576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75120" y="2468880"/>
            <a:ext cx="4937760" cy="420624"/>
          </a:xfrm>
          <a:prstGeom prst="roundRect">
            <a:avLst>
              <a:gd name="adj" fmla="val 13043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7" name="Text 15"/>
          <p:cNvSpPr txBox="1"/>
          <p:nvPr/>
        </p:nvSpPr>
        <p:spPr>
          <a:xfrm>
            <a:off x="6766560" y="246888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Event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2889504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75120" y="3035808"/>
            <a:ext cx="4937760" cy="420624"/>
          </a:xfrm>
          <a:prstGeom prst="roundRect">
            <a:avLst>
              <a:gd name="adj" fmla="val 13043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0" name="Text 18"/>
          <p:cNvSpPr txBox="1"/>
          <p:nvPr/>
        </p:nvSpPr>
        <p:spPr>
          <a:xfrm>
            <a:off x="6766560" y="303580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Function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3456432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0" y="3602736"/>
            <a:ext cx="4937760" cy="420624"/>
          </a:xfrm>
          <a:prstGeom prst="roundRect">
            <a:avLst>
              <a:gd name="adj" fmla="val 13043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3" name="Text 21"/>
          <p:cNvSpPr txBox="1"/>
          <p:nvPr/>
        </p:nvSpPr>
        <p:spPr>
          <a:xfrm>
            <a:off x="6766560" y="360273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Image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4023360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75120" y="4169664"/>
            <a:ext cx="4937760" cy="420624"/>
          </a:xfrm>
          <a:prstGeom prst="roundRect">
            <a:avLst>
              <a:gd name="adj" fmla="val 13043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6" name="Text 24"/>
          <p:cNvSpPr txBox="1"/>
          <p:nvPr/>
        </p:nvSpPr>
        <p:spPr>
          <a:xfrm>
            <a:off x="6766560" y="416966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Processed Image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FUNDAMENTALS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Event-Driven Serverless Architecture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applications are frequently event-driven — an event causes a function to execute.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0391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404872"/>
            <a:ext cx="3931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63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API request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change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arriving in a queue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event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event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event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0391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Invoice Upload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0560" y="2404872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 txBox="1"/>
          <p:nvPr/>
        </p:nvSpPr>
        <p:spPr>
          <a:xfrm>
            <a:off x="4572000" y="24048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Invoice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770632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80560" y="2862072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6" name="Text 14"/>
          <p:cNvSpPr txBox="1"/>
          <p:nvPr/>
        </p:nvSpPr>
        <p:spPr>
          <a:xfrm>
            <a:off x="4572000" y="28620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227832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80560" y="3319272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9" name="Text 17"/>
          <p:cNvSpPr txBox="1"/>
          <p:nvPr/>
        </p:nvSpPr>
        <p:spPr>
          <a:xfrm>
            <a:off x="4572000" y="3319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Event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3685032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480560" y="3776472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2" name="Text 20"/>
          <p:cNvSpPr txBox="1"/>
          <p:nvPr/>
        </p:nvSpPr>
        <p:spPr>
          <a:xfrm>
            <a:off x="4572000" y="37764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Function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4142232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480560" y="4233672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5" name="Text 23"/>
          <p:cNvSpPr txBox="1"/>
          <p:nvPr/>
        </p:nvSpPr>
        <p:spPr>
          <a:xfrm>
            <a:off x="4572000" y="42336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Invoice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4599432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480560" y="4690872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8" name="Text 26"/>
          <p:cNvSpPr txBox="1"/>
          <p:nvPr/>
        </p:nvSpPr>
        <p:spPr>
          <a:xfrm>
            <a:off x="4572000" y="46908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75320" y="2039112"/>
            <a:ext cx="3364992" cy="3383280"/>
          </a:xfrm>
          <a:prstGeom prst="roundRect">
            <a:avLst>
              <a:gd name="adj" fmla="val 2174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0" name="Text 28"/>
          <p:cNvSpPr txBox="1"/>
          <p:nvPr/>
        </p:nvSpPr>
        <p:spPr>
          <a:xfrm>
            <a:off x="8531352" y="2039112"/>
            <a:ext cx="28529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kern="0" spc="100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IMPORTANCE
</a:t>
            </a:r>
            <a:endParaRPr lang="en-US" sz="1150" dirty="0"/>
          </a:p>
          <a:p>
            <a:pPr marL="0" indent="0">
              <a:buNone/>
            </a:pPr>
            <a:r>
              <a:rPr lang="en-US" sz="1200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source becomes part of the trust boundary and attack surface. Verify: who generated the event, is it authorized, can the input be trusted, and what permissions does the function have?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2194560" y="4206240"/>
            <a:ext cx="4572000" cy="45720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Shape 2"/>
          <p:cNvSpPr/>
          <p:nvPr/>
        </p:nvSpPr>
        <p:spPr>
          <a:xfrm>
            <a:off x="9784080" y="5120640"/>
            <a:ext cx="1828800" cy="1828800"/>
          </a:xfrm>
          <a:prstGeom prst="ellipse">
            <a:avLst/>
          </a:prstGeom>
          <a:solidFill>
            <a:srgbClr val="0090C9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 txBox="1"/>
          <p:nvPr/>
        </p:nvSpPr>
        <p:spPr>
          <a:xfrm>
            <a:off x="822960" y="2788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15468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Securing Cloud-Native Services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AWS Lambda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serverless compute service that executes code in response to events without requiring customers to provision or directly manage servers.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4048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770632"/>
            <a:ext cx="5486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1536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1901952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 txBox="1"/>
          <p:nvPr/>
        </p:nvSpPr>
        <p:spPr>
          <a:xfrm>
            <a:off x="6766560" y="19019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235915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0" y="2542032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6" name="Text 14"/>
          <p:cNvSpPr txBox="1"/>
          <p:nvPr/>
        </p:nvSpPr>
        <p:spPr>
          <a:xfrm>
            <a:off x="6766560" y="25420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29992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0" y="3182112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9" name="Text 17"/>
          <p:cNvSpPr txBox="1"/>
          <p:nvPr/>
        </p:nvSpPr>
        <p:spPr>
          <a:xfrm>
            <a:off x="6766560" y="31821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363931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75120" y="3822192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2" name="Text 20"/>
          <p:cNvSpPr txBox="1"/>
          <p:nvPr/>
        </p:nvSpPr>
        <p:spPr>
          <a:xfrm>
            <a:off x="6766560" y="38221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4" name="Text 22"/>
          <p:cNvSpPr txBox="1"/>
          <p:nvPr/>
        </p:nvSpPr>
        <p:spPr>
          <a:xfrm>
            <a:off x="804672" y="5623560"/>
            <a:ext cx="105823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 manages the function code and its permissions while AWS manages much of the execution infrastructure.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Azure Functions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event-driven serverless compute service, allowing developers to concentrate on application logic while the cloud provider manages much of the underlying infrastructure.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4963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862072"/>
            <a:ext cx="5486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requests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Timers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events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messages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Grid events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Bus messages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1536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1901952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 txBox="1"/>
          <p:nvPr/>
        </p:nvSpPr>
        <p:spPr>
          <a:xfrm>
            <a:off x="6766560" y="19019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235915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0" y="2542032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6" name="Text 14"/>
          <p:cNvSpPr txBox="1"/>
          <p:nvPr/>
        </p:nvSpPr>
        <p:spPr>
          <a:xfrm>
            <a:off x="6766560" y="25420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29992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0" y="3182112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9" name="Text 17"/>
          <p:cNvSpPr txBox="1"/>
          <p:nvPr/>
        </p:nvSpPr>
        <p:spPr>
          <a:xfrm>
            <a:off x="6766560" y="31821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363931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75120" y="3822192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2" name="Text 20"/>
          <p:cNvSpPr txBox="1"/>
          <p:nvPr/>
        </p:nvSpPr>
        <p:spPr>
          <a:xfrm>
            <a:off x="6766560" y="38221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Cosmos DB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Server vs Serverless Security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36192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 txBox="1"/>
          <p:nvPr/>
        </p:nvSpPr>
        <p:spPr>
          <a:xfrm>
            <a:off x="804672" y="1536192"/>
            <a:ext cx="1058235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kern="0" spc="100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SECURITY PRINCIPLE
</a:t>
            </a:r>
            <a:endParaRPr lang="en-US" sz="1150" dirty="0"/>
          </a:p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to serverless removes some infrastructure management responsibilities but does not remove security responsibility.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5420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Still Need to Secure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07792"/>
            <a:ext cx="2567864" cy="121615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2" name="Text 10"/>
          <p:cNvSpPr txBox="1"/>
          <p:nvPr/>
        </p:nvSpPr>
        <p:spPr>
          <a:xfrm>
            <a:off x="713232" y="3017520"/>
            <a:ext cx="223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390824" y="2907792"/>
            <a:ext cx="2567864" cy="121615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4" name="Text 12"/>
          <p:cNvSpPr txBox="1"/>
          <p:nvPr/>
        </p:nvSpPr>
        <p:spPr>
          <a:xfrm>
            <a:off x="3555416" y="3017520"/>
            <a:ext cx="223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Permissions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33008" y="2907792"/>
            <a:ext cx="2567864" cy="121615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6" name="Text 14"/>
          <p:cNvSpPr txBox="1"/>
          <p:nvPr/>
        </p:nvSpPr>
        <p:spPr>
          <a:xfrm>
            <a:off x="6397600" y="3017520"/>
            <a:ext cx="223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075191" y="2907792"/>
            <a:ext cx="2567864" cy="121615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8" name="Text 16"/>
          <p:cNvSpPr txBox="1"/>
          <p:nvPr/>
        </p:nvSpPr>
        <p:spPr>
          <a:xfrm>
            <a:off x="9239783" y="3017520"/>
            <a:ext cx="223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2567864" cy="121615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0" name="Text 18"/>
          <p:cNvSpPr txBox="1"/>
          <p:nvPr/>
        </p:nvSpPr>
        <p:spPr>
          <a:xfrm>
            <a:off x="713232" y="4453128"/>
            <a:ext cx="223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390824" y="4343400"/>
            <a:ext cx="2567864" cy="121615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2" name="Text 20"/>
          <p:cNvSpPr txBox="1"/>
          <p:nvPr/>
        </p:nvSpPr>
        <p:spPr>
          <a:xfrm>
            <a:off x="3555416" y="4453128"/>
            <a:ext cx="223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33008" y="4343400"/>
            <a:ext cx="2567864" cy="121615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4" name="Text 22"/>
          <p:cNvSpPr txBox="1"/>
          <p:nvPr/>
        </p:nvSpPr>
        <p:spPr>
          <a:xfrm>
            <a:off x="6397600" y="4453128"/>
            <a:ext cx="223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Sources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075191" y="4343400"/>
            <a:ext cx="2567864" cy="121615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6" name="Text 24"/>
          <p:cNvSpPr txBox="1"/>
          <p:nvPr/>
        </p:nvSpPr>
        <p:spPr>
          <a:xfrm>
            <a:off x="9239783" y="4453128"/>
            <a:ext cx="223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Responsibility in Serverless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36192"/>
            <a:ext cx="5387188" cy="4480560"/>
          </a:xfrm>
          <a:prstGeom prst="roundRect">
            <a:avLst>
              <a:gd name="adj" fmla="val 1633"/>
            </a:avLst>
          </a:prstGeom>
          <a:solidFill>
            <a:srgbClr val="E9F6EE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 txBox="1"/>
          <p:nvPr/>
        </p:nvSpPr>
        <p:spPr>
          <a:xfrm>
            <a:off x="804672" y="1700784"/>
            <a:ext cx="48751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157984"/>
            <a:ext cx="4875124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infrastructure</a:t>
            </a:r>
            <a:endParaRPr lang="en-US" sz="1300" dirty="0"/>
          </a:p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operating environment</a:t>
            </a:r>
            <a:endParaRPr lang="en-US" sz="1300" dirty="0"/>
          </a:p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execution infrastructure</a:t>
            </a:r>
            <a:endParaRPr lang="en-US" sz="1300" dirty="0"/>
          </a:p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availability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55868" y="1536192"/>
            <a:ext cx="5387188" cy="4480560"/>
          </a:xfrm>
          <a:prstGeom prst="roundRect">
            <a:avLst>
              <a:gd name="adj" fmla="val 1633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2" name="Text 10"/>
          <p:cNvSpPr txBox="1"/>
          <p:nvPr/>
        </p:nvSpPr>
        <p:spPr>
          <a:xfrm>
            <a:off x="6511900" y="1700784"/>
            <a:ext cx="48751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511900" y="2157984"/>
            <a:ext cx="4875124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code &amp; function configuration</a:t>
            </a:r>
            <a:endParaRPr lang="en-US" sz="1300" dirty="0"/>
          </a:p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 permissions</a:t>
            </a:r>
            <a:endParaRPr lang="en-US" sz="1300" dirty="0"/>
          </a:p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secrets</a:t>
            </a:r>
            <a:endParaRPr lang="en-US" sz="1300" dirty="0"/>
          </a:p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300" dirty="0"/>
          </a:p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security &amp; business logic</a:t>
            </a:r>
            <a:endParaRPr lang="en-US" sz="1300" dirty="0"/>
          </a:p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configuration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2194560" y="4206240"/>
            <a:ext cx="4572000" cy="45720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Shape 2"/>
          <p:cNvSpPr/>
          <p:nvPr/>
        </p:nvSpPr>
        <p:spPr>
          <a:xfrm>
            <a:off x="9784080" y="5120640"/>
            <a:ext cx="1828800" cy="1828800"/>
          </a:xfrm>
          <a:prstGeom prst="ellipse">
            <a:avLst/>
          </a:prstGeom>
          <a:solidFill>
            <a:srgbClr val="0090C9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 txBox="1"/>
          <p:nvPr/>
        </p:nvSpPr>
        <p:spPr>
          <a:xfrm>
            <a:off x="822960" y="2788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15468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 Security Considerations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SURFACE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 Attack Surface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reduces some traditional infrastructure risks but introduces or emphasizes other attack surfaces.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039112"/>
            <a:ext cx="3474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63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code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sources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039112"/>
            <a:ext cx="3474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63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dependencies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 configurations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0391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Path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2404872"/>
            <a:ext cx="338328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 txBox="1"/>
          <p:nvPr/>
        </p:nvSpPr>
        <p:spPr>
          <a:xfrm>
            <a:off x="8321040" y="24048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788920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0" y="2916936"/>
            <a:ext cx="338328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6" name="Text 14"/>
          <p:cNvSpPr txBox="1"/>
          <p:nvPr/>
        </p:nvSpPr>
        <p:spPr>
          <a:xfrm>
            <a:off x="8321040" y="29169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3300984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0" y="3429000"/>
            <a:ext cx="338328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9" name="Text 17"/>
          <p:cNvSpPr txBox="1"/>
          <p:nvPr/>
        </p:nvSpPr>
        <p:spPr>
          <a:xfrm>
            <a:off x="8321040" y="34290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Function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381304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0" y="3941064"/>
            <a:ext cx="338328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2" name="Text 20"/>
          <p:cNvSpPr txBox="1"/>
          <p:nvPr/>
        </p:nvSpPr>
        <p:spPr>
          <a:xfrm>
            <a:off x="8321040" y="39410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325112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0" y="4453128"/>
            <a:ext cx="338328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5" name="Text 23"/>
          <p:cNvSpPr txBox="1"/>
          <p:nvPr/>
        </p:nvSpPr>
        <p:spPr>
          <a:xfrm>
            <a:off x="8321040" y="44531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62356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7" name="Text 25"/>
          <p:cNvSpPr txBox="1"/>
          <p:nvPr/>
        </p:nvSpPr>
        <p:spPr>
          <a:xfrm>
            <a:off x="804672" y="5623560"/>
            <a:ext cx="105823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may target any component or the trust relationships between them.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SURFACE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Serverless Security Risks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36192"/>
            <a:ext cx="2567864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9" name="Shape 7"/>
          <p:cNvSpPr/>
          <p:nvPr/>
        </p:nvSpPr>
        <p:spPr>
          <a:xfrm>
            <a:off x="694944" y="1664208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 txBox="1"/>
          <p:nvPr/>
        </p:nvSpPr>
        <p:spPr>
          <a:xfrm>
            <a:off x="694944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1664208"/>
            <a:ext cx="1836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Function Code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1993392"/>
            <a:ext cx="22386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or insecure input handling.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90824" y="1536192"/>
            <a:ext cx="2567864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4" name="Shape 12"/>
          <p:cNvSpPr/>
          <p:nvPr/>
        </p:nvSpPr>
        <p:spPr>
          <a:xfrm>
            <a:off x="3537128" y="1664208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5" name="Text 13"/>
          <p:cNvSpPr txBox="1"/>
          <p:nvPr/>
        </p:nvSpPr>
        <p:spPr>
          <a:xfrm>
            <a:off x="3537128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957752" y="1664208"/>
            <a:ext cx="1836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Permissions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555416" y="1993392"/>
            <a:ext cx="22386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with more access than necessary.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33008" y="1536192"/>
            <a:ext cx="2567864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9" name="Shape 17"/>
          <p:cNvSpPr/>
          <p:nvPr/>
        </p:nvSpPr>
        <p:spPr>
          <a:xfrm>
            <a:off x="6379312" y="1664208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0" name="Text 18"/>
          <p:cNvSpPr txBox="1"/>
          <p:nvPr/>
        </p:nvSpPr>
        <p:spPr>
          <a:xfrm>
            <a:off x="6379312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799936" y="1664208"/>
            <a:ext cx="1836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APIs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397600" y="1993392"/>
            <a:ext cx="22386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authentication or authorization.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75191" y="1536192"/>
            <a:ext cx="2567864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4" name="Shape 22"/>
          <p:cNvSpPr/>
          <p:nvPr/>
        </p:nvSpPr>
        <p:spPr>
          <a:xfrm>
            <a:off x="9221495" y="1664208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5" name="Text 23"/>
          <p:cNvSpPr txBox="1"/>
          <p:nvPr/>
        </p:nvSpPr>
        <p:spPr>
          <a:xfrm>
            <a:off x="9221495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642119" y="1664208"/>
            <a:ext cx="1836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Dependencies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239783" y="1993392"/>
            <a:ext cx="22386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with known vulnerabilities.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886200"/>
            <a:ext cx="2567864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9" name="Shape 27"/>
          <p:cNvSpPr/>
          <p:nvPr/>
        </p:nvSpPr>
        <p:spPr>
          <a:xfrm>
            <a:off x="694944" y="4014216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0" name="Text 28"/>
          <p:cNvSpPr txBox="1"/>
          <p:nvPr/>
        </p:nvSpPr>
        <p:spPr>
          <a:xfrm>
            <a:off x="694944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115568" y="4014216"/>
            <a:ext cx="1836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Secrets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" y="4343400"/>
            <a:ext cx="22386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Keys, credentials, or tokens stored insecurely.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390824" y="3886200"/>
            <a:ext cx="2567864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34" name="Shape 32"/>
          <p:cNvSpPr/>
          <p:nvPr/>
        </p:nvSpPr>
        <p:spPr>
          <a:xfrm>
            <a:off x="3537128" y="4014216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5" name="Text 33"/>
          <p:cNvSpPr txBox="1"/>
          <p:nvPr/>
        </p:nvSpPr>
        <p:spPr>
          <a:xfrm>
            <a:off x="3537128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3957752" y="4014216"/>
            <a:ext cx="1836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Injection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3555416" y="4343400"/>
            <a:ext cx="22386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input entering via event sources.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33008" y="3886200"/>
            <a:ext cx="2567864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39" name="Shape 37"/>
          <p:cNvSpPr/>
          <p:nvPr/>
        </p:nvSpPr>
        <p:spPr>
          <a:xfrm>
            <a:off x="6379312" y="4014216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0" name="Text 38"/>
          <p:cNvSpPr txBox="1"/>
          <p:nvPr/>
        </p:nvSpPr>
        <p:spPr>
          <a:xfrm>
            <a:off x="6379312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799936" y="4014216"/>
            <a:ext cx="1836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Misconfiguration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397600" y="4343400"/>
            <a:ext cx="22386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cloud settings expose data.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075191" y="3886200"/>
            <a:ext cx="2567864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44" name="Shape 42"/>
          <p:cNvSpPr/>
          <p:nvPr/>
        </p:nvSpPr>
        <p:spPr>
          <a:xfrm>
            <a:off x="9221495" y="4014216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5" name="Text 43"/>
          <p:cNvSpPr txBox="1"/>
          <p:nvPr/>
        </p:nvSpPr>
        <p:spPr>
          <a:xfrm>
            <a:off x="9221495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9642119" y="4014216"/>
            <a:ext cx="1836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Logging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9239783" y="4343400"/>
            <a:ext cx="22386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go undetected without monitoring.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Validation in Serverless Functions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Sources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901952"/>
            <a:ext cx="3200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63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queues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events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1536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931920" y="1901952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2" name="Text 10"/>
          <p:cNvSpPr txBox="1"/>
          <p:nvPr/>
        </p:nvSpPr>
        <p:spPr>
          <a:xfrm>
            <a:off x="3931920" y="19019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Function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22860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931920" y="2505456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5" name="Text 13"/>
          <p:cNvSpPr txBox="1"/>
          <p:nvPr/>
        </p:nvSpPr>
        <p:spPr>
          <a:xfrm>
            <a:off x="3931920" y="25054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31920" y="3054096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E9F6EE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7" name="Text 15"/>
          <p:cNvSpPr txBox="1"/>
          <p:nvPr/>
        </p:nvSpPr>
        <p:spPr>
          <a:xfrm>
            <a:off x="4187952" y="3218688"/>
            <a:ext cx="1179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187952" y="3675888"/>
            <a:ext cx="11795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403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806440" y="3054096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0" name="Text 18"/>
          <p:cNvSpPr txBox="1"/>
          <p:nvPr/>
        </p:nvSpPr>
        <p:spPr>
          <a:xfrm>
            <a:off x="6062472" y="3218688"/>
            <a:ext cx="1179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062472" y="3675888"/>
            <a:ext cx="11795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403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1536192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Practices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1901952"/>
            <a:ext cx="386791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type, length &amp; format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allowlists where appropriate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 or safely handle untrusted input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parameterized database queries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unexpected data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5257800"/>
            <a:ext cx="3867912" cy="914400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5" name="Text 23"/>
          <p:cNvSpPr txBox="1"/>
          <p:nvPr/>
        </p:nvSpPr>
        <p:spPr>
          <a:xfrm>
            <a:off x="8028432" y="5257800"/>
            <a:ext cx="3355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does not eliminate traditional application vulnerabilities such as SQL injection.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IAM and Least Privilege in Serverless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3566160" cy="420624"/>
          </a:xfrm>
          <a:prstGeom prst="roundRect">
            <a:avLst>
              <a:gd name="adj" fmla="val 13043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 txBox="1"/>
          <p:nvPr/>
        </p:nvSpPr>
        <p:spPr>
          <a:xfrm>
            <a:off x="640080" y="190195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322576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3566160" cy="420624"/>
          </a:xfrm>
          <a:prstGeom prst="roundRect">
            <a:avLst>
              <a:gd name="adj" fmla="val 13043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 txBox="1"/>
          <p:nvPr/>
        </p:nvSpPr>
        <p:spPr>
          <a:xfrm>
            <a:off x="640080" y="246888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S3 Object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88950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035808"/>
            <a:ext cx="3566160" cy="420624"/>
          </a:xfrm>
          <a:prstGeom prst="roundRect">
            <a:avLst>
              <a:gd name="adj" fmla="val 13043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6" name="Text 14"/>
          <p:cNvSpPr txBox="1"/>
          <p:nvPr/>
        </p:nvSpPr>
        <p:spPr>
          <a:xfrm>
            <a:off x="640080" y="303580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DynamoDB Record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456432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8" name="Text 16"/>
          <p:cNvSpPr txBox="1"/>
          <p:nvPr/>
        </p:nvSpPr>
        <p:spPr>
          <a:xfrm>
            <a:off x="804672" y="3456432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should not automatically receive AdministratorAccess.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80560" y="1536192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0" name="Text 18"/>
          <p:cNvSpPr txBox="1"/>
          <p:nvPr/>
        </p:nvSpPr>
        <p:spPr>
          <a:xfrm>
            <a:off x="4736592" y="1536192"/>
            <a:ext cx="3054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kern="0" spc="100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OF LEAST PRIVILEGE
</a:t>
            </a:r>
            <a:endParaRPr lang="en-US" sz="1150" dirty="0"/>
          </a:p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each function only the permissions necessary for its intended task.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1536192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1901952"/>
            <a:ext cx="341071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63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damage if a function is compromised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privilege escalation opportunities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unauthorized access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lateral movement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Function-Level Permissions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Functions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3566160" cy="798576"/>
          </a:xfrm>
          <a:prstGeom prst="roundRect">
            <a:avLst>
              <a:gd name="adj" fmla="val 8015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 txBox="1"/>
          <p:nvPr/>
        </p:nvSpPr>
        <p:spPr>
          <a:xfrm>
            <a:off x="713232" y="2011680"/>
            <a:ext cx="3236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Function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359152"/>
            <a:ext cx="3236976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S3 Write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19984"/>
            <a:ext cx="3566160" cy="798576"/>
          </a:xfrm>
          <a:prstGeom prst="roundRect">
            <a:avLst>
              <a:gd name="adj" fmla="val 8015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 txBox="1"/>
          <p:nvPr/>
        </p:nvSpPr>
        <p:spPr>
          <a:xfrm>
            <a:off x="713232" y="3029712"/>
            <a:ext cx="3236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Function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377184"/>
            <a:ext cx="3236976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Payment Service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38016"/>
            <a:ext cx="3566160" cy="798576"/>
          </a:xfrm>
          <a:prstGeom prst="roundRect">
            <a:avLst>
              <a:gd name="adj" fmla="val 8015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6" name="Text 14"/>
          <p:cNvSpPr txBox="1"/>
          <p:nvPr/>
        </p:nvSpPr>
        <p:spPr>
          <a:xfrm>
            <a:off x="713232" y="4047744"/>
            <a:ext cx="3236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Function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4395216"/>
            <a:ext cx="3236976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Database Read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536192"/>
            <a:ext cx="3328416" cy="4480560"/>
          </a:xfrm>
          <a:prstGeom prst="roundRect">
            <a:avLst>
              <a:gd name="adj" fmla="val 2198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9" name="Text 17"/>
          <p:cNvSpPr txBox="1"/>
          <p:nvPr/>
        </p:nvSpPr>
        <p:spPr>
          <a:xfrm>
            <a:off x="4919472" y="1700784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of: Broad Shared Role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919472" y="2157984"/>
            <a:ext cx="2816352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Functions → Administrator Role</a:t>
            </a:r>
            <a:endParaRPr lang="en-US" sz="1300" dirty="0"/>
          </a:p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can access every resource</a:t>
            </a:r>
            <a:endParaRPr lang="en-US" sz="1300" dirty="0"/>
          </a:p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compromised function risks everything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311896" y="1536192"/>
            <a:ext cx="3328416" cy="4480560"/>
          </a:xfrm>
          <a:prstGeom prst="roundRect">
            <a:avLst>
              <a:gd name="adj" fmla="val 2198"/>
            </a:avLst>
          </a:prstGeom>
          <a:solidFill>
            <a:srgbClr val="E9F6EE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2" name="Text 20"/>
          <p:cNvSpPr txBox="1"/>
          <p:nvPr/>
        </p:nvSpPr>
        <p:spPr>
          <a:xfrm>
            <a:off x="8567928" y="1700784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Separate, Scoped Permissions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567928" y="2157984"/>
            <a:ext cx="2816352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Function → Storage permissions</a:t>
            </a:r>
            <a:endParaRPr lang="en-US" sz="1300" dirty="0"/>
          </a:p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Function → Payment permissions</a:t>
            </a:r>
            <a:endParaRPr lang="en-US" sz="1300" dirty="0"/>
          </a:p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Function → Read-only database permissions</a:t>
            </a:r>
            <a:endParaRPr lang="en-US" sz="1300" dirty="0"/>
          </a:p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the blast radius if one function is compromised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AUTHENTICATION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Securing Serverless APIs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 txBox="1"/>
          <p:nvPr/>
        </p:nvSpPr>
        <p:spPr>
          <a:xfrm>
            <a:off x="640080" y="190195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286000"/>
            <a:ext cx="3566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404872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 txBox="1"/>
          <p:nvPr/>
        </p:nvSpPr>
        <p:spPr>
          <a:xfrm>
            <a:off x="640080" y="24048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788920"/>
            <a:ext cx="3566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907792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6" name="Text 14"/>
          <p:cNvSpPr txBox="1"/>
          <p:nvPr/>
        </p:nvSpPr>
        <p:spPr>
          <a:xfrm>
            <a:off x="640080" y="29077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291840"/>
            <a:ext cx="3566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410712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9" name="Text 17"/>
          <p:cNvSpPr txBox="1"/>
          <p:nvPr/>
        </p:nvSpPr>
        <p:spPr>
          <a:xfrm>
            <a:off x="640080" y="34107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794760"/>
            <a:ext cx="3566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913632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2" name="Text 20"/>
          <p:cNvSpPr txBox="1"/>
          <p:nvPr/>
        </p:nvSpPr>
        <p:spPr>
          <a:xfrm>
            <a:off x="640080" y="39136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/ Azure Function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1536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Security Controls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1901952"/>
            <a:ext cx="3566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438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authentication</a:t>
            </a:r>
            <a:endParaRPr lang="en-US" sz="1150" dirty="0"/>
          </a:p>
          <a:p>
            <a:pPr marL="177800" indent="-177800">
              <a:lnSpc>
                <a:spcPts val="1438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authorization</a:t>
            </a:r>
            <a:endParaRPr lang="en-US" sz="1150" dirty="0"/>
          </a:p>
          <a:p>
            <a:pPr marL="177800" indent="-177800">
              <a:lnSpc>
                <a:spcPts val="1438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/ HTTPS</a:t>
            </a:r>
            <a:endParaRPr lang="en-US" sz="1150" dirty="0"/>
          </a:p>
          <a:p>
            <a:pPr marL="177800" indent="-177800">
              <a:lnSpc>
                <a:spcPts val="1438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150" dirty="0"/>
          </a:p>
          <a:p>
            <a:pPr marL="177800" indent="-177800">
              <a:lnSpc>
                <a:spcPts val="1438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150" dirty="0"/>
          </a:p>
          <a:p>
            <a:pPr marL="177800" indent="-177800">
              <a:lnSpc>
                <a:spcPts val="1438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size limits</a:t>
            </a:r>
            <a:endParaRPr lang="en-US" sz="1150" dirty="0"/>
          </a:p>
          <a:p>
            <a:pPr marL="177800" indent="-177800">
              <a:lnSpc>
                <a:spcPts val="1438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logging</a:t>
            </a:r>
            <a:endParaRPr lang="en-US" sz="1150" dirty="0"/>
          </a:p>
          <a:p>
            <a:pPr marL="177800" indent="-177800">
              <a:lnSpc>
                <a:spcPts val="1438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error handling</a:t>
            </a:r>
            <a:endParaRPr lang="en-US" sz="1150" dirty="0"/>
          </a:p>
          <a:p>
            <a:pPr marL="177800" indent="-177800">
              <a:lnSpc>
                <a:spcPts val="1438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Firewall where appropriate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0" y="1536192"/>
            <a:ext cx="3410712" cy="2377440"/>
          </a:xfrm>
          <a:prstGeom prst="roundRect">
            <a:avLst>
              <a:gd name="adj" fmla="val 3077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6" name="Text 24"/>
          <p:cNvSpPr txBox="1"/>
          <p:nvPr/>
        </p:nvSpPr>
        <p:spPr>
          <a:xfrm>
            <a:off x="8485632" y="1536192"/>
            <a:ext cx="2898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kern="0" spc="100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PRINCIPLE
</a:t>
            </a:r>
            <a:endParaRPr lang="en-US" sz="1150" dirty="0"/>
          </a:p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asks: Who are you?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asks: Are you permitted to perform this action?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required.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CONFIGURATION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Management in Serverless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often require database passwords, API keys, tokens, certificates, and encryption keys. These should not be hard-coded into source code.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3055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50592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8A2A2A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1" name="Text 9"/>
          <p:cNvSpPr txBox="1"/>
          <p:nvPr/>
        </p:nvSpPr>
        <p:spPr>
          <a:xfrm>
            <a:off x="749808" y="2450592"/>
            <a:ext cx="4992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6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API_KEY = "abcd123456"</a:t>
            </a:r>
            <a:endParaRPr lang="en-US" sz="1200" dirty="0"/>
          </a:p>
          <a:p>
            <a:pPr marL="0" indent="0">
              <a:lnSpc>
                <a:spcPts val="156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DB_PASSWORD = "password123"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4787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Approach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13632"/>
            <a:ext cx="5394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Manager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Systems Manager Parameter Store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21305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Retrieval Flow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75120" y="2496312"/>
            <a:ext cx="4937760" cy="420624"/>
          </a:xfrm>
          <a:prstGeom prst="roundRect">
            <a:avLst>
              <a:gd name="adj" fmla="val 13043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6" name="Text 14"/>
          <p:cNvSpPr txBox="1"/>
          <p:nvPr/>
        </p:nvSpPr>
        <p:spPr>
          <a:xfrm>
            <a:off x="6766560" y="249631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2916936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0" y="3081528"/>
            <a:ext cx="4937760" cy="420624"/>
          </a:xfrm>
          <a:prstGeom prst="roundRect">
            <a:avLst>
              <a:gd name="adj" fmla="val 13043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9" name="Text 17"/>
          <p:cNvSpPr txBox="1"/>
          <p:nvPr/>
        </p:nvSpPr>
        <p:spPr>
          <a:xfrm>
            <a:off x="6766560" y="308152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Request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35021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75120" y="3666744"/>
            <a:ext cx="4937760" cy="420624"/>
          </a:xfrm>
          <a:prstGeom prst="roundRect">
            <a:avLst>
              <a:gd name="adj" fmla="val 13043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2" name="Text 20"/>
          <p:cNvSpPr txBox="1"/>
          <p:nvPr/>
        </p:nvSpPr>
        <p:spPr>
          <a:xfrm>
            <a:off x="6766560" y="366674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Manager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408736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75120" y="4251960"/>
            <a:ext cx="4937760" cy="420624"/>
          </a:xfrm>
          <a:prstGeom prst="roundRect">
            <a:avLst>
              <a:gd name="adj" fmla="val 13043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5" name="Text 23"/>
          <p:cNvSpPr txBox="1"/>
          <p:nvPr/>
        </p:nvSpPr>
        <p:spPr>
          <a:xfrm>
            <a:off x="6766560" y="425196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Secret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75120" y="5120640"/>
            <a:ext cx="4937760" cy="685800"/>
          </a:xfrm>
          <a:prstGeom prst="roundRect">
            <a:avLst>
              <a:gd name="adj" fmla="val 10667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7" name="Text 25"/>
          <p:cNvSpPr txBox="1"/>
          <p:nvPr/>
        </p:nvSpPr>
        <p:spPr>
          <a:xfrm>
            <a:off x="6931152" y="5120640"/>
            <a:ext cx="4425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secrets should also follow least privilege.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CONFIGURATION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Variables and Sensitive Data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are commonly used to provide configuration to serverless functions, e.g. DATABASE_HOST, API_ENDPOINT, REGION. Sensitive values require additional care.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221992"/>
            <a:ext cx="5387188" cy="3749040"/>
          </a:xfrm>
          <a:prstGeom prst="roundRect">
            <a:avLst>
              <a:gd name="adj" fmla="val 1951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 txBox="1"/>
          <p:nvPr/>
        </p:nvSpPr>
        <p:spPr>
          <a:xfrm>
            <a:off x="804672" y="2386584"/>
            <a:ext cx="48751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843784"/>
            <a:ext cx="487512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 exposure through logs</a:t>
            </a:r>
            <a:endParaRPr lang="en-US" sz="1300" dirty="0"/>
          </a:p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access permissions</a:t>
            </a:r>
            <a:endParaRPr lang="en-US" sz="1300" dirty="0"/>
          </a:p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output</a:t>
            </a:r>
            <a:endParaRPr lang="en-US" sz="1300" dirty="0"/>
          </a:p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leakage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55868" y="2221992"/>
            <a:ext cx="5387188" cy="3749040"/>
          </a:xfrm>
          <a:prstGeom prst="roundRect">
            <a:avLst>
              <a:gd name="adj" fmla="val 1951"/>
            </a:avLst>
          </a:prstGeom>
          <a:solidFill>
            <a:srgbClr val="E9F6EE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 txBox="1"/>
          <p:nvPr/>
        </p:nvSpPr>
        <p:spPr>
          <a:xfrm>
            <a:off x="6511900" y="2386584"/>
            <a:ext cx="48751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511900" y="2843784"/>
            <a:ext cx="487512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log secrets</a:t>
            </a:r>
            <a:endParaRPr lang="en-US" sz="1300" dirty="0"/>
          </a:p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access to function configuration</a:t>
            </a:r>
            <a:endParaRPr lang="en-US" sz="1300" dirty="0"/>
          </a:p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sensitive configuration where supported</a:t>
            </a:r>
            <a:endParaRPr lang="en-US" sz="1300" dirty="0"/>
          </a:p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dedicated secret-management systems for high-value secrets</a:t>
            </a:r>
            <a:endParaRPr lang="en-US" sz="1300" dirty="0"/>
          </a:p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credentials where appropriate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SUPPLY CHAIN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Dependency Security in Serverless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Function's Dependencies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 txBox="1"/>
          <p:nvPr/>
        </p:nvSpPr>
        <p:spPr>
          <a:xfrm>
            <a:off x="640080" y="19019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Code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286000"/>
            <a:ext cx="4206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404872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 txBox="1"/>
          <p:nvPr/>
        </p:nvSpPr>
        <p:spPr>
          <a:xfrm>
            <a:off x="640080" y="24048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Library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788920"/>
            <a:ext cx="4206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907792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6" name="Text 14"/>
          <p:cNvSpPr txBox="1"/>
          <p:nvPr/>
        </p:nvSpPr>
        <p:spPr>
          <a:xfrm>
            <a:off x="640080" y="29077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Library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291840"/>
            <a:ext cx="4206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410712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9" name="Text 17"/>
          <p:cNvSpPr txBox="1"/>
          <p:nvPr/>
        </p:nvSpPr>
        <p:spPr>
          <a:xfrm>
            <a:off x="640080" y="341071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Driver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794760"/>
            <a:ext cx="4206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913632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2" name="Text 20"/>
          <p:cNvSpPr txBox="1"/>
          <p:nvPr/>
        </p:nvSpPr>
        <p:spPr>
          <a:xfrm>
            <a:off x="640080" y="39136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Packages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25780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4" name="Text 22"/>
          <p:cNvSpPr txBox="1"/>
          <p:nvPr/>
        </p:nvSpPr>
        <p:spPr>
          <a:xfrm>
            <a:off x="804672" y="5257800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vulnerability in one dependency can make the entire function vulnerable.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1536192"/>
            <a:ext cx="6245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1901952"/>
            <a:ext cx="30175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25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dependency inventories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Software Composition Analysis (SCA)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unused dependencies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vulnerable packages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595360" y="1901952"/>
            <a:ext cx="30449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25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dependencies appropriately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 SBOM where required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trusted package repositories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394960" y="5257800"/>
            <a:ext cx="6245352" cy="914400"/>
          </a:xfrm>
          <a:prstGeom prst="roundRect">
            <a:avLst>
              <a:gd name="adj" fmla="val 8000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9" name="Text 27"/>
          <p:cNvSpPr txBox="1"/>
          <p:nvPr/>
        </p:nvSpPr>
        <p:spPr>
          <a:xfrm>
            <a:off x="5650992" y="5257800"/>
            <a:ext cx="5733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connects directly to the SCA concept covered in the secure CI/CD lecture.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SUPPLY CHAIN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 and Software Supply-Chain Security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Chain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 txBox="1"/>
          <p:nvPr/>
        </p:nvSpPr>
        <p:spPr>
          <a:xfrm>
            <a:off x="640080" y="19019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+ Open-Source Packages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359152"/>
            <a:ext cx="3566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487168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 txBox="1"/>
          <p:nvPr/>
        </p:nvSpPr>
        <p:spPr>
          <a:xfrm>
            <a:off x="640080" y="24871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944368"/>
            <a:ext cx="3566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072384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6" name="Text 14"/>
          <p:cNvSpPr txBox="1"/>
          <p:nvPr/>
        </p:nvSpPr>
        <p:spPr>
          <a:xfrm>
            <a:off x="640080" y="30723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529584"/>
            <a:ext cx="3566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9" name="Text 17"/>
          <p:cNvSpPr txBox="1"/>
          <p:nvPr/>
        </p:nvSpPr>
        <p:spPr>
          <a:xfrm>
            <a:off x="640080" y="3657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Configuration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114800"/>
            <a:ext cx="3566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242816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2" name="Text 20"/>
          <p:cNvSpPr txBox="1"/>
          <p:nvPr/>
        </p:nvSpPr>
        <p:spPr>
          <a:xfrm>
            <a:off x="640080" y="42428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Deployment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80560" y="1536192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4" name="Text 22"/>
          <p:cNvSpPr txBox="1"/>
          <p:nvPr/>
        </p:nvSpPr>
        <p:spPr>
          <a:xfrm>
            <a:off x="4736592" y="1536192"/>
            <a:ext cx="3054096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kern="0" spc="100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COULD COMPROMISE
</a:t>
            </a:r>
            <a:endParaRPr lang="en-US" sz="1150" dirty="0"/>
          </a:p>
          <a:p>
            <a:pPr marL="0" indent="0">
              <a:buNone/>
            </a:pPr>
            <a:r>
              <a:rPr lang="en-US" sz="1250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Dependency</a:t>
            </a:r>
            <a:endParaRPr lang="en-US" sz="1150" dirty="0"/>
          </a:p>
          <a:p>
            <a:pPr marL="0" indent="0">
              <a:buNone/>
            </a:pPr>
            <a:r>
              <a:rPr lang="en-US" sz="1250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Package repository</a:t>
            </a:r>
            <a:endParaRPr lang="en-US" sz="1150" dirty="0"/>
          </a:p>
          <a:p>
            <a:pPr marL="0" indent="0">
              <a:buNone/>
            </a:pPr>
            <a:r>
              <a:rPr lang="en-US" sz="1250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Source-code repository</a:t>
            </a:r>
            <a:endParaRPr lang="en-US" sz="1150" dirty="0"/>
          </a:p>
          <a:p>
            <a:pPr marL="0" indent="0">
              <a:buNone/>
            </a:pPr>
            <a:r>
              <a:rPr lang="en-US" sz="1250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pipeline</a:t>
            </a:r>
            <a:endParaRPr lang="en-US" sz="1150" dirty="0"/>
          </a:p>
          <a:p>
            <a:pPr marL="0" indent="0">
              <a:buNone/>
            </a:pPr>
            <a:r>
              <a:rPr lang="en-US" sz="1250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Deployment credentials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250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does not necessarily need to attack the running function directly.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1536192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1901952"/>
            <a:ext cx="341071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63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scanning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pinning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integrity verification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repositories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CI/CD credentials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Protection in Serverless Architectures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applications often process sensitive data across multiple managed services. Data should be protected across four dimensions: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084832"/>
            <a:ext cx="5410048" cy="1764792"/>
          </a:xfrm>
          <a:prstGeom prst="roundRect">
            <a:avLst>
              <a:gd name="adj" fmla="val 3627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0" name="Shape 8"/>
          <p:cNvSpPr/>
          <p:nvPr/>
        </p:nvSpPr>
        <p:spPr>
          <a:xfrm>
            <a:off x="694944" y="2212848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1" name="Text 9"/>
          <p:cNvSpPr txBox="1"/>
          <p:nvPr/>
        </p:nvSpPr>
        <p:spPr>
          <a:xfrm>
            <a:off x="694944" y="2212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212848"/>
            <a:ext cx="467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Rest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542032"/>
            <a:ext cx="508086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6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Databases, object storage, queues, and backups should be encrypted where appropriate.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3008" y="2084832"/>
            <a:ext cx="5410048" cy="1764792"/>
          </a:xfrm>
          <a:prstGeom prst="roundRect">
            <a:avLst>
              <a:gd name="adj" fmla="val 3627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5" name="Shape 13"/>
          <p:cNvSpPr/>
          <p:nvPr/>
        </p:nvSpPr>
        <p:spPr>
          <a:xfrm>
            <a:off x="6379312" y="2212848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6" name="Text 14"/>
          <p:cNvSpPr txBox="1"/>
          <p:nvPr/>
        </p:nvSpPr>
        <p:spPr>
          <a:xfrm>
            <a:off x="6379312" y="2212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99936" y="2212848"/>
            <a:ext cx="467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Transit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97600" y="2542032"/>
            <a:ext cx="508086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6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secure communication such as HTTPS and TLS.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5410048" cy="1764792"/>
          </a:xfrm>
          <a:prstGeom prst="roundRect">
            <a:avLst>
              <a:gd name="adj" fmla="val 3627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0" name="Shape 18"/>
          <p:cNvSpPr/>
          <p:nvPr/>
        </p:nvSpPr>
        <p:spPr>
          <a:xfrm>
            <a:off x="694944" y="4197096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1" name="Text 19"/>
          <p:cNvSpPr txBox="1"/>
          <p:nvPr/>
        </p:nvSpPr>
        <p:spPr>
          <a:xfrm>
            <a:off x="694944" y="4197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4197096"/>
            <a:ext cx="467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4526280"/>
            <a:ext cx="508086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6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IAM, least privilege, resource policies, and strong authentication.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33008" y="4069080"/>
            <a:ext cx="5410048" cy="1764792"/>
          </a:xfrm>
          <a:prstGeom prst="roundRect">
            <a:avLst>
              <a:gd name="adj" fmla="val 3627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5" name="Shape 23"/>
          <p:cNvSpPr/>
          <p:nvPr/>
        </p:nvSpPr>
        <p:spPr>
          <a:xfrm>
            <a:off x="6379312" y="4197096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6" name="Text 24"/>
          <p:cNvSpPr txBox="1"/>
          <p:nvPr/>
        </p:nvSpPr>
        <p:spPr>
          <a:xfrm>
            <a:off x="6379312" y="4197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799936" y="4197096"/>
            <a:ext cx="467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397600" y="4526280"/>
            <a:ext cx="508086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6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should access only the data they actually require.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Error Handling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functions should not expose sensitive technical information through error messages.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03911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Error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359152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8A2A2A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1" name="Text 9"/>
          <p:cNvSpPr txBox="1"/>
          <p:nvPr/>
        </p:nvSpPr>
        <p:spPr>
          <a:xfrm>
            <a:off x="749808" y="2359152"/>
            <a:ext cx="49926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95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connection failed:</a:t>
            </a:r>
            <a:endParaRPr lang="en-US" sz="1150" dirty="0"/>
          </a:p>
          <a:p>
            <a:pPr marL="0" indent="0">
              <a:lnSpc>
                <a:spcPts val="1495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username=admin</a:t>
            </a:r>
            <a:endParaRPr lang="en-US" sz="1150" dirty="0"/>
          </a:p>
          <a:p>
            <a:pPr marL="0" indent="0">
              <a:lnSpc>
                <a:spcPts val="1495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host=db.internal.company</a:t>
            </a:r>
            <a:endParaRPr lang="en-US" sz="1150" dirty="0"/>
          </a:p>
          <a:p>
            <a:pPr marL="0" indent="0">
              <a:lnSpc>
                <a:spcPts val="1495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password=...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0391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Error Handling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75120" y="2359152"/>
            <a:ext cx="4937760" cy="1234440"/>
          </a:xfrm>
          <a:prstGeom prst="roundRect">
            <a:avLst>
              <a:gd name="adj" fmla="val 4444"/>
            </a:avLst>
          </a:prstGeom>
          <a:solidFill>
            <a:srgbClr val="1E7A46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4" name="Text 12"/>
          <p:cNvSpPr txBox="1"/>
          <p:nvPr/>
        </p:nvSpPr>
        <p:spPr>
          <a:xfrm>
            <a:off x="6876288" y="2359152"/>
            <a:ext cx="45354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6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Unable to process the request.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82219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logs can contain enough diagnostic information for investigation but should avoid recording passwords, tokens, or other secrets.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1655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782312"/>
            <a:ext cx="110944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63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generic user-facing errors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appropriate diagnostic information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log secrets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exceptions securely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revealing internal architecture unnecessarily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&amp; RESILIENCE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Denial of Service and Resource Consumption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Pattern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 txBox="1"/>
          <p:nvPr/>
        </p:nvSpPr>
        <p:spPr>
          <a:xfrm>
            <a:off x="640080" y="190195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(mass requests)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286000"/>
            <a:ext cx="3566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404872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 txBox="1"/>
          <p:nvPr/>
        </p:nvSpPr>
        <p:spPr>
          <a:xfrm>
            <a:off x="640080" y="24048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788920"/>
            <a:ext cx="3566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907792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6" name="Text 14"/>
          <p:cNvSpPr txBox="1"/>
          <p:nvPr/>
        </p:nvSpPr>
        <p:spPr>
          <a:xfrm>
            <a:off x="640080" y="29077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Function Executions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291840"/>
            <a:ext cx="3566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410712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9" name="Text 17"/>
          <p:cNvSpPr txBox="1"/>
          <p:nvPr/>
        </p:nvSpPr>
        <p:spPr>
          <a:xfrm>
            <a:off x="640080" y="34107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Consumption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794760"/>
            <a:ext cx="3566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913632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2" name="Text 20"/>
          <p:cNvSpPr txBox="1"/>
          <p:nvPr/>
        </p:nvSpPr>
        <p:spPr>
          <a:xfrm>
            <a:off x="640080" y="39136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Cost / Downstream Overload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1536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May Cause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1901952"/>
            <a:ext cx="3566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63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cloud costs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Exhaustion of concurrency limits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 of downstream databases/services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availability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1536192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1901952"/>
            <a:ext cx="341071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quotas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throttling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/ cost alerts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controls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/ DDoS protections where appropriate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8" name="Text 26"/>
          <p:cNvSpPr txBox="1"/>
          <p:nvPr/>
        </p:nvSpPr>
        <p:spPr>
          <a:xfrm>
            <a:off x="804672" y="5623560"/>
            <a:ext cx="105823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risk is sometimes described as Denial of Wallet — malicious activity that primarily causes excessive cloud consumption and cost.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&amp; RESILIENCE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Timeout and Resource Limits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Need Limits For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901952"/>
            <a:ext cx="5394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5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</a:t>
            </a:r>
            <a:endParaRPr lang="en-US" sz="1400" dirty="0"/>
          </a:p>
          <a:p>
            <a:pPr marL="177800" indent="-177800">
              <a:lnSpc>
                <a:spcPts val="175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  <a:p>
            <a:pPr marL="177800" indent="-177800">
              <a:lnSpc>
                <a:spcPts val="175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400" dirty="0"/>
          </a:p>
          <a:p>
            <a:pPr marL="177800" indent="-177800">
              <a:lnSpc>
                <a:spcPts val="175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size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2219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Limits Contribute To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187952"/>
            <a:ext cx="5394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5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400" dirty="0"/>
          </a:p>
          <a:p>
            <a:pPr marL="177800" indent="-177800">
              <a:lnSpc>
                <a:spcPts val="175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</a:t>
            </a:r>
            <a:endParaRPr lang="en-US" sz="1400" dirty="0"/>
          </a:p>
          <a:p>
            <a:pPr marL="177800" indent="-177800">
              <a:lnSpc>
                <a:spcPts val="175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400" dirty="0"/>
          </a:p>
          <a:p>
            <a:pPr marL="177800" indent="-177800">
              <a:lnSpc>
                <a:spcPts val="175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prevention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1536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75120" y="1901952"/>
            <a:ext cx="2331720" cy="1645920"/>
          </a:xfrm>
          <a:prstGeom prst="roundRect">
            <a:avLst>
              <a:gd name="adj" fmla="val 4444"/>
            </a:avLst>
          </a:prstGeom>
          <a:solidFill>
            <a:srgbClr val="E9F6EE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4" name="Text 12"/>
          <p:cNvSpPr txBox="1"/>
          <p:nvPr/>
        </p:nvSpPr>
        <p:spPr>
          <a:xfrm>
            <a:off x="6931152" y="2066544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931152" y="2523744"/>
            <a:ext cx="18196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25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= 2 seconds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281160" y="1901952"/>
            <a:ext cx="2331720" cy="1645920"/>
          </a:xfrm>
          <a:prstGeom prst="roundRect">
            <a:avLst>
              <a:gd name="adj" fmla="val 4444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7" name="Text 15"/>
          <p:cNvSpPr txBox="1"/>
          <p:nvPr/>
        </p:nvSpPr>
        <p:spPr>
          <a:xfrm>
            <a:off x="9537192" y="2066544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9537192" y="2523744"/>
            <a:ext cx="18196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25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= 10 minutes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75120" y="411480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0" name="Text 18"/>
          <p:cNvSpPr txBox="1"/>
          <p:nvPr/>
        </p:nvSpPr>
        <p:spPr>
          <a:xfrm>
            <a:off x="6931152" y="4114800"/>
            <a:ext cx="4425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configured timeout can terminate unexpectedly long execution before it causes wider impact.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 Security Best Practices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36192"/>
            <a:ext cx="2567864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 txBox="1"/>
          <p:nvPr/>
        </p:nvSpPr>
        <p:spPr>
          <a:xfrm>
            <a:off x="713232" y="1645920"/>
            <a:ext cx="223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Security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1993392"/>
            <a:ext cx="22386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inputs · secure coding · minimize permissions · handle errors securely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90824" y="1536192"/>
            <a:ext cx="2567864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2" name="Text 10"/>
          <p:cNvSpPr txBox="1"/>
          <p:nvPr/>
        </p:nvSpPr>
        <p:spPr>
          <a:xfrm>
            <a:off x="3555416" y="1645920"/>
            <a:ext cx="223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55416" y="1993392"/>
            <a:ext cx="22386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· separate roles · avoid long-lived credentials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3008" y="1536192"/>
            <a:ext cx="2567864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5" name="Text 13"/>
          <p:cNvSpPr txBox="1"/>
          <p:nvPr/>
        </p:nvSpPr>
        <p:spPr>
          <a:xfrm>
            <a:off x="6397600" y="1645920"/>
            <a:ext cx="223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97600" y="1993392"/>
            <a:ext cx="22386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managed secret storage · never hard-code secrets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75191" y="1536192"/>
            <a:ext cx="2567864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8" name="Text 16"/>
          <p:cNvSpPr txBox="1"/>
          <p:nvPr/>
        </p:nvSpPr>
        <p:spPr>
          <a:xfrm>
            <a:off x="9239783" y="1645920"/>
            <a:ext cx="223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239783" y="1993392"/>
            <a:ext cx="22386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dependencies · patch vulnerable packages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2567864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1" name="Text 19"/>
          <p:cNvSpPr txBox="1"/>
          <p:nvPr/>
        </p:nvSpPr>
        <p:spPr>
          <a:xfrm>
            <a:off x="713232" y="3995928"/>
            <a:ext cx="223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4343400"/>
            <a:ext cx="22386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sensitive data · restrict access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90824" y="3886200"/>
            <a:ext cx="2567864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4" name="Text 22"/>
          <p:cNvSpPr txBox="1"/>
          <p:nvPr/>
        </p:nvSpPr>
        <p:spPr>
          <a:xfrm>
            <a:off x="3555416" y="3995928"/>
            <a:ext cx="223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555416" y="4343400"/>
            <a:ext cx="22386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&amp; authorize requests · apply rate limiting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33008" y="3886200"/>
            <a:ext cx="2567864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7" name="Text 25"/>
          <p:cNvSpPr txBox="1"/>
          <p:nvPr/>
        </p:nvSpPr>
        <p:spPr>
          <a:xfrm>
            <a:off x="6397600" y="3995928"/>
            <a:ext cx="223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397600" y="4343400"/>
            <a:ext cx="22386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logging · monitor unusual activity · configure alerts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2194560" y="4206240"/>
            <a:ext cx="4572000" cy="45720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Shape 2"/>
          <p:cNvSpPr/>
          <p:nvPr/>
        </p:nvSpPr>
        <p:spPr>
          <a:xfrm>
            <a:off x="9784080" y="5120640"/>
            <a:ext cx="1828800" cy="1828800"/>
          </a:xfrm>
          <a:prstGeom prst="ellipse">
            <a:avLst/>
          </a:prstGeom>
          <a:solidFill>
            <a:srgbClr val="0090C9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 txBox="1"/>
          <p:nvPr/>
        </p:nvSpPr>
        <p:spPr>
          <a:xfrm>
            <a:off x="822960" y="2788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15468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 Security Monitoring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Monitor Serverless Applications?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infrastructure is highly dynamic. Traditional server monitoring techniques alone are therefore insufficient.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3055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May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496312"/>
            <a:ext cx="5394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5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automatically</a:t>
            </a:r>
            <a:endParaRPr lang="en-US" sz="1400" dirty="0"/>
          </a:p>
          <a:p>
            <a:pPr marL="177800" indent="-177800">
              <a:lnSpc>
                <a:spcPts val="175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for milliseconds or seconds</a:t>
            </a:r>
            <a:endParaRPr lang="en-US" sz="1400" dirty="0"/>
          </a:p>
          <a:p>
            <a:pPr marL="177800" indent="-177800">
              <a:lnSpc>
                <a:spcPts val="175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rapidly</a:t>
            </a:r>
            <a:endParaRPr lang="en-US" sz="1400" dirty="0"/>
          </a:p>
          <a:p>
            <a:pPr marL="177800" indent="-177800">
              <a:lnSpc>
                <a:spcPts val="175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after completing work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1305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Need Visibility Into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496312"/>
            <a:ext cx="49377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invocation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activity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&amp; API requests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changes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changes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execution patterns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2194560" y="4206240"/>
            <a:ext cx="4572000" cy="45720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Shape 2"/>
          <p:cNvSpPr/>
          <p:nvPr/>
        </p:nvSpPr>
        <p:spPr>
          <a:xfrm>
            <a:off x="9784080" y="5120640"/>
            <a:ext cx="1828800" cy="1828800"/>
          </a:xfrm>
          <a:prstGeom prst="ellipse">
            <a:avLst/>
          </a:prstGeom>
          <a:solidFill>
            <a:srgbClr val="0090C9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 txBox="1"/>
          <p:nvPr/>
        </p:nvSpPr>
        <p:spPr>
          <a:xfrm>
            <a:off x="1097280" y="22860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5176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We Monitor?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6576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F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should establish what normal behavior looks like, so that unusual behavior can be identified.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 Logging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 May Include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901952"/>
            <a:ext cx="3657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identifier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Request/event identifier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result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performed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status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security context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15361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Log Entry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0" y="1901952"/>
            <a:ext cx="3840480" cy="1828800"/>
          </a:xfrm>
          <a:prstGeom prst="roundRect">
            <a:avLst>
              <a:gd name="adj" fmla="val 3000"/>
            </a:avLst>
          </a:prstGeom>
          <a:solidFill>
            <a:srgbClr val="1B2733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2" name="Text 10"/>
          <p:cNvSpPr txBox="1"/>
          <p:nvPr/>
        </p:nvSpPr>
        <p:spPr>
          <a:xfrm>
            <a:off x="4315968" y="1901952"/>
            <a:ext cx="3438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3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2026-09-22 10:22:05</a:t>
            </a:r>
            <a:endParaRPr lang="en-US" sz="1100" dirty="0"/>
          </a:p>
          <a:p>
            <a:pPr marL="0" indent="0">
              <a:lnSpc>
                <a:spcPts val="143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Function: PaymentProcessor</a:t>
            </a:r>
            <a:endParaRPr lang="en-US" sz="1100" dirty="0"/>
          </a:p>
          <a:p>
            <a:pPr marL="0" indent="0">
              <a:lnSpc>
                <a:spcPts val="143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customer-102</a:t>
            </a:r>
            <a:endParaRPr lang="en-US" sz="1100" dirty="0"/>
          </a:p>
          <a:p>
            <a:pPr marL="0" indent="0">
              <a:lnSpc>
                <a:spcPts val="143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 ProcessPayment</a:t>
            </a:r>
            <a:endParaRPr lang="en-US" sz="1100" dirty="0"/>
          </a:p>
          <a:p>
            <a:pPr marL="0" indent="0">
              <a:lnSpc>
                <a:spcPts val="143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Result: SUCCESS</a:t>
            </a:r>
            <a:endParaRPr lang="en-US" sz="1100" dirty="0"/>
          </a:p>
          <a:p>
            <a:pPr marL="0" indent="0">
              <a:lnSpc>
                <a:spcPts val="143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Request-ID: ABC123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66760" y="1536192"/>
            <a:ext cx="3273552" cy="4206240"/>
          </a:xfrm>
          <a:prstGeom prst="roundRect">
            <a:avLst>
              <a:gd name="adj" fmla="val 2235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4" name="Text 12"/>
          <p:cNvSpPr txBox="1"/>
          <p:nvPr/>
        </p:nvSpPr>
        <p:spPr>
          <a:xfrm>
            <a:off x="8622792" y="1536192"/>
            <a:ext cx="276148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kern="0" spc="100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LOGGING
</a:t>
            </a:r>
            <a:endParaRPr lang="en-US" sz="1150" dirty="0"/>
          </a:p>
          <a:p>
            <a:pPr marL="0" indent="0">
              <a:buNone/>
            </a:pPr>
            <a:r>
              <a:rPr lang="en-US" sz="1250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Passwords</a:t>
            </a:r>
            <a:endParaRPr lang="en-US" sz="1150" dirty="0"/>
          </a:p>
          <a:p>
            <a:pPr marL="0" indent="0">
              <a:buNone/>
            </a:pPr>
            <a:r>
              <a:rPr lang="en-US" sz="1250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 tokens</a:t>
            </a:r>
            <a:endParaRPr lang="en-US" sz="1150" dirty="0"/>
          </a:p>
          <a:p>
            <a:pPr marL="0" indent="0">
              <a:buNone/>
            </a:pPr>
            <a:r>
              <a:rPr lang="en-US" sz="1250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Private keys</a:t>
            </a:r>
            <a:endParaRPr lang="en-US" sz="1150" dirty="0"/>
          </a:p>
          <a:p>
            <a:pPr marL="0" indent="0">
              <a:buNone/>
            </a:pPr>
            <a:r>
              <a:rPr lang="en-US" sz="1250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payment-card data</a:t>
            </a:r>
            <a:endParaRPr lang="en-US" sz="1150" dirty="0"/>
          </a:p>
          <a:p>
            <a:pPr marL="0" indent="0">
              <a:buNone/>
            </a:pPr>
            <a:r>
              <a:rPr lang="en-US" sz="1250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Sensitive personal information unless explicitly required and properly protected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Serverless Monitoring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36192"/>
            <a:ext cx="5410048" cy="1673352"/>
          </a:xfrm>
          <a:prstGeom prst="roundRect">
            <a:avLst>
              <a:gd name="adj" fmla="val 3825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9" name="Shape 7"/>
          <p:cNvSpPr/>
          <p:nvPr/>
        </p:nvSpPr>
        <p:spPr>
          <a:xfrm>
            <a:off x="694944" y="1664208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 txBox="1"/>
          <p:nvPr/>
        </p:nvSpPr>
        <p:spPr>
          <a:xfrm>
            <a:off x="694944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1664208"/>
            <a:ext cx="467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CloudWatch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1993392"/>
            <a:ext cx="508086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6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metrics, alarms, and function performance information.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33008" y="1536192"/>
            <a:ext cx="5410048" cy="1673352"/>
          </a:xfrm>
          <a:prstGeom prst="roundRect">
            <a:avLst>
              <a:gd name="adj" fmla="val 3825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4" name="Shape 12"/>
          <p:cNvSpPr/>
          <p:nvPr/>
        </p:nvSpPr>
        <p:spPr>
          <a:xfrm>
            <a:off x="6379312" y="1664208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5" name="Text 13"/>
          <p:cNvSpPr txBox="1"/>
          <p:nvPr/>
        </p:nvSpPr>
        <p:spPr>
          <a:xfrm>
            <a:off x="6379312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99936" y="1664208"/>
            <a:ext cx="467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CloudTrail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97600" y="1993392"/>
            <a:ext cx="508086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6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AWS API and account activity for security auditing and investigation.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5410048" cy="1673352"/>
          </a:xfrm>
          <a:prstGeom prst="roundRect">
            <a:avLst>
              <a:gd name="adj" fmla="val 3825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9" name="Shape 17"/>
          <p:cNvSpPr/>
          <p:nvPr/>
        </p:nvSpPr>
        <p:spPr>
          <a:xfrm>
            <a:off x="694944" y="3557016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0" name="Text 18"/>
          <p:cNvSpPr txBox="1"/>
          <p:nvPr/>
        </p:nvSpPr>
        <p:spPr>
          <a:xfrm>
            <a:off x="694944" y="3557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" y="3557016"/>
            <a:ext cx="467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X-Ray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3886200"/>
            <a:ext cx="508086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6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 to understand requests across distributed applications.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33008" y="3429000"/>
            <a:ext cx="5410048" cy="1673352"/>
          </a:xfrm>
          <a:prstGeom prst="roundRect">
            <a:avLst>
              <a:gd name="adj" fmla="val 3825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4" name="Shape 22"/>
          <p:cNvSpPr/>
          <p:nvPr/>
        </p:nvSpPr>
        <p:spPr>
          <a:xfrm>
            <a:off x="6379312" y="3557016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5" name="Text 23"/>
          <p:cNvSpPr txBox="1"/>
          <p:nvPr/>
        </p:nvSpPr>
        <p:spPr>
          <a:xfrm>
            <a:off x="6379312" y="3557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799936" y="3557016"/>
            <a:ext cx="467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GuardDuty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397600" y="3886200"/>
            <a:ext cx="508086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6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 using signals from supported AWS data sources and services.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62356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9" name="Text 27"/>
          <p:cNvSpPr txBox="1"/>
          <p:nvPr/>
        </p:nvSpPr>
        <p:spPr>
          <a:xfrm>
            <a:off x="804672" y="5623560"/>
            <a:ext cx="105823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services provide different types of visibility rather than serving exactly the same purpose.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Serverless Monitoring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36192"/>
            <a:ext cx="3515258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9" name="Shape 7"/>
          <p:cNvSpPr/>
          <p:nvPr/>
        </p:nvSpPr>
        <p:spPr>
          <a:xfrm>
            <a:off x="694944" y="1664208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 txBox="1"/>
          <p:nvPr/>
        </p:nvSpPr>
        <p:spPr>
          <a:xfrm>
            <a:off x="694944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1664208"/>
            <a:ext cx="2783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1993392"/>
            <a:ext cx="318607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and analyzes telemetry from Azure resources.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38218" y="1536192"/>
            <a:ext cx="3515258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4" name="Shape 12"/>
          <p:cNvSpPr/>
          <p:nvPr/>
        </p:nvSpPr>
        <p:spPr>
          <a:xfrm>
            <a:off x="4484522" y="1664208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5" name="Text 13"/>
          <p:cNvSpPr txBox="1"/>
          <p:nvPr/>
        </p:nvSpPr>
        <p:spPr>
          <a:xfrm>
            <a:off x="4484522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905146" y="1664208"/>
            <a:ext cx="2783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Insights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02810" y="1993392"/>
            <a:ext cx="318607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performance monitoring and request-level visibility, including for Azure Functions.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27797" y="1536192"/>
            <a:ext cx="3515258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9" name="Shape 17"/>
          <p:cNvSpPr/>
          <p:nvPr/>
        </p:nvSpPr>
        <p:spPr>
          <a:xfrm>
            <a:off x="8274101" y="1664208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0" name="Text 18"/>
          <p:cNvSpPr txBox="1"/>
          <p:nvPr/>
        </p:nvSpPr>
        <p:spPr>
          <a:xfrm>
            <a:off x="8274101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94725" y="1664208"/>
            <a:ext cx="2783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Defender for Cloud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92389" y="1993392"/>
            <a:ext cx="318607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 management and workload protection capabilities.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3515258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4" name="Shape 22"/>
          <p:cNvSpPr/>
          <p:nvPr/>
        </p:nvSpPr>
        <p:spPr>
          <a:xfrm>
            <a:off x="694944" y="4014216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5" name="Text 23"/>
          <p:cNvSpPr txBox="1"/>
          <p:nvPr/>
        </p:nvSpPr>
        <p:spPr>
          <a:xfrm>
            <a:off x="694944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" y="4014216"/>
            <a:ext cx="2783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Sentinel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4343400"/>
            <a:ext cx="318607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SIEM/SOAR capabilities for centralized security analytics, investigation, and response.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38218" y="3886200"/>
            <a:ext cx="3515258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9" name="Shape 27"/>
          <p:cNvSpPr/>
          <p:nvPr/>
        </p:nvSpPr>
        <p:spPr>
          <a:xfrm>
            <a:off x="4484522" y="4014216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0" name="Text 28"/>
          <p:cNvSpPr txBox="1"/>
          <p:nvPr/>
        </p:nvSpPr>
        <p:spPr>
          <a:xfrm>
            <a:off x="4484522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905146" y="4014216"/>
            <a:ext cx="2783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Activity Log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02810" y="4343400"/>
            <a:ext cx="318607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subscription-level Azure control-plane events.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Suspicious Serverless Behavior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Indicators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901952"/>
            <a:ext cx="30175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increase in function invocations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authentication failures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executing at unusual times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IAM changes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unusual cloud resources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1901952"/>
            <a:ext cx="30175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outbound network connections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 transfers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API requests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configuration changes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cloud costs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0" y="1536192"/>
            <a:ext cx="2208276" cy="2743200"/>
          </a:xfrm>
          <a:prstGeom prst="roundRect">
            <a:avLst>
              <a:gd name="adj" fmla="val 3313"/>
            </a:avLst>
          </a:prstGeom>
          <a:solidFill>
            <a:srgbClr val="E9F6EE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2" name="Text 10"/>
          <p:cNvSpPr txBox="1"/>
          <p:nvPr/>
        </p:nvSpPr>
        <p:spPr>
          <a:xfrm>
            <a:off x="7205472" y="1700784"/>
            <a:ext cx="16962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205472" y="2157984"/>
            <a:ext cx="16962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Function → Payment Database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432036" y="1536192"/>
            <a:ext cx="2208276" cy="2743200"/>
          </a:xfrm>
          <a:prstGeom prst="roundRect">
            <a:avLst>
              <a:gd name="adj" fmla="val 3313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5" name="Text 13"/>
          <p:cNvSpPr txBox="1"/>
          <p:nvPr/>
        </p:nvSpPr>
        <p:spPr>
          <a:xfrm>
            <a:off x="9688068" y="1700784"/>
            <a:ext cx="16962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9688068" y="2157984"/>
            <a:ext cx="16962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Function → Unknown External Host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3931920"/>
            <a:ext cx="4690872" cy="685800"/>
          </a:xfrm>
          <a:prstGeom prst="roundRect">
            <a:avLst>
              <a:gd name="adj" fmla="val 10667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8" name="Text 16"/>
          <p:cNvSpPr txBox="1"/>
          <p:nvPr/>
        </p:nvSpPr>
        <p:spPr>
          <a:xfrm>
            <a:off x="7205472" y="3931920"/>
            <a:ext cx="4178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behavior should generate an investigation.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 and Automated Detection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Flow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3566160" cy="420624"/>
          </a:xfrm>
          <a:prstGeom prst="roundRect">
            <a:avLst>
              <a:gd name="adj" fmla="val 13043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 txBox="1"/>
          <p:nvPr/>
        </p:nvSpPr>
        <p:spPr>
          <a:xfrm>
            <a:off x="640080" y="190195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Logs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322576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459736"/>
            <a:ext cx="3566160" cy="420624"/>
          </a:xfrm>
          <a:prstGeom prst="roundRect">
            <a:avLst>
              <a:gd name="adj" fmla="val 13043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 txBox="1"/>
          <p:nvPr/>
        </p:nvSpPr>
        <p:spPr>
          <a:xfrm>
            <a:off x="640080" y="245973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Rule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880360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3566160" cy="420624"/>
          </a:xfrm>
          <a:prstGeom prst="roundRect">
            <a:avLst>
              <a:gd name="adj" fmla="val 13043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6" name="Text 14"/>
          <p:cNvSpPr txBox="1"/>
          <p:nvPr/>
        </p:nvSpPr>
        <p:spPr>
          <a:xfrm>
            <a:off x="640080" y="301752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Event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438144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575304"/>
            <a:ext cx="3566160" cy="420624"/>
          </a:xfrm>
          <a:prstGeom prst="roundRect">
            <a:avLst>
              <a:gd name="adj" fmla="val 13043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9" name="Text 17"/>
          <p:cNvSpPr txBox="1"/>
          <p:nvPr/>
        </p:nvSpPr>
        <p:spPr>
          <a:xfrm>
            <a:off x="640080" y="357530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995928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133088"/>
            <a:ext cx="3566160" cy="420624"/>
          </a:xfrm>
          <a:prstGeom prst="roundRect">
            <a:avLst>
              <a:gd name="adj" fmla="val 13043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2" name="Text 20"/>
          <p:cNvSpPr txBox="1"/>
          <p:nvPr/>
        </p:nvSpPr>
        <p:spPr>
          <a:xfrm>
            <a:off x="640080" y="413308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1536192"/>
            <a:ext cx="7159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Alert Conditions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1901952"/>
            <a:ext cx="3474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63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role assigned unexpectedly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modified outside approved deployment process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number of failed API requests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1901952"/>
            <a:ext cx="35021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63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secret access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spike in function execution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configuration disabled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480560" y="5257800"/>
            <a:ext cx="7159752" cy="914400"/>
          </a:xfrm>
          <a:prstGeom prst="roundRect">
            <a:avLst>
              <a:gd name="adj" fmla="val 8000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7" name="Text 25"/>
          <p:cNvSpPr txBox="1"/>
          <p:nvPr/>
        </p:nvSpPr>
        <p:spPr>
          <a:xfrm>
            <a:off x="4736592" y="5257800"/>
            <a:ext cx="6647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should be prioritized according to severity and risk to avoid overwhelming security teams.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2194560" y="4206240"/>
            <a:ext cx="4572000" cy="45720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Shape 2"/>
          <p:cNvSpPr/>
          <p:nvPr/>
        </p:nvSpPr>
        <p:spPr>
          <a:xfrm>
            <a:off x="9784080" y="5120640"/>
            <a:ext cx="1828800" cy="1828800"/>
          </a:xfrm>
          <a:prstGeom prst="ellipse">
            <a:avLst/>
          </a:prstGeom>
          <a:solidFill>
            <a:srgbClr val="0090C9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 txBox="1"/>
          <p:nvPr/>
        </p:nvSpPr>
        <p:spPr>
          <a:xfrm>
            <a:off x="822960" y="2788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15468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 Incident Response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Response in Serverless Environments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Incident Response Lifecycle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47672"/>
            <a:ext cx="1681429" cy="685800"/>
          </a:xfrm>
          <a:prstGeom prst="roundRect">
            <a:avLst>
              <a:gd name="adj" fmla="val 8000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 txBox="1"/>
          <p:nvPr/>
        </p:nvSpPr>
        <p:spPr>
          <a:xfrm>
            <a:off x="585216" y="1947672"/>
            <a:ext cx="160827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230069" y="1947672"/>
            <a:ext cx="201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31237" y="1947672"/>
            <a:ext cx="1681429" cy="685800"/>
          </a:xfrm>
          <a:prstGeom prst="roundRect">
            <a:avLst>
              <a:gd name="adj" fmla="val 8000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 txBox="1"/>
          <p:nvPr/>
        </p:nvSpPr>
        <p:spPr>
          <a:xfrm>
            <a:off x="2467813" y="1947672"/>
            <a:ext cx="160827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112666" y="1947672"/>
            <a:ext cx="201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13834" y="1947672"/>
            <a:ext cx="1681429" cy="685800"/>
          </a:xfrm>
          <a:prstGeom prst="roundRect">
            <a:avLst>
              <a:gd name="adj" fmla="val 8000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6" name="Text 14"/>
          <p:cNvSpPr txBox="1"/>
          <p:nvPr/>
        </p:nvSpPr>
        <p:spPr>
          <a:xfrm>
            <a:off x="4350410" y="1947672"/>
            <a:ext cx="160827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995264" y="1947672"/>
            <a:ext cx="201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96432" y="1947672"/>
            <a:ext cx="1681429" cy="685800"/>
          </a:xfrm>
          <a:prstGeom prst="roundRect">
            <a:avLst>
              <a:gd name="adj" fmla="val 8000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9" name="Text 17"/>
          <p:cNvSpPr txBox="1"/>
          <p:nvPr/>
        </p:nvSpPr>
        <p:spPr>
          <a:xfrm>
            <a:off x="6233008" y="1947672"/>
            <a:ext cx="160827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Eradication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877861" y="1947672"/>
            <a:ext cx="201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79029" y="1947672"/>
            <a:ext cx="1681429" cy="685800"/>
          </a:xfrm>
          <a:prstGeom prst="roundRect">
            <a:avLst>
              <a:gd name="adj" fmla="val 8000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2" name="Text 20"/>
          <p:cNvSpPr txBox="1"/>
          <p:nvPr/>
        </p:nvSpPr>
        <p:spPr>
          <a:xfrm>
            <a:off x="8115605" y="1947672"/>
            <a:ext cx="160827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760458" y="1947672"/>
            <a:ext cx="201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961626" y="1947672"/>
            <a:ext cx="1681429" cy="685800"/>
          </a:xfrm>
          <a:prstGeom prst="roundRect">
            <a:avLst>
              <a:gd name="adj" fmla="val 8000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5" name="Text 23"/>
          <p:cNvSpPr txBox="1"/>
          <p:nvPr/>
        </p:nvSpPr>
        <p:spPr>
          <a:xfrm>
            <a:off x="9998202" y="1947672"/>
            <a:ext cx="160827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2953512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environments change how evidence is collected and how containment is performed, since customers may not have direct access to the underlying server.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6850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Relies Heavily 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050792"/>
            <a:ext cx="110944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audit logs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logs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logs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records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history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telemetry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Serverless Security Incident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an AWS Lambda function used to process customer documents. An attacker obtains credentials with excessive permissions.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08483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Chain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50592"/>
            <a:ext cx="5394960" cy="402336"/>
          </a:xfrm>
          <a:prstGeom prst="roundRect">
            <a:avLst>
              <a:gd name="adj" fmla="val 13636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1" name="Text 9"/>
          <p:cNvSpPr txBox="1"/>
          <p:nvPr/>
        </p:nvSpPr>
        <p:spPr>
          <a:xfrm>
            <a:off x="640080" y="2450592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Credentials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852928"/>
            <a:ext cx="5394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5394960" cy="402336"/>
          </a:xfrm>
          <a:prstGeom prst="roundRect">
            <a:avLst>
              <a:gd name="adj" fmla="val 13636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4" name="Text 12"/>
          <p:cNvSpPr txBox="1"/>
          <p:nvPr/>
        </p:nvSpPr>
        <p:spPr>
          <a:xfrm>
            <a:off x="640080" y="2971800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Account Access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374136"/>
            <a:ext cx="5394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493008"/>
            <a:ext cx="5394960" cy="402336"/>
          </a:xfrm>
          <a:prstGeom prst="roundRect">
            <a:avLst>
              <a:gd name="adj" fmla="val 13636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7" name="Text 15"/>
          <p:cNvSpPr txBox="1"/>
          <p:nvPr/>
        </p:nvSpPr>
        <p:spPr>
          <a:xfrm>
            <a:off x="640080" y="3493008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Lambda Function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895344"/>
            <a:ext cx="5394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014216"/>
            <a:ext cx="5394960" cy="402336"/>
          </a:xfrm>
          <a:prstGeom prst="roundRect">
            <a:avLst>
              <a:gd name="adj" fmla="val 13636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0" name="Text 18"/>
          <p:cNvSpPr txBox="1"/>
          <p:nvPr/>
        </p:nvSpPr>
        <p:spPr>
          <a:xfrm>
            <a:off x="640080" y="4014216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Code Added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416552"/>
            <a:ext cx="5394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535424"/>
            <a:ext cx="5394960" cy="402336"/>
          </a:xfrm>
          <a:prstGeom prst="roundRect">
            <a:avLst>
              <a:gd name="adj" fmla="val 13636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3" name="Text 21"/>
          <p:cNvSpPr txBox="1"/>
          <p:nvPr/>
        </p:nvSpPr>
        <p:spPr>
          <a:xfrm>
            <a:off x="640080" y="4535424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Accessed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937760"/>
            <a:ext cx="5394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056632"/>
            <a:ext cx="5394960" cy="402336"/>
          </a:xfrm>
          <a:prstGeom prst="roundRect">
            <a:avLst>
              <a:gd name="adj" fmla="val 13636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6" name="Text 24"/>
          <p:cNvSpPr txBox="1"/>
          <p:nvPr/>
        </p:nvSpPr>
        <p:spPr>
          <a:xfrm>
            <a:off x="640080" y="5056632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Sent Externally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20848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Evidence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2450592"/>
            <a:ext cx="49377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63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events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configuration history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logs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activity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activity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Storage-access logs</a:t>
            </a:r>
            <a:endParaRPr lang="en-US" sz="1250" dirty="0"/>
          </a:p>
          <a:p>
            <a:pPr marL="177800" indent="-177800">
              <a:lnSpc>
                <a:spcPts val="1563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telemetry where available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the Incident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First Detected Through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901952"/>
            <a:ext cx="5394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25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Lambda modification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administrator activity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outbound communication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data access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alert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API activity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75120" y="1536192"/>
            <a:ext cx="4937760" cy="3931920"/>
          </a:xfrm>
          <a:prstGeom prst="roundRect">
            <a:avLst>
              <a:gd name="adj" fmla="val 1860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1" name="Text 9"/>
          <p:cNvSpPr txBox="1"/>
          <p:nvPr/>
        </p:nvSpPr>
        <p:spPr>
          <a:xfrm>
            <a:off x="6931152" y="1536192"/>
            <a:ext cx="442569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kern="0" spc="100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QUESTIONS
</a:t>
            </a:r>
            <a:endParaRPr lang="en-US" sz="1150" dirty="0"/>
          </a:p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modified the function?</a:t>
            </a:r>
            <a:endParaRPr lang="en-US" sz="1150" dirty="0"/>
          </a:p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was it modified?</a:t>
            </a:r>
            <a:endParaRPr lang="en-US" sz="1150" dirty="0"/>
          </a:p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credentials were used?</a:t>
            </a:r>
            <a:endParaRPr lang="en-US" sz="1150" dirty="0"/>
          </a:p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permissions did those credentials have?</a:t>
            </a:r>
            <a:endParaRPr lang="en-US" sz="1150" dirty="0"/>
          </a:p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did the function access?</a:t>
            </a:r>
            <a:endParaRPr lang="en-US" sz="1150" dirty="0"/>
          </a:p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other resources affected?</a:t>
            </a:r>
            <a:endParaRPr lang="en-US" sz="1150" dirty="0"/>
          </a:p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information exfiltrated?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Containment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of containment is to stop the attack and prevent additional damage.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039112"/>
            <a:ext cx="5394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25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compromised credentials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active sessions/tokens where supported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IAM permissions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or isolate affected function/event source where appropriate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039112"/>
            <a:ext cx="49377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25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malicious API access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exposed secrets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access to affected data</a:t>
            </a:r>
            <a:endParaRPr lang="en-US" sz="1300" dirty="0"/>
          </a:p>
          <a:p>
            <a:pPr marL="177800" indent="-177800">
              <a:lnSpc>
                <a:spcPts val="1625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relevant logs and evidence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62356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2" name="Text 10"/>
          <p:cNvSpPr txBox="1"/>
          <p:nvPr/>
        </p:nvSpPr>
        <p:spPr>
          <a:xfrm>
            <a:off x="804672" y="5623560"/>
            <a:ext cx="105823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actions should be chosen carefully to balance security and service availability.</a:t>
            </a:r>
            <a:endParaRPr lang="en-US" sz="1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Eradication and Recovery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36192"/>
            <a:ext cx="5387188" cy="4480560"/>
          </a:xfrm>
          <a:prstGeom prst="roundRect">
            <a:avLst>
              <a:gd name="adj" fmla="val 1633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 txBox="1"/>
          <p:nvPr/>
        </p:nvSpPr>
        <p:spPr>
          <a:xfrm>
            <a:off x="804672" y="1700784"/>
            <a:ext cx="48751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Eradication - Remove the Cause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157984"/>
            <a:ext cx="4875124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malicious function code</a:t>
            </a:r>
            <a:endParaRPr lang="en-US" sz="1300" dirty="0"/>
          </a:p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vulnerable application code</a:t>
            </a:r>
            <a:endParaRPr lang="en-US" sz="1300" dirty="0"/>
          </a:p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malicious dependencies</a:t>
            </a:r>
            <a:endParaRPr lang="en-US" sz="1300" dirty="0"/>
          </a:p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IAM policies</a:t>
            </a:r>
            <a:endParaRPr lang="en-US" sz="1300" dirty="0"/>
          </a:p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compromised credentials</a:t>
            </a:r>
            <a:endParaRPr lang="en-US" sz="1300" dirty="0"/>
          </a:p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insecure cloud configurations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55868" y="1536192"/>
            <a:ext cx="5387188" cy="4480560"/>
          </a:xfrm>
          <a:prstGeom prst="roundRect">
            <a:avLst>
              <a:gd name="adj" fmla="val 1633"/>
            </a:avLst>
          </a:prstGeom>
          <a:solidFill>
            <a:srgbClr val="E9F6EE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2" name="Text 10"/>
          <p:cNvSpPr txBox="1"/>
          <p:nvPr/>
        </p:nvSpPr>
        <p:spPr>
          <a:xfrm>
            <a:off x="6511900" y="1700784"/>
            <a:ext cx="48751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- Restore Trusted Services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511900" y="2157984"/>
            <a:ext cx="4875124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Redeploy known-good functions from an approved artifact</a:t>
            </a:r>
            <a:endParaRPr lang="en-US" sz="1300" dirty="0"/>
          </a:p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secure configuration</a:t>
            </a:r>
            <a:endParaRPr lang="en-US" sz="1300" dirty="0"/>
          </a:p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IAM permissions</a:t>
            </a:r>
            <a:endParaRPr lang="en-US" sz="1300" dirty="0"/>
          </a:p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Re-enable event sources</a:t>
            </a:r>
            <a:endParaRPr lang="en-US" sz="1300" dirty="0"/>
          </a:p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monitoring temporarily</a:t>
            </a:r>
            <a:endParaRPr lang="en-US" sz="1300" dirty="0"/>
          </a:p>
          <a:p>
            <a:pPr marL="177800" indent="-177800">
              <a:lnSpc>
                <a:spcPts val="1586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normal application behavior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 Forensics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digital forensics may involve imaging physical disks or examining a persistent server. Serverless environments are different - the underlying execution infrastructure is managed by the cloud provider and function instances may be short-lived, so investigations rely heavily on cloud-native evidence.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4963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Evidence May Include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862072"/>
            <a:ext cx="32918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logs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audit logs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logs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logs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access records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audit logs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862072"/>
            <a:ext cx="32918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configuration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history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repository history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logs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0" y="2496312"/>
            <a:ext cx="3867912" cy="2468880"/>
          </a:xfrm>
          <a:prstGeom prst="roundRect">
            <a:avLst>
              <a:gd name="adj" fmla="val 2963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 txBox="1"/>
          <p:nvPr/>
        </p:nvSpPr>
        <p:spPr>
          <a:xfrm>
            <a:off x="8028432" y="2496312"/>
            <a:ext cx="33558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kern="0" spc="100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PRINCIPLE
</a:t>
            </a:r>
            <a:endParaRPr lang="en-US" sz="1150" dirty="0"/>
          </a:p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and audit configuration must be established before an incident occurs. Evidence that was never collected may be impossible to reconstruct later.</a:t>
            </a:r>
            <a:endParaRPr lang="en-US" sz="11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FEEDBACK LOOP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 Incident Response and DevSecOps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4023360" cy="310896"/>
          </a:xfrm>
          <a:prstGeom prst="roundRect">
            <a:avLst>
              <a:gd name="adj" fmla="val 17647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 txBox="1"/>
          <p:nvPr/>
        </p:nvSpPr>
        <p:spPr>
          <a:xfrm>
            <a:off x="640080" y="190195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212848"/>
            <a:ext cx="40233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4023360" cy="310896"/>
          </a:xfrm>
          <a:prstGeom prst="roundRect">
            <a:avLst>
              <a:gd name="adj" fmla="val 17647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 txBox="1"/>
          <p:nvPr/>
        </p:nvSpPr>
        <p:spPr>
          <a:xfrm>
            <a:off x="640080" y="22860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596896"/>
            <a:ext cx="40233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670048"/>
            <a:ext cx="4023360" cy="310896"/>
          </a:xfrm>
          <a:prstGeom prst="roundRect">
            <a:avLst>
              <a:gd name="adj" fmla="val 17647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6" name="Text 14"/>
          <p:cNvSpPr txBox="1"/>
          <p:nvPr/>
        </p:nvSpPr>
        <p:spPr>
          <a:xfrm>
            <a:off x="640080" y="26700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980944"/>
            <a:ext cx="40233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054096"/>
            <a:ext cx="4023360" cy="310896"/>
          </a:xfrm>
          <a:prstGeom prst="roundRect">
            <a:avLst>
              <a:gd name="adj" fmla="val 17647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9" name="Text 17"/>
          <p:cNvSpPr txBox="1"/>
          <p:nvPr/>
        </p:nvSpPr>
        <p:spPr>
          <a:xfrm>
            <a:off x="640080" y="305409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Improvement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364992"/>
            <a:ext cx="40233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438144"/>
            <a:ext cx="4023360" cy="310896"/>
          </a:xfrm>
          <a:prstGeom prst="roundRect">
            <a:avLst>
              <a:gd name="adj" fmla="val 17647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2" name="Text 20"/>
          <p:cNvSpPr txBox="1"/>
          <p:nvPr/>
        </p:nvSpPr>
        <p:spPr>
          <a:xfrm>
            <a:off x="640080" y="34381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/ Config / IAM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749040"/>
            <a:ext cx="40233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3822192"/>
            <a:ext cx="4023360" cy="310896"/>
          </a:xfrm>
          <a:prstGeom prst="roundRect">
            <a:avLst>
              <a:gd name="adj" fmla="val 17647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5" name="Text 23"/>
          <p:cNvSpPr txBox="1"/>
          <p:nvPr/>
        </p:nvSpPr>
        <p:spPr>
          <a:xfrm>
            <a:off x="640080" y="38221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133088"/>
            <a:ext cx="40233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206240"/>
            <a:ext cx="4023360" cy="310896"/>
          </a:xfrm>
          <a:prstGeom prst="roundRect">
            <a:avLst>
              <a:gd name="adj" fmla="val 17647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8" name="Text 26"/>
          <p:cNvSpPr txBox="1"/>
          <p:nvPr/>
        </p:nvSpPr>
        <p:spPr>
          <a:xfrm>
            <a:off x="640080" y="42062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Redeployment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517136"/>
            <a:ext cx="40233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590288"/>
            <a:ext cx="4023360" cy="310896"/>
          </a:xfrm>
          <a:prstGeom prst="roundRect">
            <a:avLst>
              <a:gd name="adj" fmla="val 17647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1" name="Text 29"/>
          <p:cNvSpPr txBox="1"/>
          <p:nvPr/>
        </p:nvSpPr>
        <p:spPr>
          <a:xfrm>
            <a:off x="640080" y="459028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937760" y="1536192"/>
            <a:ext cx="6702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937760" y="1901952"/>
            <a:ext cx="6702552" cy="786384"/>
          </a:xfrm>
          <a:prstGeom prst="roundRect">
            <a:avLst>
              <a:gd name="adj" fmla="val 6977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4" name="Text 32"/>
          <p:cNvSpPr txBox="1"/>
          <p:nvPr/>
        </p:nvSpPr>
        <p:spPr>
          <a:xfrm>
            <a:off x="5120640" y="1901952"/>
            <a:ext cx="6355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Incident: </a:t>
            </a: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dependency exploited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Improve SCA and dependency policies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937760" y="2816352"/>
            <a:ext cx="6702552" cy="786384"/>
          </a:xfrm>
          <a:prstGeom prst="roundRect">
            <a:avLst>
              <a:gd name="adj" fmla="val 6977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6" name="Text 34"/>
          <p:cNvSpPr txBox="1"/>
          <p:nvPr/>
        </p:nvSpPr>
        <p:spPr>
          <a:xfrm>
            <a:off x="5120640" y="2816352"/>
            <a:ext cx="6355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Incident: </a:t>
            </a: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IAM permission abused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Improve least-privilege policies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937760" y="3730752"/>
            <a:ext cx="6702552" cy="786384"/>
          </a:xfrm>
          <a:prstGeom prst="roundRect">
            <a:avLst>
              <a:gd name="adj" fmla="val 6977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8" name="Text 36"/>
          <p:cNvSpPr txBox="1"/>
          <p:nvPr/>
        </p:nvSpPr>
        <p:spPr>
          <a:xfrm>
            <a:off x="5120640" y="3730752"/>
            <a:ext cx="6355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Incident: </a:t>
            </a: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leaked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secret scanning and improve secret management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937760" y="4645152"/>
            <a:ext cx="6702552" cy="786384"/>
          </a:xfrm>
          <a:prstGeom prst="roundRect">
            <a:avLst>
              <a:gd name="adj" fmla="val 6977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0" name="Text 38"/>
          <p:cNvSpPr txBox="1"/>
          <p:nvPr/>
        </p:nvSpPr>
        <p:spPr>
          <a:xfrm>
            <a:off x="5120640" y="4645152"/>
            <a:ext cx="6355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Incident: </a:t>
            </a: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function modification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Strengthen CI/CD deployment controls and audit alerts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INTEGRATION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 Security Across the Lifecycle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10512"/>
            <a:ext cx="1443838" cy="3291840"/>
          </a:xfrm>
          <a:prstGeom prst="roundRect">
            <a:avLst>
              <a:gd name="adj" fmla="val 4433"/>
            </a:avLst>
          </a:prstGeom>
          <a:solidFill>
            <a:srgbClr val="0B3D6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 txBox="1"/>
          <p:nvPr/>
        </p:nvSpPr>
        <p:spPr>
          <a:xfrm>
            <a:off x="621792" y="1993392"/>
            <a:ext cx="1297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542032"/>
            <a:ext cx="126095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992478" y="3090672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57070" y="1810512"/>
            <a:ext cx="1443838" cy="3291840"/>
          </a:xfrm>
          <a:prstGeom prst="roundRect">
            <a:avLst>
              <a:gd name="adj" fmla="val 4433"/>
            </a:avLst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 txBox="1"/>
          <p:nvPr/>
        </p:nvSpPr>
        <p:spPr>
          <a:xfrm>
            <a:off x="2230222" y="1993392"/>
            <a:ext cx="1297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248510" y="2542032"/>
            <a:ext cx="126095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Coding, SAST, Secret Scanning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600907" y="3090672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65499" y="1810512"/>
            <a:ext cx="1443838" cy="3291840"/>
          </a:xfrm>
          <a:prstGeom prst="roundRect">
            <a:avLst>
              <a:gd name="adj" fmla="val 4433"/>
            </a:avLst>
          </a:prstGeom>
          <a:solidFill>
            <a:srgbClr val="0B3D6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7" name="Text 15"/>
          <p:cNvSpPr txBox="1"/>
          <p:nvPr/>
        </p:nvSpPr>
        <p:spPr>
          <a:xfrm>
            <a:off x="3838651" y="1993392"/>
            <a:ext cx="1297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856939" y="2542032"/>
            <a:ext cx="126095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SCA, Dependency Verification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209337" y="3090672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73929" y="1810512"/>
            <a:ext cx="1443838" cy="3291840"/>
          </a:xfrm>
          <a:prstGeom prst="roundRect">
            <a:avLst>
              <a:gd name="adj" fmla="val 4433"/>
            </a:avLst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1" name="Text 19"/>
          <p:cNvSpPr txBox="1"/>
          <p:nvPr/>
        </p:nvSpPr>
        <p:spPr>
          <a:xfrm>
            <a:off x="5447081" y="1993392"/>
            <a:ext cx="1297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65369" y="2542032"/>
            <a:ext cx="126095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Validation, Config Checks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817766" y="3090672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82358" y="1810512"/>
            <a:ext cx="1443838" cy="3291840"/>
          </a:xfrm>
          <a:prstGeom prst="roundRect">
            <a:avLst>
              <a:gd name="adj" fmla="val 4433"/>
            </a:avLst>
          </a:prstGeom>
          <a:solidFill>
            <a:srgbClr val="0B3D6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5" name="Text 23"/>
          <p:cNvSpPr txBox="1"/>
          <p:nvPr/>
        </p:nvSpPr>
        <p:spPr>
          <a:xfrm>
            <a:off x="7055510" y="1993392"/>
            <a:ext cx="1297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073798" y="2542032"/>
            <a:ext cx="126095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Monitoring, Threat Detection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426196" y="3090672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590788" y="1810512"/>
            <a:ext cx="1443838" cy="3291840"/>
          </a:xfrm>
          <a:prstGeom prst="roundRect">
            <a:avLst>
              <a:gd name="adj" fmla="val 4433"/>
            </a:avLst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9" name="Text 27"/>
          <p:cNvSpPr txBox="1"/>
          <p:nvPr/>
        </p:nvSpPr>
        <p:spPr>
          <a:xfrm>
            <a:off x="8663940" y="1993392"/>
            <a:ext cx="1297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682228" y="2542032"/>
            <a:ext cx="126095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Contain, Investigate, Recover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0034626" y="3090672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199218" y="1810512"/>
            <a:ext cx="1443838" cy="3291840"/>
          </a:xfrm>
          <a:prstGeom prst="roundRect">
            <a:avLst>
              <a:gd name="adj" fmla="val 4433"/>
            </a:avLst>
          </a:prstGeom>
          <a:solidFill>
            <a:srgbClr val="0B3D6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3" name="Text 31"/>
          <p:cNvSpPr txBox="1"/>
          <p:nvPr/>
        </p:nvSpPr>
        <p:spPr>
          <a:xfrm>
            <a:off x="10272370" y="1993392"/>
            <a:ext cx="1297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0290658" y="2542032"/>
            <a:ext cx="126095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Findings Back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62356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6" name="Text 34"/>
          <p:cNvSpPr txBox="1"/>
          <p:nvPr/>
        </p:nvSpPr>
        <p:spPr>
          <a:xfrm>
            <a:off x="804672" y="5623560"/>
            <a:ext cx="105823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direct connection between serverless security and DevSecOps.</a:t>
            </a:r>
            <a:endParaRPr lang="en-US" sz="12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B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2194560" y="4206240"/>
            <a:ext cx="4572000" cy="45720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Shape 2"/>
          <p:cNvSpPr/>
          <p:nvPr/>
        </p:nvSpPr>
        <p:spPr>
          <a:xfrm>
            <a:off x="9784080" y="5120640"/>
            <a:ext cx="1828800" cy="1828800"/>
          </a:xfrm>
          <a:prstGeom prst="ellipse">
            <a:avLst/>
          </a:prstGeom>
          <a:solidFill>
            <a:srgbClr val="0090C9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 txBox="1"/>
          <p:nvPr/>
        </p:nvSpPr>
        <p:spPr>
          <a:xfrm>
            <a:off x="914400" y="2103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COMPARISON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Lambda vs Azure Functions: Security View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29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names differ, but the security objectives remain similar: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88620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100" b="1" i="1" dirty="0">
                <a:solidFill>
                  <a:srgbClr val="6FD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identity + least privilege + secure code +</a:t>
            </a:r>
            <a:endParaRPr lang="en-US" sz="21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2100" b="1" i="1" dirty="0">
                <a:solidFill>
                  <a:srgbClr val="6FD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protected secrets + secure APIs + monitoring + incident response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 Security Best-Practice Checklist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36192"/>
            <a:ext cx="2581580" cy="2057400"/>
          </a:xfrm>
          <a:prstGeom prst="roundRect">
            <a:avLst>
              <a:gd name="adj" fmla="val 2667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 txBox="1"/>
          <p:nvPr/>
        </p:nvSpPr>
        <p:spPr>
          <a:xfrm>
            <a:off x="685800" y="1609344"/>
            <a:ext cx="230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01952"/>
            <a:ext cx="23072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Secure coding practices followed</a:t>
            </a:r>
            <a:endParaRPr lang="en-US" sz="950" dirty="0"/>
          </a:p>
          <a:p>
            <a:pPr marL="0" indent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Input validated</a:t>
            </a:r>
            <a:endParaRPr lang="en-US" sz="950" dirty="0"/>
          </a:p>
          <a:p>
            <a:pPr marL="0" indent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SAST completed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6252" y="1536192"/>
            <a:ext cx="2581580" cy="2057400"/>
          </a:xfrm>
          <a:prstGeom prst="roundRect">
            <a:avLst>
              <a:gd name="adj" fmla="val 2667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2" name="Text 10"/>
          <p:cNvSpPr txBox="1"/>
          <p:nvPr/>
        </p:nvSpPr>
        <p:spPr>
          <a:xfrm>
            <a:off x="3523412" y="1609344"/>
            <a:ext cx="230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523412" y="1901952"/>
            <a:ext cx="23072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SCA completed</a:t>
            </a:r>
            <a:endParaRPr lang="en-US" sz="950" dirty="0"/>
          </a:p>
          <a:p>
            <a:pPr marL="0" indent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Vulnerable packages updated</a:t>
            </a:r>
            <a:endParaRPr lang="en-US" sz="950" dirty="0"/>
          </a:p>
          <a:p>
            <a:pPr marL="0" indent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Unnecessary packages removed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23864" y="1536192"/>
            <a:ext cx="2581580" cy="2057400"/>
          </a:xfrm>
          <a:prstGeom prst="roundRect">
            <a:avLst>
              <a:gd name="adj" fmla="val 2667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5" name="Text 13"/>
          <p:cNvSpPr txBox="1"/>
          <p:nvPr/>
        </p:nvSpPr>
        <p:spPr>
          <a:xfrm>
            <a:off x="6361024" y="1609344"/>
            <a:ext cx="230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361024" y="1901952"/>
            <a:ext cx="23072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Least privilege applied</a:t>
            </a:r>
            <a:endParaRPr lang="en-US" sz="950" dirty="0"/>
          </a:p>
          <a:p>
            <a:pPr marL="0" indent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Separate function roles used</a:t>
            </a:r>
            <a:endParaRPr lang="en-US" sz="950" dirty="0"/>
          </a:p>
          <a:p>
            <a:pPr marL="0" indent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Excessive permissions removed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61475" y="1536192"/>
            <a:ext cx="2581580" cy="2057400"/>
          </a:xfrm>
          <a:prstGeom prst="roundRect">
            <a:avLst>
              <a:gd name="adj" fmla="val 2667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8" name="Text 16"/>
          <p:cNvSpPr txBox="1"/>
          <p:nvPr/>
        </p:nvSpPr>
        <p:spPr>
          <a:xfrm>
            <a:off x="9198635" y="1609344"/>
            <a:ext cx="230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198635" y="1901952"/>
            <a:ext cx="23072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hard-coded credentials</a:t>
            </a:r>
            <a:endParaRPr lang="en-US" sz="950" dirty="0"/>
          </a:p>
          <a:p>
            <a:pPr marL="0" indent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Secret manager used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776472"/>
            <a:ext cx="2581580" cy="2057400"/>
          </a:xfrm>
          <a:prstGeom prst="roundRect">
            <a:avLst>
              <a:gd name="adj" fmla="val 2667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1" name="Text 19"/>
          <p:cNvSpPr txBox="1"/>
          <p:nvPr/>
        </p:nvSpPr>
        <p:spPr>
          <a:xfrm>
            <a:off x="685800" y="3849624"/>
            <a:ext cx="230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142232"/>
            <a:ext cx="23072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Authentication enabled</a:t>
            </a:r>
            <a:endParaRPr lang="en-US" sz="950" dirty="0"/>
          </a:p>
          <a:p>
            <a:pPr marL="0" indent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Authorization enforced</a:t>
            </a:r>
            <a:endParaRPr lang="en-US" sz="950" dirty="0"/>
          </a:p>
          <a:p>
            <a:pPr marL="0" indent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Rate limiting considered</a:t>
            </a:r>
            <a:endParaRPr lang="en-US" sz="950" dirty="0"/>
          </a:p>
          <a:p>
            <a:pPr marL="0" indent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HTTPS used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86252" y="3776472"/>
            <a:ext cx="2581580" cy="2057400"/>
          </a:xfrm>
          <a:prstGeom prst="roundRect">
            <a:avLst>
              <a:gd name="adj" fmla="val 2667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4" name="Text 22"/>
          <p:cNvSpPr txBox="1"/>
          <p:nvPr/>
        </p:nvSpPr>
        <p:spPr>
          <a:xfrm>
            <a:off x="3523412" y="3849624"/>
            <a:ext cx="230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3523412" y="4142232"/>
            <a:ext cx="23072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Sensitive data encrypted</a:t>
            </a:r>
            <a:endParaRPr lang="en-US" sz="950" dirty="0"/>
          </a:p>
          <a:p>
            <a:pPr marL="0" indent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Access restricted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23864" y="3776472"/>
            <a:ext cx="2581580" cy="2057400"/>
          </a:xfrm>
          <a:prstGeom prst="roundRect">
            <a:avLst>
              <a:gd name="adj" fmla="val 2667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7" name="Text 25"/>
          <p:cNvSpPr txBox="1"/>
          <p:nvPr/>
        </p:nvSpPr>
        <p:spPr>
          <a:xfrm>
            <a:off x="6361024" y="3849624"/>
            <a:ext cx="230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361024" y="4142232"/>
            <a:ext cx="23072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Function logging enabled</a:t>
            </a:r>
            <a:endParaRPr lang="en-US" sz="950" dirty="0"/>
          </a:p>
          <a:p>
            <a:pPr marL="0" indent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Audit logging enabled</a:t>
            </a:r>
            <a:endParaRPr lang="en-US" sz="950" dirty="0"/>
          </a:p>
          <a:p>
            <a:pPr marL="0" indent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Security alerts configured</a:t>
            </a:r>
            <a:endParaRPr lang="en-US" sz="950" dirty="0"/>
          </a:p>
          <a:p>
            <a:pPr marL="0" indent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Abnormal activity monitored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61475" y="3776472"/>
            <a:ext cx="2581580" cy="2057400"/>
          </a:xfrm>
          <a:prstGeom prst="roundRect">
            <a:avLst>
              <a:gd name="adj" fmla="val 2667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0" name="Text 28"/>
          <p:cNvSpPr txBox="1"/>
          <p:nvPr/>
        </p:nvSpPr>
        <p:spPr>
          <a:xfrm>
            <a:off x="9198635" y="3849624"/>
            <a:ext cx="230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9198635" y="4142232"/>
            <a:ext cx="23072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Response procedures documented</a:t>
            </a:r>
            <a:endParaRPr lang="en-US" sz="950" dirty="0"/>
          </a:p>
          <a:p>
            <a:pPr marL="0" indent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Logs retained appropriately</a:t>
            </a:r>
            <a:endParaRPr lang="en-US" sz="950" dirty="0"/>
          </a:p>
          <a:p>
            <a:pPr marL="0" indent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Recovery/deployment mechanism available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SUMMARY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Cloud-Native and Serverless Security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36192"/>
            <a:ext cx="3515258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9" name="Shape 7"/>
          <p:cNvSpPr/>
          <p:nvPr/>
        </p:nvSpPr>
        <p:spPr>
          <a:xfrm>
            <a:off x="694944" y="1664208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 txBox="1"/>
          <p:nvPr/>
        </p:nvSpPr>
        <p:spPr>
          <a:xfrm>
            <a:off x="694944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1664208"/>
            <a:ext cx="2783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and Serverless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1993392"/>
            <a:ext cx="318607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computing allows developers to execute applications without directly managing the underlying servers.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38218" y="1536192"/>
            <a:ext cx="3515258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4" name="Shape 12"/>
          <p:cNvSpPr/>
          <p:nvPr/>
        </p:nvSpPr>
        <p:spPr>
          <a:xfrm>
            <a:off x="4484522" y="1664208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5" name="Text 13"/>
          <p:cNvSpPr txBox="1"/>
          <p:nvPr/>
        </p:nvSpPr>
        <p:spPr>
          <a:xfrm>
            <a:off x="4484522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905146" y="1664208"/>
            <a:ext cx="2783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Does Not Mean Security-Free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02810" y="1993392"/>
            <a:ext cx="318607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remain responsible for code, IAM, data, secrets, dependencies, APIs, and configuration.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27797" y="1536192"/>
            <a:ext cx="3515258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9" name="Shape 17"/>
          <p:cNvSpPr/>
          <p:nvPr/>
        </p:nvSpPr>
        <p:spPr>
          <a:xfrm>
            <a:off x="8274101" y="1664208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0" name="Text 18"/>
          <p:cNvSpPr txBox="1"/>
          <p:nvPr/>
        </p:nvSpPr>
        <p:spPr>
          <a:xfrm>
            <a:off x="8274101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94725" y="1664208"/>
            <a:ext cx="2783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Security Principles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92389" y="1993392"/>
            <a:ext cx="318607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privilege, secure coding, input validation, strong auth, secret management, dependency security, encryption, continuous monitoring.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3515258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4" name="Shape 22"/>
          <p:cNvSpPr/>
          <p:nvPr/>
        </p:nvSpPr>
        <p:spPr>
          <a:xfrm>
            <a:off x="694944" y="4014216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5" name="Text 23"/>
          <p:cNvSpPr txBox="1"/>
          <p:nvPr/>
        </p:nvSpPr>
        <p:spPr>
          <a:xfrm>
            <a:off x="694944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" y="4014216"/>
            <a:ext cx="2783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4343400"/>
            <a:ext cx="318607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logs, metrics, audit records, and traces provide visibility into serverless environments.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38218" y="3886200"/>
            <a:ext cx="3515258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9" name="Shape 27"/>
          <p:cNvSpPr/>
          <p:nvPr/>
        </p:nvSpPr>
        <p:spPr>
          <a:xfrm>
            <a:off x="4484522" y="4014216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0" name="Text 28"/>
          <p:cNvSpPr txBox="1"/>
          <p:nvPr/>
        </p:nvSpPr>
        <p:spPr>
          <a:xfrm>
            <a:off x="4484522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905146" y="4014216"/>
            <a:ext cx="2783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502810" y="4343400"/>
            <a:ext cx="318607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→ Analyze → Contain → Eradicate → Recover → Improve.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127797" y="3886200"/>
            <a:ext cx="3515258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C9DBEE"/>
            </a:solidFill>
            <a:prstDash val="solid"/>
          </a:ln>
          <a:effectLst>
            <a:outerShdw blurRad="76200" dist="25400" dir="5400000" algn="bl" rotWithShape="0">
              <a:srgbClr val="1B2733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34" name="Shape 32"/>
          <p:cNvSpPr/>
          <p:nvPr/>
        </p:nvSpPr>
        <p:spPr>
          <a:xfrm>
            <a:off x="8274101" y="4014216"/>
            <a:ext cx="310896" cy="310896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5" name="Text 33"/>
          <p:cNvSpPr txBox="1"/>
          <p:nvPr/>
        </p:nvSpPr>
        <p:spPr>
          <a:xfrm>
            <a:off x="8274101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694725" y="4014216"/>
            <a:ext cx="2783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Connection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8292389" y="4343400"/>
            <a:ext cx="318607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security must be integrated into development, CI/CD, deployment, runtime monitoring, and incident response.</a:t>
            </a:r>
            <a:endParaRPr lang="en-US" sz="10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B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2194560" y="4206240"/>
            <a:ext cx="4572000" cy="45720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Shape 2"/>
          <p:cNvSpPr/>
          <p:nvPr/>
        </p:nvSpPr>
        <p:spPr>
          <a:xfrm>
            <a:off x="9784080" y="5120640"/>
            <a:ext cx="1828800" cy="1828800"/>
          </a:xfrm>
          <a:prstGeom prst="ellipse">
            <a:avLst/>
          </a:prstGeom>
          <a:solidFill>
            <a:srgbClr val="0090C9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 txBox="1"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10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3833</Words>
  <Application>Microsoft Macintosh PowerPoint</Application>
  <PresentationFormat>Widescreen</PresentationFormat>
  <Paragraphs>1062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Ayesha Wijesooriya</dc:creator>
  <cp:lastModifiedBy>JAYAWICKRAMA P C it22310064</cp:lastModifiedBy>
  <cp:revision>2</cp:revision>
  <dcterms:created xsi:type="dcterms:W3CDTF">2026-09-26T21:21:54Z</dcterms:created>
  <dcterms:modified xsi:type="dcterms:W3CDTF">2026-09-26T21:29:18Z</dcterms:modified>
</cp:coreProperties>
</file>