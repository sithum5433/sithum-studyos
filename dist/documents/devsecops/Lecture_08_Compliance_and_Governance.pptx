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-2011680"/>
            <a:ext cx="5943600" cy="59436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08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9692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and Governance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219456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1605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7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Security Governance, Risk Management &amp; Regulatory Compliance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07008"/>
            <a:ext cx="822960" cy="45720"/>
          </a:xfrm>
          <a:prstGeom prst="rect">
            <a:avLst/>
          </a:prstGeom>
          <a:solidFill>
            <a:srgbClr val="3E63DD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9705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705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600200"/>
            <a:ext cx="10058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relationship between information security governance, risk management and compliance.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280160" y="2743200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1135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1135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2743200"/>
            <a:ext cx="10058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major compliance requirements using GDPR and HIPAA and explain ENISA’s role.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280160" y="3886200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42565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2565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3886200"/>
            <a:ext cx="10058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and implement appropriate security controls to support compliance objectives.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280160" y="5029200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53995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3995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5029200"/>
            <a:ext cx="10058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audits, assessments, evidence collection and compliance reporting are performed.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Information Security Governance?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07008"/>
            <a:ext cx="822960" cy="45720"/>
          </a:xfrm>
          <a:prstGeom prst="rect">
            <a:avLst/>
          </a:prstGeom>
          <a:solidFill>
            <a:srgbClr val="3E63DD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9705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705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600200"/>
            <a:ext cx="10058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security governance is the system used to direct, control and oversee an organization’s security activities.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280160" y="2743200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1135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1135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2743200"/>
            <a:ext cx="10058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aligns security objectives with business objectives, legal obligations and risk appetite.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280160" y="3886200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42565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2565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3886200"/>
            <a:ext cx="10058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establishes accountability: who makes decisions, who owns risks and who verifies that controls work.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280160" y="5029200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53995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3995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5029200"/>
            <a:ext cx="10058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governance mechanisms include policies, standards, procedures, committees, metrics and management reviews.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Information Security Governance?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Governance, Risk and Compliance (GRC)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170432"/>
            <a:ext cx="822960" cy="45720"/>
          </a:xfrm>
          <a:prstGeom prst="rect">
            <a:avLst/>
          </a:prstGeom>
          <a:solidFill>
            <a:srgbClr val="3E63DD"/>
          </a:solidFill>
          <a:ln/>
        </p:spPr>
      </p:sp>
      <p:sp>
        <p:nvSpPr>
          <p:cNvPr id="4" name="Shape 2"/>
          <p:cNvSpPr/>
          <p:nvPr/>
        </p:nvSpPr>
        <p:spPr>
          <a:xfrm>
            <a:off x="7955280" y="1783080"/>
            <a:ext cx="1737360" cy="1737360"/>
          </a:xfrm>
          <a:prstGeom prst="ellipse">
            <a:avLst/>
          </a:prstGeom>
          <a:solidFill>
            <a:srgbClr val="1E2761">
              <a:alpha val="8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189720" y="1783080"/>
            <a:ext cx="1737360" cy="1737360"/>
          </a:xfrm>
          <a:prstGeom prst="ellipse">
            <a:avLst/>
          </a:prstGeom>
          <a:solidFill>
            <a:srgbClr val="3E63DD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572500" y="2788920"/>
            <a:ext cx="1737360" cy="1737360"/>
          </a:xfrm>
          <a:prstGeom prst="ellipse">
            <a:avLst/>
          </a:prstGeom>
          <a:solidFill>
            <a:srgbClr val="6E8FE8">
              <a:alpha val="8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955280" y="178308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9189720" y="178308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572500" y="278892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640080" y="202311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2311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1645920"/>
            <a:ext cx="6675120" cy="1120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Governance: establishes direction, responsibilities and decision-making structures.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14325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14325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2766060"/>
            <a:ext cx="6675120" cy="1120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 identifies threats and vulnerabilities, evaluates risk and selects appropriate treatments.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26339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26339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3886200"/>
            <a:ext cx="6675120" cy="1120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Compliance: demonstrates that required laws, regulations, contracts, policies and standards are being followed.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538353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38353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5006340"/>
            <a:ext cx="6675120" cy="1120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GRC integrates these activities, so security is managed systematically rather than as isolated technical tasks.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Governance, Risk and Compliance (GRC)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Compliance Matters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07008"/>
            <a:ext cx="822960" cy="45720"/>
          </a:xfrm>
          <a:prstGeom prst="rect">
            <a:avLst/>
          </a:prstGeom>
          <a:solidFill>
            <a:srgbClr val="3E63DD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8562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56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600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personal, financial, health and other sensitive information.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280160" y="2514600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7706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70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25146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legal, financial, operational and reputational exposure.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280160" y="3429000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6850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685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34290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minimum expectations for security and privacy practices.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280160" y="4343400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45994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599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43434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accountability through documented controls, evidence and reporting.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280160" y="5257800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55138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513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80160" y="52578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customer, partner and regulator confidence.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Compliance Matters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Regulations, Standards and Guidance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07008"/>
            <a:ext cx="822960" cy="45720"/>
          </a:xfrm>
          <a:prstGeom prst="rect">
            <a:avLst/>
          </a:prstGeom>
          <a:solidFill>
            <a:srgbClr val="3E63DD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8562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56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600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Regulations/laws: legally enforceable requirements, such as the GDPR.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280160" y="2514600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7706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70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25146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Sector-specific rules: requirements applying to particular industries, such as HIPAA in the U.S. healthcare sector.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280160" y="3429000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6850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685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34290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Standards: structured requirements or best practices, e.g., ISO/IEC 27001.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280160" y="4343400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45994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599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43434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Frameworks: organized approaches for managing cybersecurity, e.g., NIST Cybersecurity Framework.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280160" y="5257800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55138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513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80160" y="52578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Guidance: recommendations and good practices published by bodies such as ENISA.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Regulations, Standards and Guidance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GDPR –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07008"/>
            <a:ext cx="822960" cy="45720"/>
          </a:xfrm>
          <a:prstGeom prst="rect">
            <a:avLst/>
          </a:prstGeom>
          <a:solidFill>
            <a:srgbClr val="3E63DD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9705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705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600200"/>
            <a:ext cx="10058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General Data Protection Regulation (GDPR) governs the processing of personal data in the European Union/European Economic Area.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280160" y="2743200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1135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1135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2743200"/>
            <a:ext cx="10058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applies to organizations established in the EU and can also apply to organizations outside the EU when offering goods/services to, or monitoring, people in the EU.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280160" y="3886200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42565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2565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3886200"/>
            <a:ext cx="10058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focuses on lawful, fair and transparent processing of personal data.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280160" y="5029200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53995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3995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5029200"/>
            <a:ext cx="10058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must apply appropriate technical and organizational measures to protect personal data.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– Overview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GDPR – Core Data Protection Principles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07008"/>
            <a:ext cx="822960" cy="45720"/>
          </a:xfrm>
          <a:prstGeom prst="rect">
            <a:avLst/>
          </a:prstGeom>
          <a:solidFill>
            <a:srgbClr val="3E63DD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725603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2560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600200"/>
            <a:ext cx="10058400" cy="6531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Lawfulness, fairness and transparency.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280160" y="2253343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37874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7874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2253343"/>
            <a:ext cx="10058400" cy="6531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limitation – collect data for specified and legitimate purposes.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280160" y="2906486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031889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03188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2906486"/>
            <a:ext cx="10058400" cy="6531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minimization – collect only what is necessary.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280160" y="3559629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6850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685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3559629"/>
            <a:ext cx="10058400" cy="6531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– keep personal data accurate and up to date.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280160" y="4212771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338175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33817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80160" y="4212771"/>
            <a:ext cx="10058400" cy="6531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limitation – retain data only as long as necessary.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280160" y="4865914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499131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99131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80160" y="4865914"/>
            <a:ext cx="10058400" cy="6531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and confidentiality – protect against unauthorized access, loss or damage.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280160" y="5519057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5644461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56444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280160" y="5519057"/>
            <a:ext cx="10058400" cy="6531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– be able to demonstrate compliance.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– Core Data Protection Principles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GDPR – Important Requirements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07008"/>
            <a:ext cx="822960" cy="45720"/>
          </a:xfrm>
          <a:prstGeom prst="rect">
            <a:avLst/>
          </a:prstGeom>
          <a:solidFill>
            <a:srgbClr val="3E63DD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7800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0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600200"/>
            <a:ext cx="100584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 lawful basis for processing personal data.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280160" y="2362200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5420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2362200"/>
            <a:ext cx="100584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clear privacy information to individuals.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280160" y="3124200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3040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04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3124200"/>
            <a:ext cx="100584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data subject rights such as access, rectification and erasure where applicable.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280160" y="3886200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40660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066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3886200"/>
            <a:ext cx="100584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data protection by design and by default.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280160" y="4648200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8280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828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80160" y="4648200"/>
            <a:ext cx="100584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appropriate records and security measures.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280160" y="5410200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55900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590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80160" y="5410200"/>
            <a:ext cx="100584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 personal-data breaches must be notified to the supervisory authority within 72 hours of becoming aware, where required by Article 33.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– Important Requirements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HIPAA –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07008"/>
            <a:ext cx="822960" cy="45720"/>
          </a:xfrm>
          <a:prstGeom prst="rect">
            <a:avLst/>
          </a:prstGeom>
          <a:solidFill>
            <a:srgbClr val="3E63DD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8562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56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600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is a U.S. federal law relevant to protected health information (PHI).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280160" y="2514600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7706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70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25146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applies primarily to covered entities and certain business associates.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280160" y="3429000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6850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685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34290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Privacy Rule addresses permitted uses/disclosures and individual rights relating to PHI.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280160" y="4343400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45994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599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43434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Security Rule establishes safeguards for electronic protected health information (ePHI).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280160" y="5257800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55138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513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80160" y="52578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Breach Notification Rule establishes notification requirements for certain breaches of unsecured PHI.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– Overview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HIPAA Security Safeguards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07008"/>
            <a:ext cx="822960" cy="45720"/>
          </a:xfrm>
          <a:prstGeom prst="rect">
            <a:avLst/>
          </a:prstGeom>
          <a:solidFill>
            <a:srgbClr val="3E63DD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600200"/>
            <a:ext cx="5120640" cy="4434840"/>
          </a:xfrm>
          <a:prstGeom prst="roundRect">
            <a:avLst>
              <a:gd name="adj" fmla="val 1649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7452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Administrative Safeguards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60120" y="2423160"/>
            <a:ext cx="448056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560320"/>
            <a:ext cx="4480560" cy="845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7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Security management process and risk analysis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60120" y="3406140"/>
            <a:ext cx="4480560" cy="845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7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Assigned security responsibility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60120" y="4251960"/>
            <a:ext cx="4480560" cy="845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7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Workforce security and training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60120" y="5097780"/>
            <a:ext cx="4480560" cy="845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7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Contingency planning and evaluation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17920" y="1600200"/>
            <a:ext cx="51206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87452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&amp; Technical Safeguards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537960" y="2423160"/>
            <a:ext cx="448056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2560320"/>
            <a:ext cx="4480560" cy="845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Facility and workstation access controls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537960" y="3406140"/>
            <a:ext cx="4480560" cy="845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Device and media controls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37960" y="4251960"/>
            <a:ext cx="4480560" cy="845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Access control for ePHI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537960" y="5097780"/>
            <a:ext cx="4480560" cy="845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Audit controls, integrity and transmission security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Security Safeguards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ENISA – Role in Cybersecurity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07008"/>
            <a:ext cx="822960" cy="45720"/>
          </a:xfrm>
          <a:prstGeom prst="rect">
            <a:avLst/>
          </a:prstGeom>
          <a:solidFill>
            <a:srgbClr val="3E63DD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8562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56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600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ENISA is the European Union Agency for Cybersecurity.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280160" y="2514600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7706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70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25146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ENISA is not a regulation like GDPR; it supports EU cybersecurity policy and implementation.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280160" y="3429000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6850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685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34290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publishes cybersecurity guidance, good practices, threat landscape reports and implementation resources.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280160" y="4343400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45994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599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43434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supports Member States, EU institutions and organizations in strengthening cybersecurity capabilities.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280160" y="5257800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55138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513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80160" y="52578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ENISA material can help organizations interpret risks and select security practices alongside applicable legal requirements.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ENISA – Role in Cybersecurity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GDPR, HIPAA and ENISA – Comparison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822960" cy="45720"/>
          </a:xfrm>
          <a:prstGeom prst="rect">
            <a:avLst/>
          </a:prstGeom>
          <a:solidFill>
            <a:srgbClr val="3E63DD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881360" cy="4663440"/>
        </p:xfrm>
        <a:graphic>
          <a:graphicData uri="http://schemas.openxmlformats.org/drawingml/2006/table">
            <a:tbl>
              <a:tblPr/>
              <a:tblGrid>
                <a:gridCol w="1828800"/>
                <a:gridCol w="3017520"/>
                <a:gridCol w="3017520"/>
                <a:gridCol w="3017520"/>
              </a:tblGrid>
              <a:tr h="11658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GDPR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HIPAA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ENISA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11658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 data-protection regulation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U.S. federal health-information law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 cybersecurity agency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658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focus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Protection of personal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Protection and permitted use of PHI/ePHI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Cybersecurity guidance, support and good practices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C"/>
                    </a:solidFill>
                  </a:tcPr>
                </a:tc>
              </a:tr>
              <a:tr h="11658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organizational response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 governance + technical/organizational measures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Privacy/security safeguards + documentation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guidance to strengthen cybersecurity practices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GDPR, HIPAA and ENISA – Comparison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Security Control?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07008"/>
            <a:ext cx="822960" cy="45720"/>
          </a:xfrm>
          <a:prstGeom prst="rect">
            <a:avLst/>
          </a:prstGeom>
          <a:solidFill>
            <a:srgbClr val="3E63DD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9705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705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600200"/>
            <a:ext cx="10058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security control is a safeguard or countermeasure used to reduce security or privacy risk.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280160" y="2743200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1135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1135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2743200"/>
            <a:ext cx="10058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may address people, processes, technology or the physical environment.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280160" y="3886200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42565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2565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3886200"/>
            <a:ext cx="10058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requirements often state what outcome is required; controls provide practical mechanisms to achieve that outcome.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280160" y="5029200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53995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3995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5029200"/>
            <a:ext cx="10058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should be selected based on risk, legal obligations, organizational context and the sensitivity of information.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Security Control?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Control Categories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07008"/>
            <a:ext cx="822960" cy="45720"/>
          </a:xfrm>
          <a:prstGeom prst="rect">
            <a:avLst/>
          </a:prstGeom>
          <a:solidFill>
            <a:srgbClr val="3E63DD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600200"/>
            <a:ext cx="5120640" cy="4434840"/>
          </a:xfrm>
          <a:prstGeom prst="roundRect">
            <a:avLst>
              <a:gd name="adj" fmla="val 1649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7452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Implementation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60120" y="2423160"/>
            <a:ext cx="448056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560320"/>
            <a:ext cx="4480560" cy="112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7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Administrative: policies, training, risk management, supplier management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60120" y="3688080"/>
            <a:ext cx="4480560" cy="112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7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Technical: MFA, encryption, firewalls, logging, endpoint protection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60120" y="4815840"/>
            <a:ext cx="4480560" cy="112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7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Physical: locks, CCTV, secure areas, device protection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0" y="1600200"/>
            <a:ext cx="51206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87452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Purpose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537960" y="2423160"/>
            <a:ext cx="448056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2560320"/>
            <a:ext cx="4480560" cy="845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Preventive: stop or reduce incidents before they occur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37960" y="3406140"/>
            <a:ext cx="4480560" cy="845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Detective: identify suspicious events or control failures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537960" y="4251960"/>
            <a:ext cx="4480560" cy="845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Corrective: restore systems and address causes after an event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37960" y="5097780"/>
            <a:ext cx="4480560" cy="845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Compensating: alternative control when the preferred control is not feasible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Control Categories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Control and Identity Management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07008"/>
            <a:ext cx="822960" cy="45720"/>
          </a:xfrm>
          <a:prstGeom prst="rect">
            <a:avLst/>
          </a:prstGeom>
          <a:solidFill>
            <a:srgbClr val="3E63DD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7800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0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600200"/>
            <a:ext cx="100584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least privilege: users receive only the permissions needed for their role.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280160" y="2362200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5420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2362200"/>
            <a:ext cx="100584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role-based or attribute-based access control where appropriate.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280160" y="3124200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3040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04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3124200"/>
            <a:ext cx="100584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strong authentication and multi-factor authentication for sensitive systems.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280160" y="3886200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40660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066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3886200"/>
            <a:ext cx="100584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periodic access reviews and promptly remove unnecessary accounts.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280160" y="4648200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8280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828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80160" y="4648200"/>
            <a:ext cx="100584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privileged administrator accounts from normal user accounts.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280160" y="5410200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55900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590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80160" y="5410200"/>
            <a:ext cx="100584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authentication and authorization logs as compliance evidence.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and Identity Management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Protection Controls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07008"/>
            <a:ext cx="822960" cy="45720"/>
          </a:xfrm>
          <a:prstGeom prst="rect">
            <a:avLst/>
          </a:prstGeom>
          <a:solidFill>
            <a:srgbClr val="3E63DD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7800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0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600200"/>
            <a:ext cx="100584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sensitive data in transit using secure communication protocols.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280160" y="2362200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5420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2362200"/>
            <a:ext cx="100584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sensitive stored data where appropriate and protect encryption keys.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280160" y="3124200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3040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04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3124200"/>
            <a:ext cx="100584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data according to sensitivity and handling requirements.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280160" y="3886200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40660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066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3886200"/>
            <a:ext cx="100584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retention and secure disposal rules to avoid unnecessary storage.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280160" y="4648200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8280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828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80160" y="4648200"/>
            <a:ext cx="100584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backups and test restoration procedures.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280160" y="5410200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55900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590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80160" y="5410200"/>
            <a:ext cx="100584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data loss prevention, masking, pseudonymization or tokenization where appropriate.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 Controls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Security Controls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07008"/>
            <a:ext cx="822960" cy="45720"/>
          </a:xfrm>
          <a:prstGeom prst="rect">
            <a:avLst/>
          </a:prstGeom>
          <a:solidFill>
            <a:srgbClr val="3E63DD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7800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0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600200"/>
            <a:ext cx="100584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and vulnerability management to reduce exposure to known weaknesses.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280160" y="2362200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5420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2362200"/>
            <a:ext cx="100584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configuration and hardening of operating systems, applications and cloud services.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280160" y="3124200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3040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04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3124200"/>
            <a:ext cx="100584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logging, monitoring and alerting for suspicious activity.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280160" y="3886200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40660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066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3886200"/>
            <a:ext cx="100584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protection and endpoint security.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280160" y="4648200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8280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828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80160" y="4648200"/>
            <a:ext cx="100584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procedures with clearly assigned responsibilities.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280160" y="5410200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55900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590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80160" y="5410200"/>
            <a:ext cx="100584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awareness training and phishing/social-engineering education.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Security Controls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 Controls to Compliance Requirements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822960" cy="45720"/>
          </a:xfrm>
          <a:prstGeom prst="rect">
            <a:avLst/>
          </a:prstGeom>
          <a:solidFill>
            <a:srgbClr val="3E63DD"/>
          </a:solidFill>
          <a:ln/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881360" cy="4663440"/>
        </p:xfrm>
        <a:graphic>
          <a:graphicData uri="http://schemas.openxmlformats.org/drawingml/2006/table">
            <a:tbl>
              <a:tblPr/>
              <a:tblGrid>
                <a:gridCol w="2834640"/>
                <a:gridCol w="2377440"/>
                <a:gridCol w="3291840"/>
                <a:gridCol w="2377440"/>
              </a:tblGrid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 / Objective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Control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Restrict unauthorized access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MFA + role-based access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lists, authentication logs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Preventive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 sensitive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Encryption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 and key-management records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Preventive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 suspicious activity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Centralized logging/SIEM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and log records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 known vulnerabilities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 management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 reports and patch records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Preventive/Corrective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Respond to incidents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 response plan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Plan, exercise results, incident tickets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Controls to Compliance Requirements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in DevSecOps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07008"/>
            <a:ext cx="822960" cy="45720"/>
          </a:xfrm>
          <a:prstGeom prst="rect">
            <a:avLst/>
          </a:prstGeom>
          <a:solidFill>
            <a:srgbClr val="3E63DD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7800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0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600200"/>
            <a:ext cx="100584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policies and compliance requirements into repeatable development and deployment controls.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280160" y="2362200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5420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2362200"/>
            <a:ext cx="100584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secure coding standards and code review throughout development.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280160" y="3124200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3040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04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3124200"/>
            <a:ext cx="100584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automated security checks into CI/CD pipelines where appropriate.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280160" y="3886200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40660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066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3886200"/>
            <a:ext cx="100584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secrets securely instead of storing credentials in source code.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280160" y="4648200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8280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828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80160" y="4648200"/>
            <a:ext cx="100584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approvals, test results, changes and deployment evidence.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280160" y="5410200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55900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590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80160" y="5410200"/>
            <a:ext cx="100584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 helps identify configuration drift and control failures after deployment.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in DevSecOps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Audits and Compliance Assessments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07008"/>
            <a:ext cx="822960" cy="45720"/>
          </a:xfrm>
          <a:prstGeom prst="rect">
            <a:avLst/>
          </a:prstGeom>
          <a:solidFill>
            <a:srgbClr val="3E63DD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9705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705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600200"/>
            <a:ext cx="10058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audit evaluates whether defined requirements and controls are being followed and whether evidence supports compliance claims.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280160" y="2743200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1135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1135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2743200"/>
            <a:ext cx="10058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audits are performed by or on behalf of the organization to identify weaknesses before external review.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280160" y="3886200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42565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2565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3886200"/>
            <a:ext cx="10058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audits or assessments are conducted by independent parties or regulatory/assurance bodies where applicable.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280160" y="5029200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53995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3995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5029200"/>
            <a:ext cx="10058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compliance assessment compares current practices against defined requirements and identifies gaps.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 and Compliance Assessments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Typical Audit Lifecycle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170432"/>
            <a:ext cx="822960" cy="45720"/>
          </a:xfrm>
          <a:prstGeom prst="rect">
            <a:avLst/>
          </a:prstGeom>
          <a:solidFill>
            <a:srgbClr val="3E63DD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828800"/>
            <a:ext cx="1604772" cy="3931920"/>
          </a:xfrm>
          <a:prstGeom prst="roundRect">
            <a:avLst>
              <a:gd name="adj" fmla="val 3989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6434" y="157276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186434" y="15727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4672" y="2240280"/>
            <a:ext cx="127558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Scope &amp; Criteria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2926080"/>
            <a:ext cx="1275588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Systems, locations, processes, standards and period under review.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00884" y="1828800"/>
            <a:ext cx="1604772" cy="3931920"/>
          </a:xfrm>
          <a:prstGeom prst="roundRect">
            <a:avLst>
              <a:gd name="adj" fmla="val 3989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47238" y="157276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047238" y="15727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665476" y="2240280"/>
            <a:ext cx="127558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the Audit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65476" y="2926080"/>
            <a:ext cx="1275588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stakeholders, evidence requirements and sampling approach.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61688" y="1828800"/>
            <a:ext cx="1604772" cy="3931920"/>
          </a:xfrm>
          <a:prstGeom prst="roundRect">
            <a:avLst>
              <a:gd name="adj" fmla="val 3989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08042" y="157276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4908042" y="15727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26280" y="2240280"/>
            <a:ext cx="127558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 Evidence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26280" y="2926080"/>
            <a:ext cx="1275588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Policies, logs, configurations, tickets, reports, interviews and observations.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22492" y="1828800"/>
            <a:ext cx="1604772" cy="3931920"/>
          </a:xfrm>
          <a:prstGeom prst="roundRect">
            <a:avLst>
              <a:gd name="adj" fmla="val 3989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8846" y="157276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768846" y="15727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87084" y="2240280"/>
            <a:ext cx="127558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Controls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87084" y="2926080"/>
            <a:ext cx="1275588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whether controls are designed appropriately and operating as intended.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83296" y="1828800"/>
            <a:ext cx="1604772" cy="3931920"/>
          </a:xfrm>
          <a:prstGeom prst="roundRect">
            <a:avLst>
              <a:gd name="adj" fmla="val 3989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29650" y="157276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8629650" y="15727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247888" y="2240280"/>
            <a:ext cx="127558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Findings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47888" y="2926080"/>
            <a:ext cx="1275588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gaps, risks, root causes and supporting evidence.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944100" y="1828800"/>
            <a:ext cx="1604772" cy="3931920"/>
          </a:xfrm>
          <a:prstGeom prst="roundRect">
            <a:avLst>
              <a:gd name="adj" fmla="val 3989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490454" y="157276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10490454" y="15727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108692" y="2240280"/>
            <a:ext cx="127558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Remediate &amp; Follow Up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108692" y="2926080"/>
            <a:ext cx="1275588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actions, owners and deadlines, then verify closure.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Audit Lifecycle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Evidence and Common Findings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07008"/>
            <a:ext cx="822960" cy="45720"/>
          </a:xfrm>
          <a:prstGeom prst="rect">
            <a:avLst/>
          </a:prstGeom>
          <a:solidFill>
            <a:srgbClr val="3E63DD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600200"/>
            <a:ext cx="5120640" cy="4434840"/>
          </a:xfrm>
          <a:prstGeom prst="roundRect">
            <a:avLst>
              <a:gd name="adj" fmla="val 1649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7452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Examples of Audit Evidence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60120" y="2423160"/>
            <a:ext cx="448056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560320"/>
            <a:ext cx="4480560" cy="563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7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Policies, standards and procedures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60120" y="3124200"/>
            <a:ext cx="4480560" cy="563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7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User-access and privilege-review records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60120" y="3688080"/>
            <a:ext cx="4480560" cy="563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7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System configuration screenshots/exports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60120" y="4251960"/>
            <a:ext cx="4480560" cy="563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7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Security logs and monitoring reports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60120" y="4815840"/>
            <a:ext cx="4480560" cy="563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7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Vulnerability and patch reports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60120" y="5379720"/>
            <a:ext cx="4480560" cy="563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7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Training and incident-response records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7920" y="1600200"/>
            <a:ext cx="51206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187452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Findings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537960" y="2423160"/>
            <a:ext cx="448056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2560320"/>
            <a:ext cx="4480560" cy="563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Excessive or outdated user privileges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537960" y="3124200"/>
            <a:ext cx="4480560" cy="563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Missing patches or insecure configurations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537960" y="3688080"/>
            <a:ext cx="4480560" cy="563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Incomplete logging or log retention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537960" y="4251960"/>
            <a:ext cx="4480560" cy="563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Policies not matching actual practice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537960" y="4815840"/>
            <a:ext cx="4480560" cy="563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Weak evidence of periodic reviews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537960" y="5379720"/>
            <a:ext cx="4480560" cy="563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Corrective actions not completed on time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Evidence and Common Findings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Reporting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07008"/>
            <a:ext cx="822960" cy="45720"/>
          </a:xfrm>
          <a:prstGeom prst="rect">
            <a:avLst/>
          </a:prstGeom>
          <a:solidFill>
            <a:srgbClr val="3E63DD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8562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56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600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compliance report communicates the scope, criteria, assessment results and outstanding risks.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280160" y="2514600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7706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70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25146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sections: executive summary, scope, methodology, control status, findings, evidence, risk/severity, corrective actions and owners.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280160" y="3429000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6850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685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34290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should distinguish compliant controls, partial compliance, exceptions and unresolved gaps.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280160" y="4343400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45994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599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43434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reporting may use KPIs such as overdue patches, access-review completion, audit findings and remediation closure rates.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280160" y="5257800"/>
            <a:ext cx="10058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55138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513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80160" y="52578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should be accurate, traceable, protected from unauthorized modification and retained according to policy.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Reporting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828800"/>
            <a:ext cx="5486400" cy="54864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 &amp; Recap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822960" cy="457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508760"/>
            <a:ext cx="10881360" cy="96012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08760"/>
            <a:ext cx="10332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online healthcare service stores patient profiles, medical information and account credentials in a cloud environment.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2670048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7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compliance obligations could apply? What sensitive data is involved?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61188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3538728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7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at least five controls for access, encryption, logging, vulnerability management and incident response.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48056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4407408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7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evidence would an auditor request to verify these controls?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5532120"/>
            <a:ext cx="10881360" cy="1005840"/>
          </a:xfrm>
          <a:prstGeom prst="roundRect">
            <a:avLst>
              <a:gd name="adj" fmla="val 6364"/>
            </a:avLst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5321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4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is not a one-time checklist; it requires governance, risk-based controls, evidence, assessment, remediation and continuous monitoring.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2026-09-18T14:19:11Z</dcterms:created>
  <dcterms:modified xsi:type="dcterms:W3CDTF">2026-09-18T14:19:11Z</dcterms:modified>
</cp:coreProperties>
</file>