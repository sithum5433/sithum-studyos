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44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Containerization, Orchestration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Secure CI/CD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416765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05 — Docker, Kubernetes, and integrating security into the delivery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ROADMAP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1848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42416" y="1600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Containerization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2416" y="216712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vs Virtual Machines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2416" y="273405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3319272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548640" y="331927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2416" y="330098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Challenges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2416" y="38679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Best Practices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445312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548640" y="445312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42416" y="4434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Security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263640" y="161848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263640" y="161848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57416" y="1600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Security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263640" y="2185416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6263640" y="2185416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57416" y="216712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Kubernetes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263640" y="2752344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6263640" y="2752344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57416" y="273405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Architecture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263640" y="3319272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6263640" y="331927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57416" y="330098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263640" y="3886200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7" name="Text 35"/>
          <p:cNvSpPr/>
          <p:nvPr/>
        </p:nvSpPr>
        <p:spPr>
          <a:xfrm>
            <a:off x="6263640" y="388620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57416" y="38679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Kubernetes Configuration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263640" y="445312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0" name="Text 38"/>
          <p:cNvSpPr/>
          <p:nvPr/>
        </p:nvSpPr>
        <p:spPr>
          <a:xfrm>
            <a:off x="6263640" y="445312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57416" y="4434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in DevSecOps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 and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Security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Docker fundamentals to Kubernetes hardening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Containerization?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an application together with its dependencies, libraries, configuration files, and runtime components into an isolated unit called a </a:t>
            </a: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13639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allows an application to run consistently across different environments.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4219083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731520" y="4219083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computer"  </a:t>
            </a: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b="1" i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everywhere."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37960" y="16916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packaging a web application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583680" y="21945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681228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3680" y="253288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6812280" y="244144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583680" y="287121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6812280" y="2779776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583680" y="32095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6812280" y="3118104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583680" y="354787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6812280" y="345643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source code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537960" y="4197096"/>
            <a:ext cx="4892040" cy="502920"/>
          </a:xfrm>
          <a:prstGeom prst="roundRect">
            <a:avLst>
              <a:gd name="adj" fmla="val 12727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537960" y="419709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Container Image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537960" y="4837176"/>
            <a:ext cx="4892040" cy="502920"/>
          </a:xfrm>
          <a:prstGeom prst="roundRect">
            <a:avLst>
              <a:gd name="adj" fmla="val 12727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6537960" y="483717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Container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Use Containers?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0520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496312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across laptop, test, CI/CD, cloud, and production environments.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8160" y="1691640"/>
            <a:ext cx="350520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44927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44927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275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92752" y="2496312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dependencies and runtime throughout the development lifecycle.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7680" y="1691640"/>
            <a:ext cx="350520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Shape 15"/>
          <p:cNvSpPr/>
          <p:nvPr/>
        </p:nvSpPr>
        <p:spPr>
          <a:xfrm>
            <a:off x="82722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82722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7227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2272" y="2496312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run in isolated environments without interference.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50520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Shape 20"/>
          <p:cNvSpPr/>
          <p:nvPr/>
        </p:nvSpPr>
        <p:spPr>
          <a:xfrm>
            <a:off x="713232" y="36667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713232" y="3666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3232" y="40325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3232" y="4325112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destroyed quickly, suited for dynamic workloads.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28160" y="3520440"/>
            <a:ext cx="350520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Shape 25"/>
          <p:cNvSpPr/>
          <p:nvPr/>
        </p:nvSpPr>
        <p:spPr>
          <a:xfrm>
            <a:off x="4492752" y="36667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4492752" y="3666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92752" y="40325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92752" y="4325112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host kernel, making them lighter than virtual machines.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07680" y="3520440"/>
            <a:ext cx="350520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2" name="Shape 30"/>
          <p:cNvSpPr/>
          <p:nvPr/>
        </p:nvSpPr>
        <p:spPr>
          <a:xfrm>
            <a:off x="8272272" y="36667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8272272" y="3666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72272" y="40325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Benefit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72272" y="4325112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integrate into build, test, deploy, and runtime.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vs Virtual Machines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755218"/>
              </p:ext>
            </p:extLst>
          </p:nvPr>
        </p:nvGraphicFramePr>
        <p:xfrm>
          <a:off x="548640" y="1645920"/>
          <a:ext cx="11064240" cy="35661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Hardware-level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OS-level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VM has its own 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host kernel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Generally larger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Generally smaller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Usage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Process-level isolation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Technology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VMware, Hyper-V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containerd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8" name="Text 5"/>
          <p:cNvSpPr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r>
              <a:rPr lang="en-US" sz="160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 OS kernel. a kernel or runtime vulnerability can affect multiple containers. Container isolation does not mean containers are automatically secure.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Container Security?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practice of protecting containerized applications throughout their lifecycle including images, registries, runtime, hosts, networks, secrets, APIs, and orchestration platforms.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439527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4395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42447" y="292608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52759" y="2926080"/>
            <a:ext cx="1439527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1" name="Text 9"/>
          <p:cNvSpPr/>
          <p:nvPr/>
        </p:nvSpPr>
        <p:spPr>
          <a:xfrm>
            <a:off x="2152759" y="2926080"/>
            <a:ext cx="14395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6566" y="292608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56878" y="2926080"/>
            <a:ext cx="1439527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3756878" y="2926080"/>
            <a:ext cx="14395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50685" y="292608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60997" y="2926080"/>
            <a:ext cx="1439527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7" name="Text 15"/>
          <p:cNvSpPr/>
          <p:nvPr/>
        </p:nvSpPr>
        <p:spPr>
          <a:xfrm>
            <a:off x="5360997" y="2926080"/>
            <a:ext cx="14395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54803" y="292608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65115" y="2926080"/>
            <a:ext cx="1439527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0" name="Text 18"/>
          <p:cNvSpPr/>
          <p:nvPr/>
        </p:nvSpPr>
        <p:spPr>
          <a:xfrm>
            <a:off x="6965115" y="2926080"/>
            <a:ext cx="14395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58922" y="292608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69234" y="2926080"/>
            <a:ext cx="1439527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3" name="Text 21"/>
          <p:cNvSpPr/>
          <p:nvPr/>
        </p:nvSpPr>
        <p:spPr>
          <a:xfrm>
            <a:off x="8569234" y="2926080"/>
            <a:ext cx="14395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63041" y="292608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73353" y="2926080"/>
            <a:ext cx="1439527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6" name="Text 24"/>
          <p:cNvSpPr/>
          <p:nvPr/>
        </p:nvSpPr>
        <p:spPr>
          <a:xfrm>
            <a:off x="10173353" y="2926080"/>
            <a:ext cx="14395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28" name="Text 26"/>
          <p:cNvSpPr/>
          <p:nvPr/>
        </p:nvSpPr>
        <p:spPr>
          <a:xfrm>
            <a:off x="822960" y="4114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should not be added only after the container reaches production.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Overview — Core Components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3227832"/>
            <a:ext cx="3505200" cy="1298448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13232" y="3374136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13232" y="3374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3739896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Client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4032504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interact with Docker.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8160" y="3227832"/>
            <a:ext cx="3505200" cy="1298448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4492752" y="3374136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4492752" y="3374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2752" y="3739896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92752" y="4032504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manages containers.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7680" y="3227832"/>
            <a:ext cx="3505200" cy="1298448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Shape 15"/>
          <p:cNvSpPr/>
          <p:nvPr/>
        </p:nvSpPr>
        <p:spPr>
          <a:xfrm>
            <a:off x="8272272" y="3374136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8272272" y="3374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72272" y="3739896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2272" y="4032504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template used to create containers.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3400" y="4792717"/>
            <a:ext cx="3505200" cy="1298448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Shape 20"/>
          <p:cNvSpPr/>
          <p:nvPr/>
        </p:nvSpPr>
        <p:spPr>
          <a:xfrm>
            <a:off x="697992" y="4939021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97992" y="493902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7992" y="5304781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7992" y="5597389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12920" y="4792717"/>
            <a:ext cx="3505200" cy="1298448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Shape 25"/>
          <p:cNvSpPr/>
          <p:nvPr/>
        </p:nvSpPr>
        <p:spPr>
          <a:xfrm>
            <a:off x="4477512" y="4939021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4477512" y="493902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77512" y="5304781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77512" y="5597389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file with instructions for building an image.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92440" y="4792717"/>
            <a:ext cx="3505200" cy="1298448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2" name="Shape 30"/>
          <p:cNvSpPr/>
          <p:nvPr/>
        </p:nvSpPr>
        <p:spPr>
          <a:xfrm>
            <a:off x="8257032" y="4939021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8257032" y="493902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57032" y="5304781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57032" y="5597389"/>
            <a:ext cx="3176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for storing and distributing images (Docker Hub, ECR, ACR).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0A6048-1B23-9C7A-A565-684CD66CD96A}"/>
              </a:ext>
            </a:extLst>
          </p:cNvPr>
          <p:cNvSpPr txBox="1"/>
          <p:nvPr/>
        </p:nvSpPr>
        <p:spPr>
          <a:xfrm>
            <a:off x="533400" y="1376674"/>
            <a:ext cx="10407869" cy="134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LK" sz="2400" b="1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is Docker?</a:t>
            </a:r>
            <a:endParaRPr lang="en-LK" sz="16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LK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Docker is a platform used to build, package, distribute, and run applications using containers.</a:t>
            </a:r>
            <a:endParaRPr lang="en-LK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LK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Docker allows developers to create a consistent application environment using </a:t>
            </a:r>
            <a:r>
              <a:rPr lang="en-LK" sz="18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Docker images</a:t>
            </a:r>
            <a:r>
              <a:rPr lang="en-LK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LK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Architecture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7" name="Picture 36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F94C719F-8972-E06C-9666-0C719557E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47" y="1187542"/>
            <a:ext cx="5966569" cy="5615594"/>
          </a:xfrm>
          <a:prstGeom prst="rect">
            <a:avLst/>
          </a:prstGeom>
        </p:spPr>
      </p:pic>
      <p:sp>
        <p:nvSpPr>
          <p:cNvPr id="38" name="Text 19">
            <a:extLst>
              <a:ext uri="{FF2B5EF4-FFF2-40B4-BE49-F238E27FC236}">
                <a16:creationId xmlns:a16="http://schemas.microsoft.com/office/drawing/2014/main" id="{392AFECE-8930-3934-BC79-6CDE8DD0BA62}"/>
              </a:ext>
            </a:extLst>
          </p:cNvPr>
          <p:cNvSpPr/>
          <p:nvPr/>
        </p:nvSpPr>
        <p:spPr>
          <a:xfrm>
            <a:off x="8038734" y="2241423"/>
            <a:ext cx="299786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Perspective</a:t>
            </a:r>
            <a:endParaRPr lang="en-US" sz="20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46798612-545A-FBE3-6F3A-42AD5A085B37}"/>
              </a:ext>
            </a:extLst>
          </p:cNvPr>
          <p:cNvSpPr/>
          <p:nvPr/>
        </p:nvSpPr>
        <p:spPr>
          <a:xfrm>
            <a:off x="7426292" y="2888361"/>
            <a:ext cx="3999936" cy="46634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5FDD50A1-F9B1-5BFD-C99A-1B536309EB78}"/>
              </a:ext>
            </a:extLst>
          </p:cNvPr>
          <p:cNvSpPr/>
          <p:nvPr/>
        </p:nvSpPr>
        <p:spPr>
          <a:xfrm>
            <a:off x="7700611" y="2888361"/>
            <a:ext cx="380159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Docker image</a:t>
            </a:r>
            <a:endParaRPr lang="en-US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02BA70B6-E32B-7096-12AC-FCA17CAB9A33}"/>
              </a:ext>
            </a:extLst>
          </p:cNvPr>
          <p:cNvSpPr/>
          <p:nvPr/>
        </p:nvSpPr>
        <p:spPr>
          <a:xfrm>
            <a:off x="7426292" y="3418713"/>
            <a:ext cx="3999936" cy="46634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53A05619-58C8-0882-E486-2860E4137626}"/>
              </a:ext>
            </a:extLst>
          </p:cNvPr>
          <p:cNvSpPr/>
          <p:nvPr/>
        </p:nvSpPr>
        <p:spPr>
          <a:xfrm>
            <a:off x="7700611" y="3418713"/>
            <a:ext cx="380159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Docker daemon</a:t>
            </a:r>
            <a:endParaRPr lang="en-US" dirty="0"/>
          </a:p>
        </p:txBody>
      </p:sp>
      <p:sp>
        <p:nvSpPr>
          <p:cNvPr id="43" name="Shape 24">
            <a:extLst>
              <a:ext uri="{FF2B5EF4-FFF2-40B4-BE49-F238E27FC236}">
                <a16:creationId xmlns:a16="http://schemas.microsoft.com/office/drawing/2014/main" id="{5659711C-1D83-AFFA-0ED5-2DD9993F388E}"/>
              </a:ext>
            </a:extLst>
          </p:cNvPr>
          <p:cNvSpPr/>
          <p:nvPr/>
        </p:nvSpPr>
        <p:spPr>
          <a:xfrm>
            <a:off x="7426292" y="3949065"/>
            <a:ext cx="3999936" cy="46634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5446ACF1-0392-828F-3041-8E37122EB14E}"/>
              </a:ext>
            </a:extLst>
          </p:cNvPr>
          <p:cNvSpPr/>
          <p:nvPr/>
        </p:nvSpPr>
        <p:spPr>
          <a:xfrm>
            <a:off x="7700611" y="3949065"/>
            <a:ext cx="380159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registry</a:t>
            </a:r>
            <a:endParaRPr lang="en-US" dirty="0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04BEC50C-B2B3-C604-973C-37D06DBC7CF1}"/>
              </a:ext>
            </a:extLst>
          </p:cNvPr>
          <p:cNvSpPr/>
          <p:nvPr/>
        </p:nvSpPr>
        <p:spPr>
          <a:xfrm>
            <a:off x="7426292" y="4479417"/>
            <a:ext cx="3999936" cy="46634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09AEF060-1FD8-797F-CEBC-33D5915581A6}"/>
              </a:ext>
            </a:extLst>
          </p:cNvPr>
          <p:cNvSpPr/>
          <p:nvPr/>
        </p:nvSpPr>
        <p:spPr>
          <a:xfrm>
            <a:off x="7700611" y="4479417"/>
            <a:ext cx="380159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container privileges</a:t>
            </a:r>
            <a:endParaRPr lang="en-US" dirty="0"/>
          </a:p>
        </p:txBody>
      </p:sp>
      <p:sp>
        <p:nvSpPr>
          <p:cNvPr id="47" name="Shape 28">
            <a:extLst>
              <a:ext uri="{FF2B5EF4-FFF2-40B4-BE49-F238E27FC236}">
                <a16:creationId xmlns:a16="http://schemas.microsoft.com/office/drawing/2014/main" id="{234C9E95-E986-F899-EAE0-A7F374975864}"/>
              </a:ext>
            </a:extLst>
          </p:cNvPr>
          <p:cNvSpPr/>
          <p:nvPr/>
        </p:nvSpPr>
        <p:spPr>
          <a:xfrm>
            <a:off x="7426292" y="5009769"/>
            <a:ext cx="3999936" cy="46634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C533AE9E-3FD1-C079-4BF5-B18747D4164E}"/>
              </a:ext>
            </a:extLst>
          </p:cNvPr>
          <p:cNvSpPr/>
          <p:nvPr/>
        </p:nvSpPr>
        <p:spPr>
          <a:xfrm>
            <a:off x="7700611" y="5009769"/>
            <a:ext cx="380159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Docker API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Security Threats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Images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548607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libraries or known vulnerabilities.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35478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35478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4787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Images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47872" y="249631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compromise systems.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Shape 15"/>
          <p:cNvSpPr/>
          <p:nvPr/>
        </p:nvSpPr>
        <p:spPr>
          <a:xfrm>
            <a:off x="638251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638251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8251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Images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2512" y="249631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API keys, tokens accidentally included.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5256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Shape 20"/>
          <p:cNvSpPr/>
          <p:nvPr/>
        </p:nvSpPr>
        <p:spPr>
          <a:xfrm>
            <a:off x="92171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92171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Containers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17152" y="249631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privileges can access host resources.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Shape 25"/>
          <p:cNvSpPr/>
          <p:nvPr/>
        </p:nvSpPr>
        <p:spPr>
          <a:xfrm>
            <a:off x="71323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71323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3232" y="421538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13232" y="450799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out to access the underlying host.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8328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2" name="Shape 30"/>
          <p:cNvSpPr/>
          <p:nvPr/>
        </p:nvSpPr>
        <p:spPr>
          <a:xfrm>
            <a:off x="354787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354787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47872" y="421538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Docker Config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47872" y="4649673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services expose resources.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7" name="Shape 35"/>
          <p:cNvSpPr/>
          <p:nvPr/>
        </p:nvSpPr>
        <p:spPr>
          <a:xfrm>
            <a:off x="638251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8" name="Text 36"/>
          <p:cNvSpPr/>
          <p:nvPr/>
        </p:nvSpPr>
        <p:spPr>
          <a:xfrm>
            <a:off x="638251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82512" y="421538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Networking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82512" y="450799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config allows unauthorized communication.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05256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42" name="Shape 40"/>
          <p:cNvSpPr/>
          <p:nvPr/>
        </p:nvSpPr>
        <p:spPr>
          <a:xfrm>
            <a:off x="921715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3" name="Text 41"/>
          <p:cNvSpPr/>
          <p:nvPr/>
        </p:nvSpPr>
        <p:spPr>
          <a:xfrm>
            <a:off x="921715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217152" y="421538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Attacks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217152" y="450799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dependencies, images, or registries.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Security Best Practices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Security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49631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updated, minimal, scanned base images.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8160" y="16916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44927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44927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275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92752" y="249631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root, restrict privileges, limit resources, read-only filesystems.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7680" y="16916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Shape 15"/>
          <p:cNvSpPr/>
          <p:nvPr/>
        </p:nvSpPr>
        <p:spPr>
          <a:xfrm>
            <a:off x="82722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82722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7227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2272" y="249631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networks, restrict comms, avoid open ports.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Shape 20"/>
          <p:cNvSpPr/>
          <p:nvPr/>
        </p:nvSpPr>
        <p:spPr>
          <a:xfrm>
            <a:off x="713232" y="403250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713232" y="4032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3232" y="439826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3232" y="469087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— use dedicated secret management.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28160" y="388620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Shape 25"/>
          <p:cNvSpPr/>
          <p:nvPr/>
        </p:nvSpPr>
        <p:spPr>
          <a:xfrm>
            <a:off x="4492752" y="403250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4492752" y="4032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92752" y="439826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92752" y="469087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activity, collect logs, detect anomalies.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 of Least Privilege for Containers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should operate with the minimum privileges required. Excessive privileges increase the impact of a compromise.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Avoid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Root User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Full Host-Level Privileges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Prefer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92240" y="31363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Non-Root User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92240" y="348386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Limited Permissions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92240" y="383133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Required Resources Only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77724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applications as non-root users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63640" y="48737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49224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unnecessary Linux capabilities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777240" y="51846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privileged containers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263640" y="525780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6492240" y="51846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to host resources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48640" y="564184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777240" y="55686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read-only filesystems where possible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Container Image?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3534156"/>
            <a:ext cx="1993392" cy="1051560"/>
          </a:xfrm>
          <a:prstGeom prst="roundRect">
            <a:avLst>
              <a:gd name="adj" fmla="val 782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621792" y="3534156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3744" y="3534156"/>
            <a:ext cx="310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16352" y="3534156"/>
            <a:ext cx="1993392" cy="1051560"/>
          </a:xfrm>
          <a:prstGeom prst="roundRect">
            <a:avLst>
              <a:gd name="adj" fmla="val 782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2889504" y="3534156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91456" y="3534156"/>
            <a:ext cx="310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84064" y="3534156"/>
            <a:ext cx="1993392" cy="1051560"/>
          </a:xfrm>
          <a:prstGeom prst="roundRect">
            <a:avLst>
              <a:gd name="adj" fmla="val 782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5157216" y="3534156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59168" y="3534156"/>
            <a:ext cx="310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51776" y="3534156"/>
            <a:ext cx="1993392" cy="1051560"/>
          </a:xfrm>
          <a:prstGeom prst="roundRect">
            <a:avLst>
              <a:gd name="adj" fmla="val 782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7424928" y="3534156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26880" y="3534156"/>
            <a:ext cx="310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619488" y="3534156"/>
            <a:ext cx="1993392" cy="1051560"/>
          </a:xfrm>
          <a:prstGeom prst="roundRect">
            <a:avLst>
              <a:gd name="adj" fmla="val 782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9692640" y="3534156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Container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815" y="17419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image is a packaged, immutable template; Image may application code, runtime, libraries, dependencies, configuration, and OS components.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D2D4CF-9949-F307-5AF2-7E592E7C4072}"/>
              </a:ext>
            </a:extLst>
          </p:cNvPr>
          <p:cNvSpPr txBox="1"/>
          <p:nvPr/>
        </p:nvSpPr>
        <p:spPr>
          <a:xfrm>
            <a:off x="548640" y="2751281"/>
            <a:ext cx="7745818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LK" sz="18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Images are commonly built using a </a:t>
            </a:r>
            <a:r>
              <a:rPr lang="en-LK" sz="1800" b="1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Dockerfile</a:t>
            </a:r>
            <a:r>
              <a:rPr lang="en-LK" sz="18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LK" sz="18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Image Layers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 are built using multiple stacked layers. Each Dockerfile instruction may create a new layer.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73552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Layer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86784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548640" y="398678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Layer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700016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548640" y="470001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OS Layer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164592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676656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Importance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66560" y="2286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insecure package exists in an underlying layer, it may introduce vulnerabilities into the final image. Therefore: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32735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9" name="Text 17"/>
          <p:cNvSpPr/>
          <p:nvPr/>
        </p:nvSpPr>
        <p:spPr>
          <a:xfrm>
            <a:off x="6995160" y="32004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trusted base images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66560" y="3685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1" name="Text 19"/>
          <p:cNvSpPr/>
          <p:nvPr/>
        </p:nvSpPr>
        <p:spPr>
          <a:xfrm>
            <a:off x="6995160" y="36118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dependencies updated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409651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3" name="Text 21"/>
          <p:cNvSpPr/>
          <p:nvPr/>
        </p:nvSpPr>
        <p:spPr>
          <a:xfrm>
            <a:off x="6995160" y="4023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components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450799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5" name="Text 23"/>
          <p:cNvSpPr/>
          <p:nvPr/>
        </p:nvSpPr>
        <p:spPr>
          <a:xfrm>
            <a:off x="6995160" y="44348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scan images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Base Images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9017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image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starting environment for a container. The security of the final container depends partly on the security of the base image.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5021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official or trusted images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777240" y="38130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minimal base images where appropriate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777240" y="419709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outdated images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65429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777240" y="458114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update base images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50383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777240" y="49651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image provenance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base images for vulnerabilities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37960" y="22860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Bloated vs. Minimal Images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37960" y="2811780"/>
            <a:ext cx="4892040" cy="1051560"/>
          </a:xfrm>
          <a:prstGeom prst="roundRect">
            <a:avLst>
              <a:gd name="adj" fmla="val 6087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6766560" y="281178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OS Image + Compiler + Package Manager + Unused Tools + Application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22720" y="4114801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prefer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22720" y="4536040"/>
            <a:ext cx="489204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751320" y="45360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image containing only what the application requires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Scanning of Container Images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scanning identifies known vulnerabilities in OS packages, libraries, application dependencies, and software components.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05867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8" name="Text 6"/>
          <p:cNvSpPr/>
          <p:nvPr/>
        </p:nvSpPr>
        <p:spPr>
          <a:xfrm>
            <a:off x="576072" y="2505867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56816" y="2505867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2505867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 dirty="0"/>
          </a:p>
        </p:txBody>
      </p:sp>
      <p:sp>
        <p:nvSpPr>
          <p:cNvPr id="11" name="Text 9"/>
          <p:cNvSpPr/>
          <p:nvPr/>
        </p:nvSpPr>
        <p:spPr>
          <a:xfrm>
            <a:off x="2176272" y="2505867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57016" y="2505867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2505867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4" name="Text 12"/>
          <p:cNvSpPr/>
          <p:nvPr/>
        </p:nvSpPr>
        <p:spPr>
          <a:xfrm>
            <a:off x="3776472" y="2505867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57216" y="2505867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49240" y="2505867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7" name="Text 15"/>
          <p:cNvSpPr/>
          <p:nvPr/>
        </p:nvSpPr>
        <p:spPr>
          <a:xfrm>
            <a:off x="5376672" y="2505867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57416" y="2505867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2505867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0" name="Text 18"/>
          <p:cNvSpPr/>
          <p:nvPr/>
        </p:nvSpPr>
        <p:spPr>
          <a:xfrm>
            <a:off x="6976872" y="2505867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57616" y="2505867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549640" y="2505867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3" name="Text 21"/>
          <p:cNvSpPr/>
          <p:nvPr/>
        </p:nvSpPr>
        <p:spPr>
          <a:xfrm>
            <a:off x="8577072" y="2505867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/ Update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57816" y="2505867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0149840" y="2505867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6" name="Text 24"/>
          <p:cNvSpPr/>
          <p:nvPr/>
        </p:nvSpPr>
        <p:spPr>
          <a:xfrm>
            <a:off x="10177272" y="2505867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80619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48640" y="438454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9" name="Text 27"/>
          <p:cNvSpPr/>
          <p:nvPr/>
        </p:nvSpPr>
        <p:spPr>
          <a:xfrm>
            <a:off x="777240" y="43113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291840" y="438454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1" name="Text 29"/>
          <p:cNvSpPr/>
          <p:nvPr/>
        </p:nvSpPr>
        <p:spPr>
          <a:xfrm>
            <a:off x="3520440" y="43113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Grype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48640" y="484174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3" name="Text 31"/>
          <p:cNvSpPr/>
          <p:nvPr/>
        </p:nvSpPr>
        <p:spPr>
          <a:xfrm>
            <a:off x="777240" y="47685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Scout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291840" y="484174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5" name="Text 33"/>
          <p:cNvSpPr/>
          <p:nvPr/>
        </p:nvSpPr>
        <p:spPr>
          <a:xfrm>
            <a:off x="3520440" y="47685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202680" y="3721608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7" name="Text 35"/>
          <p:cNvSpPr/>
          <p:nvPr/>
        </p:nvSpPr>
        <p:spPr>
          <a:xfrm>
            <a:off x="6477000" y="38587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Finding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477000" y="42702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Package:  </a:t>
            </a: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477000" y="45902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 </a:t>
            </a: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X.X.X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477000" y="49103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 </a:t>
            </a: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477000" y="52303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Available:  </a:t>
            </a: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Bill of Materials (SBOM)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SBOM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inventory of the software components and dependencies contained within an application or container.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663935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SBOM can identify: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10284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777240" y="3029695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91840" y="310284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3520440" y="3029695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486895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777240" y="3413743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91840" y="3486895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3520440" y="3413743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387094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777240" y="3797791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91840" y="387094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3520440" y="3797791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vulnerabilities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9477" y="4581144"/>
            <a:ext cx="5801303" cy="1271015"/>
          </a:xfrm>
          <a:prstGeom prst="roundRect">
            <a:avLst>
              <a:gd name="adj" fmla="val 7273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754380" y="4718303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if a critical vulnerability is found in a popular library, teams can use the SBOM to instantly check whether their containers are affected.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37960" y="16916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Application SBOM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537960" y="2057400"/>
            <a:ext cx="4892040" cy="3246120"/>
          </a:xfrm>
          <a:prstGeom prst="roundRect">
            <a:avLst>
              <a:gd name="adj" fmla="val 2286"/>
            </a:avLst>
          </a:prstGeom>
          <a:solidFill>
            <a:srgbClr val="DCEA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6812280" y="22402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26974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Flask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95160" y="308152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OpenSSL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95160" y="346557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SQLite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95160" y="384962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Requests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95160" y="42336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NumPy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12280" y="48463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SBOMs improve software supply-chain visibility.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Registry Security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BEAEA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Security Risks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1248" y="25420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1078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image uploads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41248" y="29992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1078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images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41248" y="34564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1078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tampering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41248" y="39136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1078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exposure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41248" y="43708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1078992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41248" y="48280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1078992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images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537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556248" y="2542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793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private registries for sensitive apps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56248" y="2999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793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authentication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56248" y="3456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793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role-based access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56248" y="39136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6793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images before deployment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56248" y="43708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6793992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and verify images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556248" y="4828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6793992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obsolete images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556248" y="5285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5" name="Text 33"/>
          <p:cNvSpPr/>
          <p:nvPr/>
        </p:nvSpPr>
        <p:spPr>
          <a:xfrm>
            <a:off x="6793992" y="5212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registry activity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Image Signing and Verification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993392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3744" y="196596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1993392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2889504" y="196596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91456" y="196596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84064" y="1965960"/>
            <a:ext cx="1993392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5157216" y="196596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Image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59168" y="196596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51776" y="1965960"/>
            <a:ext cx="1993392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7424928" y="196596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0" y="196596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619488" y="1965960"/>
            <a:ext cx="1993392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9" name="Text 17"/>
          <p:cNvSpPr/>
          <p:nvPr/>
        </p:nvSpPr>
        <p:spPr>
          <a:xfrm>
            <a:off x="9692640" y="196596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79024" y="28803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19488" y="3388674"/>
            <a:ext cx="1993392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2" name="Text 20"/>
          <p:cNvSpPr/>
          <p:nvPr/>
        </p:nvSpPr>
        <p:spPr>
          <a:xfrm>
            <a:off x="9692640" y="3388674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signing verifies a container's origin and integrity, it protects against supply-chain attacks and unauthorized modification.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Secrets Management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059936"/>
          </a:xfrm>
          <a:prstGeom prst="roundRect">
            <a:avLst>
              <a:gd name="adj" fmla="val 1702"/>
            </a:avLst>
          </a:prstGeom>
          <a:solidFill>
            <a:srgbClr val="FBEAEA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Approach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1248" y="25420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1078992" y="241252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place secrets in a Dockerfile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41248" y="29992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1078992" y="286972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41248" y="34564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1078992" y="332692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41248" y="39136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1078992" y="378412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8992" y="4297680"/>
            <a:ext cx="5017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ENV DB_PASSWORD=MyPassword123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78992" y="482803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expose the password through image layers.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349240" cy="3465987"/>
          </a:xfrm>
          <a:prstGeom prst="roundRect">
            <a:avLst>
              <a:gd name="adj" fmla="val 170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 dirty="0"/>
          </a:p>
        </p:txBody>
      </p:sp>
      <p:sp>
        <p:nvSpPr>
          <p:cNvPr id="21" name="Text 19"/>
          <p:cNvSpPr/>
          <p:nvPr/>
        </p:nvSpPr>
        <p:spPr>
          <a:xfrm>
            <a:off x="6537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Approach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556248" y="2542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812280" y="2401071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secrets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56248" y="2999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812280" y="2858271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Secrets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56248" y="3456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812280" y="3315471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56248" y="39136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6812280" y="3772671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56248" y="43708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6812280" y="4229871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Runtime Security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Security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49631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non-root; restrict privileges.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8160" y="16916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2" name="Shape 10"/>
          <p:cNvSpPr/>
          <p:nvPr/>
        </p:nvSpPr>
        <p:spPr>
          <a:xfrm>
            <a:off x="44927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44927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275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Security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92752" y="249631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filesystems; restrict writable directories.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7680" y="16916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7" name="Shape 15"/>
          <p:cNvSpPr/>
          <p:nvPr/>
        </p:nvSpPr>
        <p:spPr>
          <a:xfrm>
            <a:off x="82722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82722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227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Security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2272" y="249631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CPU and memory limits to prevent exhaustion.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2" name="Shape 20"/>
          <p:cNvSpPr/>
          <p:nvPr/>
        </p:nvSpPr>
        <p:spPr>
          <a:xfrm>
            <a:off x="713232" y="403250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3" name="Text 21"/>
          <p:cNvSpPr/>
          <p:nvPr/>
        </p:nvSpPr>
        <p:spPr>
          <a:xfrm>
            <a:off x="713232" y="4032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439826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3232" y="469087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unnecessary connections and exposed ports.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28160" y="388620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7" name="Shape 25"/>
          <p:cNvSpPr/>
          <p:nvPr/>
        </p:nvSpPr>
        <p:spPr>
          <a:xfrm>
            <a:off x="4492752" y="403250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8" name="Text 26"/>
          <p:cNvSpPr/>
          <p:nvPr/>
        </p:nvSpPr>
        <p:spPr>
          <a:xfrm>
            <a:off x="4492752" y="4032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2752" y="439826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92752" y="4690872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network, file access, system calls, behavior.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Escape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when an attacker breaks out of a container's isolation and gains access to the underlying host or other resources.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7297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8" name="Text 6"/>
          <p:cNvSpPr/>
          <p:nvPr/>
        </p:nvSpPr>
        <p:spPr>
          <a:xfrm>
            <a:off x="576072" y="2331720"/>
            <a:ext cx="1674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23516" y="2331720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15540" y="2331720"/>
            <a:ext cx="17297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1" name="Text 9"/>
          <p:cNvSpPr/>
          <p:nvPr/>
        </p:nvSpPr>
        <p:spPr>
          <a:xfrm>
            <a:off x="2442972" y="2331720"/>
            <a:ext cx="1674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App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90416" y="2331720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82440" y="2331720"/>
            <a:ext cx="1729740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4" name="Text 12"/>
          <p:cNvSpPr/>
          <p:nvPr/>
        </p:nvSpPr>
        <p:spPr>
          <a:xfrm>
            <a:off x="4309872" y="2331720"/>
            <a:ext cx="1674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Container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57316" y="2331720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49340" y="2331720"/>
            <a:ext cx="1729740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7" name="Text 15"/>
          <p:cNvSpPr/>
          <p:nvPr/>
        </p:nvSpPr>
        <p:spPr>
          <a:xfrm>
            <a:off x="6176772" y="2331720"/>
            <a:ext cx="1674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24216" y="2331720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016240" y="2331720"/>
            <a:ext cx="1729740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0" name="Text 18"/>
          <p:cNvSpPr/>
          <p:nvPr/>
        </p:nvSpPr>
        <p:spPr>
          <a:xfrm>
            <a:off x="8043672" y="2331720"/>
            <a:ext cx="1674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91116" y="2331720"/>
            <a:ext cx="246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883140" y="2331720"/>
            <a:ext cx="1729740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3" name="Text 21"/>
          <p:cNvSpPr/>
          <p:nvPr/>
        </p:nvSpPr>
        <p:spPr>
          <a:xfrm>
            <a:off x="9910572" y="2331720"/>
            <a:ext cx="1674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Containers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34290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Causes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94360" y="4035689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6" name="Text 24"/>
          <p:cNvSpPr/>
          <p:nvPr/>
        </p:nvSpPr>
        <p:spPr>
          <a:xfrm>
            <a:off x="800100" y="3919591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vulnerabilities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94360" y="4419737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8" name="Text 26"/>
          <p:cNvSpPr/>
          <p:nvPr/>
        </p:nvSpPr>
        <p:spPr>
          <a:xfrm>
            <a:off x="800100" y="4303639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vulnerabilities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94360" y="4803785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0" name="Text 28"/>
          <p:cNvSpPr/>
          <p:nvPr/>
        </p:nvSpPr>
        <p:spPr>
          <a:xfrm>
            <a:off x="800100" y="4687687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privileges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94360" y="5187833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2" name="Text 30"/>
          <p:cNvSpPr/>
          <p:nvPr/>
        </p:nvSpPr>
        <p:spPr>
          <a:xfrm>
            <a:off x="800100" y="5071735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containers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94360" y="5571881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4" name="Text 32"/>
          <p:cNvSpPr/>
          <p:nvPr/>
        </p:nvSpPr>
        <p:spPr>
          <a:xfrm>
            <a:off x="800100" y="5455783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host configuration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263640" y="34290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281928" y="404760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7" name="Text 35"/>
          <p:cNvSpPr/>
          <p:nvPr/>
        </p:nvSpPr>
        <p:spPr>
          <a:xfrm>
            <a:off x="6510528" y="3952879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host OS updated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281928" y="4431655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9" name="Text 37"/>
          <p:cNvSpPr/>
          <p:nvPr/>
        </p:nvSpPr>
        <p:spPr>
          <a:xfrm>
            <a:off x="6510528" y="4336927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container runtime updated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281928" y="481570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41" name="Text 39"/>
          <p:cNvSpPr/>
          <p:nvPr/>
        </p:nvSpPr>
        <p:spPr>
          <a:xfrm>
            <a:off x="6510528" y="4720975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privileged containers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6281928" y="5199751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43" name="Text 41"/>
          <p:cNvSpPr/>
          <p:nvPr/>
        </p:nvSpPr>
        <p:spPr>
          <a:xfrm>
            <a:off x="6510528" y="5105023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least privilege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281928" y="558379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45" name="Text 43"/>
          <p:cNvSpPr/>
          <p:nvPr/>
        </p:nvSpPr>
        <p:spPr>
          <a:xfrm>
            <a:off x="6510528" y="5489071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Linux capabilities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281928" y="596784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47" name="Text 45"/>
          <p:cNvSpPr/>
          <p:nvPr/>
        </p:nvSpPr>
        <p:spPr>
          <a:xfrm>
            <a:off x="6510528" y="5873119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runtime behavior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Limits and Denial of Service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host resources. A compromised or malfunctioning container could consume excessive CPU, memory, disk space, or network bandwidth affecting other applications on the same host.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Limit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1840" y="2697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3291840" y="26974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Limit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5040" y="2697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Limit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778240" y="2697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8778240" y="26974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Limit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 Help Prevent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exhaustion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91840" y="4599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352044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crashes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35040" y="4599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26364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Denial-of-Service conditions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778240" y="4599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900684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Noisy-neighbor problems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Network Security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BEAEA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1248" y="25420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1078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open ports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41248" y="29992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1078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container communication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41248" y="34564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1078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sniffing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41248" y="39136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1078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6537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556248" y="2542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6793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only required ports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56248" y="2999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793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container-to-container communication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556248" y="3456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793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network segmentation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56248" y="39136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793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sensitive communication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56248" y="43708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793992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network policies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56248" y="4828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6793992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public exposure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Container Orchestration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67991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few containers manually may be simple. But consider an application with: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3291840" y="23317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35040" y="2194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6035040" y="23317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778240" y="2194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8778240" y="23317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7824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8640" y="380390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automates: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91840" y="44165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3520440" y="4343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35040" y="44165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263640" y="4343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778240" y="44165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9006840" y="4343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8640" y="48737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777240" y="48006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291840" y="48737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3520440" y="48006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035040" y="48737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6263640" y="48006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Kubernetes?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open-source container orchestration platform used to deploy, manage, scale, and operate containerized applications.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306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can automatically: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41528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777240" y="33421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containers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7810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777240" y="37078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failed containers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14680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777240" y="40736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applications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51256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777240" y="44394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workloads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8783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777240" y="48051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service discovery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524408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777240" y="51709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networking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56098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777240" y="55366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rolling updates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537960" y="1691640"/>
            <a:ext cx="4892040" cy="3749040"/>
          </a:xfrm>
          <a:prstGeom prst="roundRect">
            <a:avLst>
              <a:gd name="adj" fmla="val 1951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812280" y="19659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Kubernetes Matters to DevSecOps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2560320"/>
            <a:ext cx="4343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becomes part of the infrastructure where applications run. Its configuration, identities, workloads, networking, and secrets must also be secured.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82763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Kubernetes cluster consists mainly of a Control Plane and Worker Nodes.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pic>
        <p:nvPicPr>
          <p:cNvPr id="37" name="Picture 3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DEFBCA87-DBF5-25DF-211A-D287F3678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876" y="1748523"/>
            <a:ext cx="6528418" cy="499231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F39E897-2790-AEAB-A6C2-9C8F8CFF0D7C}"/>
              </a:ext>
            </a:extLst>
          </p:cNvPr>
          <p:cNvSpPr txBox="1"/>
          <p:nvPr/>
        </p:nvSpPr>
        <p:spPr>
          <a:xfrm>
            <a:off x="1316549" y="1910258"/>
            <a:ext cx="6238654" cy="4250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LK" sz="16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Control Plane</a:t>
            </a:r>
            <a:endParaRPr lang="en-LK" sz="1400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LK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Components include:</a:t>
            </a:r>
            <a:endParaRPr lang="en-LK" sz="14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LK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API Server</a:t>
            </a:r>
            <a:endParaRPr lang="en-LK" sz="14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LK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Scheduler</a:t>
            </a:r>
            <a:endParaRPr lang="en-LK" sz="14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LK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Controller Manager</a:t>
            </a:r>
            <a:endParaRPr lang="en-LK" sz="14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</a:t>
            </a:r>
            <a:r>
              <a:rPr lang="en-LK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tcd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LK" sz="14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LK" sz="1600" b="1" kern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Worker Nodes</a:t>
            </a:r>
            <a:endParaRPr lang="en-LK" sz="1400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LK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Components include:</a:t>
            </a:r>
            <a:endParaRPr lang="en-LK" sz="14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LK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Kubelet</a:t>
            </a:r>
            <a:endParaRPr lang="en-LK" sz="14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LK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Container Runtime</a:t>
            </a:r>
            <a:endParaRPr lang="en-LK" sz="14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LK" sz="1400" kern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Pods</a:t>
            </a:r>
            <a:endParaRPr lang="en-LK" sz="14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Security Challenges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993392" cy="1106424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054" y="226519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API Server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16352" y="1691640"/>
            <a:ext cx="1993392" cy="1069848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1" name="Shape 9"/>
          <p:cNvSpPr/>
          <p:nvPr/>
        </p:nvSpPr>
        <p:spPr>
          <a:xfrm>
            <a:off x="2980944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2980944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80944" y="226519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Permissions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4064" y="1691640"/>
            <a:ext cx="1993392" cy="1069848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5" name="Shape 13"/>
          <p:cNvSpPr/>
          <p:nvPr/>
        </p:nvSpPr>
        <p:spPr>
          <a:xfrm>
            <a:off x="5248656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5248656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48656" y="220370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RBAC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51776" y="1691640"/>
            <a:ext cx="1993392" cy="1069848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9" name="Shape 17"/>
          <p:cNvSpPr/>
          <p:nvPr/>
        </p:nvSpPr>
        <p:spPr>
          <a:xfrm>
            <a:off x="7516368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0" name="Text 18"/>
          <p:cNvSpPr/>
          <p:nvPr/>
        </p:nvSpPr>
        <p:spPr>
          <a:xfrm>
            <a:off x="7516368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16368" y="226519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Containers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19488" y="1691640"/>
            <a:ext cx="1993392" cy="1069848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3" name="Shape 21"/>
          <p:cNvSpPr/>
          <p:nvPr/>
        </p:nvSpPr>
        <p:spPr>
          <a:xfrm>
            <a:off x="9784080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4" name="Text 22"/>
          <p:cNvSpPr/>
          <p:nvPr/>
        </p:nvSpPr>
        <p:spPr>
          <a:xfrm>
            <a:off x="9784080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84080" y="2249886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Images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3502151"/>
            <a:ext cx="1993392" cy="1069846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7" name="Shape 25"/>
          <p:cNvSpPr/>
          <p:nvPr/>
        </p:nvSpPr>
        <p:spPr>
          <a:xfrm>
            <a:off x="713232" y="3648455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8" name="Text 26"/>
          <p:cNvSpPr/>
          <p:nvPr/>
        </p:nvSpPr>
        <p:spPr>
          <a:xfrm>
            <a:off x="713232" y="364845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4014215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Secrets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816352" y="3502151"/>
            <a:ext cx="1993392" cy="1097280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31" name="Shape 29"/>
          <p:cNvSpPr/>
          <p:nvPr/>
        </p:nvSpPr>
        <p:spPr>
          <a:xfrm>
            <a:off x="2980944" y="3648455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32" name="Text 30"/>
          <p:cNvSpPr/>
          <p:nvPr/>
        </p:nvSpPr>
        <p:spPr>
          <a:xfrm>
            <a:off x="2980944" y="364845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980944" y="412024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Networking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84064" y="3502151"/>
            <a:ext cx="1993392" cy="1097280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35" name="Shape 33"/>
          <p:cNvSpPr/>
          <p:nvPr/>
        </p:nvSpPr>
        <p:spPr>
          <a:xfrm>
            <a:off x="5248656" y="3648455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36" name="Text 34"/>
          <p:cNvSpPr/>
          <p:nvPr/>
        </p:nvSpPr>
        <p:spPr>
          <a:xfrm>
            <a:off x="5248656" y="364845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48656" y="411454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Workloads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51776" y="3502151"/>
            <a:ext cx="1993392" cy="1097280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39" name="Shape 37"/>
          <p:cNvSpPr/>
          <p:nvPr/>
        </p:nvSpPr>
        <p:spPr>
          <a:xfrm>
            <a:off x="7516368" y="3648455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40" name="Text 38"/>
          <p:cNvSpPr/>
          <p:nvPr/>
        </p:nvSpPr>
        <p:spPr>
          <a:xfrm>
            <a:off x="7516368" y="364845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16368" y="4048222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Nodes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619488" y="3502150"/>
            <a:ext cx="1993392" cy="1069847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43" name="Shape 41"/>
          <p:cNvSpPr/>
          <p:nvPr/>
        </p:nvSpPr>
        <p:spPr>
          <a:xfrm>
            <a:off x="9784080" y="3648455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44" name="Text 42"/>
          <p:cNvSpPr/>
          <p:nvPr/>
        </p:nvSpPr>
        <p:spPr>
          <a:xfrm>
            <a:off x="9730449" y="3648455"/>
            <a:ext cx="4181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784080" y="4091939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Pod Comms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RBAC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418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what users and workloads can do within a cluster. RBAC determines “</a:t>
            </a:r>
            <a:r>
              <a:rPr lang="en-US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access which resources?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”, and “</a:t>
            </a:r>
            <a:r>
              <a:rPr lang="en-US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actions they can perform?”.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MAY be allowed to: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2735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pods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1005840" y="35844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applications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25146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327355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6720840" y="32004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namespaces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3657600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6720840" y="35844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cluster-wide security policies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4041648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0" name="Text 18"/>
          <p:cNvSpPr/>
          <p:nvPr/>
        </p:nvSpPr>
        <p:spPr>
          <a:xfrm>
            <a:off x="6720840" y="39684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secrets belonging to other apps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527105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777240" y="519790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least privilege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91840" y="527105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3520440" y="519790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cluster-admin permissions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35040" y="527105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263640" y="519790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dev and production access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78240" y="527105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9006840" y="519790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permissions regularly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Secrets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applications often require sensitive information such as database passwords, API keys, tokens, and certificates. Kubernetes provides a Secret object for storing this configuration.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Secrets should not automatically be treated as equivalent to a dedicated enterprise secret-management solution.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Should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401878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1" name="Text 9"/>
          <p:cNvSpPr/>
          <p:nvPr/>
        </p:nvSpPr>
        <p:spPr>
          <a:xfrm>
            <a:off x="777240" y="39456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using RBAC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40283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777240" y="43296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secrets at rest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8688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5" name="Text 13"/>
          <p:cNvSpPr/>
          <p:nvPr/>
        </p:nvSpPr>
        <p:spPr>
          <a:xfrm>
            <a:off x="777240" y="47137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exposing secrets unnecessarily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1709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7" name="Text 15"/>
          <p:cNvSpPr/>
          <p:nvPr/>
        </p:nvSpPr>
        <p:spPr>
          <a:xfrm>
            <a:off x="777240" y="50977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committing secrets to source code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55498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9" name="Text 17"/>
          <p:cNvSpPr/>
          <p:nvPr/>
        </p:nvSpPr>
        <p:spPr>
          <a:xfrm>
            <a:off x="777240" y="54818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external secret-management systems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4290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Secret Managers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72200" y="3945636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2" name="Text 20"/>
          <p:cNvSpPr/>
          <p:nvPr/>
        </p:nvSpPr>
        <p:spPr>
          <a:xfrm>
            <a:off x="6355080" y="394563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4448556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4" name="Text 22"/>
          <p:cNvSpPr/>
          <p:nvPr/>
        </p:nvSpPr>
        <p:spPr>
          <a:xfrm>
            <a:off x="6355080" y="444855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4951476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6" name="Text 24"/>
          <p:cNvSpPr/>
          <p:nvPr/>
        </p:nvSpPr>
        <p:spPr>
          <a:xfrm>
            <a:off x="6355080" y="495147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Network Security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restrictions, a compromised pod may communicate with other workloads unnecessarily. Kubernetes NetworkPolicy controls which pods, namespaces, and traffic are allowed.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allowing: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349240" cy="640080"/>
          </a:xfrm>
          <a:prstGeom prst="roundRect">
            <a:avLst>
              <a:gd name="adj" fmla="val 8571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→  Database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63640" y="25146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allows only: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63640" y="2971800"/>
            <a:ext cx="534924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6263640" y="297180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→  Backend  →  Database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3902536"/>
            <a:ext cx="11064240" cy="1911096"/>
          </a:xfrm>
          <a:prstGeom prst="roundRect">
            <a:avLst>
              <a:gd name="adj" fmla="val 4324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822960" y="403969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Policies can control: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960" y="44054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pods can communicate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17920" y="44054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namespaces can communicate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960" y="4789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traffic is allowed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7920" y="4789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traffic is denied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960" y="522841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reduces lateral movement.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Pod Security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2542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1078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run containers as root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2999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1" name="Text 9"/>
          <p:cNvSpPr/>
          <p:nvPr/>
        </p:nvSpPr>
        <p:spPr>
          <a:xfrm>
            <a:off x="1078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privileged containers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" y="3456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1078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unnecessary Linux capabilities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" y="39136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5" name="Text 13"/>
          <p:cNvSpPr/>
          <p:nvPr/>
        </p:nvSpPr>
        <p:spPr>
          <a:xfrm>
            <a:off x="1078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read-only filesystems where possible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1248" y="43708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7" name="Text 15"/>
          <p:cNvSpPr/>
          <p:nvPr/>
        </p:nvSpPr>
        <p:spPr>
          <a:xfrm>
            <a:off x="1078992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privilege escalation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" y="4828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9" name="Text 17"/>
          <p:cNvSpPr/>
          <p:nvPr/>
        </p:nvSpPr>
        <p:spPr>
          <a:xfrm>
            <a:off x="1078992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resource limits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1248" y="5285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1" name="Text 19"/>
          <p:cNvSpPr/>
          <p:nvPr/>
        </p:nvSpPr>
        <p:spPr>
          <a:xfrm>
            <a:off x="1078992" y="5212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appropriate security contexts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3" name="Text 21"/>
          <p:cNvSpPr/>
          <p:nvPr/>
        </p:nvSpPr>
        <p:spPr>
          <a:xfrm>
            <a:off x="6537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 Defines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56248" y="2542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5" name="Text 23"/>
          <p:cNvSpPr/>
          <p:nvPr/>
        </p:nvSpPr>
        <p:spPr>
          <a:xfrm>
            <a:off x="6793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56248" y="2999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7" name="Text 25"/>
          <p:cNvSpPr/>
          <p:nvPr/>
        </p:nvSpPr>
        <p:spPr>
          <a:xfrm>
            <a:off x="6793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56248" y="3456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9" name="Text 27"/>
          <p:cNvSpPr/>
          <p:nvPr/>
        </p:nvSpPr>
        <p:spPr>
          <a:xfrm>
            <a:off x="6793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56248" y="39136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31" name="Text 29"/>
          <p:cNvSpPr/>
          <p:nvPr/>
        </p:nvSpPr>
        <p:spPr>
          <a:xfrm>
            <a:off x="6793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capabilities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56248" y="43708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33" name="Text 31"/>
          <p:cNvSpPr/>
          <p:nvPr/>
        </p:nvSpPr>
        <p:spPr>
          <a:xfrm>
            <a:off x="6793992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56248" y="4828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35" name="Text 33"/>
          <p:cNvSpPr/>
          <p:nvPr/>
        </p:nvSpPr>
        <p:spPr>
          <a:xfrm>
            <a:off x="6793992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settings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Security in DevSecOps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should be integrated into every stage of the DevSecOps lifecycle.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263015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263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65935" y="20574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948815" y="2057400"/>
            <a:ext cx="1263015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1948815" y="2057400"/>
            <a:ext cx="1263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66110" y="20574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48990" y="2057400"/>
            <a:ext cx="1263015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3348990" y="2057400"/>
            <a:ext cx="1263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6285" y="20574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49165" y="2057400"/>
            <a:ext cx="1263015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4749165" y="2057400"/>
            <a:ext cx="1263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66460" y="20574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49340" y="2057400"/>
            <a:ext cx="1263015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6149340" y="2057400"/>
            <a:ext cx="1263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66635" y="20574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549515" y="2057400"/>
            <a:ext cx="1263015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7549515" y="2057400"/>
            <a:ext cx="1263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66810" y="20574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949690" y="2057400"/>
            <a:ext cx="1263015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8949690" y="2057400"/>
            <a:ext cx="1263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6985" y="20574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349865" y="2057400"/>
            <a:ext cx="1263015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10349865" y="2057400"/>
            <a:ext cx="1263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306324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658368" y="320040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8368" y="35661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detection, dependency scanning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88920" y="306324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2898648" y="320040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898648" y="35661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Dockerfile, image scanning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0" y="306324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7" name="Text 35"/>
          <p:cNvSpPr/>
          <p:nvPr/>
        </p:nvSpPr>
        <p:spPr>
          <a:xfrm>
            <a:off x="5138928" y="320040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138928" y="35661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signing, access control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69480" y="306324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0" name="Text 38"/>
          <p:cNvSpPr/>
          <p:nvPr/>
        </p:nvSpPr>
        <p:spPr>
          <a:xfrm>
            <a:off x="7379208" y="320040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79208" y="35661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enforcement, config validation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509760" y="306324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3" name="Text 41"/>
          <p:cNvSpPr/>
          <p:nvPr/>
        </p:nvSpPr>
        <p:spPr>
          <a:xfrm>
            <a:off x="9619488" y="320040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619488" y="35661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threat detection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4709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46" name="Text 44"/>
          <p:cNvSpPr/>
          <p:nvPr/>
        </p:nvSpPr>
        <p:spPr>
          <a:xfrm>
            <a:off x="822960" y="47091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essence of DevSecOps for containers: security becomes continuous and automated rather than a final manual check.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Continuous Integration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Deployment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security into CI/CD pipelines, building on Lecture 01's DevSecOps foundations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CI/CD?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2247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(CI): 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integrating code changes into a shared repository and automatically building and testing the application.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compilation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377647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analysis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777240" y="40690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2920" y="4569431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(CD):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validated software for release.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 (CD):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deploys validated changes to production.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09360" y="1645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Pipeline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09360" y="2171957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6309360" y="2171957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309360" y="2665733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309360" y="2665733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309360" y="3159509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6309360" y="3159509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309360" y="3653285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6309360" y="3653285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309360" y="4147061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6309360" y="4147061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309360" y="4640837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0" name="Text 28"/>
          <p:cNvSpPr/>
          <p:nvPr/>
        </p:nvSpPr>
        <p:spPr>
          <a:xfrm>
            <a:off x="6309360" y="4640837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309360" y="5134613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2" name="Text 30"/>
          <p:cNvSpPr/>
          <p:nvPr/>
        </p:nvSpPr>
        <p:spPr>
          <a:xfrm>
            <a:off x="6309360" y="5134613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309360" y="5628389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0B3D6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6309360" y="5628389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Integrate Security into CI/CD?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 testing happens near the end of development, vulnerabilities are discovered late, forcing teams back to earlier stages.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350419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77240" y="2487579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289905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Build → Test → Deploy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331053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Security Testing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7240" y="372201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Vulnerability Found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63640" y="2350419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6492240" y="2487579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Approach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92240" y="289905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Security Checks → Build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92240" y="331053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Security Tests → Deploy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92240" y="372201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Continuous Monitoring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8640" y="467145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515608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777240" y="508293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vulnerability detection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1960" y="515608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4480560" y="508293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remediation cost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55280" y="515608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8183880" y="508293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feedback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54013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777240" y="546698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testing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51960" y="554013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4480560" y="546698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security controls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55280" y="554013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8183880" y="546698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human error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 the CI/CD Pipeline</a:t>
            </a:r>
            <a:endParaRPr lang="en-US" sz="3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183424"/>
              </p:ext>
            </p:extLst>
          </p:nvPr>
        </p:nvGraphicFramePr>
        <p:xfrm>
          <a:off x="548640" y="1691640"/>
          <a:ext cx="8379603" cy="4297680"/>
        </p:xfrm>
        <a:graphic>
          <a:graphicData uri="http://schemas.openxmlformats.org/drawingml/2006/table">
            <a:tbl>
              <a:tblPr/>
              <a:tblGrid>
                <a:gridCol w="2770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9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Activity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SAST, secret scanning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build validation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scanning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DAST, security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scanning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checks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and threat detection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Shift-Left Security in CI/CD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moving security activities earlier in the software development lifecycle.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— too late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633062"/>
            <a:ext cx="5349240" cy="640080"/>
          </a:xfrm>
          <a:prstGeom prst="roundRect">
            <a:avLst>
              <a:gd name="adj" fmla="val 8571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685800" y="263306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→ Testing → Deployment → Security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3640" y="21945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63640" y="2633062"/>
            <a:ext cx="534924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6400800" y="263306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→ Development → Testing → Deployment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5890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catching a vulnerable dependency early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064508"/>
            <a:ext cx="259461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621792" y="4064508"/>
            <a:ext cx="24483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adds dependency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24962" y="4064508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71850" y="4064508"/>
            <a:ext cx="259461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3445002" y="4064508"/>
            <a:ext cx="24483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Scan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8172" y="4064508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95060" y="4064508"/>
            <a:ext cx="259461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268212" y="4064508"/>
            <a:ext cx="24483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detected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71382" y="4064508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18270" y="4064508"/>
            <a:ext cx="259461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9091422" y="4064508"/>
            <a:ext cx="24483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fixes 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349035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reduces the cost and effort of remediation.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Application Security Testing (SAST)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71778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source code or compiled code without executing the application.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9976" y="25818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Can Identify: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9976" y="320368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808576" y="31305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79976" y="358773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808576" y="35145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79976" y="397178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808576" y="38986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cryptography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79976" y="43558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808576" y="42826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functions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79976" y="473988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808576" y="46667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issues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53388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57045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 ·  Semgrep  ·  Checkmarx  ·  Fortify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37960" y="20116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537960" y="20116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537960" y="26974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537960" y="26974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Tool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37960" y="33832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537960" y="33832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37960" y="40690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537960" y="40690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37960" y="47548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6537960" y="47548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Fix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Composition Analysis (SCA)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applications depend heavily on third-party libraries. SCA identifies vulnerabilities in these dependencies.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42616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DCEA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822960" y="28254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2826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Flask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5840" y="36667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Requests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5840" y="40507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OpenSSL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Other Libraries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3640" y="2437647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Checks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63640" y="292227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6492240" y="284912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versions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63640" y="32880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6492240" y="321488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vulnerabilities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63640" y="365379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6492240" y="358064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packages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63640" y="401955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492240" y="394640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information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263640" y="438531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492240" y="431216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relationships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63640" y="5102352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Tools:  OWASP Dependency-Check  ·  Snyk  ·  Dependabot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Scanning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5730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credentials can accidentally be committed to source-code repositories; AWS access keys, API tokens, database passwords, private keys.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8" name="Text 6"/>
          <p:cNvSpPr/>
          <p:nvPr/>
        </p:nvSpPr>
        <p:spPr>
          <a:xfrm>
            <a:off x="594360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9464" y="2711299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98064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1" name="Text 9"/>
          <p:cNvSpPr/>
          <p:nvPr/>
        </p:nvSpPr>
        <p:spPr>
          <a:xfrm>
            <a:off x="2843784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8888" y="2711299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47488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4" name="Text 12"/>
          <p:cNvSpPr/>
          <p:nvPr/>
        </p:nvSpPr>
        <p:spPr>
          <a:xfrm>
            <a:off x="5093208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8312" y="2711299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96912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7" name="Text 15"/>
          <p:cNvSpPr/>
          <p:nvPr/>
        </p:nvSpPr>
        <p:spPr>
          <a:xfrm>
            <a:off x="7342632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Key Detected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17736" y="2711299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46336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0" name="Text 18"/>
          <p:cNvSpPr/>
          <p:nvPr/>
        </p:nvSpPr>
        <p:spPr>
          <a:xfrm>
            <a:off x="9592056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8712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3434" y="45204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3" name="Text 21"/>
          <p:cNvSpPr/>
          <p:nvPr/>
        </p:nvSpPr>
        <p:spPr>
          <a:xfrm>
            <a:off x="732034" y="44472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secrets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3434" y="490447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5" name="Text 23"/>
          <p:cNvSpPr/>
          <p:nvPr/>
        </p:nvSpPr>
        <p:spPr>
          <a:xfrm>
            <a:off x="732034" y="48313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repositories automatically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03434" y="528852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7" name="Text 25"/>
          <p:cNvSpPr/>
          <p:nvPr/>
        </p:nvSpPr>
        <p:spPr>
          <a:xfrm>
            <a:off x="732034" y="52153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exposed credentials immediately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03434" y="567256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9" name="Text 27"/>
          <p:cNvSpPr/>
          <p:nvPr/>
        </p:nvSpPr>
        <p:spPr>
          <a:xfrm>
            <a:off x="732034" y="559941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secret-management systems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63640" y="3968496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Tools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263640" y="453542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32" name="Text 30"/>
          <p:cNvSpPr/>
          <p:nvPr/>
        </p:nvSpPr>
        <p:spPr>
          <a:xfrm>
            <a:off x="6446520" y="453542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 Scanning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63640" y="503834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34" name="Text 32"/>
          <p:cNvSpPr/>
          <p:nvPr/>
        </p:nvSpPr>
        <p:spPr>
          <a:xfrm>
            <a:off x="6446520" y="503834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263640" y="554126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36" name="Text 34"/>
          <p:cNvSpPr/>
          <p:nvPr/>
        </p:nvSpPr>
        <p:spPr>
          <a:xfrm>
            <a:off x="6446520" y="554126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Application Security Testing (DAST)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508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running application from the outside to identify vulnerabilities. Unlike SAST, DAST does not analyze source code directly.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641727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Can Identify: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19584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777240" y="3122691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579891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777240" y="3506739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9639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777240" y="3890787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weaknesses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34798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777240" y="4274835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problems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732035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777240" y="4658883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5381244"/>
            <a:ext cx="5394960" cy="502920"/>
          </a:xfrm>
          <a:prstGeom prst="roundRect">
            <a:avLst>
              <a:gd name="adj" fmla="val 12727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548640" y="538124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Tool:  OWASP ZAP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37960" y="2011680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537960" y="2011680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Web Application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537960" y="2761488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537960" y="2761488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37960" y="3511296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537960" y="3511296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Attacks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37960" y="4261104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537960" y="4261104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Report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 Security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9993" y="15188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DevOps environments use Infrastructure as Code (IaC) to define infrastructure through configuration files, Terraform, AWS CloudFormation, Azure Bicep.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39993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8" name="Text 6"/>
          <p:cNvSpPr/>
          <p:nvPr/>
        </p:nvSpPr>
        <p:spPr>
          <a:xfrm>
            <a:off x="585713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60817" y="2548093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89417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1" name="Text 9"/>
          <p:cNvSpPr/>
          <p:nvPr/>
        </p:nvSpPr>
        <p:spPr>
          <a:xfrm>
            <a:off x="2835137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Scanner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0241" y="2548093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38841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4" name="Text 12"/>
          <p:cNvSpPr/>
          <p:nvPr/>
        </p:nvSpPr>
        <p:spPr>
          <a:xfrm>
            <a:off x="5084561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Found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59665" y="2548093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288265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7" name="Text 15"/>
          <p:cNvSpPr/>
          <p:nvPr/>
        </p:nvSpPr>
        <p:spPr>
          <a:xfrm>
            <a:off x="7333985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Fixes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09089" y="2548093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537689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20" name="Text 18"/>
          <p:cNvSpPr/>
          <p:nvPr/>
        </p:nvSpPr>
        <p:spPr>
          <a:xfrm>
            <a:off x="9583409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Deployment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0995" y="361645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Scanning Can Identify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39993" y="424579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768593" y="417264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storage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39993" y="461155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768593" y="453840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firewall rules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39993" y="497731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768593" y="490416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permissions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39993" y="534307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768593" y="526992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resources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9993" y="570883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768593" y="563568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network configurations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02768" y="3947231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Tools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302768" y="453946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6485648" y="453946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302768" y="504238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6" name="Text 34"/>
          <p:cNvSpPr/>
          <p:nvPr/>
        </p:nvSpPr>
        <p:spPr>
          <a:xfrm>
            <a:off x="6485648" y="5042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tfsec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302768" y="554530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8" name="Text 36"/>
          <p:cNvSpPr/>
          <p:nvPr/>
        </p:nvSpPr>
        <p:spPr>
          <a:xfrm>
            <a:off x="6485648" y="554530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KICS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CI/CD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Security in CI/CD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7" name="Text 5"/>
          <p:cNvSpPr/>
          <p:nvPr/>
        </p:nvSpPr>
        <p:spPr>
          <a:xfrm>
            <a:off x="5760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568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488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0" name="Text 8"/>
          <p:cNvSpPr/>
          <p:nvPr/>
        </p:nvSpPr>
        <p:spPr>
          <a:xfrm>
            <a:off x="21762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570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3" name="Text 11"/>
          <p:cNvSpPr/>
          <p:nvPr/>
        </p:nvSpPr>
        <p:spPr>
          <a:xfrm>
            <a:off x="37764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572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92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6" name="Text 14"/>
          <p:cNvSpPr/>
          <p:nvPr/>
        </p:nvSpPr>
        <p:spPr>
          <a:xfrm>
            <a:off x="53766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Check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574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494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9" name="Text 17"/>
          <p:cNvSpPr/>
          <p:nvPr/>
        </p:nvSpPr>
        <p:spPr>
          <a:xfrm>
            <a:off x="69768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Signing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76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496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22" name="Text 20"/>
          <p:cNvSpPr/>
          <p:nvPr/>
        </p:nvSpPr>
        <p:spPr>
          <a:xfrm>
            <a:off x="85770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578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498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25" name="Text 23"/>
          <p:cNvSpPr/>
          <p:nvPr/>
        </p:nvSpPr>
        <p:spPr>
          <a:xfrm>
            <a:off x="101772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281295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48640" y="35857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8" name="Text 26"/>
          <p:cNvSpPr/>
          <p:nvPr/>
        </p:nvSpPr>
        <p:spPr>
          <a:xfrm>
            <a:off x="777240" y="3530860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 vulnerabilities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391490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0" name="Text 28"/>
          <p:cNvSpPr/>
          <p:nvPr/>
        </p:nvSpPr>
        <p:spPr>
          <a:xfrm>
            <a:off x="777240" y="3860044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dependencies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" y="424409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2" name="Text 30"/>
          <p:cNvSpPr/>
          <p:nvPr/>
        </p:nvSpPr>
        <p:spPr>
          <a:xfrm>
            <a:off x="777240" y="4189228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secrets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48640" y="457327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4" name="Text 32"/>
          <p:cNvSpPr/>
          <p:nvPr/>
        </p:nvSpPr>
        <p:spPr>
          <a:xfrm>
            <a:off x="777240" y="4518412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base images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48640" y="49024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6" name="Text 34"/>
          <p:cNvSpPr/>
          <p:nvPr/>
        </p:nvSpPr>
        <p:spPr>
          <a:xfrm>
            <a:off x="777240" y="4847596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Dockerfile security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48640" y="52316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8" name="Text 36"/>
          <p:cNvSpPr/>
          <p:nvPr/>
        </p:nvSpPr>
        <p:spPr>
          <a:xfrm>
            <a:off x="777240" y="5176780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SBOM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48640" y="556082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40" name="Text 38"/>
          <p:cNvSpPr/>
          <p:nvPr/>
        </p:nvSpPr>
        <p:spPr>
          <a:xfrm>
            <a:off x="777240" y="5505964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image signatures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263640" y="26974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Decision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6263640" y="325526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43" name="Text 41"/>
          <p:cNvSpPr/>
          <p:nvPr/>
        </p:nvSpPr>
        <p:spPr>
          <a:xfrm>
            <a:off x="6263640" y="325526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263640" y="380390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45" name="Text 43"/>
          <p:cNvSpPr/>
          <p:nvPr/>
        </p:nvSpPr>
        <p:spPr>
          <a:xfrm>
            <a:off x="6263640" y="380390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Vulnerability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263640" y="435254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47" name="Text 45"/>
          <p:cNvSpPr/>
          <p:nvPr/>
        </p:nvSpPr>
        <p:spPr>
          <a:xfrm>
            <a:off x="6263640" y="435254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FAILED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6263640" y="490118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49" name="Text 47"/>
          <p:cNvSpPr/>
          <p:nvPr/>
        </p:nvSpPr>
        <p:spPr>
          <a:xfrm>
            <a:off x="6263640" y="490118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BLOCKED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263640" y="5696712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vulnerable container images from reaching production.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CI/CD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Gates in CI/CD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773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gate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automated condition in a CI/CD pipeline that determines whether a build can proceed to the next stage.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9464" y="2331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98064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2843784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8888" y="2331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47488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5093208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8312" y="2331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296912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7342632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Scan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17736" y="2331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546336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9592056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70832" y="34061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4370832" y="34061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569464" y="4050792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2569464" y="40507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Deploy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44184" y="4050792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044184" y="40507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 Stop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DCEA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Policy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2960" y="5349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Critical vulnerabilities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7920" y="5349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Maximum 5 Medium vulnerabilities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2960" y="57332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exposed secrets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17920" y="57332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high-risk IaC misconfigurations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AUTOMATION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Automation in CI/CD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Scanning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560001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commit is scanned.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8160" y="169164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44927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44927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2752" y="2267393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Dependency Scanning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92752" y="2734056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dependencies are checked for vulnerabilities.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7680" y="169164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Shape 15"/>
          <p:cNvSpPr/>
          <p:nvPr/>
        </p:nvSpPr>
        <p:spPr>
          <a:xfrm>
            <a:off x="82722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82722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7227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Container Scanning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2272" y="2569464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 are scanned before deployment.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Shape 20"/>
          <p:cNvSpPr/>
          <p:nvPr/>
        </p:nvSpPr>
        <p:spPr>
          <a:xfrm>
            <a:off x="71323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71323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3232" y="4270141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Infrastructure Scanning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3232" y="4672371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checked before provisioning.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28160" y="370332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Shape 25"/>
          <p:cNvSpPr/>
          <p:nvPr/>
        </p:nvSpPr>
        <p:spPr>
          <a:xfrm>
            <a:off x="449275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449275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92752" y="421538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92752" y="4559666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security policies.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AUTOMATION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Security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BEAEA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Security Threats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1248" y="25420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1078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developer credentials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41248" y="29992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1078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code commits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41248" y="34564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1078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build servers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41248" y="39136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1078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CI/CD tokens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41248" y="43708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1078992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dependencies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41248" y="48280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1078992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pipeline modifications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41248" y="52852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1078992" y="5212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attacks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170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537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556248" y="2542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793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authentication &amp; MFA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56248" y="2999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793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56248" y="3456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6793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branches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56248" y="39136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6793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556248" y="43708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6793992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build agents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556248" y="4828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5" name="Text 33"/>
          <p:cNvSpPr/>
          <p:nvPr/>
        </p:nvSpPr>
        <p:spPr>
          <a:xfrm>
            <a:off x="6793992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556248" y="5285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7" name="Text 35"/>
          <p:cNvSpPr/>
          <p:nvPr/>
        </p:nvSpPr>
        <p:spPr>
          <a:xfrm>
            <a:off x="6793992" y="5212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signing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556248" y="5742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9" name="Text 37"/>
          <p:cNvSpPr/>
          <p:nvPr/>
        </p:nvSpPr>
        <p:spPr>
          <a:xfrm>
            <a:off x="6793992" y="5669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Supply Chain Security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3754" y="1564103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applications are built using many external components, each dependency introduces potential security risk.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507"/>
            <a:ext cx="5349240" cy="2130339"/>
          </a:xfrm>
          <a:prstGeom prst="roundRect">
            <a:avLst>
              <a:gd name="adj" fmla="val 3721"/>
            </a:avLst>
          </a:prstGeom>
          <a:solidFill>
            <a:srgbClr val="DCEA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822960" y="24686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8801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Open Source Libraries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1727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Container Images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653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Build Tools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7579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0505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Third-Party Services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50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May Compromise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00800" y="2797959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6629400" y="2743095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packages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400800" y="3108855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6629400" y="3053991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400800" y="3419751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6629400" y="3364887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00800" y="3730647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629400" y="3675783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00800" y="4041543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6629400" y="3986679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repositories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4617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1021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777240" y="5028987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91840" y="51021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3520440" y="5028987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35040" y="51021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6263640" y="5028987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repositories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78240" y="51021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9006840" y="5028987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signing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548618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5" name="Text 33"/>
          <p:cNvSpPr/>
          <p:nvPr/>
        </p:nvSpPr>
        <p:spPr>
          <a:xfrm>
            <a:off x="777240" y="5413035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verification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91840" y="548618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7" name="Text 35"/>
          <p:cNvSpPr/>
          <p:nvPr/>
        </p:nvSpPr>
        <p:spPr>
          <a:xfrm>
            <a:off x="3520440" y="5413035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pinning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35040" y="548618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9" name="Text 37"/>
          <p:cNvSpPr/>
          <p:nvPr/>
        </p:nvSpPr>
        <p:spPr>
          <a:xfrm>
            <a:off x="6263640" y="5413035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Artifact Management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artifact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file produced during the software build process executables, packages, container images, libraries, and deployment packages.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45250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should be securely stored and verified before deployment.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777240" y="34930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trusted artifact repositories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35661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6492240" y="34930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777240" y="39502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artifacts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40233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6492240" y="39502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artifacts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777240" y="44074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integrity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44805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0" name="Text 18"/>
          <p:cNvSpPr/>
          <p:nvPr/>
        </p:nvSpPr>
        <p:spPr>
          <a:xfrm>
            <a:off x="6492240" y="44074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version history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2" name="Text 20"/>
          <p:cNvSpPr/>
          <p:nvPr/>
        </p:nvSpPr>
        <p:spPr>
          <a:xfrm>
            <a:off x="777240" y="48646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unauthorized modification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CI/CD Pipeline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90672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3456432" y="196596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25312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6291072" y="196596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59952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052560" y="1965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9125712" y="196596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 rot="5400000">
            <a:off x="10195560" y="2743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9" name="Text 17"/>
          <p:cNvSpPr/>
          <p:nvPr/>
        </p:nvSpPr>
        <p:spPr>
          <a:xfrm>
            <a:off x="621792" y="324612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Build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90672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83280" y="32461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2" name="Text 20"/>
          <p:cNvSpPr/>
          <p:nvPr/>
        </p:nvSpPr>
        <p:spPr>
          <a:xfrm>
            <a:off x="3456432" y="324612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Scan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25312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17920" y="32461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5" name="Text 23"/>
          <p:cNvSpPr/>
          <p:nvPr/>
        </p:nvSpPr>
        <p:spPr>
          <a:xfrm>
            <a:off x="6291072" y="324612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052560" y="32461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8" name="Text 26"/>
          <p:cNvSpPr/>
          <p:nvPr/>
        </p:nvSpPr>
        <p:spPr>
          <a:xfrm>
            <a:off x="9125712" y="324612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95560" y="40233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31" name="Text 29"/>
          <p:cNvSpPr/>
          <p:nvPr/>
        </p:nvSpPr>
        <p:spPr>
          <a:xfrm>
            <a:off x="621792" y="452628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090672" y="45262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383280" y="45262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34" name="Text 32"/>
          <p:cNvSpPr/>
          <p:nvPr/>
        </p:nvSpPr>
        <p:spPr>
          <a:xfrm>
            <a:off x="3456432" y="452628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Repo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25312" y="45262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217920" y="45262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37" name="Text 35"/>
          <p:cNvSpPr/>
          <p:nvPr/>
        </p:nvSpPr>
        <p:spPr>
          <a:xfrm>
            <a:off x="6291072" y="452628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59952" y="45262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052560" y="45262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40" name="Text 38"/>
          <p:cNvSpPr/>
          <p:nvPr/>
        </p:nvSpPr>
        <p:spPr>
          <a:xfrm>
            <a:off x="9125712" y="452628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boxes are security activities. Security is continuously integrated rather than performed as a final stage.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F36EB6C9-7B6E-83D0-09F0-A0E44E2B65FC}"/>
              </a:ext>
            </a:extLst>
          </p:cNvPr>
          <p:cNvSpPr/>
          <p:nvPr/>
        </p:nvSpPr>
        <p:spPr>
          <a:xfrm rot="5400000">
            <a:off x="2828544" y="27261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EC0F20E8-5AB1-A6D3-C668-67381B5C57DE}"/>
              </a:ext>
            </a:extLst>
          </p:cNvPr>
          <p:cNvSpPr/>
          <p:nvPr/>
        </p:nvSpPr>
        <p:spPr>
          <a:xfrm rot="5400000">
            <a:off x="4223004" y="27203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37A0269-95BE-8A7E-55CC-D5A4B577971C}"/>
              </a:ext>
            </a:extLst>
          </p:cNvPr>
          <p:cNvSpPr/>
          <p:nvPr/>
        </p:nvSpPr>
        <p:spPr>
          <a:xfrm>
            <a:off x="1868424" y="282136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9ACF942F-1C89-24B5-740C-D678D17229F6}"/>
              </a:ext>
            </a:extLst>
          </p:cNvPr>
          <p:cNvSpPr/>
          <p:nvPr/>
        </p:nvSpPr>
        <p:spPr>
          <a:xfrm rot="5400000">
            <a:off x="5806440" y="2750005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FDB9DF11-2BA0-7CC3-739C-DBC9699D8127}"/>
              </a:ext>
            </a:extLst>
          </p:cNvPr>
          <p:cNvSpPr/>
          <p:nvPr/>
        </p:nvSpPr>
        <p:spPr>
          <a:xfrm rot="5400000">
            <a:off x="7539228" y="275277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E51B0BC6-D3DC-79C4-3CB3-ECCF3427829A}"/>
              </a:ext>
            </a:extLst>
          </p:cNvPr>
          <p:cNvSpPr/>
          <p:nvPr/>
        </p:nvSpPr>
        <p:spPr>
          <a:xfrm rot="5400000">
            <a:off x="8933688" y="275808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9ED8D841-8E86-FEEA-C774-08EA88DB52BB}"/>
              </a:ext>
            </a:extLst>
          </p:cNvPr>
          <p:cNvSpPr/>
          <p:nvPr/>
        </p:nvSpPr>
        <p:spPr>
          <a:xfrm>
            <a:off x="10305607" y="262092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AA4121A0-A89E-6A6C-60AA-0305BDD32E91}"/>
              </a:ext>
            </a:extLst>
          </p:cNvPr>
          <p:cNvSpPr/>
          <p:nvPr/>
        </p:nvSpPr>
        <p:spPr>
          <a:xfrm rot="5400000">
            <a:off x="1972818" y="270706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2EC89C50-DC03-2AD0-5436-8663161EDD23}"/>
              </a:ext>
            </a:extLst>
          </p:cNvPr>
          <p:cNvSpPr/>
          <p:nvPr/>
        </p:nvSpPr>
        <p:spPr>
          <a:xfrm rot="5400000">
            <a:off x="10168447" y="404622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1769E3D0-B894-65A5-94D0-1FBF002A3F12}"/>
              </a:ext>
            </a:extLst>
          </p:cNvPr>
          <p:cNvSpPr/>
          <p:nvPr/>
        </p:nvSpPr>
        <p:spPr>
          <a:xfrm rot="5400000">
            <a:off x="2819790" y="40233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CC88131C-34D4-E80E-F1D3-2FCC0EF5D249}"/>
              </a:ext>
            </a:extLst>
          </p:cNvPr>
          <p:cNvSpPr/>
          <p:nvPr/>
        </p:nvSpPr>
        <p:spPr>
          <a:xfrm rot="5400000">
            <a:off x="4214250" y="40176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5" name="Text 15">
            <a:extLst>
              <a:ext uri="{FF2B5EF4-FFF2-40B4-BE49-F238E27FC236}">
                <a16:creationId xmlns:a16="http://schemas.microsoft.com/office/drawing/2014/main" id="{FA745795-7F9D-C7EE-E4DF-F9D2B0AE5EC2}"/>
              </a:ext>
            </a:extLst>
          </p:cNvPr>
          <p:cNvSpPr/>
          <p:nvPr/>
        </p:nvSpPr>
        <p:spPr>
          <a:xfrm>
            <a:off x="1859670" y="411862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2AB5AEF4-6335-9DAC-0023-11409F15DA6F}"/>
              </a:ext>
            </a:extLst>
          </p:cNvPr>
          <p:cNvSpPr/>
          <p:nvPr/>
        </p:nvSpPr>
        <p:spPr>
          <a:xfrm rot="5400000">
            <a:off x="5797686" y="4047265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6725A534-DD78-7F5C-7F5D-D43723404BA4}"/>
              </a:ext>
            </a:extLst>
          </p:cNvPr>
          <p:cNvSpPr/>
          <p:nvPr/>
        </p:nvSpPr>
        <p:spPr>
          <a:xfrm rot="5400000">
            <a:off x="7530474" y="405003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8" name="Text 15">
            <a:extLst>
              <a:ext uri="{FF2B5EF4-FFF2-40B4-BE49-F238E27FC236}">
                <a16:creationId xmlns:a16="http://schemas.microsoft.com/office/drawing/2014/main" id="{BABB423B-FC2B-E848-6F98-A47B8D77AB6E}"/>
              </a:ext>
            </a:extLst>
          </p:cNvPr>
          <p:cNvSpPr/>
          <p:nvPr/>
        </p:nvSpPr>
        <p:spPr>
          <a:xfrm rot="5400000">
            <a:off x="8924934" y="405534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5E20E18F-4D4A-C972-2E2F-9140165BFAAF}"/>
              </a:ext>
            </a:extLst>
          </p:cNvPr>
          <p:cNvSpPr/>
          <p:nvPr/>
        </p:nvSpPr>
        <p:spPr>
          <a:xfrm>
            <a:off x="10296853" y="391818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61AC6C3B-C41E-4D04-D422-831E5E5DF1B9}"/>
              </a:ext>
            </a:extLst>
          </p:cNvPr>
          <p:cNvSpPr/>
          <p:nvPr/>
        </p:nvSpPr>
        <p:spPr>
          <a:xfrm rot="5400000">
            <a:off x="1964064" y="400432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Secure CI/CD Pipeline for an Online Shopping App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0704" y="167335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60704" y="196596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checks for exposed credentials.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0704" y="26791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60704" y="297180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is analyzed for vulnerabilities.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5" name="Text 13"/>
          <p:cNvSpPr/>
          <p:nvPr/>
        </p:nvSpPr>
        <p:spPr>
          <a:xfrm>
            <a:off x="548640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0704" y="36850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60704" y="397764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dependencies are scanned.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0704" y="469087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0704" y="498348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packaged into a container.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74243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23" name="Text 21"/>
          <p:cNvSpPr/>
          <p:nvPr/>
        </p:nvSpPr>
        <p:spPr>
          <a:xfrm>
            <a:off x="548640" y="5742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0704" y="569671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Scan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60704" y="598932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image is checked for vulnerabilities.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171907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27" name="Text 25"/>
          <p:cNvSpPr/>
          <p:nvPr/>
        </p:nvSpPr>
        <p:spPr>
          <a:xfrm>
            <a:off x="626364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75704" y="167335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IaC Scan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75704" y="196596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is checked for misconfigurations.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272491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31" name="Text 29"/>
          <p:cNvSpPr/>
          <p:nvPr/>
        </p:nvSpPr>
        <p:spPr>
          <a:xfrm>
            <a:off x="626364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75704" y="26791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75704" y="297180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checks whether security policies are satisfied.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3640" y="373075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35" name="Text 33"/>
          <p:cNvSpPr/>
          <p:nvPr/>
        </p:nvSpPr>
        <p:spPr>
          <a:xfrm>
            <a:off x="6263640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75704" y="36850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775704" y="397764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artifacts are deployed.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63640" y="473659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39" name="Text 37"/>
          <p:cNvSpPr/>
          <p:nvPr/>
        </p:nvSpPr>
        <p:spPr>
          <a:xfrm>
            <a:off x="6263640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75704" y="469087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Monitoring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75704" y="498348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and infrastructure are continuously monitored.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Secure CI/CD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569464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identified earlier.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35478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35478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47872" y="2281109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Remediation Cost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47872" y="2719596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issues before deployment.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Shape 15"/>
          <p:cNvSpPr/>
          <p:nvPr/>
        </p:nvSpPr>
        <p:spPr>
          <a:xfrm>
            <a:off x="638251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638251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8251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Feedback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2512" y="249631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tools provide immediate feedback.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5256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Shape 20"/>
          <p:cNvSpPr/>
          <p:nvPr/>
        </p:nvSpPr>
        <p:spPr>
          <a:xfrm>
            <a:off x="92171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92171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17152" y="249631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checks applied to every build.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Shape 25"/>
          <p:cNvSpPr/>
          <p:nvPr/>
        </p:nvSpPr>
        <p:spPr>
          <a:xfrm>
            <a:off x="71323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71323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3232" y="4288536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Human Error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13232" y="4719580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reduces manual reliance.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8328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2" name="Shape 30"/>
          <p:cNvSpPr/>
          <p:nvPr/>
        </p:nvSpPr>
        <p:spPr>
          <a:xfrm>
            <a:off x="354787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354787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47872" y="4279392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Compliance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47872" y="4754880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policies enforced continuously.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7" name="Shape 35"/>
          <p:cNvSpPr/>
          <p:nvPr/>
        </p:nvSpPr>
        <p:spPr>
          <a:xfrm>
            <a:off x="638251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8" name="Text 36"/>
          <p:cNvSpPr/>
          <p:nvPr/>
        </p:nvSpPr>
        <p:spPr>
          <a:xfrm>
            <a:off x="638251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82512" y="4288536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Collaboration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82512" y="4672584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security, and ops share responsibility.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Container, Kubernetes &amp; CI/CD Security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3864" cy="4709160"/>
          </a:xfrm>
          <a:prstGeom prst="roundRect">
            <a:avLst>
              <a:gd name="adj" fmla="val 2100"/>
            </a:avLst>
          </a:prstGeom>
          <a:solidFill>
            <a:srgbClr val="0F4778"/>
          </a:solidFill>
          <a:ln w="12700">
            <a:solidFill>
              <a:srgbClr val="1E5D93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24780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Portability, consistency, isolation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98094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987552" y="292608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automatically secure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48386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987552" y="342900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images, registries, runtime, hosts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4132026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969264" y="4077162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 privilege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" y="462027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1005840" y="4565409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images and dependencies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" y="512319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1005840" y="5068329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secrets · monitor runtime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52544" y="1600200"/>
            <a:ext cx="3483864" cy="4709160"/>
          </a:xfrm>
          <a:prstGeom prst="roundRect">
            <a:avLst>
              <a:gd name="adj" fmla="val 2100"/>
            </a:avLst>
          </a:prstGeom>
          <a:solidFill>
            <a:srgbClr val="0F4778"/>
          </a:solidFill>
          <a:ln w="12700">
            <a:solidFill>
              <a:srgbClr val="1E5D93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4581144" y="1801368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81144" y="24780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4791456" y="24231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control plane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81144" y="298094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4791456" y="292608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RBAC and least privilege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81144" y="348386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4791456" y="342900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pods and containers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81144" y="398678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4791456" y="393192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network policies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81144" y="448970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0" name="Text 28"/>
          <p:cNvSpPr/>
          <p:nvPr/>
        </p:nvSpPr>
        <p:spPr>
          <a:xfrm>
            <a:off x="4791456" y="443484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secrets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49926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2" name="Text 30"/>
          <p:cNvSpPr/>
          <p:nvPr/>
        </p:nvSpPr>
        <p:spPr>
          <a:xfrm>
            <a:off x="4791456" y="49377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privileged workloads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6448" y="1600200"/>
            <a:ext cx="3483864" cy="4709160"/>
          </a:xfrm>
          <a:prstGeom prst="roundRect">
            <a:avLst>
              <a:gd name="adj" fmla="val 2100"/>
            </a:avLst>
          </a:prstGeom>
          <a:solidFill>
            <a:srgbClr val="0F4778"/>
          </a:solidFill>
          <a:ln w="12700">
            <a:solidFill>
              <a:srgbClr val="1E5D93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8385048" y="1801368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CI/CD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385048" y="24780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6" name="Text 34"/>
          <p:cNvSpPr/>
          <p:nvPr/>
        </p:nvSpPr>
        <p:spPr>
          <a:xfrm>
            <a:off x="8595360" y="24231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security throughout the pipeline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85048" y="298094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8" name="Text 36"/>
          <p:cNvSpPr/>
          <p:nvPr/>
        </p:nvSpPr>
        <p:spPr>
          <a:xfrm>
            <a:off x="8595360" y="292608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SAST, SCA, DAST, IaC &amp; container scanning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85048" y="348386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0" name="Text 38"/>
          <p:cNvSpPr/>
          <p:nvPr/>
        </p:nvSpPr>
        <p:spPr>
          <a:xfrm>
            <a:off x="8595360" y="342900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secrets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85048" y="398678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2" name="Text 40"/>
          <p:cNvSpPr/>
          <p:nvPr/>
        </p:nvSpPr>
        <p:spPr>
          <a:xfrm>
            <a:off x="8595360" y="393192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security gates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85048" y="448970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4" name="Text 42"/>
          <p:cNvSpPr/>
          <p:nvPr/>
        </p:nvSpPr>
        <p:spPr>
          <a:xfrm>
            <a:off x="8595360" y="443484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CI/CD pipeline &amp; supply chain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85048" y="49926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6" name="Text 44"/>
          <p:cNvSpPr/>
          <p:nvPr/>
        </p:nvSpPr>
        <p:spPr>
          <a:xfrm>
            <a:off x="8595360" y="49377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security wherever possible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3860</Words>
  <Application>Microsoft Macintosh PowerPoint</Application>
  <PresentationFormat>Widescreen</PresentationFormat>
  <Paragraphs>1127</Paragraphs>
  <Slides>54</Slides>
  <Notes>54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Cambria</vt:lpstr>
      <vt:lpstr>Courier New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Wijesooriya</cp:lastModifiedBy>
  <cp:revision>8</cp:revision>
  <dcterms:created xsi:type="dcterms:W3CDTF">2026-08-20T11:11:13Z</dcterms:created>
  <dcterms:modified xsi:type="dcterms:W3CDTF">2026-08-22T13:59:58Z</dcterms:modified>
</cp:coreProperties>
</file>