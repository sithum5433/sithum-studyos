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85" r:id="rId2"/>
    <p:sldId id="257" r:id="rId3"/>
    <p:sldId id="286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299" r:id="rId12"/>
    <p:sldId id="300" r:id="rId13"/>
    <p:sldId id="301" r:id="rId14"/>
    <p:sldId id="302" r:id="rId15"/>
    <p:sldId id="303" r:id="rId16"/>
    <p:sldId id="304" r:id="rId17"/>
    <p:sldId id="305" r:id="rId18"/>
    <p:sldId id="306" r:id="rId19"/>
    <p:sldId id="307" r:id="rId20"/>
    <p:sldId id="308" r:id="rId21"/>
    <p:sldId id="309" r:id="rId22"/>
    <p:sldId id="310" r:id="rId23"/>
    <p:sldId id="311" r:id="rId24"/>
    <p:sldId id="312" r:id="rId25"/>
    <p:sldId id="313" r:id="rId26"/>
    <p:sldId id="314" r:id="rId27"/>
    <p:sldId id="315" r:id="rId28"/>
    <p:sldId id="316" r:id="rId29"/>
    <p:sldId id="317" r:id="rId30"/>
    <p:sldId id="318" r:id="rId31"/>
    <p:sldId id="319" r:id="rId32"/>
    <p:sldId id="320" r:id="rId33"/>
    <p:sldId id="322" r:id="rId34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738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https:/www/owasp.org/index.php/Application_Threat_Modeling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463040"/>
            <a:ext cx="4754880" cy="4754880"/>
          </a:xfrm>
          <a:prstGeom prst="ellipse">
            <a:avLst/>
          </a:prstGeom>
          <a:solidFill>
            <a:srgbClr val="0F62B0">
              <a:alpha val="45000"/>
            </a:srgbClr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8778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Design Principles and Patterns</a:t>
            </a:r>
            <a:endParaRPr lang="en-US" sz="4400" dirty="0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0464272B-6B44-807B-2158-86D5956F5431}"/>
              </a:ext>
            </a:extLst>
          </p:cNvPr>
          <p:cNvSpPr/>
          <p:nvPr/>
        </p:nvSpPr>
        <p:spPr>
          <a:xfrm>
            <a:off x="640080" y="19659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9FC1E8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IE3142 · DEVOPS SECURITY</a:t>
            </a:r>
            <a:endParaRPr lang="en-US" sz="1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8C7D5354-9EBD-D64A-F678-8527D2E02A72}"/>
              </a:ext>
            </a:extLst>
          </p:cNvPr>
          <p:cNvSpPr/>
          <p:nvPr/>
        </p:nvSpPr>
        <p:spPr>
          <a:xfrm>
            <a:off x="-1645920" y="4846320"/>
            <a:ext cx="3657600" cy="3657600"/>
          </a:xfrm>
          <a:prstGeom prst="ellipse">
            <a:avLst/>
          </a:prstGeom>
          <a:solidFill>
            <a:srgbClr val="071B33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305AE5D-0026-C7B4-022A-33045FBCA29D}"/>
              </a:ext>
            </a:extLst>
          </p:cNvPr>
          <p:cNvSpPr/>
          <p:nvPr/>
        </p:nvSpPr>
        <p:spPr>
          <a:xfrm>
            <a:off x="640080" y="43434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A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03  ·  </a:t>
            </a:r>
            <a:r>
              <a:rPr lang="en-US" dirty="0" err="1">
                <a:solidFill>
                  <a:srgbClr val="EA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</a:t>
            </a:r>
            <a:r>
              <a:rPr lang="en-US" dirty="0">
                <a:solidFill>
                  <a:srgbClr val="EAF2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Secure Desing &amp; Threat Modeling</a:t>
            </a:r>
            <a:endParaRPr lang="en-US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923230B-0D41-82CA-1395-39FF4259C8FA}"/>
              </a:ext>
            </a:extLst>
          </p:cNvPr>
          <p:cNvSpPr/>
          <p:nvPr/>
        </p:nvSpPr>
        <p:spPr>
          <a:xfrm>
            <a:off x="640080" y="6217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C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03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08792" cy="28724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importance of secure software development practices.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secure coding techniques and best practices.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secure design principles and common security design patterns.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threat modeling methodologies.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basic risk assessment during software development.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DESIGN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Secure Design?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16" y="1905907"/>
            <a:ext cx="10908792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design is the process of incorporating security considerations into the software architecture and system design before implementation begins.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16" y="3007143"/>
            <a:ext cx="109087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focuses on identifying and eliminating potential security weaknesses early in the Software Development Life Cycle (SDLC), ensuring that security is built into the system rather than added later.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DESIGN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Secure Design Important?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39953" y="1065276"/>
            <a:ext cx="10908792" cy="4727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security vulnerabilities before coding begins.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the cost and effort required to fix security issues.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the overall reliability and resilience of software systems.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the DevSecOps principle of Shift Left Security.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strong foundation for secure coding and testing.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DESIGN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Secure Design Considers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39953" y="1736589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design is the process of incorporating security into the architecture and structure of a system before implementation.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39953" y="2747772"/>
            <a:ext cx="2555748" cy="923544"/>
          </a:xfrm>
          <a:prstGeom prst="roundRect">
            <a:avLst>
              <a:gd name="adj" fmla="val 6000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400"/>
          </a:p>
        </p:txBody>
      </p:sp>
      <p:sp>
        <p:nvSpPr>
          <p:cNvPr id="6" name="Text 4"/>
          <p:cNvSpPr/>
          <p:nvPr/>
        </p:nvSpPr>
        <p:spPr>
          <a:xfrm>
            <a:off x="841121" y="2912364"/>
            <a:ext cx="21899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boundaries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424301" y="2747772"/>
            <a:ext cx="2555748" cy="932688"/>
          </a:xfrm>
          <a:prstGeom prst="roundRect">
            <a:avLst>
              <a:gd name="adj" fmla="val 6000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400"/>
          </a:p>
        </p:txBody>
      </p:sp>
      <p:sp>
        <p:nvSpPr>
          <p:cNvPr id="8" name="Text 6"/>
          <p:cNvSpPr/>
          <p:nvPr/>
        </p:nvSpPr>
        <p:spPr>
          <a:xfrm>
            <a:off x="3625469" y="2912364"/>
            <a:ext cx="21899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flows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208649" y="2747772"/>
            <a:ext cx="2555748" cy="932688"/>
          </a:xfrm>
          <a:prstGeom prst="roundRect">
            <a:avLst>
              <a:gd name="adj" fmla="val 6000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400"/>
          </a:p>
        </p:txBody>
      </p:sp>
      <p:sp>
        <p:nvSpPr>
          <p:cNvPr id="10" name="Text 8"/>
          <p:cNvSpPr/>
          <p:nvPr/>
        </p:nvSpPr>
        <p:spPr>
          <a:xfrm>
            <a:off x="6409817" y="2912364"/>
            <a:ext cx="21899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control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8992997" y="2747772"/>
            <a:ext cx="2555748" cy="932688"/>
          </a:xfrm>
          <a:prstGeom prst="roundRect">
            <a:avLst>
              <a:gd name="adj" fmla="val 6000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400"/>
          </a:p>
        </p:txBody>
      </p:sp>
      <p:sp>
        <p:nvSpPr>
          <p:cNvPr id="12" name="Text 10"/>
          <p:cNvSpPr/>
          <p:nvPr/>
        </p:nvSpPr>
        <p:spPr>
          <a:xfrm>
            <a:off x="9194165" y="2912364"/>
            <a:ext cx="21899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 interaction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39953" y="4347972"/>
            <a:ext cx="2555748" cy="1051560"/>
          </a:xfrm>
          <a:prstGeom prst="roundRect">
            <a:avLst>
              <a:gd name="adj" fmla="val 6000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400"/>
          </a:p>
        </p:txBody>
      </p:sp>
      <p:sp>
        <p:nvSpPr>
          <p:cNvPr id="14" name="Text 12"/>
          <p:cNvSpPr/>
          <p:nvPr/>
        </p:nvSpPr>
        <p:spPr>
          <a:xfrm>
            <a:off x="841121" y="4512564"/>
            <a:ext cx="21899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behaviour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424301" y="4347972"/>
            <a:ext cx="2555748" cy="1051560"/>
          </a:xfrm>
          <a:prstGeom prst="roundRect">
            <a:avLst>
              <a:gd name="adj" fmla="val 6000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400"/>
          </a:p>
        </p:txBody>
      </p:sp>
      <p:sp>
        <p:nvSpPr>
          <p:cNvPr id="16" name="Text 14"/>
          <p:cNvSpPr/>
          <p:nvPr/>
        </p:nvSpPr>
        <p:spPr>
          <a:xfrm>
            <a:off x="3625469" y="4512564"/>
            <a:ext cx="21899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 surface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208649" y="4347972"/>
            <a:ext cx="2555748" cy="932688"/>
          </a:xfrm>
          <a:prstGeom prst="roundRect">
            <a:avLst>
              <a:gd name="adj" fmla="val 6000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400"/>
          </a:p>
        </p:txBody>
      </p:sp>
      <p:sp>
        <p:nvSpPr>
          <p:cNvPr id="18" name="Text 16"/>
          <p:cNvSpPr/>
          <p:nvPr/>
        </p:nvSpPr>
        <p:spPr>
          <a:xfrm>
            <a:off x="6409817" y="4512564"/>
            <a:ext cx="21899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assumptions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DESIGN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39953" y="812686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Design vs. Secure Coding</a:t>
            </a:r>
            <a:endParaRPr lang="en-US" sz="3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82949"/>
              </p:ext>
            </p:extLst>
          </p:nvPr>
        </p:nvGraphicFramePr>
        <p:xfrm>
          <a:off x="640080" y="1627632"/>
          <a:ext cx="10908792" cy="4727450"/>
        </p:xfrm>
        <a:graphic>
          <a:graphicData uri="http://schemas.openxmlformats.org/drawingml/2006/table">
            <a:tbl>
              <a:tblPr/>
              <a:tblGrid>
                <a:gridCol w="54543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43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45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Design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Coding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5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Focuses on the overall architecture and system structure.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Focuses on writing secure source code.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5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Performed during the design phase of the SDLC.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Performed during the implementation phase.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5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Identifies security weaknesses before development starts.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Prevents vulnerabilities while writing code.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5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Example: Designing Role-Based Access Control (RBAC).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Example: Using parameterized SQL queries to prevent SQL Injection.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16" y="461464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· ONLINE BANKING SYSTEM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16" y="751529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and Coding Working Together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5294376" cy="4727448"/>
          </a:xfrm>
          <a:prstGeom prst="roundRect">
            <a:avLst>
              <a:gd name="adj" fmla="val 1741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5" name="Text 3"/>
          <p:cNvSpPr/>
          <p:nvPr/>
        </p:nvSpPr>
        <p:spPr>
          <a:xfrm>
            <a:off x="868680" y="1792224"/>
            <a:ext cx="4837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Design Decision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68680" y="2313432"/>
            <a:ext cx="4837176" cy="3858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authenticated users can access banking services.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can view only their own accounts.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communication uses HTTPS/TLS.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is encrypted before storage.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is required for high-value transactions.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54496" y="1627632"/>
            <a:ext cx="5294376" cy="4727448"/>
          </a:xfrm>
          <a:prstGeom prst="roundRect">
            <a:avLst>
              <a:gd name="adj" fmla="val 1741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8" name="Text 6"/>
          <p:cNvSpPr/>
          <p:nvPr/>
        </p:nvSpPr>
        <p:spPr>
          <a:xfrm>
            <a:off x="6483096" y="1792224"/>
            <a:ext cx="4837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Coding Implementation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82969" y="1534754"/>
            <a:ext cx="4837176" cy="3858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parameterized SQL queries.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passwords with bcrypt or Argon2.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all user inputs.</a:t>
            </a:r>
            <a:endParaRPr lang="en-US" sz="2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 output to prevent XSS.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9230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DESIGN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39953" y="659199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Design Principles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F60A3A85-F97B-5E0B-4811-8131A8F00604}"/>
              </a:ext>
            </a:extLst>
          </p:cNvPr>
          <p:cNvSpPr/>
          <p:nvPr/>
        </p:nvSpPr>
        <p:spPr>
          <a:xfrm>
            <a:off x="639826" y="1454282"/>
            <a:ext cx="6983599" cy="4735208"/>
          </a:xfrm>
          <a:prstGeom prst="roundRect">
            <a:avLst>
              <a:gd name="adj" fmla="val 1741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8A036C9-A239-7B44-2CD8-E8D94550849C}"/>
              </a:ext>
            </a:extLst>
          </p:cNvPr>
          <p:cNvSpPr txBox="1"/>
          <p:nvPr/>
        </p:nvSpPr>
        <p:spPr>
          <a:xfrm>
            <a:off x="938030" y="1559728"/>
            <a:ext cx="609771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sz="2400" dirty="0">
                <a:solidFill>
                  <a:srgbClr val="002060"/>
                </a:solidFill>
                <a:latin typeface="Cambria" panose="02040503050406030204" pitchFamily="18" charset="0"/>
              </a:rPr>
              <a:t>Defence in Depth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rgbClr val="002060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Fail securely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rgbClr val="002060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Least privilege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>
                <a:solidFill>
                  <a:srgbClr val="002060"/>
                </a:solidFill>
                <a:latin typeface="Cambria" panose="02040503050406030204" pitchFamily="18" charset="0"/>
              </a:rPr>
              <a:t>Fail-safe defaults</a:t>
            </a:r>
            <a:endParaRPr lang="en-US" sz="2400" dirty="0">
              <a:solidFill>
                <a:srgbClr val="002060"/>
              </a:solidFill>
              <a:latin typeface="Cambria" panose="02040503050406030204" pitchFamily="18" charset="0"/>
              <a:ea typeface="Calibri" charset="0"/>
              <a:cs typeface="Calibri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rgbClr val="002060"/>
                </a:solidFill>
                <a:latin typeface="Cambria" panose="02040503050406030204" pitchFamily="18" charset="0"/>
                <a:ea typeface="Calibri" pitchFamily="34" charset="-122"/>
                <a:cs typeface="Calibri" pitchFamily="34" charset="-120"/>
              </a:rPr>
              <a:t>Secure defaults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>
                <a:solidFill>
                  <a:srgbClr val="002060"/>
                </a:solidFill>
                <a:latin typeface="Cambria" panose="02040503050406030204" pitchFamily="18" charset="0"/>
              </a:rPr>
              <a:t>Minimize attack surface</a:t>
            </a:r>
            <a:endParaRPr lang="en-US" sz="2400" dirty="0">
              <a:solidFill>
                <a:srgbClr val="002060"/>
              </a:solidFill>
              <a:latin typeface="Cambria" panose="02040503050406030204" pitchFamily="18" charset="0"/>
              <a:ea typeface="Calibri" charset="0"/>
              <a:cs typeface="Calibri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rgbClr val="002060"/>
                </a:solidFill>
                <a:latin typeface="Cambria" panose="02040503050406030204" pitchFamily="18" charset="0"/>
                <a:ea typeface="Cambria" pitchFamily="34" charset="-122"/>
                <a:cs typeface="Cambria" pitchFamily="34" charset="-120"/>
              </a:rPr>
              <a:t>Separation of duties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>
                <a:solidFill>
                  <a:srgbClr val="002060"/>
                </a:solidFill>
                <a:latin typeface="Cambria" panose="02040503050406030204" pitchFamily="18" charset="0"/>
              </a:rPr>
              <a:t>Complete Mediation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>
                <a:solidFill>
                  <a:srgbClr val="002060"/>
                </a:solidFill>
                <a:latin typeface="Cambria" panose="02040503050406030204" pitchFamily="18" charset="0"/>
              </a:rPr>
              <a:t>Economy of Mechanism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>
                <a:solidFill>
                  <a:srgbClr val="002060"/>
                </a:solidFill>
                <a:latin typeface="Cambria" panose="02040503050406030204" pitchFamily="18" charset="0"/>
              </a:rPr>
              <a:t>Open Design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>
                <a:solidFill>
                  <a:srgbClr val="002060"/>
                </a:solidFill>
                <a:latin typeface="Cambria" panose="02040503050406030204" pitchFamily="18" charset="0"/>
              </a:rPr>
              <a:t>Least Common Mechanism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>
                <a:solidFill>
                  <a:srgbClr val="002060"/>
                </a:solidFill>
                <a:latin typeface="Cambria" panose="02040503050406030204" pitchFamily="18" charset="0"/>
              </a:rPr>
              <a:t>Psychological Acceptability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DESIGN PRINCIPLE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05D8276-E909-0E80-897E-65DE9AD847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9470699"/>
              </p:ext>
            </p:extLst>
          </p:nvPr>
        </p:nvGraphicFramePr>
        <p:xfrm>
          <a:off x="746234" y="1145628"/>
          <a:ext cx="10174014" cy="4983744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2354336">
                  <a:extLst>
                    <a:ext uri="{9D8B030D-6E8A-4147-A177-3AD203B41FA5}">
                      <a16:colId xmlns:a16="http://schemas.microsoft.com/office/drawing/2014/main" val="181651107"/>
                    </a:ext>
                  </a:extLst>
                </a:gridCol>
                <a:gridCol w="7819678">
                  <a:extLst>
                    <a:ext uri="{9D8B030D-6E8A-4147-A177-3AD203B41FA5}">
                      <a16:colId xmlns:a16="http://schemas.microsoft.com/office/drawing/2014/main" val="1383342523"/>
                    </a:ext>
                  </a:extLst>
                </a:gridCol>
              </a:tblGrid>
              <a:tr h="782854">
                <a:tc>
                  <a:txBody>
                    <a:bodyPr/>
                    <a:lstStyle/>
                    <a:p>
                      <a:r>
                        <a:rPr lang="en-GB" sz="1600" b="1" dirty="0">
                          <a:solidFill>
                            <a:schemeClr val="bg1"/>
                          </a:solidFill>
                        </a:rPr>
                        <a:t>Secure Design Principle</a:t>
                      </a:r>
                    </a:p>
                  </a:txBody>
                  <a:tcPr marL="37838" marR="37838" marT="18919" marB="18919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600" b="1" dirty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en-GB" sz="16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  <a:p>
                      <a:endParaRPr lang="en-GB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37838" marR="37838" marT="18919" marB="18919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748994"/>
                  </a:ext>
                </a:extLst>
              </a:tr>
              <a:tr h="782854">
                <a:tc>
                  <a:txBody>
                    <a:bodyPr/>
                    <a:lstStyle/>
                    <a:p>
                      <a:r>
                        <a:rPr lang="en-GB" sz="1600" b="1" dirty="0">
                          <a:solidFill>
                            <a:schemeClr val="bg1"/>
                          </a:solidFill>
                        </a:rPr>
                        <a:t>Defence in Depth</a:t>
                      </a:r>
                    </a:p>
                  </a:txBody>
                  <a:tcPr marL="37838" marR="37838" marT="18919" marB="18919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bg1"/>
                          </a:solidFill>
                        </a:rPr>
                        <a:t>Implement multiple layers of security controls so that if one control fails, other controls continue to protect the system.</a:t>
                      </a:r>
                    </a:p>
                    <a:p>
                      <a:endParaRPr lang="en-GB" sz="1600" dirty="0">
                        <a:solidFill>
                          <a:schemeClr val="bg1"/>
                        </a:solidFill>
                      </a:endParaRPr>
                    </a:p>
                  </a:txBody>
                  <a:tcPr marL="37838" marR="37838" marT="18919" marB="18919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7222754"/>
                  </a:ext>
                </a:extLst>
              </a:tr>
              <a:tr h="782854">
                <a:tc>
                  <a:txBody>
                    <a:bodyPr/>
                    <a:lstStyle/>
                    <a:p>
                      <a:r>
                        <a:rPr lang="en-GB" sz="1600" b="1" dirty="0">
                          <a:solidFill>
                            <a:schemeClr val="bg1"/>
                          </a:solidFill>
                        </a:rPr>
                        <a:t>Fail Securely</a:t>
                      </a:r>
                    </a:p>
                  </a:txBody>
                  <a:tcPr marL="37838" marR="37838" marT="18919" marB="18919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bg1"/>
                          </a:solidFill>
                        </a:rPr>
                        <a:t>Ensure the system remains in a secure state when an error or failure occurs, preventing unauthorized access or information leakage.</a:t>
                      </a:r>
                    </a:p>
                    <a:p>
                      <a:endParaRPr lang="en-GB" sz="1600" dirty="0">
                        <a:solidFill>
                          <a:schemeClr val="bg1"/>
                        </a:solidFill>
                      </a:endParaRPr>
                    </a:p>
                  </a:txBody>
                  <a:tcPr marL="37838" marR="37838" marT="18919" marB="18919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9366072"/>
                  </a:ext>
                </a:extLst>
              </a:tr>
              <a:tr h="782854">
                <a:tc>
                  <a:txBody>
                    <a:bodyPr/>
                    <a:lstStyle/>
                    <a:p>
                      <a:r>
                        <a:rPr lang="en-GB" sz="1600" b="1" dirty="0">
                          <a:solidFill>
                            <a:schemeClr val="bg1"/>
                          </a:solidFill>
                        </a:rPr>
                        <a:t>Least Privilege</a:t>
                      </a:r>
                    </a:p>
                  </a:txBody>
                  <a:tcPr marL="37838" marR="37838" marT="18919" marB="18919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bg1"/>
                          </a:solidFill>
                        </a:rPr>
                        <a:t>Grant users, applications, and processes only the minimum permissions required to perform their tasks.</a:t>
                      </a:r>
                    </a:p>
                    <a:p>
                      <a:endParaRPr lang="en-GB" sz="1600" dirty="0">
                        <a:solidFill>
                          <a:schemeClr val="bg1"/>
                        </a:solidFill>
                      </a:endParaRPr>
                    </a:p>
                  </a:txBody>
                  <a:tcPr marL="37838" marR="37838" marT="18919" marB="18919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75154"/>
                  </a:ext>
                </a:extLst>
              </a:tr>
              <a:tr h="534737">
                <a:tc>
                  <a:txBody>
                    <a:bodyPr/>
                    <a:lstStyle/>
                    <a:p>
                      <a:r>
                        <a:rPr lang="en-GB" sz="1600" b="1" dirty="0">
                          <a:solidFill>
                            <a:schemeClr val="bg1"/>
                          </a:solidFill>
                        </a:rPr>
                        <a:t>Fail-Safe Defaults</a:t>
                      </a:r>
                    </a:p>
                    <a:p>
                      <a:endParaRPr lang="en-GB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37838" marR="37838" marT="18919" marB="18919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bg1"/>
                          </a:solidFill>
                        </a:rPr>
                        <a:t>Deny access by default and grant permissions only when they are explicitly authorized.</a:t>
                      </a:r>
                    </a:p>
                  </a:txBody>
                  <a:tcPr marL="37838" marR="37838" marT="18919" marB="18919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579796"/>
                  </a:ext>
                </a:extLst>
              </a:tr>
              <a:tr h="782854">
                <a:tc>
                  <a:txBody>
                    <a:bodyPr/>
                    <a:lstStyle/>
                    <a:p>
                      <a:r>
                        <a:rPr lang="en-GB" sz="1600" b="1">
                          <a:solidFill>
                            <a:schemeClr val="bg1"/>
                          </a:solidFill>
                        </a:rPr>
                        <a:t>Secure Defaults</a:t>
                      </a:r>
                    </a:p>
                  </a:txBody>
                  <a:tcPr marL="37838" marR="37838" marT="18919" marB="18919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bg1"/>
                          </a:solidFill>
                        </a:rPr>
                        <a:t>Configure systems with the most secure settings by default, requiring users to intentionally enable less secure options if necessary.</a:t>
                      </a:r>
                    </a:p>
                    <a:p>
                      <a:endParaRPr lang="en-GB" sz="1600" dirty="0">
                        <a:solidFill>
                          <a:schemeClr val="bg1"/>
                        </a:solidFill>
                      </a:endParaRPr>
                    </a:p>
                  </a:txBody>
                  <a:tcPr marL="37838" marR="37838" marT="18919" marB="18919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205247"/>
                  </a:ext>
                </a:extLst>
              </a:tr>
              <a:tr h="534737">
                <a:tc>
                  <a:txBody>
                    <a:bodyPr/>
                    <a:lstStyle/>
                    <a:p>
                      <a:r>
                        <a:rPr lang="en-GB" sz="1600" b="1" dirty="0">
                          <a:solidFill>
                            <a:schemeClr val="bg1"/>
                          </a:solidFill>
                        </a:rPr>
                        <a:t>Minimize Attack Surface</a:t>
                      </a:r>
                    </a:p>
                    <a:p>
                      <a:endParaRPr lang="en-GB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37838" marR="37838" marT="18919" marB="18919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bg1"/>
                          </a:solidFill>
                        </a:rPr>
                        <a:t>Reduce the number of entry points, services, features, and interfaces that attackers can exploit.</a:t>
                      </a:r>
                    </a:p>
                  </a:txBody>
                  <a:tcPr marL="37838" marR="37838" marT="18919" marB="18919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4751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DESIGN PRINCIPLE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9F58341-A52D-94DC-EA5A-17C0465B9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0658232"/>
              </p:ext>
            </p:extLst>
          </p:nvPr>
        </p:nvGraphicFramePr>
        <p:xfrm>
          <a:off x="754958" y="1112560"/>
          <a:ext cx="10028656" cy="5271938"/>
        </p:xfrm>
        <a:graphic>
          <a:graphicData uri="http://schemas.openxmlformats.org/drawingml/2006/table">
            <a:tbl>
              <a:tblPr>
                <a:tableStyleId>{D113A9D2-9D6B-4929-AA2D-F23B5EE8CBE7}</a:tableStyleId>
              </a:tblPr>
              <a:tblGrid>
                <a:gridCol w="2522736">
                  <a:extLst>
                    <a:ext uri="{9D8B030D-6E8A-4147-A177-3AD203B41FA5}">
                      <a16:colId xmlns:a16="http://schemas.microsoft.com/office/drawing/2014/main" val="3311422916"/>
                    </a:ext>
                  </a:extLst>
                </a:gridCol>
                <a:gridCol w="7505920">
                  <a:extLst>
                    <a:ext uri="{9D8B030D-6E8A-4147-A177-3AD203B41FA5}">
                      <a16:colId xmlns:a16="http://schemas.microsoft.com/office/drawing/2014/main" val="918520425"/>
                    </a:ext>
                  </a:extLst>
                </a:gridCol>
              </a:tblGrid>
              <a:tr h="363424">
                <a:tc>
                  <a:txBody>
                    <a:bodyPr/>
                    <a:lstStyle/>
                    <a:p>
                      <a:endParaRPr lang="en-GB" sz="1600" b="1" dirty="0">
                        <a:solidFill>
                          <a:schemeClr val="bg1"/>
                        </a:solidFill>
                      </a:endParaRPr>
                    </a:p>
                    <a:p>
                      <a:r>
                        <a:rPr lang="en-GB" sz="1600" b="1" dirty="0">
                          <a:solidFill>
                            <a:schemeClr val="bg1"/>
                          </a:solidFill>
                        </a:rPr>
                        <a:t>Secure Design Principle</a:t>
                      </a:r>
                    </a:p>
                    <a:p>
                      <a:endParaRPr lang="en-GB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  <a:endParaRPr lang="en-GB" sz="1600" dirty="0">
                        <a:solidFill>
                          <a:schemeClr val="bg1"/>
                        </a:solidFill>
                      </a:endParaRP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5765052"/>
                  </a:ext>
                </a:extLst>
              </a:tr>
              <a:tr h="785660">
                <a:tc>
                  <a:txBody>
                    <a:bodyPr/>
                    <a:lstStyle/>
                    <a:p>
                      <a:r>
                        <a:rPr lang="en-GB" sz="1600" b="1" dirty="0">
                          <a:solidFill>
                            <a:schemeClr val="bg1"/>
                          </a:solidFill>
                        </a:rPr>
                        <a:t>Separation of Duties</a:t>
                      </a:r>
                      <a:endParaRPr lang="en-GB" sz="1600" dirty="0">
                        <a:solidFill>
                          <a:schemeClr val="bg1"/>
                        </a:solidFill>
                      </a:endParaRP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bg1"/>
                          </a:solidFill>
                        </a:rPr>
                        <a:t>Divide critical tasks and responsibilities among multiple individuals or systems to reduce the risk of fraud, misuse, or errors.</a:t>
                      </a:r>
                    </a:p>
                    <a:p>
                      <a:endParaRPr lang="en-GB" sz="1600" dirty="0">
                        <a:solidFill>
                          <a:schemeClr val="bg1"/>
                        </a:solidFill>
                      </a:endParaRP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3206397"/>
                  </a:ext>
                </a:extLst>
              </a:tr>
              <a:tr h="785660">
                <a:tc>
                  <a:txBody>
                    <a:bodyPr/>
                    <a:lstStyle/>
                    <a:p>
                      <a:r>
                        <a:rPr lang="en-GB" sz="1600" b="1" dirty="0">
                          <a:solidFill>
                            <a:schemeClr val="bg1"/>
                          </a:solidFill>
                        </a:rPr>
                        <a:t>Complete Mediation</a:t>
                      </a:r>
                      <a:endParaRPr lang="en-GB" sz="1600" dirty="0">
                        <a:solidFill>
                          <a:schemeClr val="bg1"/>
                        </a:solidFill>
                      </a:endParaRP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bg1"/>
                          </a:solidFill>
                        </a:rPr>
                        <a:t>Verify authorization every time a user or process attempts to access a protected resource, rather than relying on previous checks.</a:t>
                      </a:r>
                    </a:p>
                    <a:p>
                      <a:endParaRPr lang="en-GB" sz="1600" dirty="0">
                        <a:solidFill>
                          <a:schemeClr val="bg1"/>
                        </a:solidFill>
                      </a:endParaRP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8124631"/>
                  </a:ext>
                </a:extLst>
              </a:tr>
              <a:tr h="785660">
                <a:tc>
                  <a:txBody>
                    <a:bodyPr/>
                    <a:lstStyle/>
                    <a:p>
                      <a:r>
                        <a:rPr lang="en-GB" sz="1600" b="1" dirty="0">
                          <a:solidFill>
                            <a:schemeClr val="bg1"/>
                          </a:solidFill>
                        </a:rPr>
                        <a:t>Economy of Mechanism</a:t>
                      </a:r>
                      <a:endParaRPr lang="en-GB" sz="1600" dirty="0">
                        <a:solidFill>
                          <a:schemeClr val="bg1"/>
                        </a:solidFill>
                      </a:endParaRP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bg1"/>
                          </a:solidFill>
                        </a:rPr>
                        <a:t>Keep the system design as simple as possible to reduce complexity, implementation errors, and security vulnerabilities.</a:t>
                      </a:r>
                    </a:p>
                    <a:p>
                      <a:endParaRPr lang="en-GB" sz="1600" dirty="0">
                        <a:solidFill>
                          <a:schemeClr val="bg1"/>
                        </a:solidFill>
                      </a:endParaRP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14938"/>
                  </a:ext>
                </a:extLst>
              </a:tr>
              <a:tr h="785660">
                <a:tc>
                  <a:txBody>
                    <a:bodyPr/>
                    <a:lstStyle/>
                    <a:p>
                      <a:r>
                        <a:rPr lang="en-GB" sz="1600" b="1" dirty="0">
                          <a:solidFill>
                            <a:schemeClr val="bg1"/>
                          </a:solidFill>
                        </a:rPr>
                        <a:t>Open Design</a:t>
                      </a:r>
                      <a:endParaRPr lang="en-GB" sz="1600" dirty="0">
                        <a:solidFill>
                          <a:schemeClr val="bg1"/>
                        </a:solidFill>
                      </a:endParaRP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bg1"/>
                          </a:solidFill>
                        </a:rPr>
                        <a:t>Do not rely on secrecy of the system design for security; instead, security should depend on well-protected secrets such as cryptographic keys.</a:t>
                      </a:r>
                    </a:p>
                    <a:p>
                      <a:endParaRPr lang="en-GB" sz="1600" dirty="0">
                        <a:solidFill>
                          <a:schemeClr val="bg1"/>
                        </a:solidFill>
                      </a:endParaRP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8566579"/>
                  </a:ext>
                </a:extLst>
              </a:tr>
              <a:tr h="785660">
                <a:tc>
                  <a:txBody>
                    <a:bodyPr/>
                    <a:lstStyle/>
                    <a:p>
                      <a:r>
                        <a:rPr lang="en-GB" sz="1600" b="1">
                          <a:solidFill>
                            <a:schemeClr val="bg1"/>
                          </a:solidFill>
                        </a:rPr>
                        <a:t>Least Common Mechanism</a:t>
                      </a:r>
                      <a:endParaRPr lang="en-GB" sz="1600">
                        <a:solidFill>
                          <a:schemeClr val="bg1"/>
                        </a:solidFill>
                      </a:endParaRP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bg1"/>
                          </a:solidFill>
                        </a:rPr>
                        <a:t>Minimize shared resources and mechanisms between users or components to reduce unintended information sharing and attack opportunities.</a:t>
                      </a:r>
                    </a:p>
                    <a:p>
                      <a:endParaRPr lang="en-GB" sz="1600" dirty="0">
                        <a:solidFill>
                          <a:schemeClr val="bg1"/>
                        </a:solidFill>
                      </a:endParaRP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2337278"/>
                  </a:ext>
                </a:extLst>
              </a:tr>
              <a:tr h="574280">
                <a:tc>
                  <a:txBody>
                    <a:bodyPr/>
                    <a:lstStyle/>
                    <a:p>
                      <a:r>
                        <a:rPr lang="en-GB" sz="1600" b="1">
                          <a:solidFill>
                            <a:schemeClr val="bg1"/>
                          </a:solidFill>
                        </a:rPr>
                        <a:t>Psychological Acceptability</a:t>
                      </a:r>
                      <a:endParaRPr lang="en-GB" sz="1600">
                        <a:solidFill>
                          <a:schemeClr val="bg1"/>
                        </a:solidFill>
                      </a:endParaRP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>
                          <a:solidFill>
                            <a:schemeClr val="bg1"/>
                          </a:solidFill>
                        </a:rPr>
                        <a:t>Design security controls that are easy to understand and use, encouraging users to follow secure practices rather than bypass them.</a:t>
                      </a:r>
                    </a:p>
                  </a:txBody>
                  <a:tcPr marL="37838" marR="37838" marT="18919" marB="189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783768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463040"/>
            <a:ext cx="4754880" cy="4754880"/>
          </a:xfrm>
          <a:prstGeom prst="ellipse">
            <a:avLst/>
          </a:prstGeom>
          <a:solidFill>
            <a:srgbClr val="0F62B0">
              <a:alpha val="45000"/>
            </a:srgbClr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5" name="Text 3"/>
          <p:cNvSpPr/>
          <p:nvPr/>
        </p:nvSpPr>
        <p:spPr>
          <a:xfrm>
            <a:off x="1208241" y="2456037"/>
            <a:ext cx="8778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Modeling</a:t>
            </a:r>
            <a:endParaRPr lang="en-US" sz="4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Threat Modeling?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64792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 is a structured process used to identify, analyze and address potential threats before they become exploitable vulnerabilities.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633472"/>
            <a:ext cx="10908792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building?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go wrong?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we do about it?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we address the identified threats properly?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0080" y="4581144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</a:t>
            </a:r>
            <a:r>
              <a:rPr lang="en-US" altLang="zh-CN" sz="1600" spc="172" dirty="0">
                <a:solidFill>
                  <a:srgbClr val="404040"/>
                </a:solidFill>
                <a:latin typeface="Arial"/>
                <a:ea typeface="Arial"/>
                <a:cs typeface="Arial"/>
                <a:hlinkClick r:id="rId3"/>
              </a:rPr>
              <a:t>https://www/owasp.org/index.php/Application_Threat_Modeling</a:t>
            </a:r>
            <a:endParaRPr lang="en-US" altLang="zh-CN" sz="1600" dirty="0">
              <a:latin typeface="Arial"/>
              <a:ea typeface="Arial"/>
              <a:cs typeface="Arial"/>
            </a:endParaRP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Perform Threat Modeling?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 helps teams: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9953" y="2076613"/>
            <a:ext cx="10908792" cy="4041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threats early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assets and trust boundaries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security requirements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appropriate controls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expensive redesign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communication between teams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Shift Left Security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security assumptions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Threat Modeling Concepts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84248"/>
            <a:ext cx="3483864" cy="1547083"/>
          </a:xfrm>
          <a:prstGeom prst="roundRect">
            <a:avLst>
              <a:gd name="adj" fmla="val 4286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800"/>
          </a:p>
        </p:txBody>
      </p:sp>
      <p:sp>
        <p:nvSpPr>
          <p:cNvPr id="5" name="Text 3"/>
          <p:cNvSpPr/>
          <p:nvPr/>
        </p:nvSpPr>
        <p:spPr>
          <a:xfrm>
            <a:off x="841248" y="2148840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41248" y="2532888"/>
            <a:ext cx="308152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valuable that must be protected.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52544" y="1984248"/>
            <a:ext cx="3483864" cy="1547083"/>
          </a:xfrm>
          <a:prstGeom prst="roundRect">
            <a:avLst>
              <a:gd name="adj" fmla="val 4286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800"/>
          </a:p>
        </p:txBody>
      </p:sp>
      <p:sp>
        <p:nvSpPr>
          <p:cNvPr id="8" name="Text 6"/>
          <p:cNvSpPr/>
          <p:nvPr/>
        </p:nvSpPr>
        <p:spPr>
          <a:xfrm>
            <a:off x="4553712" y="2148840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53712" y="2532888"/>
            <a:ext cx="308152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potential cause of harm.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65008" y="1984248"/>
            <a:ext cx="3483864" cy="1547083"/>
          </a:xfrm>
          <a:prstGeom prst="roundRect">
            <a:avLst>
              <a:gd name="adj" fmla="val 4286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800"/>
          </a:p>
        </p:txBody>
      </p:sp>
      <p:sp>
        <p:nvSpPr>
          <p:cNvPr id="11" name="Text 9"/>
          <p:cNvSpPr/>
          <p:nvPr/>
        </p:nvSpPr>
        <p:spPr>
          <a:xfrm>
            <a:off x="8266176" y="2148840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Vulnerability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66176" y="2532888"/>
            <a:ext cx="308152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weakness that can be exploited.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133088"/>
            <a:ext cx="3483864" cy="1565371"/>
          </a:xfrm>
          <a:prstGeom prst="roundRect">
            <a:avLst>
              <a:gd name="adj" fmla="val 4286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800"/>
          </a:p>
        </p:txBody>
      </p:sp>
      <p:sp>
        <p:nvSpPr>
          <p:cNvPr id="14" name="Text 12"/>
          <p:cNvSpPr/>
          <p:nvPr/>
        </p:nvSpPr>
        <p:spPr>
          <a:xfrm>
            <a:off x="841248" y="4297680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Actor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41248" y="4681728"/>
            <a:ext cx="308152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person, group or system that may cause harm.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352544" y="4133088"/>
            <a:ext cx="3483864" cy="1565371"/>
          </a:xfrm>
          <a:prstGeom prst="roundRect">
            <a:avLst>
              <a:gd name="adj" fmla="val 4286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800"/>
          </a:p>
        </p:txBody>
      </p:sp>
      <p:sp>
        <p:nvSpPr>
          <p:cNvPr id="17" name="Text 15"/>
          <p:cNvSpPr/>
          <p:nvPr/>
        </p:nvSpPr>
        <p:spPr>
          <a:xfrm>
            <a:off x="4553712" y="4297680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 Vector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53712" y="4681728"/>
            <a:ext cx="308152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used to exploit a vulnerability.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65008" y="4133088"/>
            <a:ext cx="3483864" cy="1565371"/>
          </a:xfrm>
          <a:prstGeom prst="roundRect">
            <a:avLst>
              <a:gd name="adj" fmla="val 4286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800"/>
          </a:p>
        </p:txBody>
      </p:sp>
      <p:sp>
        <p:nvSpPr>
          <p:cNvPr id="20" name="Text 18"/>
          <p:cNvSpPr/>
          <p:nvPr/>
        </p:nvSpPr>
        <p:spPr>
          <a:xfrm>
            <a:off x="8266176" y="4297680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Mitigation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266176" y="4681728"/>
            <a:ext cx="308152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 that reduces likelihood or impact.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Modeling Approaches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Methodologies are grouped by the approach they take: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30974" y="2536279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Software-Centric.   - 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735877" y="2557342"/>
            <a:ext cx="469652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on software-based attacks.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30847" y="3669724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Security-Centric.   - 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735877" y="3638901"/>
            <a:ext cx="571634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on known risks and vulnerabilities.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30847" y="4639810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Asset-Centric.   - 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735877" y="4636934"/>
            <a:ext cx="308152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on targets of value.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Modeling Methodologies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methodologies include: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40080" y="2221992"/>
            <a:ext cx="3483864" cy="1737360"/>
          </a:xfrm>
          <a:prstGeom prst="roundRect">
            <a:avLst>
              <a:gd name="adj" fmla="val 4737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800"/>
          </a:p>
        </p:txBody>
      </p:sp>
      <p:sp>
        <p:nvSpPr>
          <p:cNvPr id="6" name="Text 4"/>
          <p:cNvSpPr/>
          <p:nvPr/>
        </p:nvSpPr>
        <p:spPr>
          <a:xfrm>
            <a:off x="841248" y="2386584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STRIDE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41248" y="2770632"/>
            <a:ext cx="308152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Categorizes technical threats.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52544" y="2221992"/>
            <a:ext cx="3483864" cy="1737360"/>
          </a:xfrm>
          <a:prstGeom prst="roundRect">
            <a:avLst>
              <a:gd name="adj" fmla="val 4737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800"/>
          </a:p>
        </p:txBody>
      </p:sp>
      <p:sp>
        <p:nvSpPr>
          <p:cNvPr id="9" name="Text 7"/>
          <p:cNvSpPr/>
          <p:nvPr/>
        </p:nvSpPr>
        <p:spPr>
          <a:xfrm>
            <a:off x="4553712" y="2386584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53712" y="2770632"/>
            <a:ext cx="308152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risk-focused, attack-oriented methodology.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65008" y="2221992"/>
            <a:ext cx="3483864" cy="1737360"/>
          </a:xfrm>
          <a:prstGeom prst="roundRect">
            <a:avLst>
              <a:gd name="adj" fmla="val 4737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800"/>
          </a:p>
        </p:txBody>
      </p:sp>
      <p:sp>
        <p:nvSpPr>
          <p:cNvPr id="12" name="Text 10"/>
          <p:cNvSpPr/>
          <p:nvPr/>
        </p:nvSpPr>
        <p:spPr>
          <a:xfrm>
            <a:off x="8266176" y="2386584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 Trees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66176" y="2770632"/>
            <a:ext cx="308152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different paths attackers may use to reach a goal.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4187952"/>
            <a:ext cx="3483864" cy="1737360"/>
          </a:xfrm>
          <a:prstGeom prst="roundRect">
            <a:avLst>
              <a:gd name="adj" fmla="val 4737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800"/>
          </a:p>
        </p:txBody>
      </p:sp>
      <p:sp>
        <p:nvSpPr>
          <p:cNvPr id="15" name="Text 13"/>
          <p:cNvSpPr/>
          <p:nvPr/>
        </p:nvSpPr>
        <p:spPr>
          <a:xfrm>
            <a:off x="841248" y="4352544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Misuse / Abuse Cases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41248" y="4736592"/>
            <a:ext cx="308152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how a system could be intentionally misused.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352544" y="4187952"/>
            <a:ext cx="3483864" cy="1737360"/>
          </a:xfrm>
          <a:prstGeom prst="roundRect">
            <a:avLst>
              <a:gd name="adj" fmla="val 4737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800"/>
          </a:p>
        </p:txBody>
      </p:sp>
      <p:sp>
        <p:nvSpPr>
          <p:cNvPr id="18" name="Text 16"/>
          <p:cNvSpPr/>
          <p:nvPr/>
        </p:nvSpPr>
        <p:spPr>
          <a:xfrm>
            <a:off x="4553712" y="4352544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LINDDUN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53712" y="4736592"/>
            <a:ext cx="308152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primarily on privacy threats.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65008" y="4187952"/>
            <a:ext cx="3483864" cy="1737360"/>
          </a:xfrm>
          <a:prstGeom prst="roundRect">
            <a:avLst>
              <a:gd name="adj" fmla="val 4737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800"/>
          </a:p>
        </p:txBody>
      </p:sp>
      <p:sp>
        <p:nvSpPr>
          <p:cNvPr id="21" name="Text 19"/>
          <p:cNvSpPr/>
          <p:nvPr/>
        </p:nvSpPr>
        <p:spPr>
          <a:xfrm>
            <a:off x="8266176" y="4352544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DREAD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266176" y="4736592"/>
            <a:ext cx="308152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the severity of identified threats.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16" y="370332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16" y="710741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STRIDE Threat Modeling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16" y="150835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is a threat modeling methodology developed by Microsoft to help identify different categories of security threats in software systems.</a:t>
            </a:r>
            <a:endParaRPr lang="en-US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0177475"/>
              </p:ext>
            </p:extLst>
          </p:nvPr>
        </p:nvGraphicFramePr>
        <p:xfrm>
          <a:off x="640080" y="2176272"/>
          <a:ext cx="9017628" cy="4178811"/>
        </p:xfrm>
        <a:graphic>
          <a:graphicData uri="http://schemas.openxmlformats.org/drawingml/2006/table">
            <a:tbl>
              <a:tblPr/>
              <a:tblGrid>
                <a:gridCol w="1133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6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70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69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Property Affected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9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Spoofing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9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Tampering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Integrity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69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Repudiation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Accountability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69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Disclosure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Confidentiality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69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Denial of Service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Availability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697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Elevation of Privilege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Authorization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Spoofing &amp; 2. Tampering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5294376" cy="4727448"/>
          </a:xfrm>
          <a:prstGeom prst="roundRect">
            <a:avLst>
              <a:gd name="adj" fmla="val 1741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000"/>
          </a:p>
        </p:txBody>
      </p:sp>
      <p:sp>
        <p:nvSpPr>
          <p:cNvPr id="5" name="Shape 3"/>
          <p:cNvSpPr/>
          <p:nvPr/>
        </p:nvSpPr>
        <p:spPr>
          <a:xfrm>
            <a:off x="841248" y="1828800"/>
            <a:ext cx="502920" cy="502920"/>
          </a:xfrm>
          <a:prstGeom prst="ellipse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LK" sz="2000"/>
          </a:p>
        </p:txBody>
      </p:sp>
      <p:sp>
        <p:nvSpPr>
          <p:cNvPr id="6" name="Text 4"/>
          <p:cNvSpPr/>
          <p:nvPr/>
        </p:nvSpPr>
        <p:spPr>
          <a:xfrm>
            <a:off x="841248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63040" y="1828800"/>
            <a:ext cx="42885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Spoofing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450592"/>
            <a:ext cx="48371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attacker pretends to be another user or system.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68680" y="3108960"/>
            <a:ext cx="4837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383280"/>
            <a:ext cx="4837176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Stolen username and password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login page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Forged authentication token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4718304"/>
            <a:ext cx="4837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CONTROLS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992624"/>
            <a:ext cx="4837176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Authentication (MFA)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password policies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certificates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54496" y="1627632"/>
            <a:ext cx="5294376" cy="4727448"/>
          </a:xfrm>
          <a:prstGeom prst="roundRect">
            <a:avLst>
              <a:gd name="adj" fmla="val 1741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000"/>
          </a:p>
        </p:txBody>
      </p:sp>
      <p:sp>
        <p:nvSpPr>
          <p:cNvPr id="14" name="Shape 12"/>
          <p:cNvSpPr/>
          <p:nvPr/>
        </p:nvSpPr>
        <p:spPr>
          <a:xfrm>
            <a:off x="6455664" y="1828800"/>
            <a:ext cx="502920" cy="502920"/>
          </a:xfrm>
          <a:prstGeom prst="ellipse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LK" sz="2000"/>
          </a:p>
        </p:txBody>
      </p:sp>
      <p:sp>
        <p:nvSpPr>
          <p:cNvPr id="15" name="Text 13"/>
          <p:cNvSpPr/>
          <p:nvPr/>
        </p:nvSpPr>
        <p:spPr>
          <a:xfrm>
            <a:off x="6455664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077456" y="1828800"/>
            <a:ext cx="42885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Tampering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83096" y="2450592"/>
            <a:ext cx="48371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modification of data or software.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83096" y="3108960"/>
            <a:ext cx="4837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83096" y="3383280"/>
            <a:ext cx="4837176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grades in a student system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Modifying transaction amounts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application files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83096" y="4718304"/>
            <a:ext cx="4837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CONTROLS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83096" y="4992624"/>
            <a:ext cx="4837176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signatures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39953" y="786384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Repudiation &amp; 4. Information Disclosure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5294376" cy="4727448"/>
          </a:xfrm>
          <a:prstGeom prst="roundRect">
            <a:avLst>
              <a:gd name="adj" fmla="val 1741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5" name="Shape 3"/>
          <p:cNvSpPr/>
          <p:nvPr/>
        </p:nvSpPr>
        <p:spPr>
          <a:xfrm>
            <a:off x="841248" y="1828800"/>
            <a:ext cx="502920" cy="502920"/>
          </a:xfrm>
          <a:prstGeom prst="ellipse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LK" sz="2000"/>
          </a:p>
        </p:txBody>
      </p:sp>
      <p:sp>
        <p:nvSpPr>
          <p:cNvPr id="6" name="Text 4"/>
          <p:cNvSpPr/>
          <p:nvPr/>
        </p:nvSpPr>
        <p:spPr>
          <a:xfrm>
            <a:off x="841248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63040" y="1828800"/>
            <a:ext cx="42885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Repudiation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450592"/>
            <a:ext cx="48371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denies performing an action because there is no evidence proving otherwise.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68680" y="3227832"/>
            <a:ext cx="4837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3502152"/>
            <a:ext cx="483717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denies submitting an assignment.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lecturer denies changing exam marks.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4453128"/>
            <a:ext cx="4837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CONTROLS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727448"/>
            <a:ext cx="4837176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signatures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stamps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54496" y="1627632"/>
            <a:ext cx="5294376" cy="4727448"/>
          </a:xfrm>
          <a:prstGeom prst="roundRect">
            <a:avLst>
              <a:gd name="adj" fmla="val 1741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000"/>
          </a:p>
        </p:txBody>
      </p:sp>
      <p:sp>
        <p:nvSpPr>
          <p:cNvPr id="14" name="Shape 12"/>
          <p:cNvSpPr/>
          <p:nvPr/>
        </p:nvSpPr>
        <p:spPr>
          <a:xfrm>
            <a:off x="6455664" y="1828800"/>
            <a:ext cx="502920" cy="502920"/>
          </a:xfrm>
          <a:prstGeom prst="ellipse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LK" sz="2000"/>
          </a:p>
        </p:txBody>
      </p:sp>
      <p:sp>
        <p:nvSpPr>
          <p:cNvPr id="15" name="Text 13"/>
          <p:cNvSpPr/>
          <p:nvPr/>
        </p:nvSpPr>
        <p:spPr>
          <a:xfrm>
            <a:off x="6455664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077456" y="1828800"/>
            <a:ext cx="42885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Info. Disclosure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83096" y="2450592"/>
            <a:ext cx="48371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information becomes accessible to unauthorized users.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83096" y="3227832"/>
            <a:ext cx="4837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83096" y="3502152"/>
            <a:ext cx="4837176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Exposed passwords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leaks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in GitHub repositories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83096" y="4837176"/>
            <a:ext cx="4837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CONTROLS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83096" y="5111496"/>
            <a:ext cx="4837176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masking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Denial of Service &amp; 6. Elevation of Privilege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5294376" cy="4727448"/>
          </a:xfrm>
          <a:prstGeom prst="roundRect">
            <a:avLst>
              <a:gd name="adj" fmla="val 1741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5" name="Shape 3"/>
          <p:cNvSpPr/>
          <p:nvPr/>
        </p:nvSpPr>
        <p:spPr>
          <a:xfrm>
            <a:off x="841248" y="1828800"/>
            <a:ext cx="502920" cy="502920"/>
          </a:xfrm>
          <a:prstGeom prst="ellipse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LK" sz="2000"/>
          </a:p>
        </p:txBody>
      </p:sp>
      <p:sp>
        <p:nvSpPr>
          <p:cNvPr id="6" name="Text 4"/>
          <p:cNvSpPr/>
          <p:nvPr/>
        </p:nvSpPr>
        <p:spPr>
          <a:xfrm>
            <a:off x="841248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63040" y="1828800"/>
            <a:ext cx="42885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Denial of Service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450592"/>
            <a:ext cx="48371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prevent legitimate users from accessing services.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68680" y="3108960"/>
            <a:ext cx="4837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383280"/>
            <a:ext cx="4837176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Flooding a web server with requests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exhaustion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brute-force attacks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4718304"/>
            <a:ext cx="4837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CONTROLS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992624"/>
            <a:ext cx="4837176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Firewalls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54496" y="1627632"/>
            <a:ext cx="5294376" cy="4727448"/>
          </a:xfrm>
          <a:prstGeom prst="roundRect">
            <a:avLst>
              <a:gd name="adj" fmla="val 1741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4" name="Shape 12"/>
          <p:cNvSpPr/>
          <p:nvPr/>
        </p:nvSpPr>
        <p:spPr>
          <a:xfrm>
            <a:off x="6455664" y="1828800"/>
            <a:ext cx="502920" cy="502920"/>
          </a:xfrm>
          <a:prstGeom prst="ellipse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LK" sz="2000"/>
          </a:p>
        </p:txBody>
      </p:sp>
      <p:sp>
        <p:nvSpPr>
          <p:cNvPr id="15" name="Text 13"/>
          <p:cNvSpPr/>
          <p:nvPr/>
        </p:nvSpPr>
        <p:spPr>
          <a:xfrm>
            <a:off x="6455664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077456" y="1828800"/>
            <a:ext cx="42885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Elevation of Privilege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83096" y="2450592"/>
            <a:ext cx="483717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attacker gains permissions beyond those originally assigned.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83096" y="3108960"/>
            <a:ext cx="4837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83096" y="3383280"/>
            <a:ext cx="483717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becomes administrator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user accesses admin functions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83096" y="4334256"/>
            <a:ext cx="4837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CONTROLS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83096" y="4608576"/>
            <a:ext cx="4837176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16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authorization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EXAMPLE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39953" y="85039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Banking System</a:t>
            </a:r>
            <a:endParaRPr lang="en-US" sz="3000" dirty="0"/>
          </a:p>
        </p:txBody>
      </p:sp>
      <p:graphicFrame>
        <p:nvGraphicFramePr>
          <p:cNvPr id="5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6118749"/>
              </p:ext>
            </p:extLst>
          </p:nvPr>
        </p:nvGraphicFramePr>
        <p:xfrm>
          <a:off x="640080" y="1627632"/>
          <a:ext cx="10168332" cy="4727450"/>
        </p:xfrm>
        <a:graphic>
          <a:graphicData uri="http://schemas.openxmlformats.org/drawingml/2006/table">
            <a:tbl>
              <a:tblPr/>
              <a:tblGrid>
                <a:gridCol w="33894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9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94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5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 (STRIDE)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Control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5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Account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Spoofing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5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Balance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Tampering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Signature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5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 History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Repudiation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Logs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5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Information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Disclosure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5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Banking Server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Denial of Service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Limiting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53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Portal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Elevation of Privilege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RBAC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DREAD Risk Assessment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6479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DREAD is a risk assessment model developed by Microsoft that helps estimate the severity of identified threats.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58775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STRIDE, which identifies types of threats, DREAD helps determine how serious those threats are.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94360" y="85039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DREAD Evaluates Each Threat Using Five Factors</a:t>
            </a:r>
            <a:endParaRPr lang="en-US" sz="30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5306789"/>
              </p:ext>
            </p:extLst>
          </p:nvPr>
        </p:nvGraphicFramePr>
        <p:xfrm>
          <a:off x="783918" y="1911096"/>
          <a:ext cx="6192235" cy="4443984"/>
        </p:xfrm>
        <a:graphic>
          <a:graphicData uri="http://schemas.openxmlformats.org/drawingml/2006/table">
            <a:tbl>
              <a:tblPr/>
              <a:tblGrid>
                <a:gridCol w="1570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19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06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06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Damage Potential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06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Reproducibility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06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Exploitability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06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Affected Users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06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Discoverability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DREAD Components — Damage &amp; Reproducibility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86457"/>
            <a:ext cx="5294376" cy="4379976"/>
          </a:xfrm>
          <a:prstGeom prst="roundRect">
            <a:avLst>
              <a:gd name="adj" fmla="val 1741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000"/>
          </a:p>
        </p:txBody>
      </p:sp>
      <p:sp>
        <p:nvSpPr>
          <p:cNvPr id="5" name="Text 3"/>
          <p:cNvSpPr/>
          <p:nvPr/>
        </p:nvSpPr>
        <p:spPr>
          <a:xfrm>
            <a:off x="964692" y="2084832"/>
            <a:ext cx="4837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Damage Potential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553" y="2829349"/>
            <a:ext cx="4837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damage can the attack cause?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68680" y="2862072"/>
            <a:ext cx="4837176" cy="3310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loss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loss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 damage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254496" y="1975104"/>
            <a:ext cx="5294376" cy="4379976"/>
          </a:xfrm>
          <a:prstGeom prst="roundRect">
            <a:avLst>
              <a:gd name="adj" fmla="val 1741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000"/>
          </a:p>
        </p:txBody>
      </p:sp>
      <p:sp>
        <p:nvSpPr>
          <p:cNvPr id="9" name="Text 7"/>
          <p:cNvSpPr/>
          <p:nvPr/>
        </p:nvSpPr>
        <p:spPr>
          <a:xfrm>
            <a:off x="6483096" y="2116836"/>
            <a:ext cx="4837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Reproducibility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82969" y="2862072"/>
            <a:ext cx="4837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attackers repeat the attack easily?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83096" y="2862072"/>
            <a:ext cx="4837176" cy="3310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vulnerability that works every time receives a high score.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DREAD Components — Exploitability, Users &amp; Discoverability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9953" y="1946131"/>
            <a:ext cx="3453384" cy="4125896"/>
          </a:xfrm>
          <a:prstGeom prst="roundRect">
            <a:avLst>
              <a:gd name="adj" fmla="val 2383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5" name="Text 3"/>
          <p:cNvSpPr/>
          <p:nvPr/>
        </p:nvSpPr>
        <p:spPr>
          <a:xfrm>
            <a:off x="822833" y="2110723"/>
            <a:ext cx="3087624" cy="5985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Exploitability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833" y="2814811"/>
            <a:ext cx="3087624" cy="4788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difficult is it to perform the attack?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833" y="3270920"/>
            <a:ext cx="3087624" cy="26894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require advanced knowledge?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special tools required?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367657" y="1946131"/>
            <a:ext cx="3453384" cy="4125896"/>
          </a:xfrm>
          <a:prstGeom prst="roundRect">
            <a:avLst>
              <a:gd name="adj" fmla="val 2383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9" name="Text 7"/>
          <p:cNvSpPr/>
          <p:nvPr/>
        </p:nvSpPr>
        <p:spPr>
          <a:xfrm>
            <a:off x="4550537" y="2110723"/>
            <a:ext cx="3087624" cy="5985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Affected Users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50537" y="2814811"/>
            <a:ext cx="3087624" cy="4788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users could be impacted?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50537" y="3270920"/>
            <a:ext cx="3087624" cy="26894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user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department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organization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8095361" y="1946131"/>
            <a:ext cx="3453384" cy="4125896"/>
          </a:xfrm>
          <a:prstGeom prst="roundRect">
            <a:avLst>
              <a:gd name="adj" fmla="val 2383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3" name="Text 11"/>
          <p:cNvSpPr/>
          <p:nvPr/>
        </p:nvSpPr>
        <p:spPr>
          <a:xfrm>
            <a:off x="8278241" y="2110723"/>
            <a:ext cx="3087624" cy="5985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Discoverability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78241" y="2814811"/>
            <a:ext cx="3087624" cy="4788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easy is it to discover the vulnerability?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78241" y="3270920"/>
            <a:ext cx="3087624" cy="26894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visible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DREAD EXAMPLE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39953" y="822960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Injection — Risk Score</a:t>
            </a:r>
            <a:endParaRPr lang="en-US" sz="300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1527259"/>
              </p:ext>
            </p:extLst>
          </p:nvPr>
        </p:nvGraphicFramePr>
        <p:xfrm>
          <a:off x="640080" y="1627632"/>
          <a:ext cx="6035040" cy="329184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Damage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Reproducibility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Exploitability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Affected Users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Discoverability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040880" y="1627632"/>
            <a:ext cx="4507992" cy="3291840"/>
          </a:xfrm>
          <a:prstGeom prst="roundRect">
            <a:avLst>
              <a:gd name="adj" fmla="val 2500"/>
            </a:avLst>
          </a:prstGeom>
          <a:solidFill>
            <a:srgbClr val="0B2A4A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6" name="Text 3"/>
          <p:cNvSpPr/>
          <p:nvPr/>
        </p:nvSpPr>
        <p:spPr>
          <a:xfrm>
            <a:off x="7315200" y="1901952"/>
            <a:ext cx="3959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SCORE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315200" y="2249424"/>
            <a:ext cx="3959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(9+10+8+9+7) ÷ 5 = 8.6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315200" y="2999232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0" y="3319272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0" name="Text 7"/>
          <p:cNvSpPr/>
          <p:nvPr/>
        </p:nvSpPr>
        <p:spPr>
          <a:xfrm>
            <a:off x="7315200" y="331927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0080" y="5148072"/>
            <a:ext cx="1090879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DREAD is useful for learning risk prioritization, many organizations now use other frameworks such as CVSS or organisation-specific risk models because DREAD scoring can be subjective.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STRIDE vs. DREAD</a:t>
            </a:r>
            <a:endParaRPr lang="en-US" sz="3000" dirty="0"/>
          </a:p>
        </p:txBody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495595"/>
              </p:ext>
            </p:extLst>
          </p:nvPr>
        </p:nvGraphicFramePr>
        <p:xfrm>
          <a:off x="640080" y="1627632"/>
          <a:ext cx="10908792" cy="4727450"/>
        </p:xfrm>
        <a:graphic>
          <a:graphicData uri="http://schemas.openxmlformats.org/drawingml/2006/table">
            <a:tbl>
              <a:tblPr/>
              <a:tblGrid>
                <a:gridCol w="54543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43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45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DREAD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5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Identifies threats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Measures risk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5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during threat modeling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after threats are identified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5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Focuses on attack categories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Focuses on threat severity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54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Answers “What can go wrong?”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Answers “How serious is it?”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OWASP and DevSecOps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64792"/>
            <a:ext cx="109087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 Worldwide Application Security Project (OWASP) provides open standards, tools, and guidance that help organizations integrate security throughout the DevSecOps lifecycle.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80" y="2633472"/>
            <a:ext cx="10908792" cy="2578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Left Security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Software Development Lifecycle (SSDLC)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coding practices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security testing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automation</a:t>
            </a:r>
            <a:endParaRPr lang="en-US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security awareness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0080" y="534924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resources are widely adopted because they are free, community-driven, and vendor-neutral.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OWASP DevSecOps Guidance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recommends integrating security into every stage of the CI/CD pipeline.</a:t>
            </a:r>
            <a:endParaRPr lang="en-US" sz="160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6525272"/>
              </p:ext>
            </p:extLst>
          </p:nvPr>
        </p:nvGraphicFramePr>
        <p:xfrm>
          <a:off x="640080" y="2176272"/>
          <a:ext cx="9644351" cy="4178808"/>
        </p:xfrm>
        <a:graphic>
          <a:graphicData uri="http://schemas.openxmlformats.org/drawingml/2006/table">
            <a:tbl>
              <a:tblPr/>
              <a:tblGrid>
                <a:gridCol w="26309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3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4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DevSecOps Stage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OWASP Security Activities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security requirements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Threat modeling and secure architecture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coding and peer reviews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Application Security Testing (SAST)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4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Application Security Testing (DAST), API testing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4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approval and policy checks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4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configuration and secrets management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4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monitoring, vulnerability management, incident response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16" y="790957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OWASP DevSecOps Maturity Model (DSOMM)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DSOMM helps organizations evaluate and improve how well security is integrated into their DevSecOps practices. It assesses maturity across: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40080" y="2496312"/>
            <a:ext cx="3514344" cy="411480"/>
          </a:xfrm>
          <a:prstGeom prst="roundRect">
            <a:avLst>
              <a:gd name="adj" fmla="val 20000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800"/>
          </a:p>
        </p:txBody>
      </p:sp>
      <p:sp>
        <p:nvSpPr>
          <p:cNvPr id="6" name="Text 4"/>
          <p:cNvSpPr/>
          <p:nvPr/>
        </p:nvSpPr>
        <p:spPr>
          <a:xfrm>
            <a:off x="777240" y="2496312"/>
            <a:ext cx="32400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Deployment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37304" y="2496312"/>
            <a:ext cx="3514344" cy="411480"/>
          </a:xfrm>
          <a:prstGeom prst="roundRect">
            <a:avLst>
              <a:gd name="adj" fmla="val 20000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800"/>
          </a:p>
        </p:txBody>
      </p:sp>
      <p:sp>
        <p:nvSpPr>
          <p:cNvPr id="8" name="Text 6"/>
          <p:cNvSpPr/>
          <p:nvPr/>
        </p:nvSpPr>
        <p:spPr>
          <a:xfrm>
            <a:off x="4474464" y="2496312"/>
            <a:ext cx="32400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(Secure Coding)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34528" y="2496312"/>
            <a:ext cx="3514344" cy="411480"/>
          </a:xfrm>
          <a:prstGeom prst="roundRect">
            <a:avLst>
              <a:gd name="adj" fmla="val 20000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800"/>
          </a:p>
        </p:txBody>
      </p:sp>
      <p:sp>
        <p:nvSpPr>
          <p:cNvPr id="10" name="Text 8"/>
          <p:cNvSpPr/>
          <p:nvPr/>
        </p:nvSpPr>
        <p:spPr>
          <a:xfrm>
            <a:off x="8171688" y="2496312"/>
            <a:ext cx="32400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Gathering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2999232"/>
            <a:ext cx="3514344" cy="411480"/>
          </a:xfrm>
          <a:prstGeom prst="roundRect">
            <a:avLst>
              <a:gd name="adj" fmla="val 20000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800"/>
          </a:p>
        </p:txBody>
      </p:sp>
      <p:sp>
        <p:nvSpPr>
          <p:cNvPr id="12" name="Text 10"/>
          <p:cNvSpPr/>
          <p:nvPr/>
        </p:nvSpPr>
        <p:spPr>
          <a:xfrm>
            <a:off x="777240" y="2999232"/>
            <a:ext cx="32400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and Verification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37304" y="2999232"/>
            <a:ext cx="3514344" cy="411480"/>
          </a:xfrm>
          <a:prstGeom prst="roundRect">
            <a:avLst>
              <a:gd name="adj" fmla="val 20000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800"/>
          </a:p>
        </p:txBody>
      </p:sp>
      <p:sp>
        <p:nvSpPr>
          <p:cNvPr id="14" name="Text 12"/>
          <p:cNvSpPr/>
          <p:nvPr/>
        </p:nvSpPr>
        <p:spPr>
          <a:xfrm>
            <a:off x="4474464" y="2999232"/>
            <a:ext cx="32400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34528" y="2999232"/>
            <a:ext cx="3514344" cy="411480"/>
          </a:xfrm>
          <a:prstGeom prst="roundRect">
            <a:avLst>
              <a:gd name="adj" fmla="val 20000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 sz="2800"/>
          </a:p>
        </p:txBody>
      </p:sp>
      <p:sp>
        <p:nvSpPr>
          <p:cNvPr id="16" name="Text 14"/>
          <p:cNvSpPr/>
          <p:nvPr/>
        </p:nvSpPr>
        <p:spPr>
          <a:xfrm>
            <a:off x="8171688" y="2999232"/>
            <a:ext cx="32400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and Training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54641" y="3794761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LEVELS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71761" y="4553712"/>
            <a:ext cx="5852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Basic, manual security activities.</a:t>
            </a:r>
            <a:endParaRPr lang="en-US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Repeatable security processes with partial automation.</a:t>
            </a:r>
            <a:endParaRPr lang="en-US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Security integrated across the CI/CD pipeline.</a:t>
            </a:r>
            <a:endParaRPr lang="en-US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</a:t>
            </a: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Continuous measurement, optimisation, and mature DevSecOps culture.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030811" y="3794761"/>
            <a:ext cx="43809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030811" y="4251961"/>
            <a:ext cx="47823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strengths and weaknesses.</a:t>
            </a:r>
            <a:endParaRPr lang="en-US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continuous improvement.</a:t>
            </a:r>
            <a:endParaRPr lang="en-US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Encourages security automation.</a:t>
            </a:r>
            <a:endParaRPr lang="en-US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security with software delivery goals.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STRIDE vs. DREAD vs. OWASP</a:t>
            </a:r>
            <a:endParaRPr lang="en-US" sz="300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9987939"/>
              </p:ext>
            </p:extLst>
          </p:nvPr>
        </p:nvGraphicFramePr>
        <p:xfrm>
          <a:off x="640080" y="1839074"/>
          <a:ext cx="10558751" cy="4122816"/>
        </p:xfrm>
        <a:graphic>
          <a:graphicData uri="http://schemas.openxmlformats.org/drawingml/2006/table">
            <a:tbl>
              <a:tblPr/>
              <a:tblGrid>
                <a:gridCol w="2468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89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307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Purpose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07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 different categories of security threats.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07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DREAD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 and prioritise the severity of identified threats.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07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OWASP DevSecOps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623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 best practices, tools, and processes to integrate security throughout the software development lifecycle.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2084" y="423819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20" dirty="0">
                <a:solidFill>
                  <a:srgbClr val="0F6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561894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They Work Together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076956" y="1406744"/>
            <a:ext cx="6035040" cy="348386"/>
          </a:xfrm>
          <a:prstGeom prst="roundRect">
            <a:avLst>
              <a:gd name="adj" fmla="val 23622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5" name="Shape 3"/>
          <p:cNvSpPr/>
          <p:nvPr/>
        </p:nvSpPr>
        <p:spPr>
          <a:xfrm>
            <a:off x="3168396" y="1418176"/>
            <a:ext cx="347472" cy="347472"/>
          </a:xfrm>
          <a:prstGeom prst="ellipse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6" name="Text 4"/>
          <p:cNvSpPr/>
          <p:nvPr/>
        </p:nvSpPr>
        <p:spPr>
          <a:xfrm>
            <a:off x="3168396" y="14181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43884" y="1417719"/>
            <a:ext cx="5349240" cy="3483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11596" y="1789080"/>
            <a:ext cx="3657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88E5"/>
                </a:solidFill>
              </a:rPr>
              <a:t>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076956" y="1969814"/>
            <a:ext cx="6035040" cy="348386"/>
          </a:xfrm>
          <a:prstGeom prst="roundRect">
            <a:avLst>
              <a:gd name="adj" fmla="val 23622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0" name="Shape 8"/>
          <p:cNvSpPr/>
          <p:nvPr/>
        </p:nvSpPr>
        <p:spPr>
          <a:xfrm>
            <a:off x="3168396" y="1970272"/>
            <a:ext cx="347472" cy="347472"/>
          </a:xfrm>
          <a:prstGeom prst="ellipse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1" name="Text 9"/>
          <p:cNvSpPr/>
          <p:nvPr/>
        </p:nvSpPr>
        <p:spPr>
          <a:xfrm>
            <a:off x="3168396" y="19702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43884" y="1969814"/>
            <a:ext cx="5349240" cy="3483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Modeling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11596" y="2318201"/>
            <a:ext cx="3657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88E5"/>
                </a:solidFill>
              </a:rPr>
              <a:t>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076956" y="2488939"/>
            <a:ext cx="6035040" cy="348386"/>
          </a:xfrm>
          <a:prstGeom prst="roundRect">
            <a:avLst>
              <a:gd name="adj" fmla="val 23622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15" name="Shape 13"/>
          <p:cNvSpPr/>
          <p:nvPr/>
        </p:nvSpPr>
        <p:spPr>
          <a:xfrm>
            <a:off x="3168396" y="2489396"/>
            <a:ext cx="347472" cy="347472"/>
          </a:xfrm>
          <a:prstGeom prst="ellipse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16" name="Text 14"/>
          <p:cNvSpPr/>
          <p:nvPr/>
        </p:nvSpPr>
        <p:spPr>
          <a:xfrm>
            <a:off x="3168396" y="24893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43884" y="2488939"/>
            <a:ext cx="5349240" cy="3483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Threats (STRIDE)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11596" y="2885631"/>
            <a:ext cx="3657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88E5"/>
                </a:solidFill>
              </a:rPr>
              <a:t>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076956" y="3042695"/>
            <a:ext cx="6035040" cy="348386"/>
          </a:xfrm>
          <a:prstGeom prst="roundRect">
            <a:avLst>
              <a:gd name="adj" fmla="val 23622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0" name="Shape 18"/>
          <p:cNvSpPr/>
          <p:nvPr/>
        </p:nvSpPr>
        <p:spPr>
          <a:xfrm>
            <a:off x="3168396" y="3043152"/>
            <a:ext cx="347472" cy="347472"/>
          </a:xfrm>
          <a:prstGeom prst="ellipse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1" name="Text 19"/>
          <p:cNvSpPr/>
          <p:nvPr/>
        </p:nvSpPr>
        <p:spPr>
          <a:xfrm>
            <a:off x="3168396" y="30431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43884" y="3042695"/>
            <a:ext cx="5349240" cy="3483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 Risk (DREAD)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11596" y="3447772"/>
            <a:ext cx="3657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88E5"/>
                </a:solidFill>
              </a:rPr>
              <a:t>↓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076956" y="3605419"/>
            <a:ext cx="6035040" cy="348386"/>
          </a:xfrm>
          <a:prstGeom prst="roundRect">
            <a:avLst>
              <a:gd name="adj" fmla="val 23622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25" name="Shape 23"/>
          <p:cNvSpPr/>
          <p:nvPr/>
        </p:nvSpPr>
        <p:spPr>
          <a:xfrm>
            <a:off x="3168396" y="3605876"/>
            <a:ext cx="347472" cy="347472"/>
          </a:xfrm>
          <a:prstGeom prst="ellipse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26" name="Text 24"/>
          <p:cNvSpPr/>
          <p:nvPr/>
        </p:nvSpPr>
        <p:spPr>
          <a:xfrm>
            <a:off x="3168396" y="36058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43884" y="3605419"/>
            <a:ext cx="5349240" cy="3483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OWASP DevSecOps Practices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904455" y="3971091"/>
            <a:ext cx="3657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88E5"/>
                </a:solidFill>
              </a:rPr>
              <a:t>↓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069815" y="4133680"/>
            <a:ext cx="6035040" cy="348386"/>
          </a:xfrm>
          <a:prstGeom prst="roundRect">
            <a:avLst>
              <a:gd name="adj" fmla="val 23622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30" name="Shape 28"/>
          <p:cNvSpPr/>
          <p:nvPr/>
        </p:nvSpPr>
        <p:spPr>
          <a:xfrm>
            <a:off x="3161255" y="4134137"/>
            <a:ext cx="347472" cy="347472"/>
          </a:xfrm>
          <a:prstGeom prst="ellipse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1" name="Text 29"/>
          <p:cNvSpPr/>
          <p:nvPr/>
        </p:nvSpPr>
        <p:spPr>
          <a:xfrm>
            <a:off x="3161255" y="4134137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636743" y="4133680"/>
            <a:ext cx="5349240" cy="3483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Design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904455" y="4524789"/>
            <a:ext cx="3657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88E5"/>
                </a:solidFill>
              </a:rPr>
              <a:t>↓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076892" y="4700937"/>
            <a:ext cx="6035040" cy="348386"/>
          </a:xfrm>
          <a:prstGeom prst="roundRect">
            <a:avLst>
              <a:gd name="adj" fmla="val 23622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35" name="Shape 33"/>
          <p:cNvSpPr/>
          <p:nvPr/>
        </p:nvSpPr>
        <p:spPr>
          <a:xfrm>
            <a:off x="3168332" y="4701395"/>
            <a:ext cx="347472" cy="347472"/>
          </a:xfrm>
          <a:prstGeom prst="ellipse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36" name="Text 34"/>
          <p:cNvSpPr/>
          <p:nvPr/>
        </p:nvSpPr>
        <p:spPr>
          <a:xfrm>
            <a:off x="3168332" y="4701395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643820" y="4700937"/>
            <a:ext cx="5349240" cy="3483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Coding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911532" y="5049324"/>
            <a:ext cx="3657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88E5"/>
                </a:solidFill>
              </a:rPr>
              <a:t>↓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076956" y="5197059"/>
            <a:ext cx="6035040" cy="348386"/>
          </a:xfrm>
          <a:prstGeom prst="roundRect">
            <a:avLst>
              <a:gd name="adj" fmla="val 23622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40" name="Shape 38"/>
          <p:cNvSpPr/>
          <p:nvPr/>
        </p:nvSpPr>
        <p:spPr>
          <a:xfrm>
            <a:off x="3168396" y="5197516"/>
            <a:ext cx="347472" cy="347472"/>
          </a:xfrm>
          <a:prstGeom prst="ellipse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1" name="Text 39"/>
          <p:cNvSpPr/>
          <p:nvPr/>
        </p:nvSpPr>
        <p:spPr>
          <a:xfrm>
            <a:off x="3168396" y="51975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643884" y="5197059"/>
            <a:ext cx="5349240" cy="3483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SAST / DAST / Code Review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911596" y="5545445"/>
            <a:ext cx="3657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88E5"/>
                </a:solidFill>
              </a:rPr>
              <a:t>↓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076956" y="5708034"/>
            <a:ext cx="6035040" cy="348386"/>
          </a:xfrm>
          <a:prstGeom prst="roundRect">
            <a:avLst>
              <a:gd name="adj" fmla="val 23622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45" name="Shape 43"/>
          <p:cNvSpPr/>
          <p:nvPr/>
        </p:nvSpPr>
        <p:spPr>
          <a:xfrm>
            <a:off x="3168396" y="5708491"/>
            <a:ext cx="347472" cy="347472"/>
          </a:xfrm>
          <a:prstGeom prst="ellipse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46" name="Text 44"/>
          <p:cNvSpPr/>
          <p:nvPr/>
        </p:nvSpPr>
        <p:spPr>
          <a:xfrm>
            <a:off x="3168396" y="5708491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643884" y="5708034"/>
            <a:ext cx="5349240" cy="3483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Deployment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904455" y="6079389"/>
            <a:ext cx="3657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88E5"/>
                </a:solidFill>
              </a:rPr>
              <a:t>↓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076956" y="6253582"/>
            <a:ext cx="6035040" cy="348386"/>
          </a:xfrm>
          <a:prstGeom prst="roundRect">
            <a:avLst>
              <a:gd name="adj" fmla="val 23622"/>
            </a:avLst>
          </a:prstGeom>
          <a:solidFill>
            <a:srgbClr val="EAF2FC"/>
          </a:solidFill>
          <a:ln/>
          <a:effectLst>
            <a:outerShdw blurRad="76200" dist="25400" dir="5400000" algn="bl" rotWithShape="0">
              <a:srgbClr val="1B3A5C">
                <a:alpha val="12000"/>
              </a:srgbClr>
            </a:outerShdw>
          </a:effectLst>
        </p:spPr>
        <p:txBody>
          <a:bodyPr/>
          <a:lstStyle/>
          <a:p>
            <a:endParaRPr lang="en-LK"/>
          </a:p>
        </p:txBody>
      </p:sp>
      <p:sp>
        <p:nvSpPr>
          <p:cNvPr id="50" name="Shape 48"/>
          <p:cNvSpPr/>
          <p:nvPr/>
        </p:nvSpPr>
        <p:spPr>
          <a:xfrm>
            <a:off x="3168396" y="6254039"/>
            <a:ext cx="347472" cy="347472"/>
          </a:xfrm>
          <a:prstGeom prst="ellipse">
            <a:avLst/>
          </a:prstGeom>
          <a:solidFill>
            <a:srgbClr val="1E88E5"/>
          </a:solidFill>
          <a:ln/>
        </p:spPr>
        <p:txBody>
          <a:bodyPr/>
          <a:lstStyle/>
          <a:p>
            <a:endParaRPr lang="en-LK"/>
          </a:p>
        </p:txBody>
      </p:sp>
      <p:sp>
        <p:nvSpPr>
          <p:cNvPr id="51" name="Text 49"/>
          <p:cNvSpPr/>
          <p:nvPr/>
        </p:nvSpPr>
        <p:spPr>
          <a:xfrm>
            <a:off x="3168396" y="6254039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3643884" y="6253582"/>
            <a:ext cx="5349240" cy="3483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Monitoring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IE3142 · DevOps Security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13">
            <a:extLst>
              <a:ext uri="{FF2B5EF4-FFF2-40B4-BE49-F238E27FC236}">
                <a16:creationId xmlns:a16="http://schemas.microsoft.com/office/drawing/2014/main" id="{4537745E-A595-21D8-C9E3-99518CF62FE0}"/>
              </a:ext>
            </a:extLst>
          </p:cNvPr>
          <p:cNvSpPr/>
          <p:nvPr/>
        </p:nvSpPr>
        <p:spPr>
          <a:xfrm>
            <a:off x="-698642" y="0"/>
            <a:ext cx="13051854" cy="68580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1BE9C71B-ADBA-424A-5555-5668857AACD2}"/>
              </a:ext>
            </a:extLst>
          </p:cNvPr>
          <p:cNvSpPr/>
          <p:nvPr/>
        </p:nvSpPr>
        <p:spPr>
          <a:xfrm>
            <a:off x="486853" y="545830"/>
            <a:ext cx="7313295" cy="2742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spc="20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F0691E8-CE42-4A4A-21DC-4774DF99B7E6}"/>
              </a:ext>
            </a:extLst>
          </p:cNvPr>
          <p:cNvSpPr/>
          <p:nvPr/>
        </p:nvSpPr>
        <p:spPr>
          <a:xfrm>
            <a:off x="469438" y="2858501"/>
            <a:ext cx="9894714" cy="15842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4999"/>
              </a:lnSpc>
            </a:pPr>
            <a:r>
              <a:rPr lang="en-US" sz="5998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 &amp; A</a:t>
            </a: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AE68B839-E5ED-E6D6-92AF-E1D88C2219A2}"/>
              </a:ext>
            </a:extLst>
          </p:cNvPr>
          <p:cNvSpPr/>
          <p:nvPr/>
        </p:nvSpPr>
        <p:spPr>
          <a:xfrm>
            <a:off x="486852" y="4440160"/>
            <a:ext cx="9598700" cy="6399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999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open discussion.</a:t>
            </a:r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025BB3D2-3BD7-3AE5-A3CF-E26F983FA7FA}"/>
              </a:ext>
            </a:extLst>
          </p:cNvPr>
          <p:cNvSpPr/>
          <p:nvPr/>
        </p:nvSpPr>
        <p:spPr>
          <a:xfrm>
            <a:off x="620417" y="4068256"/>
            <a:ext cx="639913" cy="41137"/>
          </a:xfrm>
          <a:prstGeom prst="rect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US" sz="1799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2242</TotalTime>
  <Words>2106</Words>
  <Application>Microsoft Macintosh PowerPoint</Application>
  <PresentationFormat>Custom</PresentationFormat>
  <Paragraphs>539</Paragraphs>
  <Slides>33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Ayesha Wijesooriya</cp:lastModifiedBy>
  <cp:revision>4</cp:revision>
  <dcterms:created xsi:type="dcterms:W3CDTF">2026-07-27T08:33:45Z</dcterms:created>
  <dcterms:modified xsi:type="dcterms:W3CDTF">2026-08-03T05:45:41Z</dcterms:modified>
</cp:coreProperties>
</file>