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05"/>
    <p:restoredTop sz="92059"/>
  </p:normalViewPr>
  <p:slideViewPr>
    <p:cSldViewPr snapToGrid="0" snapToObjects="1">
      <p:cViewPr varScale="1">
        <p:scale>
          <a:sx n="117" d="100"/>
          <a:sy n="117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50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6AFA9-AF9D-8385-C6D4-1B02C77E7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510A08-6BA0-8C8C-7556-ED3E182FA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1D41DA-B9B6-5503-A23D-7C123B7ED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70556-2E8B-1209-7C66-EA7B14858E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183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GB" dirty="0"/>
              <a:t>Instead, ask the students:</a:t>
            </a:r>
          </a:p>
          <a:p>
            <a:pPr>
              <a:buNone/>
            </a:pPr>
            <a:r>
              <a:rPr lang="en-GB" dirty="0"/>
              <a:t>"Imagine you're working as software engineers in a software company. Your team has spent 8 months developing an online banking system."</a:t>
            </a:r>
          </a:p>
          <a:p>
            <a:pPr>
              <a:buNone/>
            </a:pPr>
            <a:r>
              <a:rPr lang="en-GB" dirty="0"/>
              <a:t>Then tell the story.</a:t>
            </a:r>
          </a:p>
          <a:p>
            <a:pPr>
              <a:buNone/>
            </a:pPr>
            <a:r>
              <a:rPr lang="en-GB" dirty="0"/>
              <a:t>"Everything looks perfect. The client is happy. The developers have completed all the features. Testing is completed."</a:t>
            </a:r>
          </a:p>
          <a:p>
            <a:pPr>
              <a:buNone/>
            </a:pPr>
            <a:r>
              <a:rPr lang="en-GB" dirty="0"/>
              <a:t>Pause.</a:t>
            </a:r>
          </a:p>
          <a:p>
            <a:pPr>
              <a:buNone/>
            </a:pPr>
            <a:r>
              <a:rPr lang="en-GB" dirty="0"/>
              <a:t>"One week before deployment, the security team performs a penetration test."</a:t>
            </a:r>
          </a:p>
          <a:p>
            <a:pPr>
              <a:buNone/>
            </a:pPr>
            <a:r>
              <a:rPr lang="en-GB" dirty="0"/>
              <a:t>Ask the class:</a:t>
            </a:r>
          </a:p>
          <a:p>
            <a:pPr>
              <a:buNone/>
            </a:pPr>
            <a:r>
              <a:rPr lang="en-GB" dirty="0"/>
              <a:t>"What do you think happens next?"</a:t>
            </a:r>
          </a:p>
          <a:p>
            <a:pPr>
              <a:buNone/>
            </a:pPr>
            <a:r>
              <a:rPr lang="en-GB" dirty="0"/>
              <a:t>Let students answer.</a:t>
            </a:r>
          </a:p>
          <a:p>
            <a:pPr>
              <a:buNone/>
            </a:pPr>
            <a:r>
              <a:rPr lang="en-GB" dirty="0"/>
              <a:t>Then continue.</a:t>
            </a:r>
          </a:p>
          <a:p>
            <a:pPr>
              <a:buNone/>
            </a:pPr>
            <a:r>
              <a:rPr lang="en-GB" dirty="0"/>
              <a:t>"The security team discovers SQL Injection, broken authentication, weak password storage, and sensitive data exposure."</a:t>
            </a:r>
          </a:p>
          <a:p>
            <a:pPr>
              <a:buNone/>
            </a:pPr>
            <a:r>
              <a:rPr lang="en-GB" dirty="0"/>
              <a:t>Ask:</a:t>
            </a:r>
          </a:p>
          <a:p>
            <a:pPr>
              <a:buNone/>
            </a:pPr>
            <a:r>
              <a:rPr lang="en-GB" dirty="0"/>
              <a:t>"Can we still release the software?"</a:t>
            </a:r>
          </a:p>
          <a:p>
            <a:pPr>
              <a:buNone/>
            </a:pPr>
            <a:r>
              <a:rPr lang="en-GB" dirty="0"/>
              <a:t>Students will say </a:t>
            </a:r>
            <a:r>
              <a:rPr lang="en-GB" b="1" dirty="0"/>
              <a:t>No</a:t>
            </a:r>
            <a:r>
              <a:rPr lang="en-GB" dirty="0"/>
              <a:t>.</a:t>
            </a:r>
          </a:p>
          <a:p>
            <a:pPr>
              <a:buNone/>
            </a:pPr>
            <a:r>
              <a:rPr lang="en-GB" dirty="0"/>
              <a:t>Then ask:</a:t>
            </a:r>
          </a:p>
          <a:p>
            <a:pPr>
              <a:buNone/>
            </a:pPr>
            <a:r>
              <a:rPr lang="en-GB" dirty="0"/>
              <a:t>"So what should the developers do now?"</a:t>
            </a:r>
          </a:p>
          <a:p>
            <a:pPr>
              <a:buNone/>
            </a:pPr>
            <a:r>
              <a:rPr lang="en-GB" dirty="0"/>
              <a:t>Expected answer: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Rewrite code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Fix vulnerabilities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Test again </a:t>
            </a:r>
          </a:p>
          <a:p>
            <a:pPr>
              <a:buNone/>
            </a:pPr>
            <a:r>
              <a:rPr lang="en-GB" dirty="0"/>
              <a:t>Then explain:</a:t>
            </a:r>
          </a:p>
          <a:p>
            <a:pPr>
              <a:buNone/>
            </a:pPr>
            <a:r>
              <a:rPr lang="en-GB" dirty="0"/>
              <a:t>"This means the project is delayed, costs increase, and the customer becomes unhappy."</a:t>
            </a:r>
          </a:p>
          <a:p>
            <a:pPr>
              <a:buNone/>
            </a:pPr>
            <a:r>
              <a:rPr lang="en-GB" dirty="0"/>
              <a:t>Now ask your key question:</a:t>
            </a:r>
          </a:p>
          <a:p>
            <a:pPr>
              <a:buNone/>
            </a:pPr>
            <a:r>
              <a:rPr lang="en-GB" dirty="0"/>
              <a:t>"Could these problems have been prevented if security had been considered from the beginning?"</a:t>
            </a:r>
          </a:p>
          <a:p>
            <a:pPr>
              <a:buNone/>
            </a:pPr>
            <a:r>
              <a:rPr lang="en-GB" dirty="0"/>
              <a:t>Don't answer it yet.</a:t>
            </a:r>
          </a:p>
          <a:p>
            <a:pPr>
              <a:buNone/>
            </a:pPr>
            <a:r>
              <a:rPr lang="en-GB" dirty="0"/>
              <a:t>Tell them:</a:t>
            </a:r>
          </a:p>
          <a:p>
            <a:r>
              <a:rPr lang="en-GB" dirty="0"/>
              <a:t>"By the end of today's lecture, you'll know the answer."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60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4617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WIJESOORIYA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640080" cy="4114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/>
          </a:p>
        </p:txBody>
      </p:sp>
      <p:pic>
        <p:nvPicPr>
          <p:cNvPr id="8" name="Picture 7" descr="A black background with blue circles and white text&#10;&#10;AI-generated content may be incorrect.">
            <a:extLst>
              <a:ext uri="{FF2B5EF4-FFF2-40B4-BE49-F238E27FC236}">
                <a16:creationId xmlns:a16="http://schemas.microsoft.com/office/drawing/2014/main" id="{874D68CF-53C4-924C-3ABA-2CF9D34D83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893"/>
          <a:stretch/>
        </p:blipFill>
        <p:spPr>
          <a:xfrm>
            <a:off x="6766561" y="152730"/>
            <a:ext cx="5122918" cy="61975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E8EFF5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75564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DevSecOps is required.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457200" cy="457200"/>
          </a:xfrm>
          <a:prstGeom prst="ellipse">
            <a:avLst/>
          </a:prstGeom>
          <a:solidFill>
            <a:srgbClr val="E8EFF5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54864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596896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limitations of traditional software development.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465576"/>
            <a:ext cx="457200" cy="457200"/>
          </a:xfrm>
          <a:prstGeom prst="ellipse">
            <a:avLst/>
          </a:prstGeom>
          <a:solidFill>
            <a:srgbClr val="E8EFF5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/>
          <p:nvPr/>
        </p:nvSpPr>
        <p:spPr>
          <a:xfrm>
            <a:off x="54864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438144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relationship between DevOps and security.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306824"/>
            <a:ext cx="457200" cy="457200"/>
          </a:xfrm>
          <a:prstGeom prst="ellipse">
            <a:avLst/>
          </a:prstGeom>
          <a:solidFill>
            <a:srgbClr val="E8EFF5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5" name="Text 13"/>
          <p:cNvSpPr/>
          <p:nvPr/>
        </p:nvSpPr>
        <p:spPr>
          <a:xfrm>
            <a:off x="548640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27939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key principles and goals of DevSecOps.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457200" cy="457200"/>
          </a:xfrm>
          <a:prstGeom prst="ellipse">
            <a:avLst/>
          </a:prstGeom>
          <a:solidFill>
            <a:srgbClr val="E8EFF5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8" name="Text 16"/>
          <p:cNvSpPr/>
          <p:nvPr/>
        </p:nvSpPr>
        <p:spPr>
          <a:xfrm>
            <a:off x="548640" y="5148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51206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security is integrated throughout the Software Development Life Cycle (SDLC).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C4AB8B-3D3A-8951-37F9-BB63408C4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3F4B6D-534D-1CC4-FEE3-1CB3398702C1}"/>
              </a:ext>
            </a:extLst>
          </p:cNvPr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A8F3B53-15B7-5A58-9EA1-E0BF22391048}"/>
              </a:ext>
            </a:extLst>
          </p:cNvPr>
          <p:cNvSpPr/>
          <p:nvPr/>
        </p:nvSpPr>
        <p:spPr>
          <a:xfrm>
            <a:off x="531221" y="2324753"/>
            <a:ext cx="9897291" cy="2584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DevOps?</a:t>
            </a:r>
            <a:endParaRPr lang="en-US" sz="6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AECD753-F235-B2D9-1253-C4195EF03FBF}"/>
              </a:ext>
            </a:extLst>
          </p:cNvPr>
          <p:cNvSpPr/>
          <p:nvPr/>
        </p:nvSpPr>
        <p:spPr>
          <a:xfrm>
            <a:off x="640080" y="4434840"/>
            <a:ext cx="640080" cy="4114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231285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Imagine This Scenario…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228601" y="1691640"/>
            <a:ext cx="6966856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6" name="Text 4"/>
          <p:cNvSpPr/>
          <p:nvPr/>
        </p:nvSpPr>
        <p:spPr>
          <a:xfrm>
            <a:off x="627932" y="1965960"/>
            <a:ext cx="623606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company develops an online banking application.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0118" y="2697480"/>
            <a:ext cx="2923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05414" y="2697480"/>
            <a:ext cx="33129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months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0118" y="3108960"/>
            <a:ext cx="2923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05414" y="3108960"/>
            <a:ext cx="33129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0118" y="3520440"/>
            <a:ext cx="2923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05414" y="3520440"/>
            <a:ext cx="33129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before deployment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7932" y="4069080"/>
            <a:ext cx="62360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final security assessment, the team discovers: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8323" y="4434840"/>
            <a:ext cx="604118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SQL Injection vulnerabilities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8323" y="4745736"/>
            <a:ext cx="604118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Weak password storage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8323" y="5056632"/>
            <a:ext cx="604118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Broken authentication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8323" y="5367528"/>
            <a:ext cx="604118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Sensitive data exposure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7932" y="5760720"/>
            <a:ext cx="62360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release is delayed by several weeks while developers fix these issues.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44714" y="1691640"/>
            <a:ext cx="4267399" cy="44805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LK" sz="2400" dirty="0"/>
          </a:p>
        </p:txBody>
      </p:sp>
      <p:sp>
        <p:nvSpPr>
          <p:cNvPr id="20" name="Text 18"/>
          <p:cNvSpPr/>
          <p:nvPr/>
        </p:nvSpPr>
        <p:spPr>
          <a:xfrm>
            <a:off x="7901599" y="2103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1599" y="256032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Could these security issues have been prevented if security had been considered earlier?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Software Security Important?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</a:t>
            </a:r>
            <a:r>
              <a:rPr lang="en-US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software stores and processes valuable information, including: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2470709"/>
            <a:ext cx="128016" cy="128016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7" name="Text 5"/>
          <p:cNvSpPr/>
          <p:nvPr/>
        </p:nvSpPr>
        <p:spPr>
          <a:xfrm>
            <a:off x="822960" y="2388413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information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927909"/>
            <a:ext cx="128016" cy="128016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9" name="Text 7"/>
          <p:cNvSpPr/>
          <p:nvPr/>
        </p:nvSpPr>
        <p:spPr>
          <a:xfrm>
            <a:off x="822960" y="2845613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transactions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3385109"/>
            <a:ext cx="128016" cy="128016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1" name="Text 9"/>
          <p:cNvSpPr/>
          <p:nvPr/>
        </p:nvSpPr>
        <p:spPr>
          <a:xfrm>
            <a:off x="822960" y="3302813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3842309"/>
            <a:ext cx="128016" cy="128016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3" name="Text 11"/>
          <p:cNvSpPr/>
          <p:nvPr/>
        </p:nvSpPr>
        <p:spPr>
          <a:xfrm>
            <a:off x="822960" y="3760013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4299509"/>
            <a:ext cx="128016" cy="128016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5" name="Text 13"/>
          <p:cNvSpPr/>
          <p:nvPr/>
        </p:nvSpPr>
        <p:spPr>
          <a:xfrm>
            <a:off x="822960" y="4217213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information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477000" y="2286000"/>
            <a:ext cx="5257800" cy="4160520"/>
          </a:xfrm>
          <a:prstGeom prst="rect">
            <a:avLst/>
          </a:prstGeom>
          <a:solidFill>
            <a:srgbClr val="F1F2F4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7" name="Text 15"/>
          <p:cNvSpPr/>
          <p:nvPr/>
        </p:nvSpPr>
        <p:spPr>
          <a:xfrm>
            <a:off x="684276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BREACH MAY RESULT 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4276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losses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42760" y="35478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customer trust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42760" y="416966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penalties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42760" y="47914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disruption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842760" y="54132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to an organization's reputation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Software Landscape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software systems are: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308860"/>
            <a:ext cx="2697480" cy="1005840"/>
          </a:xfrm>
          <a:prstGeom prst="rect">
            <a:avLst/>
          </a:prstGeom>
          <a:solidFill>
            <a:srgbClr val="F1F2F4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7" name="Shape 5"/>
          <p:cNvSpPr/>
          <p:nvPr/>
        </p:nvSpPr>
        <p:spPr>
          <a:xfrm>
            <a:off x="749808" y="2510028"/>
            <a:ext cx="320040" cy="4114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749808" y="26746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474720" y="2308860"/>
            <a:ext cx="2697480" cy="1005840"/>
          </a:xfrm>
          <a:prstGeom prst="rect">
            <a:avLst/>
          </a:prstGeom>
          <a:solidFill>
            <a:srgbClr val="F1F2F4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0" name="Shape 8"/>
          <p:cNvSpPr/>
          <p:nvPr/>
        </p:nvSpPr>
        <p:spPr>
          <a:xfrm>
            <a:off x="3675888" y="2510028"/>
            <a:ext cx="320040" cy="4114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3675888" y="26746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400800" y="2308860"/>
            <a:ext cx="2697480" cy="1005840"/>
          </a:xfrm>
          <a:prstGeom prst="rect">
            <a:avLst/>
          </a:prstGeom>
          <a:solidFill>
            <a:srgbClr val="F1F2F4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3" name="Shape 11"/>
          <p:cNvSpPr/>
          <p:nvPr/>
        </p:nvSpPr>
        <p:spPr>
          <a:xfrm>
            <a:off x="6601968" y="2510028"/>
            <a:ext cx="320040" cy="4114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4" name="Text 12"/>
          <p:cNvSpPr/>
          <p:nvPr/>
        </p:nvSpPr>
        <p:spPr>
          <a:xfrm>
            <a:off x="6601968" y="26746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applications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326880" y="2308860"/>
            <a:ext cx="2697480" cy="1005840"/>
          </a:xfrm>
          <a:prstGeom prst="rect">
            <a:avLst/>
          </a:prstGeom>
          <a:solidFill>
            <a:srgbClr val="F1F2F4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6" name="Shape 14"/>
          <p:cNvSpPr/>
          <p:nvPr/>
        </p:nvSpPr>
        <p:spPr>
          <a:xfrm>
            <a:off x="9528048" y="2510028"/>
            <a:ext cx="320040" cy="4114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9528048" y="26746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3543300"/>
            <a:ext cx="2697480" cy="1005840"/>
          </a:xfrm>
          <a:prstGeom prst="rect">
            <a:avLst/>
          </a:prstGeom>
          <a:solidFill>
            <a:srgbClr val="F1F2F4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9" name="Shape 17"/>
          <p:cNvSpPr/>
          <p:nvPr/>
        </p:nvSpPr>
        <p:spPr>
          <a:xfrm>
            <a:off x="749808" y="3744468"/>
            <a:ext cx="320040" cy="4114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0" name="Text 18"/>
          <p:cNvSpPr/>
          <p:nvPr/>
        </p:nvSpPr>
        <p:spPr>
          <a:xfrm>
            <a:off x="749808" y="39090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474720" y="3543300"/>
            <a:ext cx="2697480" cy="1005840"/>
          </a:xfrm>
          <a:prstGeom prst="rect">
            <a:avLst/>
          </a:prstGeom>
          <a:solidFill>
            <a:srgbClr val="F1F2F4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2" name="Shape 20"/>
          <p:cNvSpPr/>
          <p:nvPr/>
        </p:nvSpPr>
        <p:spPr>
          <a:xfrm>
            <a:off x="3675888" y="3744468"/>
            <a:ext cx="320040" cy="4114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3675888" y="39090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of Things (IoT)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400800" y="3543300"/>
            <a:ext cx="2697480" cy="1005840"/>
          </a:xfrm>
          <a:prstGeom prst="rect">
            <a:avLst/>
          </a:prstGeom>
          <a:solidFill>
            <a:srgbClr val="F1F2F4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5" name="Shape 23"/>
          <p:cNvSpPr/>
          <p:nvPr/>
        </p:nvSpPr>
        <p:spPr>
          <a:xfrm>
            <a:off x="6601968" y="3744468"/>
            <a:ext cx="320040" cy="4114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6" name="Text 24"/>
          <p:cNvSpPr/>
          <p:nvPr/>
        </p:nvSpPr>
        <p:spPr>
          <a:xfrm>
            <a:off x="6601968" y="39090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systems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48640" y="5166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software becomes more connected, the number of potential attack surfaces increases.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Software Development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Software Development?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20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is the process of designing, building, testing, deploying, and maintaining software systems to satisfy user requirements.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349240" cy="4480560"/>
          </a:xfrm>
          <a:prstGeom prst="rect">
            <a:avLst/>
          </a:prstGeom>
          <a:solidFill>
            <a:srgbClr val="F1F2F4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667512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PHASES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433175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15200" y="241401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75120" y="3036679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15200" y="3017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75120" y="3640183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15200" y="362102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75120" y="4243687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315200" y="42245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75120" y="4847191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15200" y="48280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75120" y="5450695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315200" y="543153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Software Development Life 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691640" cy="11887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6" name="Text 4"/>
          <p:cNvSpPr/>
          <p:nvPr/>
        </p:nvSpPr>
        <p:spPr>
          <a:xfrm>
            <a:off x="658368" y="2468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269748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40280" y="260604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423160" y="2377440"/>
            <a:ext cx="1691640" cy="1188720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0" name="Text 8"/>
          <p:cNvSpPr/>
          <p:nvPr/>
        </p:nvSpPr>
        <p:spPr>
          <a:xfrm>
            <a:off x="2532888" y="2468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96312" y="269748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14800" y="260604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297680" y="2377440"/>
            <a:ext cx="1691640" cy="11887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4" name="Text 12"/>
          <p:cNvSpPr/>
          <p:nvPr/>
        </p:nvSpPr>
        <p:spPr>
          <a:xfrm>
            <a:off x="4407408" y="2468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70832" y="269748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89320" y="260604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172200" y="2377440"/>
            <a:ext cx="1691640" cy="1188720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6281928" y="2468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45352" y="269748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863840" y="260604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8046720" y="2377440"/>
            <a:ext cx="1691640" cy="11887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2" name="Text 20"/>
          <p:cNvSpPr/>
          <p:nvPr/>
        </p:nvSpPr>
        <p:spPr>
          <a:xfrm>
            <a:off x="8156448" y="2468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19872" y="269748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738360" y="260604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9921240" y="2377440"/>
            <a:ext cx="1691640" cy="1188720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6" name="Text 24"/>
          <p:cNvSpPr/>
          <p:nvPr/>
        </p:nvSpPr>
        <p:spPr>
          <a:xfrm>
            <a:off x="10030968" y="2468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994392" y="269748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8640" y="4023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completes before the next begins security is typically addressed only at the end, just before deployment.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Characteristics of Traditional Development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6" name="Shape 4"/>
          <p:cNvSpPr/>
          <p:nvPr/>
        </p:nvSpPr>
        <p:spPr>
          <a:xfrm>
            <a:off x="822960" y="2253996"/>
            <a:ext cx="201168" cy="20116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7" name="Text 5"/>
          <p:cNvSpPr/>
          <p:nvPr/>
        </p:nvSpPr>
        <p:spPr>
          <a:xfrm>
            <a:off x="1234440" y="182880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process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9" name="Shape 7"/>
          <p:cNvSpPr/>
          <p:nvPr/>
        </p:nvSpPr>
        <p:spPr>
          <a:xfrm>
            <a:off x="6537960" y="2253996"/>
            <a:ext cx="201168" cy="20116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/>
          <p:nvPr/>
        </p:nvSpPr>
        <p:spPr>
          <a:xfrm>
            <a:off x="6949440" y="182880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work independently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349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2" name="Shape 10"/>
          <p:cNvSpPr/>
          <p:nvPr/>
        </p:nvSpPr>
        <p:spPr>
          <a:xfrm>
            <a:off x="822960" y="3625596"/>
            <a:ext cx="201168" cy="20116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/>
          <p:nvPr/>
        </p:nvSpPr>
        <p:spPr>
          <a:xfrm>
            <a:off x="1234440" y="320040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63640" y="3200400"/>
            <a:ext cx="5349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5" name="Shape 13"/>
          <p:cNvSpPr/>
          <p:nvPr/>
        </p:nvSpPr>
        <p:spPr>
          <a:xfrm>
            <a:off x="6537960" y="3625596"/>
            <a:ext cx="201168" cy="20116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/>
          <p:nvPr/>
        </p:nvSpPr>
        <p:spPr>
          <a:xfrm>
            <a:off x="6949440" y="320040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checked near the end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5349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8" name="Shape 16"/>
          <p:cNvSpPr/>
          <p:nvPr/>
        </p:nvSpPr>
        <p:spPr>
          <a:xfrm>
            <a:off x="822960" y="4997196"/>
            <a:ext cx="201168" cy="20116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9" name="Text 17"/>
          <p:cNvSpPr/>
          <p:nvPr/>
        </p:nvSpPr>
        <p:spPr>
          <a:xfrm>
            <a:off x="1234440" y="457200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development cycles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63640" y="4572000"/>
            <a:ext cx="5349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1" name="Shape 19"/>
          <p:cNvSpPr/>
          <p:nvPr/>
        </p:nvSpPr>
        <p:spPr>
          <a:xfrm>
            <a:off x="6537960" y="4997196"/>
            <a:ext cx="201168" cy="20116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2" name="Text 20"/>
          <p:cNvSpPr/>
          <p:nvPr/>
        </p:nvSpPr>
        <p:spPr>
          <a:xfrm>
            <a:off x="6949440" y="457200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customer feedback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Structure in Traditional Development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5" name="Shape 3"/>
          <p:cNvSpPr/>
          <p:nvPr/>
        </p:nvSpPr>
        <p:spPr>
          <a:xfrm>
            <a:off x="4174236" y="1783080"/>
            <a:ext cx="3840480" cy="777240"/>
          </a:xfrm>
          <a:prstGeom prst="rect">
            <a:avLst/>
          </a:prstGeom>
          <a:solidFill>
            <a:srgbClr val="E8EFF5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6" name="Text 4"/>
          <p:cNvSpPr/>
          <p:nvPr/>
        </p:nvSpPr>
        <p:spPr>
          <a:xfrm>
            <a:off x="4174236" y="17830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Team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74236" y="2560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174236" y="2880360"/>
            <a:ext cx="3840480" cy="777240"/>
          </a:xfrm>
          <a:prstGeom prst="rect">
            <a:avLst/>
          </a:prstGeom>
          <a:solidFill>
            <a:srgbClr val="E8EFF5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9" name="Text 7"/>
          <p:cNvSpPr/>
          <p:nvPr/>
        </p:nvSpPr>
        <p:spPr>
          <a:xfrm>
            <a:off x="4174236" y="28803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Team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74236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174236" y="3977640"/>
            <a:ext cx="3840480" cy="777240"/>
          </a:xfrm>
          <a:prstGeom prst="rect">
            <a:avLst/>
          </a:prstGeom>
          <a:solidFill>
            <a:srgbClr val="E8EFF5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2" name="Text 10"/>
          <p:cNvSpPr/>
          <p:nvPr/>
        </p:nvSpPr>
        <p:spPr>
          <a:xfrm>
            <a:off x="4174236" y="39776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Team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74236" y="4754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174236" y="5074920"/>
            <a:ext cx="384048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5" name="Text 13"/>
          <p:cNvSpPr/>
          <p:nvPr/>
        </p:nvSpPr>
        <p:spPr>
          <a:xfrm>
            <a:off x="4174236" y="50749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works independently, often with limited communication.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35573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Challenges in</a:t>
            </a:r>
            <a:endParaRPr lang="en-US" sz="48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Development?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43434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DevOps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DevOps?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is a culture, set of practices, and collection of tools that enable collaboration between Development and Operations teams to deliver software faster and more reliably.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52360" y="1737360"/>
            <a:ext cx="4160520" cy="4434840"/>
          </a:xfrm>
          <a:prstGeom prst="rect">
            <a:avLst/>
          </a:prstGeom>
          <a:solidFill>
            <a:srgbClr val="F1F2F4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7452360" y="2468880"/>
            <a:ext cx="2084832" cy="1188720"/>
          </a:xfrm>
          <a:prstGeom prst="rect">
            <a:avLst/>
          </a:prstGeom>
          <a:solidFill>
            <a:srgbClr val="E8EF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537192" y="2468880"/>
            <a:ext cx="2084832" cy="1188720"/>
          </a:xfrm>
          <a:prstGeom prst="rect">
            <a:avLst/>
          </a:prstGeom>
          <a:solidFill>
            <a:srgbClr val="1B3A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452360" y="2468880"/>
            <a:ext cx="4160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680960" y="3931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across the software delivery lifecycle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DevOps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387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6" name="Text 4"/>
          <p:cNvSpPr/>
          <p:nvPr/>
        </p:nvSpPr>
        <p:spPr>
          <a:xfrm>
            <a:off x="777240" y="19476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350008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software delivery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387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9" name="Text 7"/>
          <p:cNvSpPr/>
          <p:nvPr/>
        </p:nvSpPr>
        <p:spPr>
          <a:xfrm>
            <a:off x="4572000" y="19476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2350008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(CI)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138160" y="1783080"/>
            <a:ext cx="35387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2" name="Text 10"/>
          <p:cNvSpPr/>
          <p:nvPr/>
        </p:nvSpPr>
        <p:spPr>
          <a:xfrm>
            <a:off x="8366760" y="19476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66760" y="2350008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 (CD)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3273552"/>
            <a:ext cx="35387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5" name="Text 13"/>
          <p:cNvSpPr/>
          <p:nvPr/>
        </p:nvSpPr>
        <p:spPr>
          <a:xfrm>
            <a:off x="777240" y="34381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3840480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343400" y="3273552"/>
            <a:ext cx="35387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8" name="Text 16"/>
          <p:cNvSpPr/>
          <p:nvPr/>
        </p:nvSpPr>
        <p:spPr>
          <a:xfrm>
            <a:off x="4572000" y="34381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0" y="3840480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8138160" y="3273552"/>
            <a:ext cx="35387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1" name="Text 19"/>
          <p:cNvSpPr/>
          <p:nvPr/>
        </p:nvSpPr>
        <p:spPr>
          <a:xfrm>
            <a:off x="8366760" y="34381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66760" y="3840480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48640" y="4764024"/>
            <a:ext cx="35387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4" name="Text 22"/>
          <p:cNvSpPr/>
          <p:nvPr/>
        </p:nvSpPr>
        <p:spPr>
          <a:xfrm>
            <a:off x="777240" y="492861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7240" y="5330952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software quality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Lifecycle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2222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5561238" y="1413001"/>
            <a:ext cx="1398161" cy="1457554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6" name="Text 4"/>
          <p:cNvSpPr/>
          <p:nvPr/>
        </p:nvSpPr>
        <p:spPr>
          <a:xfrm>
            <a:off x="5561238" y="1413001"/>
            <a:ext cx="1398161" cy="1457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21216" y="1936718"/>
            <a:ext cx="1398161" cy="1457554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8" name="Text 6"/>
          <p:cNvSpPr/>
          <p:nvPr/>
        </p:nvSpPr>
        <p:spPr>
          <a:xfrm>
            <a:off x="7121216" y="1936718"/>
            <a:ext cx="1398161" cy="1457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17118" y="3455091"/>
            <a:ext cx="1398161" cy="1457554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0" name="Text 8"/>
          <p:cNvSpPr/>
          <p:nvPr/>
        </p:nvSpPr>
        <p:spPr>
          <a:xfrm>
            <a:off x="7717118" y="3455091"/>
            <a:ext cx="1398161" cy="1457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23313" y="4829512"/>
            <a:ext cx="1398161" cy="1457554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2" name="Text 10"/>
          <p:cNvSpPr/>
          <p:nvPr/>
        </p:nvSpPr>
        <p:spPr>
          <a:xfrm>
            <a:off x="6923313" y="4829512"/>
            <a:ext cx="1398161" cy="1457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52477" y="5400446"/>
            <a:ext cx="1398161" cy="1453235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4" name="Text 12"/>
          <p:cNvSpPr/>
          <p:nvPr/>
        </p:nvSpPr>
        <p:spPr>
          <a:xfrm>
            <a:off x="5452477" y="5400446"/>
            <a:ext cx="1398161" cy="1457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41866" y="4752223"/>
            <a:ext cx="1398161" cy="1457554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6" name="Text 14"/>
          <p:cNvSpPr/>
          <p:nvPr/>
        </p:nvSpPr>
        <p:spPr>
          <a:xfrm>
            <a:off x="3941866" y="4752223"/>
            <a:ext cx="1398161" cy="1457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38518" y="3329962"/>
            <a:ext cx="1398161" cy="1457554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8" name="Text 16"/>
          <p:cNvSpPr/>
          <p:nvPr/>
        </p:nvSpPr>
        <p:spPr>
          <a:xfrm>
            <a:off x="3338518" y="3329962"/>
            <a:ext cx="1398161" cy="1457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84459" y="1882862"/>
            <a:ext cx="1398161" cy="1457554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0" name="Text 18"/>
          <p:cNvSpPr/>
          <p:nvPr/>
        </p:nvSpPr>
        <p:spPr>
          <a:xfrm>
            <a:off x="3984459" y="1882862"/>
            <a:ext cx="1398161" cy="1457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45609" y="2995663"/>
            <a:ext cx="2066847" cy="2154645"/>
          </a:xfrm>
          <a:prstGeom prst="ellipse">
            <a:avLst/>
          </a:prstGeom>
          <a:solidFill>
            <a:srgbClr val="E8EFF5"/>
          </a:solidFill>
          <a:ln w="1905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2" name="Text 20"/>
          <p:cNvSpPr/>
          <p:nvPr/>
        </p:nvSpPr>
        <p:spPr>
          <a:xfrm>
            <a:off x="5145609" y="2995663"/>
            <a:ext cx="2066847" cy="21546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DevOps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1051560"/>
          </a:xfrm>
          <a:prstGeom prst="rect">
            <a:avLst/>
          </a:prstGeom>
          <a:solidFill>
            <a:srgbClr val="F1F2F4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73152" cy="1051560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releases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1051560"/>
          </a:xfrm>
          <a:prstGeom prst="rect">
            <a:avLst/>
          </a:prstGeom>
          <a:solidFill>
            <a:srgbClr val="F1F2F4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73152" cy="1051560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0" name="Text 8"/>
          <p:cNvSpPr/>
          <p:nvPr/>
        </p:nvSpPr>
        <p:spPr>
          <a:xfrm>
            <a:off x="6629400" y="18288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deployment failures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349240" cy="1051560"/>
          </a:xfrm>
          <a:prstGeom prst="rect">
            <a:avLst/>
          </a:prstGeom>
          <a:solidFill>
            <a:srgbClr val="F1F2F4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73152" cy="1051560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914400" y="32004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collaboration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63640" y="3200400"/>
            <a:ext cx="5349240" cy="1051560"/>
          </a:xfrm>
          <a:prstGeom prst="rect">
            <a:avLst/>
          </a:prstGeom>
          <a:solidFill>
            <a:srgbClr val="F1F2F4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5" name="Shape 13"/>
          <p:cNvSpPr/>
          <p:nvPr/>
        </p:nvSpPr>
        <p:spPr>
          <a:xfrm>
            <a:off x="6263640" y="3200400"/>
            <a:ext cx="73152" cy="1051560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6629400" y="32004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processes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5349240" cy="1051560"/>
          </a:xfrm>
          <a:prstGeom prst="rect">
            <a:avLst/>
          </a:prstGeom>
          <a:solidFill>
            <a:srgbClr val="F1F2F4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73152" cy="1051560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914400" y="45720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feedback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63640" y="4572000"/>
            <a:ext cx="5349240" cy="1051560"/>
          </a:xfrm>
          <a:prstGeom prst="rect">
            <a:avLst/>
          </a:prstGeom>
          <a:solidFill>
            <a:srgbClr val="F1F2F4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1" name="Shape 19"/>
          <p:cNvSpPr/>
          <p:nvPr/>
        </p:nvSpPr>
        <p:spPr>
          <a:xfrm>
            <a:off x="6263640" y="4572000"/>
            <a:ext cx="73152" cy="1051560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2" name="Text 20"/>
          <p:cNvSpPr/>
          <p:nvPr/>
        </p:nvSpPr>
        <p:spPr>
          <a:xfrm>
            <a:off x="6629400" y="45720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software quality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DevOps Enough?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improves speed and collaboration.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security is often treated as a separate activity.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6400800" cy="2377440"/>
          </a:xfrm>
          <a:prstGeom prst="rect">
            <a:avLst/>
          </a:prstGeom>
          <a:solidFill>
            <a:srgbClr val="F1F2F4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fast software still be insecure?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46634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Yes.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7452360" y="1691640"/>
            <a:ext cx="4160520" cy="41148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2" name="Text 10"/>
          <p:cNvSpPr/>
          <p:nvPr/>
        </p:nvSpPr>
        <p:spPr>
          <a:xfrm>
            <a:off x="7818120" y="2926080"/>
            <a:ext cx="3429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gap DevSecOps is designed to close.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/>
          <p:nvPr/>
        </p:nvSpPr>
        <p:spPr>
          <a:xfrm>
            <a:off x="64008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5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security into every stage of the software delivery lifecycle.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64008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spc="3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</a:p>
        </p:txBody>
      </p:sp>
      <p:sp>
        <p:nvSpPr>
          <p:cNvPr id="4" name="Title"/>
          <p:cNvSpPr/>
          <p:nvPr/>
        </p:nvSpPr>
        <p:spPr>
          <a:xfrm>
            <a:off x="640080" y="283464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</a:rPr>
              <a:t>Introduction to</a:t>
            </a:r>
          </a:p>
          <a:p>
            <a:pPr marL="0" indent="0">
              <a:lnSpc>
                <a:spcPts val="4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</a:rPr>
              <a:t>DevSecOps</a:t>
            </a:r>
          </a:p>
        </p:txBody>
      </p:sp>
      <p:sp>
        <p:nvSpPr>
          <p:cNvPr id="5" name="Text 5"/>
          <p:cNvSpPr/>
          <p:nvPr/>
        </p:nvSpPr>
        <p:spPr>
          <a:xfrm>
            <a:off x="640080" y="4709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security into every stage of the Software Development Life Cycle.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DevSecOps?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/>
          <p:nvPr/>
        </p:nvSpPr>
        <p:spPr>
          <a:xfrm>
            <a:off x="548640" y="173736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is the practice of integrating security into every stage of the Software Development Life Cycle (SDLC). It combines Development, Security, and Operations into one collaborative process.</a:t>
            </a:r>
          </a:p>
        </p:txBody>
      </p:sp>
      <p:sp>
        <p:nvSpPr>
          <p:cNvPr id="6" name="Shape 6"/>
          <p:cNvSpPr/>
          <p:nvPr/>
        </p:nvSpPr>
        <p:spPr>
          <a:xfrm>
            <a:off x="7452360" y="1737360"/>
            <a:ext cx="4160520" cy="4434840"/>
          </a:xfrm>
          <a:prstGeom prst="rect">
            <a:avLst/>
          </a:prstGeom>
          <a:solidFill>
            <a:srgbClr val="F1F2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8082620" y="1997360"/>
            <a:ext cx="2900000" cy="900000"/>
          </a:xfrm>
          <a:prstGeom prst="rect">
            <a:avLst/>
          </a:prstGeom>
          <a:solidFill>
            <a:srgbClr val="E8EFF5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/>
          <p:nvPr/>
        </p:nvSpPr>
        <p:spPr>
          <a:xfrm>
            <a:off x="8082620" y="1997360"/>
            <a:ext cx="29000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</a:t>
            </a:r>
          </a:p>
        </p:txBody>
      </p:sp>
      <p:sp>
        <p:nvSpPr>
          <p:cNvPr id="9" name="Text 9"/>
          <p:cNvSpPr/>
          <p:nvPr/>
        </p:nvSpPr>
        <p:spPr>
          <a:xfrm>
            <a:off x="8082620" y="2957360"/>
            <a:ext cx="29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</a:p>
        </p:txBody>
      </p:sp>
      <p:sp>
        <p:nvSpPr>
          <p:cNvPr id="10" name="Shape 10"/>
          <p:cNvSpPr/>
          <p:nvPr/>
        </p:nvSpPr>
        <p:spPr>
          <a:xfrm>
            <a:off x="8082620" y="3257360"/>
            <a:ext cx="2900000" cy="900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/>
          <p:nvPr/>
        </p:nvSpPr>
        <p:spPr>
          <a:xfrm>
            <a:off x="8082620" y="3257360"/>
            <a:ext cx="29000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</a:t>
            </a:r>
          </a:p>
        </p:txBody>
      </p:sp>
      <p:sp>
        <p:nvSpPr>
          <p:cNvPr id="12" name="Text 12"/>
          <p:cNvSpPr/>
          <p:nvPr/>
        </p:nvSpPr>
        <p:spPr>
          <a:xfrm>
            <a:off x="8082620" y="4217360"/>
            <a:ext cx="29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</a:p>
        </p:txBody>
      </p:sp>
      <p:sp>
        <p:nvSpPr>
          <p:cNvPr id="13" name="Shape 13"/>
          <p:cNvSpPr/>
          <p:nvPr/>
        </p:nvSpPr>
        <p:spPr>
          <a:xfrm>
            <a:off x="8082620" y="4517360"/>
            <a:ext cx="2900000" cy="900000"/>
          </a:xfrm>
          <a:prstGeom prst="rect">
            <a:avLst/>
          </a:prstGeom>
          <a:solidFill>
            <a:srgbClr val="E8EFF5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/>
          <p:nvPr/>
        </p:nvSpPr>
        <p:spPr>
          <a:xfrm>
            <a:off x="8082620" y="4517360"/>
            <a:ext cx="29000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</a:t>
            </a:r>
          </a:p>
        </p:txBody>
      </p:sp>
      <p:sp>
        <p:nvSpPr>
          <p:cNvPr id="15" name="Text 15"/>
          <p:cNvSpPr/>
          <p:nvPr/>
        </p:nvSpPr>
        <p:spPr>
          <a:xfrm>
            <a:off x="7680960" y="556736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integrated across Development and Operations</a:t>
            </a:r>
          </a:p>
        </p:txBody>
      </p:sp>
      <p:sp>
        <p:nvSpPr>
          <p:cNvPr id="16" name="Text 1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vs DevSecOps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548640" y="1737360"/>
            <a:ext cx="5450280" cy="731520"/>
          </a:xfrm>
          <a:prstGeom prst="rect">
            <a:avLst/>
          </a:prstGeom>
          <a:solidFill>
            <a:srgbClr val="F1F2F4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/>
          <p:nvPr/>
        </p:nvSpPr>
        <p:spPr>
          <a:xfrm>
            <a:off x="548640" y="1737360"/>
            <a:ext cx="545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</a:p>
        </p:txBody>
      </p:sp>
      <p:sp>
        <p:nvSpPr>
          <p:cNvPr id="7" name="Shape 7"/>
          <p:cNvSpPr/>
          <p:nvPr/>
        </p:nvSpPr>
        <p:spPr>
          <a:xfrm>
            <a:off x="6162600" y="1737360"/>
            <a:ext cx="5450280" cy="7315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/>
          <p:nvPr/>
        </p:nvSpPr>
        <p:spPr>
          <a:xfrm>
            <a:off x="6162600" y="1737360"/>
            <a:ext cx="545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</a:t>
            </a:r>
          </a:p>
        </p:txBody>
      </p:sp>
      <p:sp>
        <p:nvSpPr>
          <p:cNvPr id="9" name="Shape 9"/>
          <p:cNvSpPr/>
          <p:nvPr/>
        </p:nvSpPr>
        <p:spPr>
          <a:xfrm>
            <a:off x="548640" y="2468880"/>
            <a:ext cx="545028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777240" y="2468880"/>
            <a:ext cx="499308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speed</a:t>
            </a:r>
          </a:p>
        </p:txBody>
      </p:sp>
      <p:sp>
        <p:nvSpPr>
          <p:cNvPr id="11" name="Shape 11"/>
          <p:cNvSpPr/>
          <p:nvPr/>
        </p:nvSpPr>
        <p:spPr>
          <a:xfrm>
            <a:off x="6162600" y="2468880"/>
            <a:ext cx="5450280" cy="838200"/>
          </a:xfrm>
          <a:prstGeom prst="rect">
            <a:avLst/>
          </a:prstGeom>
          <a:solidFill>
            <a:srgbClr val="E8EFF5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/>
          <p:cNvSpPr/>
          <p:nvPr/>
        </p:nvSpPr>
        <p:spPr>
          <a:xfrm>
            <a:off x="6391200" y="2468880"/>
            <a:ext cx="499308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speed and security</a:t>
            </a:r>
          </a:p>
        </p:txBody>
      </p:sp>
      <p:sp>
        <p:nvSpPr>
          <p:cNvPr id="13" name="Shape 13"/>
          <p:cNvSpPr/>
          <p:nvPr/>
        </p:nvSpPr>
        <p:spPr>
          <a:xfrm>
            <a:off x="548640" y="3307080"/>
            <a:ext cx="545028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/>
          <p:nvPr/>
        </p:nvSpPr>
        <p:spPr>
          <a:xfrm>
            <a:off x="777240" y="3307080"/>
            <a:ext cx="499308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often added later</a:t>
            </a:r>
          </a:p>
        </p:txBody>
      </p:sp>
      <p:sp>
        <p:nvSpPr>
          <p:cNvPr id="15" name="Shape 15"/>
          <p:cNvSpPr/>
          <p:nvPr/>
        </p:nvSpPr>
        <p:spPr>
          <a:xfrm>
            <a:off x="6162600" y="3307080"/>
            <a:ext cx="5450280" cy="838200"/>
          </a:xfrm>
          <a:prstGeom prst="rect">
            <a:avLst/>
          </a:prstGeom>
          <a:solidFill>
            <a:srgbClr val="E8EFF5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6"/>
          <p:cNvSpPr/>
          <p:nvPr/>
        </p:nvSpPr>
        <p:spPr>
          <a:xfrm>
            <a:off x="6391200" y="3307080"/>
            <a:ext cx="499308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integrated throughout</a:t>
            </a:r>
          </a:p>
        </p:txBody>
      </p:sp>
      <p:sp>
        <p:nvSpPr>
          <p:cNvPr id="17" name="Shape 17"/>
          <p:cNvSpPr/>
          <p:nvPr/>
        </p:nvSpPr>
        <p:spPr>
          <a:xfrm>
            <a:off x="548640" y="4145280"/>
            <a:ext cx="545028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8"/>
          <p:cNvSpPr/>
          <p:nvPr/>
        </p:nvSpPr>
        <p:spPr>
          <a:xfrm>
            <a:off x="777240" y="4145280"/>
            <a:ext cx="499308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+ Operations</a:t>
            </a:r>
          </a:p>
        </p:txBody>
      </p:sp>
      <p:sp>
        <p:nvSpPr>
          <p:cNvPr id="19" name="Shape 19"/>
          <p:cNvSpPr/>
          <p:nvPr/>
        </p:nvSpPr>
        <p:spPr>
          <a:xfrm>
            <a:off x="6162600" y="4145280"/>
            <a:ext cx="5450280" cy="838200"/>
          </a:xfrm>
          <a:prstGeom prst="rect">
            <a:avLst/>
          </a:prstGeom>
          <a:solidFill>
            <a:srgbClr val="E8EFF5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0"/>
          <p:cNvSpPr/>
          <p:nvPr/>
        </p:nvSpPr>
        <p:spPr>
          <a:xfrm>
            <a:off x="6391200" y="4145280"/>
            <a:ext cx="499308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+ Security + Operations</a:t>
            </a:r>
          </a:p>
        </p:txBody>
      </p:sp>
      <p:sp>
        <p:nvSpPr>
          <p:cNvPr id="21" name="Shape 21"/>
          <p:cNvSpPr/>
          <p:nvPr/>
        </p:nvSpPr>
        <p:spPr>
          <a:xfrm>
            <a:off x="548640" y="4983480"/>
            <a:ext cx="545028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2"/>
          <p:cNvSpPr/>
          <p:nvPr/>
        </p:nvSpPr>
        <p:spPr>
          <a:xfrm>
            <a:off x="777240" y="4983480"/>
            <a:ext cx="499308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security automation</a:t>
            </a:r>
          </a:p>
        </p:txBody>
      </p:sp>
      <p:sp>
        <p:nvSpPr>
          <p:cNvPr id="23" name="Shape 23"/>
          <p:cNvSpPr/>
          <p:nvPr/>
        </p:nvSpPr>
        <p:spPr>
          <a:xfrm>
            <a:off x="6162600" y="4983480"/>
            <a:ext cx="5450280" cy="838200"/>
          </a:xfrm>
          <a:prstGeom prst="rect">
            <a:avLst/>
          </a:prstGeom>
          <a:solidFill>
            <a:srgbClr val="E8EFF5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4"/>
          <p:cNvSpPr/>
          <p:nvPr/>
        </p:nvSpPr>
        <p:spPr>
          <a:xfrm>
            <a:off x="6391200" y="4983480"/>
            <a:ext cx="499308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automated security</a:t>
            </a:r>
          </a:p>
        </p:txBody>
      </p:sp>
      <p:sp>
        <p:nvSpPr>
          <p:cNvPr id="25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Left Security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/>
          <p:nvPr/>
        </p:nvSpPr>
        <p:spPr>
          <a:xfrm>
            <a:off x="123444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</a:p>
        </p:txBody>
      </p:sp>
      <p:sp>
        <p:nvSpPr>
          <p:cNvPr id="6" name="Text 6"/>
          <p:cNvSpPr/>
          <p:nvPr/>
        </p:nvSpPr>
        <p:spPr>
          <a:xfrm>
            <a:off x="694944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</a:p>
        </p:txBody>
      </p:sp>
      <p:sp>
        <p:nvSpPr>
          <p:cNvPr id="7" name="Shape 7"/>
          <p:cNvSpPr/>
          <p:nvPr/>
        </p:nvSpPr>
        <p:spPr>
          <a:xfrm>
            <a:off x="1234440" y="2194560"/>
            <a:ext cx="3840480" cy="640080"/>
          </a:xfrm>
          <a:prstGeom prst="rect">
            <a:avLst/>
          </a:prstGeom>
          <a:solidFill>
            <a:srgbClr val="E8EFF5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/>
          <p:nvPr/>
        </p:nvSpPr>
        <p:spPr>
          <a:xfrm>
            <a:off x="1234440" y="21945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</a:p>
        </p:txBody>
      </p:sp>
      <p:sp>
        <p:nvSpPr>
          <p:cNvPr id="9" name="Text 9"/>
          <p:cNvSpPr/>
          <p:nvPr/>
        </p:nvSpPr>
        <p:spPr>
          <a:xfrm>
            <a:off x="1234440" y="2834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</a:p>
        </p:txBody>
      </p:sp>
      <p:sp>
        <p:nvSpPr>
          <p:cNvPr id="10" name="Shape 10"/>
          <p:cNvSpPr/>
          <p:nvPr/>
        </p:nvSpPr>
        <p:spPr>
          <a:xfrm>
            <a:off x="1234440" y="3094640"/>
            <a:ext cx="3840480" cy="640080"/>
          </a:xfrm>
          <a:prstGeom prst="rect">
            <a:avLst/>
          </a:prstGeom>
          <a:solidFill>
            <a:srgbClr val="E8EFF5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/>
          <p:nvPr/>
        </p:nvSpPr>
        <p:spPr>
          <a:xfrm>
            <a:off x="1234440" y="3094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</a:p>
        </p:txBody>
      </p:sp>
      <p:sp>
        <p:nvSpPr>
          <p:cNvPr id="12" name="Text 12"/>
          <p:cNvSpPr/>
          <p:nvPr/>
        </p:nvSpPr>
        <p:spPr>
          <a:xfrm>
            <a:off x="1234440" y="3734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</a:p>
        </p:txBody>
      </p:sp>
      <p:sp>
        <p:nvSpPr>
          <p:cNvPr id="13" name="Shape 13"/>
          <p:cNvSpPr/>
          <p:nvPr/>
        </p:nvSpPr>
        <p:spPr>
          <a:xfrm>
            <a:off x="1234440" y="3994720"/>
            <a:ext cx="3840480" cy="64008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/>
          <p:nvPr/>
        </p:nvSpPr>
        <p:spPr>
          <a:xfrm>
            <a:off x="1234440" y="39947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</a:p>
        </p:txBody>
      </p:sp>
      <p:sp>
        <p:nvSpPr>
          <p:cNvPr id="15" name="Shape 15"/>
          <p:cNvSpPr/>
          <p:nvPr/>
        </p:nvSpPr>
        <p:spPr>
          <a:xfrm>
            <a:off x="6949440" y="2194560"/>
            <a:ext cx="3840480" cy="64008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6"/>
          <p:cNvSpPr/>
          <p:nvPr/>
        </p:nvSpPr>
        <p:spPr>
          <a:xfrm>
            <a:off x="6949440" y="21945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</a:p>
        </p:txBody>
      </p:sp>
      <p:sp>
        <p:nvSpPr>
          <p:cNvPr id="17" name="Text 17"/>
          <p:cNvSpPr/>
          <p:nvPr/>
        </p:nvSpPr>
        <p:spPr>
          <a:xfrm>
            <a:off x="6949440" y="2834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</a:p>
        </p:txBody>
      </p:sp>
      <p:sp>
        <p:nvSpPr>
          <p:cNvPr id="18" name="Shape 18"/>
          <p:cNvSpPr/>
          <p:nvPr/>
        </p:nvSpPr>
        <p:spPr>
          <a:xfrm>
            <a:off x="6949440" y="3094640"/>
            <a:ext cx="3840480" cy="640080"/>
          </a:xfrm>
          <a:prstGeom prst="rect">
            <a:avLst/>
          </a:prstGeom>
          <a:solidFill>
            <a:srgbClr val="E8EFF5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9"/>
          <p:cNvSpPr/>
          <p:nvPr/>
        </p:nvSpPr>
        <p:spPr>
          <a:xfrm>
            <a:off x="6949440" y="3094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</a:p>
        </p:txBody>
      </p:sp>
      <p:sp>
        <p:nvSpPr>
          <p:cNvPr id="20" name="Text 20"/>
          <p:cNvSpPr/>
          <p:nvPr/>
        </p:nvSpPr>
        <p:spPr>
          <a:xfrm>
            <a:off x="6949440" y="3734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</a:p>
        </p:txBody>
      </p:sp>
      <p:sp>
        <p:nvSpPr>
          <p:cNvPr id="21" name="Shape 21"/>
          <p:cNvSpPr/>
          <p:nvPr/>
        </p:nvSpPr>
        <p:spPr>
          <a:xfrm>
            <a:off x="6949440" y="3994720"/>
            <a:ext cx="3840480" cy="640080"/>
          </a:xfrm>
          <a:prstGeom prst="rect">
            <a:avLst/>
          </a:prstGeom>
          <a:solidFill>
            <a:srgbClr val="E8EFF5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2"/>
          <p:cNvSpPr/>
          <p:nvPr/>
        </p:nvSpPr>
        <p:spPr>
          <a:xfrm>
            <a:off x="6949440" y="39947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</a:p>
        </p:txBody>
      </p:sp>
      <p:sp>
        <p:nvSpPr>
          <p:cNvPr id="23" name="Text 23"/>
          <p:cNvSpPr/>
          <p:nvPr/>
        </p:nvSpPr>
        <p:spPr>
          <a:xfrm>
            <a:off x="6949440" y="4634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</a:p>
        </p:txBody>
      </p:sp>
      <p:sp>
        <p:nvSpPr>
          <p:cNvPr id="24" name="Shape 24"/>
          <p:cNvSpPr/>
          <p:nvPr/>
        </p:nvSpPr>
        <p:spPr>
          <a:xfrm>
            <a:off x="6949440" y="4894800"/>
            <a:ext cx="3840480" cy="640080"/>
          </a:xfrm>
          <a:prstGeom prst="rect">
            <a:avLst/>
          </a:prstGeom>
          <a:solidFill>
            <a:srgbClr val="E8EFF5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5"/>
          <p:cNvSpPr/>
          <p:nvPr/>
        </p:nvSpPr>
        <p:spPr>
          <a:xfrm>
            <a:off x="6949440" y="48948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</a:p>
        </p:txBody>
      </p:sp>
      <p:sp>
        <p:nvSpPr>
          <p:cNvPr id="26" name="Text 26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begins from the earliest stages of development.</a:t>
            </a:r>
          </a:p>
        </p:txBody>
      </p:sp>
      <p:sp>
        <p:nvSpPr>
          <p:cNvPr id="27" name="Text 2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 1 – Security as a Shared Responsibility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everyone's responsibility.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2560320"/>
            <a:ext cx="3420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822960" y="2985516"/>
            <a:ext cx="201168" cy="20116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/>
          <p:nvPr/>
        </p:nvSpPr>
        <p:spPr>
          <a:xfrm>
            <a:off x="1234440" y="2560320"/>
            <a:ext cx="262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</a:p>
        </p:txBody>
      </p:sp>
      <p:sp>
        <p:nvSpPr>
          <p:cNvPr id="9" name="Shape 9"/>
          <p:cNvSpPr/>
          <p:nvPr/>
        </p:nvSpPr>
        <p:spPr>
          <a:xfrm>
            <a:off x="4120760" y="2560320"/>
            <a:ext cx="3420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4395080" y="2985516"/>
            <a:ext cx="201168" cy="20116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/>
          <p:nvPr/>
        </p:nvSpPr>
        <p:spPr>
          <a:xfrm>
            <a:off x="4806560" y="2560320"/>
            <a:ext cx="262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</a:t>
            </a:r>
          </a:p>
        </p:txBody>
      </p:sp>
      <p:sp>
        <p:nvSpPr>
          <p:cNvPr id="12" name="Shape 12"/>
          <p:cNvSpPr/>
          <p:nvPr/>
        </p:nvSpPr>
        <p:spPr>
          <a:xfrm>
            <a:off x="7692880" y="2560320"/>
            <a:ext cx="3420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7967200" y="2985516"/>
            <a:ext cx="201168" cy="20116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/>
          <p:nvPr/>
        </p:nvSpPr>
        <p:spPr>
          <a:xfrm>
            <a:off x="8378680" y="2560320"/>
            <a:ext cx="262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Engineers</a:t>
            </a:r>
          </a:p>
        </p:txBody>
      </p:sp>
      <p:sp>
        <p:nvSpPr>
          <p:cNvPr id="15" name="Shape 15"/>
          <p:cNvSpPr/>
          <p:nvPr/>
        </p:nvSpPr>
        <p:spPr>
          <a:xfrm>
            <a:off x="548640" y="3794760"/>
            <a:ext cx="3420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822960" y="4219956"/>
            <a:ext cx="201168" cy="20116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7"/>
          <p:cNvSpPr/>
          <p:nvPr/>
        </p:nvSpPr>
        <p:spPr>
          <a:xfrm>
            <a:off x="1234440" y="3794760"/>
            <a:ext cx="262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Engineers</a:t>
            </a:r>
          </a:p>
        </p:txBody>
      </p:sp>
      <p:sp>
        <p:nvSpPr>
          <p:cNvPr id="18" name="Shape 18"/>
          <p:cNvSpPr/>
          <p:nvPr/>
        </p:nvSpPr>
        <p:spPr>
          <a:xfrm>
            <a:off x="4120760" y="3794760"/>
            <a:ext cx="3420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4395080" y="4219956"/>
            <a:ext cx="201168" cy="20116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20"/>
          <p:cNvSpPr/>
          <p:nvPr/>
        </p:nvSpPr>
        <p:spPr>
          <a:xfrm>
            <a:off x="4806560" y="3794760"/>
            <a:ext cx="262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Managers</a:t>
            </a:r>
          </a:p>
        </p:txBody>
      </p:sp>
      <p:sp>
        <p:nvSpPr>
          <p:cNvPr id="21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 2 – Automation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repetitive security tasks such as: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256032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822960" y="3076956"/>
            <a:ext cx="201168" cy="20116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/>
          <p:nvPr/>
        </p:nvSpPr>
        <p:spPr>
          <a:xfrm>
            <a:off x="1234440" y="2560320"/>
            <a:ext cx="4449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scanning</a:t>
            </a:r>
          </a:p>
        </p:txBody>
      </p:sp>
      <p:sp>
        <p:nvSpPr>
          <p:cNvPr id="9" name="Shape 9"/>
          <p:cNvSpPr/>
          <p:nvPr/>
        </p:nvSpPr>
        <p:spPr>
          <a:xfrm>
            <a:off x="6263640" y="256032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6537960" y="3076956"/>
            <a:ext cx="201168" cy="20116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/>
          <p:nvPr/>
        </p:nvSpPr>
        <p:spPr>
          <a:xfrm>
            <a:off x="6949440" y="2560320"/>
            <a:ext cx="4449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checking</a:t>
            </a:r>
          </a:p>
        </p:txBody>
      </p:sp>
      <p:sp>
        <p:nvSpPr>
          <p:cNvPr id="12" name="Shape 12"/>
          <p:cNvSpPr/>
          <p:nvPr/>
        </p:nvSpPr>
        <p:spPr>
          <a:xfrm>
            <a:off x="548640" y="406908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822960" y="4585716"/>
            <a:ext cx="201168" cy="20116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/>
          <p:nvPr/>
        </p:nvSpPr>
        <p:spPr>
          <a:xfrm>
            <a:off x="1234440" y="4069080"/>
            <a:ext cx="4449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</a:t>
            </a:r>
          </a:p>
        </p:txBody>
      </p:sp>
      <p:sp>
        <p:nvSpPr>
          <p:cNvPr id="15" name="Shape 15"/>
          <p:cNvSpPr/>
          <p:nvPr/>
        </p:nvSpPr>
        <p:spPr>
          <a:xfrm>
            <a:off x="6263640" y="406908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6537960" y="4585716"/>
            <a:ext cx="201168" cy="20116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7"/>
          <p:cNvSpPr/>
          <p:nvPr/>
        </p:nvSpPr>
        <p:spPr>
          <a:xfrm>
            <a:off x="6949440" y="4069080"/>
            <a:ext cx="4449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verification</a:t>
            </a:r>
          </a:p>
        </p:txBody>
      </p:sp>
      <p:sp>
        <p:nvSpPr>
          <p:cNvPr id="18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 3 – Continuous Security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965000" y="2377440"/>
            <a:ext cx="1900000" cy="11887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/>
          <p:nvPr/>
        </p:nvSpPr>
        <p:spPr>
          <a:xfrm>
            <a:off x="1056440" y="2468880"/>
            <a:ext cx="171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7" name="Text 7"/>
          <p:cNvSpPr/>
          <p:nvPr/>
        </p:nvSpPr>
        <p:spPr>
          <a:xfrm>
            <a:off x="965000" y="2697440"/>
            <a:ext cx="1900000" cy="86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</a:p>
        </p:txBody>
      </p:sp>
      <p:sp>
        <p:nvSpPr>
          <p:cNvPr id="8" name="Text 8"/>
          <p:cNvSpPr/>
          <p:nvPr/>
        </p:nvSpPr>
        <p:spPr>
          <a:xfrm>
            <a:off x="2865000" y="258318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</a:p>
        </p:txBody>
      </p:sp>
      <p:sp>
        <p:nvSpPr>
          <p:cNvPr id="9" name="Shape 9"/>
          <p:cNvSpPr/>
          <p:nvPr/>
        </p:nvSpPr>
        <p:spPr>
          <a:xfrm>
            <a:off x="3047880" y="2377440"/>
            <a:ext cx="1900000" cy="1188720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3139320" y="2468880"/>
            <a:ext cx="171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1" name="Text 11"/>
          <p:cNvSpPr/>
          <p:nvPr/>
        </p:nvSpPr>
        <p:spPr>
          <a:xfrm>
            <a:off x="3047880" y="2697440"/>
            <a:ext cx="1900000" cy="86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</a:p>
        </p:txBody>
      </p:sp>
      <p:sp>
        <p:nvSpPr>
          <p:cNvPr id="12" name="Text 12"/>
          <p:cNvSpPr/>
          <p:nvPr/>
        </p:nvSpPr>
        <p:spPr>
          <a:xfrm>
            <a:off x="4947880" y="258318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</a:p>
        </p:txBody>
      </p:sp>
      <p:sp>
        <p:nvSpPr>
          <p:cNvPr id="13" name="Shape 13"/>
          <p:cNvSpPr/>
          <p:nvPr/>
        </p:nvSpPr>
        <p:spPr>
          <a:xfrm>
            <a:off x="5130760" y="2377440"/>
            <a:ext cx="1900000" cy="11887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/>
          <p:nvPr/>
        </p:nvSpPr>
        <p:spPr>
          <a:xfrm>
            <a:off x="5222200" y="2468880"/>
            <a:ext cx="171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5" name="Text 15"/>
          <p:cNvSpPr/>
          <p:nvPr/>
        </p:nvSpPr>
        <p:spPr>
          <a:xfrm>
            <a:off x="5130760" y="2697440"/>
            <a:ext cx="1900000" cy="86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</a:p>
        </p:txBody>
      </p:sp>
      <p:sp>
        <p:nvSpPr>
          <p:cNvPr id="16" name="Text 16"/>
          <p:cNvSpPr/>
          <p:nvPr/>
        </p:nvSpPr>
        <p:spPr>
          <a:xfrm>
            <a:off x="7030760" y="258318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</a:p>
        </p:txBody>
      </p:sp>
      <p:sp>
        <p:nvSpPr>
          <p:cNvPr id="17" name="Shape 17"/>
          <p:cNvSpPr/>
          <p:nvPr/>
        </p:nvSpPr>
        <p:spPr>
          <a:xfrm>
            <a:off x="7213640" y="2377440"/>
            <a:ext cx="1900000" cy="1188720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8"/>
          <p:cNvSpPr/>
          <p:nvPr/>
        </p:nvSpPr>
        <p:spPr>
          <a:xfrm>
            <a:off x="7305080" y="2468880"/>
            <a:ext cx="171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19" name="Text 19"/>
          <p:cNvSpPr/>
          <p:nvPr/>
        </p:nvSpPr>
        <p:spPr>
          <a:xfrm>
            <a:off x="7213640" y="2697440"/>
            <a:ext cx="1900000" cy="86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</a:p>
        </p:txBody>
      </p:sp>
      <p:sp>
        <p:nvSpPr>
          <p:cNvPr id="20" name="Text 20"/>
          <p:cNvSpPr/>
          <p:nvPr/>
        </p:nvSpPr>
        <p:spPr>
          <a:xfrm>
            <a:off x="9113640" y="258318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</a:p>
        </p:txBody>
      </p:sp>
      <p:sp>
        <p:nvSpPr>
          <p:cNvPr id="21" name="Shape 21"/>
          <p:cNvSpPr/>
          <p:nvPr/>
        </p:nvSpPr>
        <p:spPr>
          <a:xfrm>
            <a:off x="9296520" y="2377440"/>
            <a:ext cx="1900000" cy="11887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2"/>
          <p:cNvSpPr/>
          <p:nvPr/>
        </p:nvSpPr>
        <p:spPr>
          <a:xfrm>
            <a:off x="9387960" y="2468880"/>
            <a:ext cx="171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23" name="Text 23"/>
          <p:cNvSpPr/>
          <p:nvPr/>
        </p:nvSpPr>
        <p:spPr>
          <a:xfrm>
            <a:off x="9296520" y="2697440"/>
            <a:ext cx="1900000" cy="86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</a:p>
        </p:txBody>
      </p:sp>
      <p:sp>
        <p:nvSpPr>
          <p:cNvPr id="24" name="Text 24"/>
          <p:cNvSpPr/>
          <p:nvPr/>
        </p:nvSpPr>
        <p:spPr>
          <a:xfrm>
            <a:off x="548640" y="4023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should be continuously applied throughout the lifecycle.</a:t>
            </a:r>
          </a:p>
        </p:txBody>
      </p:sp>
      <p:sp>
        <p:nvSpPr>
          <p:cNvPr id="25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 4 – Continuous Monitoring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should continuously monitor: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2560320"/>
            <a:ext cx="3420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822960" y="2985516"/>
            <a:ext cx="201168" cy="20116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/>
          <p:nvPr/>
        </p:nvSpPr>
        <p:spPr>
          <a:xfrm>
            <a:off x="1234440" y="2560320"/>
            <a:ext cx="262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logs</a:t>
            </a:r>
          </a:p>
        </p:txBody>
      </p:sp>
      <p:sp>
        <p:nvSpPr>
          <p:cNvPr id="9" name="Shape 9"/>
          <p:cNvSpPr/>
          <p:nvPr/>
        </p:nvSpPr>
        <p:spPr>
          <a:xfrm>
            <a:off x="4120760" y="2560320"/>
            <a:ext cx="3420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4395080" y="2985516"/>
            <a:ext cx="201168" cy="20116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/>
          <p:nvPr/>
        </p:nvSpPr>
        <p:spPr>
          <a:xfrm>
            <a:off x="4806560" y="2560320"/>
            <a:ext cx="262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activity</a:t>
            </a:r>
          </a:p>
        </p:txBody>
      </p:sp>
      <p:sp>
        <p:nvSpPr>
          <p:cNvPr id="12" name="Shape 12"/>
          <p:cNvSpPr/>
          <p:nvPr/>
        </p:nvSpPr>
        <p:spPr>
          <a:xfrm>
            <a:off x="7692880" y="2560320"/>
            <a:ext cx="3420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7967200" y="2985516"/>
            <a:ext cx="201168" cy="20116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/>
          <p:nvPr/>
        </p:nvSpPr>
        <p:spPr>
          <a:xfrm>
            <a:off x="8378680" y="2560320"/>
            <a:ext cx="262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events</a:t>
            </a:r>
          </a:p>
        </p:txBody>
      </p:sp>
      <p:sp>
        <p:nvSpPr>
          <p:cNvPr id="15" name="Shape 15"/>
          <p:cNvSpPr/>
          <p:nvPr/>
        </p:nvSpPr>
        <p:spPr>
          <a:xfrm>
            <a:off x="548640" y="3794760"/>
            <a:ext cx="3420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822960" y="4219956"/>
            <a:ext cx="201168" cy="20116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7"/>
          <p:cNvSpPr/>
          <p:nvPr/>
        </p:nvSpPr>
        <p:spPr>
          <a:xfrm>
            <a:off x="1234440" y="3794760"/>
            <a:ext cx="262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</a:t>
            </a:r>
          </a:p>
        </p:txBody>
      </p:sp>
      <p:sp>
        <p:nvSpPr>
          <p:cNvPr id="18" name="Shape 18"/>
          <p:cNvSpPr/>
          <p:nvPr/>
        </p:nvSpPr>
        <p:spPr>
          <a:xfrm>
            <a:off x="4120760" y="3794760"/>
            <a:ext cx="3420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4395080" y="4219956"/>
            <a:ext cx="201168" cy="20116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20"/>
          <p:cNvSpPr/>
          <p:nvPr/>
        </p:nvSpPr>
        <p:spPr>
          <a:xfrm>
            <a:off x="4806560" y="3794760"/>
            <a:ext cx="262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</a:p>
        </p:txBody>
      </p:sp>
      <p:sp>
        <p:nvSpPr>
          <p:cNvPr id="21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 of DevSecOps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548640" y="1783080"/>
            <a:ext cx="35387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/>
          <p:nvPr/>
        </p:nvSpPr>
        <p:spPr>
          <a:xfrm>
            <a:off x="777240" y="19476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</a:p>
        </p:txBody>
      </p:sp>
      <p:sp>
        <p:nvSpPr>
          <p:cNvPr id="7" name="Text 7"/>
          <p:cNvSpPr/>
          <p:nvPr/>
        </p:nvSpPr>
        <p:spPr>
          <a:xfrm>
            <a:off x="777240" y="2350008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secure software</a:t>
            </a:r>
          </a:p>
        </p:txBody>
      </p:sp>
      <p:sp>
        <p:nvSpPr>
          <p:cNvPr id="8" name="Shape 8"/>
          <p:cNvSpPr/>
          <p:nvPr/>
        </p:nvSpPr>
        <p:spPr>
          <a:xfrm>
            <a:off x="4343400" y="1783080"/>
            <a:ext cx="35387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/>
          <p:nvPr/>
        </p:nvSpPr>
        <p:spPr>
          <a:xfrm>
            <a:off x="4572000" y="19476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</a:p>
        </p:txBody>
      </p:sp>
      <p:sp>
        <p:nvSpPr>
          <p:cNvPr id="10" name="Text 10"/>
          <p:cNvSpPr/>
          <p:nvPr/>
        </p:nvSpPr>
        <p:spPr>
          <a:xfrm>
            <a:off x="4572000" y="2350008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vulnerabilities early</a:t>
            </a:r>
          </a:p>
        </p:txBody>
      </p:sp>
      <p:sp>
        <p:nvSpPr>
          <p:cNvPr id="11" name="Shape 11"/>
          <p:cNvSpPr/>
          <p:nvPr/>
        </p:nvSpPr>
        <p:spPr>
          <a:xfrm>
            <a:off x="8138160" y="1783080"/>
            <a:ext cx="35387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/>
          <p:cNvSpPr/>
          <p:nvPr/>
        </p:nvSpPr>
        <p:spPr>
          <a:xfrm>
            <a:off x="8366760" y="19476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</a:p>
        </p:txBody>
      </p:sp>
      <p:sp>
        <p:nvSpPr>
          <p:cNvPr id="13" name="Text 13"/>
          <p:cNvSpPr/>
          <p:nvPr/>
        </p:nvSpPr>
        <p:spPr>
          <a:xfrm>
            <a:off x="8366760" y="2350008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development costs</a:t>
            </a:r>
          </a:p>
        </p:txBody>
      </p:sp>
      <p:sp>
        <p:nvSpPr>
          <p:cNvPr id="14" name="Shape 14"/>
          <p:cNvSpPr/>
          <p:nvPr/>
        </p:nvSpPr>
        <p:spPr>
          <a:xfrm>
            <a:off x="548640" y="3273552"/>
            <a:ext cx="35387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5"/>
          <p:cNvSpPr/>
          <p:nvPr/>
        </p:nvSpPr>
        <p:spPr>
          <a:xfrm>
            <a:off x="777240" y="34381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</a:p>
        </p:txBody>
      </p:sp>
      <p:sp>
        <p:nvSpPr>
          <p:cNvPr id="16" name="Text 16"/>
          <p:cNvSpPr/>
          <p:nvPr/>
        </p:nvSpPr>
        <p:spPr>
          <a:xfrm>
            <a:off x="777240" y="3840480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collaboration</a:t>
            </a:r>
          </a:p>
        </p:txBody>
      </p:sp>
      <p:sp>
        <p:nvSpPr>
          <p:cNvPr id="17" name="Shape 17"/>
          <p:cNvSpPr/>
          <p:nvPr/>
        </p:nvSpPr>
        <p:spPr>
          <a:xfrm>
            <a:off x="4343400" y="3273552"/>
            <a:ext cx="35387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8"/>
          <p:cNvSpPr/>
          <p:nvPr/>
        </p:nvSpPr>
        <p:spPr>
          <a:xfrm>
            <a:off x="4572000" y="34381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</a:p>
        </p:txBody>
      </p:sp>
      <p:sp>
        <p:nvSpPr>
          <p:cNvPr id="19" name="Text 19"/>
          <p:cNvSpPr/>
          <p:nvPr/>
        </p:nvSpPr>
        <p:spPr>
          <a:xfrm>
            <a:off x="4572000" y="3840480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automation</a:t>
            </a:r>
          </a:p>
        </p:txBody>
      </p:sp>
      <p:sp>
        <p:nvSpPr>
          <p:cNvPr id="20" name="Shape 20"/>
          <p:cNvSpPr/>
          <p:nvPr/>
        </p:nvSpPr>
        <p:spPr>
          <a:xfrm>
            <a:off x="8138160" y="3273552"/>
            <a:ext cx="35387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1"/>
          <p:cNvSpPr/>
          <p:nvPr/>
        </p:nvSpPr>
        <p:spPr>
          <a:xfrm>
            <a:off x="8366760" y="34381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</a:p>
        </p:txBody>
      </p:sp>
      <p:sp>
        <p:nvSpPr>
          <p:cNvPr id="22" name="Text 22"/>
          <p:cNvSpPr/>
          <p:nvPr/>
        </p:nvSpPr>
        <p:spPr>
          <a:xfrm>
            <a:off x="8366760" y="3840480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compliance</a:t>
            </a:r>
          </a:p>
        </p:txBody>
      </p:sp>
      <p:sp>
        <p:nvSpPr>
          <p:cNvPr id="23" name="Shape 23"/>
          <p:cNvSpPr/>
          <p:nvPr/>
        </p:nvSpPr>
        <p:spPr>
          <a:xfrm>
            <a:off x="548640" y="4764024"/>
            <a:ext cx="35387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4"/>
          <p:cNvSpPr/>
          <p:nvPr/>
        </p:nvSpPr>
        <p:spPr>
          <a:xfrm>
            <a:off x="777240" y="492861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</a:p>
        </p:txBody>
      </p:sp>
      <p:sp>
        <p:nvSpPr>
          <p:cNvPr id="25" name="Text 25"/>
          <p:cNvSpPr/>
          <p:nvPr/>
        </p:nvSpPr>
        <p:spPr>
          <a:xfrm>
            <a:off x="777240" y="5330952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customer trust</a:t>
            </a:r>
          </a:p>
        </p:txBody>
      </p:sp>
      <p:sp>
        <p:nvSpPr>
          <p:cNvPr id="26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of Security into the SDLC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548640" y="1737360"/>
            <a:ext cx="3840480" cy="420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/>
          <p:nvPr/>
        </p:nvSpPr>
        <p:spPr>
          <a:xfrm>
            <a:off x="731520" y="1737360"/>
            <a:ext cx="36576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Phase</a:t>
            </a:r>
          </a:p>
        </p:txBody>
      </p:sp>
      <p:sp>
        <p:nvSpPr>
          <p:cNvPr id="7" name="Shape 7"/>
          <p:cNvSpPr/>
          <p:nvPr/>
        </p:nvSpPr>
        <p:spPr>
          <a:xfrm>
            <a:off x="4489120" y="1737360"/>
            <a:ext cx="7123760" cy="420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/>
          <p:nvPr/>
        </p:nvSpPr>
        <p:spPr>
          <a:xfrm>
            <a:off x="4672000" y="1737360"/>
            <a:ext cx="694088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Activity</a:t>
            </a:r>
          </a:p>
        </p:txBody>
      </p:sp>
      <p:sp>
        <p:nvSpPr>
          <p:cNvPr id="9" name="Shape 9"/>
          <p:cNvSpPr/>
          <p:nvPr/>
        </p:nvSpPr>
        <p:spPr>
          <a:xfrm>
            <a:off x="548640" y="2157360"/>
            <a:ext cx="3840480" cy="471040"/>
          </a:xfrm>
          <a:prstGeom prst="rect">
            <a:avLst/>
          </a:prstGeom>
          <a:solidFill>
            <a:srgbClr val="F1F2F4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731520" y="2157360"/>
            <a:ext cx="3657600" cy="47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</a:p>
        </p:txBody>
      </p:sp>
      <p:sp>
        <p:nvSpPr>
          <p:cNvPr id="11" name="Shape 11"/>
          <p:cNvSpPr/>
          <p:nvPr/>
        </p:nvSpPr>
        <p:spPr>
          <a:xfrm>
            <a:off x="4489120" y="2157360"/>
            <a:ext cx="7123760" cy="471040"/>
          </a:xfrm>
          <a:prstGeom prst="rect">
            <a:avLst/>
          </a:prstGeom>
          <a:solidFill>
            <a:srgbClr val="F1F2F4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/>
          <p:cNvSpPr/>
          <p:nvPr/>
        </p:nvSpPr>
        <p:spPr>
          <a:xfrm>
            <a:off x="4672000" y="2157360"/>
            <a:ext cx="6940880" cy="47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</a:t>
            </a:r>
          </a:p>
        </p:txBody>
      </p:sp>
      <p:sp>
        <p:nvSpPr>
          <p:cNvPr id="13" name="Shape 13"/>
          <p:cNvSpPr/>
          <p:nvPr/>
        </p:nvSpPr>
        <p:spPr>
          <a:xfrm>
            <a:off x="548640" y="2628400"/>
            <a:ext cx="3840480" cy="47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/>
          <p:nvPr/>
        </p:nvSpPr>
        <p:spPr>
          <a:xfrm>
            <a:off x="731520" y="2628400"/>
            <a:ext cx="3657600" cy="47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</a:p>
        </p:txBody>
      </p:sp>
      <p:sp>
        <p:nvSpPr>
          <p:cNvPr id="15" name="Shape 15"/>
          <p:cNvSpPr/>
          <p:nvPr/>
        </p:nvSpPr>
        <p:spPr>
          <a:xfrm>
            <a:off x="4489120" y="2628400"/>
            <a:ext cx="7123760" cy="47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6"/>
          <p:cNvSpPr/>
          <p:nvPr/>
        </p:nvSpPr>
        <p:spPr>
          <a:xfrm>
            <a:off x="4672000" y="2628400"/>
            <a:ext cx="6940880" cy="47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</a:p>
        </p:txBody>
      </p:sp>
      <p:sp>
        <p:nvSpPr>
          <p:cNvPr id="17" name="Shape 17"/>
          <p:cNvSpPr/>
          <p:nvPr/>
        </p:nvSpPr>
        <p:spPr>
          <a:xfrm>
            <a:off x="548640" y="3099440"/>
            <a:ext cx="3840480" cy="471040"/>
          </a:xfrm>
          <a:prstGeom prst="rect">
            <a:avLst/>
          </a:prstGeom>
          <a:solidFill>
            <a:srgbClr val="F1F2F4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8"/>
          <p:cNvSpPr/>
          <p:nvPr/>
        </p:nvSpPr>
        <p:spPr>
          <a:xfrm>
            <a:off x="731520" y="3099440"/>
            <a:ext cx="3657600" cy="47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</a:p>
        </p:txBody>
      </p:sp>
      <p:sp>
        <p:nvSpPr>
          <p:cNvPr id="19" name="Shape 19"/>
          <p:cNvSpPr/>
          <p:nvPr/>
        </p:nvSpPr>
        <p:spPr>
          <a:xfrm>
            <a:off x="4489120" y="3099440"/>
            <a:ext cx="7123760" cy="471040"/>
          </a:xfrm>
          <a:prstGeom prst="rect">
            <a:avLst/>
          </a:prstGeom>
          <a:solidFill>
            <a:srgbClr val="F1F2F4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0"/>
          <p:cNvSpPr/>
          <p:nvPr/>
        </p:nvSpPr>
        <p:spPr>
          <a:xfrm>
            <a:off x="4672000" y="3099440"/>
            <a:ext cx="6940880" cy="47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</a:t>
            </a:r>
          </a:p>
        </p:txBody>
      </p:sp>
      <p:sp>
        <p:nvSpPr>
          <p:cNvPr id="21" name="Shape 21"/>
          <p:cNvSpPr/>
          <p:nvPr/>
        </p:nvSpPr>
        <p:spPr>
          <a:xfrm>
            <a:off x="548640" y="3570480"/>
            <a:ext cx="3840480" cy="47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2"/>
          <p:cNvSpPr/>
          <p:nvPr/>
        </p:nvSpPr>
        <p:spPr>
          <a:xfrm>
            <a:off x="731520" y="3570480"/>
            <a:ext cx="3657600" cy="47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</a:p>
        </p:txBody>
      </p:sp>
      <p:sp>
        <p:nvSpPr>
          <p:cNvPr id="23" name="Shape 23"/>
          <p:cNvSpPr/>
          <p:nvPr/>
        </p:nvSpPr>
        <p:spPr>
          <a:xfrm>
            <a:off x="4489120" y="3570480"/>
            <a:ext cx="7123760" cy="47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4"/>
          <p:cNvSpPr/>
          <p:nvPr/>
        </p:nvSpPr>
        <p:spPr>
          <a:xfrm>
            <a:off x="4672000" y="3570480"/>
            <a:ext cx="6940880" cy="47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Scanning</a:t>
            </a:r>
          </a:p>
        </p:txBody>
      </p:sp>
      <p:sp>
        <p:nvSpPr>
          <p:cNvPr id="25" name="Shape 25"/>
          <p:cNvSpPr/>
          <p:nvPr/>
        </p:nvSpPr>
        <p:spPr>
          <a:xfrm>
            <a:off x="548640" y="4041520"/>
            <a:ext cx="3840480" cy="471040"/>
          </a:xfrm>
          <a:prstGeom prst="rect">
            <a:avLst/>
          </a:prstGeom>
          <a:solidFill>
            <a:srgbClr val="F1F2F4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6"/>
          <p:cNvSpPr/>
          <p:nvPr/>
        </p:nvSpPr>
        <p:spPr>
          <a:xfrm>
            <a:off x="731520" y="4041520"/>
            <a:ext cx="3657600" cy="47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</a:p>
        </p:txBody>
      </p:sp>
      <p:sp>
        <p:nvSpPr>
          <p:cNvPr id="27" name="Shape 27"/>
          <p:cNvSpPr/>
          <p:nvPr/>
        </p:nvSpPr>
        <p:spPr>
          <a:xfrm>
            <a:off x="4489120" y="4041520"/>
            <a:ext cx="7123760" cy="471040"/>
          </a:xfrm>
          <a:prstGeom prst="rect">
            <a:avLst/>
          </a:prstGeom>
          <a:solidFill>
            <a:srgbClr val="F1F2F4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8"/>
          <p:cNvSpPr/>
          <p:nvPr/>
        </p:nvSpPr>
        <p:spPr>
          <a:xfrm>
            <a:off x="4672000" y="4041520"/>
            <a:ext cx="6940880" cy="47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</a:p>
        </p:txBody>
      </p:sp>
      <p:sp>
        <p:nvSpPr>
          <p:cNvPr id="29" name="Shape 29"/>
          <p:cNvSpPr/>
          <p:nvPr/>
        </p:nvSpPr>
        <p:spPr>
          <a:xfrm>
            <a:off x="548640" y="4512560"/>
            <a:ext cx="3840480" cy="47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30"/>
          <p:cNvSpPr/>
          <p:nvPr/>
        </p:nvSpPr>
        <p:spPr>
          <a:xfrm>
            <a:off x="731520" y="4512560"/>
            <a:ext cx="3657600" cy="47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</a:p>
        </p:txBody>
      </p:sp>
      <p:sp>
        <p:nvSpPr>
          <p:cNvPr id="31" name="Shape 31"/>
          <p:cNvSpPr/>
          <p:nvPr/>
        </p:nvSpPr>
        <p:spPr>
          <a:xfrm>
            <a:off x="4489120" y="4512560"/>
            <a:ext cx="7123760" cy="47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2"/>
          <p:cNvSpPr/>
          <p:nvPr/>
        </p:nvSpPr>
        <p:spPr>
          <a:xfrm>
            <a:off x="4672000" y="4512560"/>
            <a:ext cx="6940880" cy="47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Security</a:t>
            </a:r>
          </a:p>
        </p:txBody>
      </p:sp>
      <p:sp>
        <p:nvSpPr>
          <p:cNvPr id="33" name="Shape 33"/>
          <p:cNvSpPr/>
          <p:nvPr/>
        </p:nvSpPr>
        <p:spPr>
          <a:xfrm>
            <a:off x="548640" y="4983600"/>
            <a:ext cx="3840480" cy="471040"/>
          </a:xfrm>
          <a:prstGeom prst="rect">
            <a:avLst/>
          </a:prstGeom>
          <a:solidFill>
            <a:srgbClr val="F1F2F4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4"/>
          <p:cNvSpPr/>
          <p:nvPr/>
        </p:nvSpPr>
        <p:spPr>
          <a:xfrm>
            <a:off x="731520" y="4983600"/>
            <a:ext cx="3657600" cy="47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</a:p>
        </p:txBody>
      </p:sp>
      <p:sp>
        <p:nvSpPr>
          <p:cNvPr id="35" name="Shape 35"/>
          <p:cNvSpPr/>
          <p:nvPr/>
        </p:nvSpPr>
        <p:spPr>
          <a:xfrm>
            <a:off x="4489120" y="4983600"/>
            <a:ext cx="7123760" cy="471040"/>
          </a:xfrm>
          <a:prstGeom prst="rect">
            <a:avLst/>
          </a:prstGeom>
          <a:solidFill>
            <a:srgbClr val="F1F2F4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6"/>
          <p:cNvSpPr/>
          <p:nvPr/>
        </p:nvSpPr>
        <p:spPr>
          <a:xfrm>
            <a:off x="4672000" y="4983600"/>
            <a:ext cx="6940880" cy="47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</a:p>
        </p:txBody>
      </p:sp>
      <p:sp>
        <p:nvSpPr>
          <p:cNvPr id="37" name="Text 3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Online Shopping System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548640" y="1828800"/>
            <a:ext cx="2103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6"/>
          <p:cNvSpPr/>
          <p:nvPr/>
        </p:nvSpPr>
        <p:spPr>
          <a:xfrm>
            <a:off x="548640" y="1828800"/>
            <a:ext cx="2103120" cy="64008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7"/>
          <p:cNvSpPr/>
          <p:nvPr/>
        </p:nvSpPr>
        <p:spPr>
          <a:xfrm>
            <a:off x="548640" y="18288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</a:p>
        </p:txBody>
      </p:sp>
      <p:sp>
        <p:nvSpPr>
          <p:cNvPr id="8" name="List 8"/>
          <p:cNvSpPr/>
          <p:nvPr/>
        </p:nvSpPr>
        <p:spPr>
          <a:xfrm>
            <a:off x="685800" y="2628900"/>
            <a:ext cx="1828800" cy="30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400"/>
              </a:spcAft>
              <a:buFont typeface="Arial"/>
              <a:buChar char="■"/>
            </a:pPr>
            <a:r>
              <a:rPr lang="en-US" sz="1300" dirty="0">
                <a:solidFill>
                  <a:srgbClr val="2A2E33"/>
                </a:solidFill>
                <a:latin typeface="Calibri" pitchFamily="34" charset="0"/>
              </a:rPr>
              <a:t>User authentication</a:t>
            </a:r>
          </a:p>
          <a:p>
            <a:pPr marL="285750" indent="-285750">
              <a:spcAft>
                <a:spcPts val="400"/>
              </a:spcAft>
              <a:buFont typeface="Arial"/>
              <a:buChar char="■"/>
            </a:pPr>
            <a:r>
              <a:rPr lang="en-US" sz="1300" dirty="0">
                <a:solidFill>
                  <a:srgbClr val="2A2E33"/>
                </a:solidFill>
                <a:latin typeface="Calibri" pitchFamily="34" charset="0"/>
              </a:rPr>
              <a:t>Secure payment gateway</a:t>
            </a:r>
          </a:p>
        </p:txBody>
      </p:sp>
      <p:sp>
        <p:nvSpPr>
          <p:cNvPr id="9" name="Shape 9"/>
          <p:cNvSpPr/>
          <p:nvPr/>
        </p:nvSpPr>
        <p:spPr>
          <a:xfrm>
            <a:off x="2788920" y="1828800"/>
            <a:ext cx="2103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2788920" y="1828800"/>
            <a:ext cx="2103120" cy="64008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/>
          <p:nvPr/>
        </p:nvSpPr>
        <p:spPr>
          <a:xfrm>
            <a:off x="2788920" y="18288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</a:p>
        </p:txBody>
      </p:sp>
      <p:sp>
        <p:nvSpPr>
          <p:cNvPr id="12" name="List 12"/>
          <p:cNvSpPr/>
          <p:nvPr/>
        </p:nvSpPr>
        <p:spPr>
          <a:xfrm>
            <a:off x="2926080" y="2628900"/>
            <a:ext cx="1828800" cy="30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400"/>
              </a:spcAft>
              <a:buFont typeface="Arial"/>
              <a:buChar char="■"/>
            </a:pPr>
            <a:r>
              <a:rPr lang="en-US" sz="1300" dirty="0">
                <a:solidFill>
                  <a:srgbClr val="2A2E33"/>
                </a:solidFill>
                <a:latin typeface="Calibri" pitchFamily="34" charset="0"/>
              </a:rPr>
              <a:t>Input validation</a:t>
            </a:r>
          </a:p>
          <a:p>
            <a:pPr marL="285750" indent="-285750">
              <a:spcAft>
                <a:spcPts val="400"/>
              </a:spcAft>
              <a:buFont typeface="Arial"/>
              <a:buChar char="■"/>
            </a:pPr>
            <a:r>
              <a:rPr lang="en-US" sz="1300" dirty="0">
                <a:solidFill>
                  <a:srgbClr val="2A2E33"/>
                </a:solidFill>
                <a:latin typeface="Calibri" pitchFamily="34" charset="0"/>
              </a:rPr>
              <a:t>Password hashing</a:t>
            </a:r>
          </a:p>
        </p:txBody>
      </p:sp>
      <p:sp>
        <p:nvSpPr>
          <p:cNvPr id="13" name="Shape 13"/>
          <p:cNvSpPr/>
          <p:nvPr/>
        </p:nvSpPr>
        <p:spPr>
          <a:xfrm>
            <a:off x="5029200" y="1828800"/>
            <a:ext cx="2103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5029200" y="1828800"/>
            <a:ext cx="2103120" cy="64008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5"/>
          <p:cNvSpPr/>
          <p:nvPr/>
        </p:nvSpPr>
        <p:spPr>
          <a:xfrm>
            <a:off x="5029200" y="18288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</a:p>
        </p:txBody>
      </p:sp>
      <p:sp>
        <p:nvSpPr>
          <p:cNvPr id="16" name="List 16"/>
          <p:cNvSpPr/>
          <p:nvPr/>
        </p:nvSpPr>
        <p:spPr>
          <a:xfrm>
            <a:off x="5166360" y="2628900"/>
            <a:ext cx="1828800" cy="30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400"/>
              </a:spcAft>
              <a:buFont typeface="Arial"/>
              <a:buChar char="■"/>
            </a:pPr>
            <a:r>
              <a:rPr lang="en-US" sz="1300" dirty="0">
                <a:solidFill>
                  <a:srgbClr val="2A2E33"/>
                </a:solidFill>
                <a:latin typeface="Calibri" pitchFamily="34" charset="0"/>
              </a:rPr>
              <a:t>Vulnerability scanning</a:t>
            </a:r>
          </a:p>
          <a:p>
            <a:pPr marL="285750" indent="-285750">
              <a:spcAft>
                <a:spcPts val="400"/>
              </a:spcAft>
              <a:buFont typeface="Arial"/>
              <a:buChar char="■"/>
            </a:pPr>
            <a:r>
              <a:rPr lang="en-US" sz="1300" dirty="0">
                <a:solidFill>
                  <a:srgbClr val="2A2E33"/>
                </a:solidFill>
                <a:latin typeface="Calibri" pitchFamily="34" charset="0"/>
              </a:rPr>
              <a:t>Penetration testing</a:t>
            </a:r>
          </a:p>
        </p:txBody>
      </p:sp>
      <p:sp>
        <p:nvSpPr>
          <p:cNvPr id="17" name="Shape 17"/>
          <p:cNvSpPr/>
          <p:nvPr/>
        </p:nvSpPr>
        <p:spPr>
          <a:xfrm>
            <a:off x="7269480" y="1828800"/>
            <a:ext cx="2103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7269480" y="1828800"/>
            <a:ext cx="2103120" cy="64008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9"/>
          <p:cNvSpPr/>
          <p:nvPr/>
        </p:nvSpPr>
        <p:spPr>
          <a:xfrm>
            <a:off x="7269480" y="18288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</a:p>
        </p:txBody>
      </p:sp>
      <p:sp>
        <p:nvSpPr>
          <p:cNvPr id="20" name="List 20"/>
          <p:cNvSpPr/>
          <p:nvPr/>
        </p:nvSpPr>
        <p:spPr>
          <a:xfrm>
            <a:off x="7406640" y="2628900"/>
            <a:ext cx="1828800" cy="30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400"/>
              </a:spcAft>
              <a:buFont typeface="Arial"/>
              <a:buChar char="■"/>
            </a:pPr>
            <a:r>
              <a:rPr lang="en-US" sz="1300" dirty="0">
                <a:solidFill>
                  <a:srgbClr val="2A2E33"/>
                </a:solidFill>
                <a:latin typeface="Calibri" pitchFamily="34" charset="0"/>
              </a:rPr>
              <a:t>Secure cloud configuration</a:t>
            </a:r>
          </a:p>
        </p:txBody>
      </p:sp>
      <p:sp>
        <p:nvSpPr>
          <p:cNvPr id="21" name="Shape 21"/>
          <p:cNvSpPr/>
          <p:nvPr/>
        </p:nvSpPr>
        <p:spPr>
          <a:xfrm>
            <a:off x="9509760" y="1828800"/>
            <a:ext cx="2103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9509760" y="1828800"/>
            <a:ext cx="2103120" cy="64008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3"/>
          <p:cNvSpPr/>
          <p:nvPr/>
        </p:nvSpPr>
        <p:spPr>
          <a:xfrm>
            <a:off x="9509760" y="18288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</a:p>
        </p:txBody>
      </p:sp>
      <p:sp>
        <p:nvSpPr>
          <p:cNvPr id="24" name="List 24"/>
          <p:cNvSpPr/>
          <p:nvPr/>
        </p:nvSpPr>
        <p:spPr>
          <a:xfrm>
            <a:off x="9646920" y="2628900"/>
            <a:ext cx="1828800" cy="30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400"/>
              </a:spcAft>
              <a:buFont typeface="Arial"/>
              <a:buChar char="■"/>
            </a:pPr>
            <a:r>
              <a:rPr lang="en-US" sz="1300" dirty="0">
                <a:solidFill>
                  <a:srgbClr val="2A2E33"/>
                </a:solidFill>
                <a:latin typeface="Calibri" pitchFamily="34" charset="0"/>
              </a:rPr>
              <a:t>Monitor login attempts</a:t>
            </a:r>
          </a:p>
          <a:p>
            <a:pPr marL="285750" indent="-285750">
              <a:spcAft>
                <a:spcPts val="400"/>
              </a:spcAft>
              <a:buFont typeface="Arial"/>
              <a:buChar char="■"/>
            </a:pPr>
            <a:r>
              <a:rPr lang="en-US" sz="1300" dirty="0">
                <a:solidFill>
                  <a:srgbClr val="2A2E33"/>
                </a:solidFill>
                <a:latin typeface="Calibri" pitchFamily="34" charset="0"/>
              </a:rPr>
              <a:t>Patch vulnerabilities</a:t>
            </a:r>
          </a:p>
        </p:txBody>
      </p:sp>
      <p:sp>
        <p:nvSpPr>
          <p:cNvPr id="25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Ellipse 5"/>
          <p:cNvSpPr/>
          <p:nvPr/>
        </p:nvSpPr>
        <p:spPr>
          <a:xfrm>
            <a:off x="548640" y="1965960"/>
            <a:ext cx="548640" cy="548640"/>
          </a:xfrm>
          <a:prstGeom prst="ellipse">
            <a:avLst/>
          </a:prstGeom>
          <a:solidFill>
            <a:srgbClr val="E8EFF5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/>
          <p:nvPr/>
        </p:nvSpPr>
        <p:spPr>
          <a:xfrm>
            <a:off x="54864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</a:p>
        </p:txBody>
      </p:sp>
      <p:sp>
        <p:nvSpPr>
          <p:cNvPr id="7" name="Text 7"/>
          <p:cNvSpPr/>
          <p:nvPr/>
        </p:nvSpPr>
        <p:spPr>
          <a:xfrm>
            <a:off x="1280160" y="18288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software development introduces security too late.</a:t>
            </a:r>
          </a:p>
        </p:txBody>
      </p:sp>
      <p:sp>
        <p:nvSpPr>
          <p:cNvPr id="8" name="Ellipse 8"/>
          <p:cNvSpPr/>
          <p:nvPr/>
        </p:nvSpPr>
        <p:spPr>
          <a:xfrm>
            <a:off x="548640" y="2788920"/>
            <a:ext cx="548640" cy="548640"/>
          </a:xfrm>
          <a:prstGeom prst="ellipse">
            <a:avLst/>
          </a:prstGeom>
          <a:solidFill>
            <a:srgbClr val="E8EFF5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/>
          <p:nvPr/>
        </p:nvSpPr>
        <p:spPr>
          <a:xfrm>
            <a:off x="54864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</a:p>
        </p:txBody>
      </p:sp>
      <p:sp>
        <p:nvSpPr>
          <p:cNvPr id="10" name="Text 10"/>
          <p:cNvSpPr/>
          <p:nvPr/>
        </p:nvSpPr>
        <p:spPr>
          <a:xfrm>
            <a:off x="1280160" y="26517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improves collaboration and software delivery.</a:t>
            </a:r>
          </a:p>
        </p:txBody>
      </p:sp>
      <p:sp>
        <p:nvSpPr>
          <p:cNvPr id="11" name="Ellipse 11"/>
          <p:cNvSpPr/>
          <p:nvPr/>
        </p:nvSpPr>
        <p:spPr>
          <a:xfrm>
            <a:off x="548640" y="3611880"/>
            <a:ext cx="548640" cy="548640"/>
          </a:xfrm>
          <a:prstGeom prst="ellipse">
            <a:avLst/>
          </a:prstGeom>
          <a:solidFill>
            <a:srgbClr val="E8EFF5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/>
          <p:cNvSpPr/>
          <p:nvPr/>
        </p:nvSpPr>
        <p:spPr>
          <a:xfrm>
            <a:off x="54864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</a:p>
        </p:txBody>
      </p:sp>
      <p:sp>
        <p:nvSpPr>
          <p:cNvPr id="13" name="Text 13"/>
          <p:cNvSpPr/>
          <p:nvPr/>
        </p:nvSpPr>
        <p:spPr>
          <a:xfrm>
            <a:off x="1280160" y="34747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integrates security into every stage of development.</a:t>
            </a:r>
          </a:p>
        </p:txBody>
      </p:sp>
      <p:sp>
        <p:nvSpPr>
          <p:cNvPr id="14" name="Ellipse 14"/>
          <p:cNvSpPr/>
          <p:nvPr/>
        </p:nvSpPr>
        <p:spPr>
          <a:xfrm>
            <a:off x="548640" y="4434840"/>
            <a:ext cx="548640" cy="548640"/>
          </a:xfrm>
          <a:prstGeom prst="ellipse">
            <a:avLst/>
          </a:prstGeom>
          <a:solidFill>
            <a:srgbClr val="E8EFF5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5"/>
          <p:cNvSpPr/>
          <p:nvPr/>
        </p:nvSpPr>
        <p:spPr>
          <a:xfrm>
            <a:off x="54864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</a:p>
        </p:txBody>
      </p:sp>
      <p:sp>
        <p:nvSpPr>
          <p:cNvPr id="16" name="Text 16"/>
          <p:cNvSpPr/>
          <p:nvPr/>
        </p:nvSpPr>
        <p:spPr>
          <a:xfrm>
            <a:off x="1280160" y="42976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becomes a shared responsibility.</a:t>
            </a:r>
          </a:p>
        </p:txBody>
      </p:sp>
      <p:sp>
        <p:nvSpPr>
          <p:cNvPr id="17" name="Ellipse 17"/>
          <p:cNvSpPr/>
          <p:nvPr/>
        </p:nvSpPr>
        <p:spPr>
          <a:xfrm>
            <a:off x="548640" y="5257800"/>
            <a:ext cx="548640" cy="548640"/>
          </a:xfrm>
          <a:prstGeom prst="ellipse">
            <a:avLst/>
          </a:prstGeom>
          <a:solidFill>
            <a:srgbClr val="E8EFF5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8"/>
          <p:cNvSpPr/>
          <p:nvPr/>
        </p:nvSpPr>
        <p:spPr>
          <a:xfrm>
            <a:off x="548640" y="5257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</a:p>
        </p:txBody>
      </p:sp>
      <p:sp>
        <p:nvSpPr>
          <p:cNvPr id="19" name="Text 19"/>
          <p:cNvSpPr/>
          <p:nvPr/>
        </p:nvSpPr>
        <p:spPr>
          <a:xfrm>
            <a:off x="1280160" y="51206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enables faster and more secure software delivery.</a:t>
            </a:r>
          </a:p>
        </p:txBody>
      </p:sp>
      <p:sp>
        <p:nvSpPr>
          <p:cNvPr id="20" name="Text 2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Think–Pair–Share Activity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417320"/>
            <a:ext cx="11064240" cy="10973"/>
          </a:xfrm>
          <a:prstGeom prst="rect">
            <a:avLst/>
          </a:prstGeom>
          <a:solidFill>
            <a:srgbClr val="D6DA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228601" y="1691640"/>
            <a:ext cx="6966856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/>
          <p:nvPr/>
        </p:nvSpPr>
        <p:spPr>
          <a:xfrm>
            <a:off x="627932" y="1965960"/>
            <a:ext cx="623606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develops a patient management system.</a:t>
            </a:r>
          </a:p>
        </p:txBody>
      </p:sp>
      <p:sp>
        <p:nvSpPr>
          <p:cNvPr id="7" name="Text 7"/>
          <p:cNvSpPr/>
          <p:nvPr/>
        </p:nvSpPr>
        <p:spPr>
          <a:xfrm>
            <a:off x="627932" y="2606040"/>
            <a:ext cx="623606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Currently, security testing is performed only after the application has been completed.</a:t>
            </a:r>
          </a:p>
        </p:txBody>
      </p:sp>
      <p:sp>
        <p:nvSpPr>
          <p:cNvPr id="8" name="Text 8"/>
          <p:cNvSpPr/>
          <p:nvPr/>
        </p:nvSpPr>
        <p:spPr>
          <a:xfrm>
            <a:off x="627932" y="3474720"/>
            <a:ext cx="62360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in small groups:</a:t>
            </a:r>
          </a:p>
        </p:txBody>
      </p:sp>
      <p:sp>
        <p:nvSpPr>
          <p:cNvPr id="9" name="Text 9"/>
          <p:cNvSpPr/>
          <p:nvPr/>
        </p:nvSpPr>
        <p:spPr>
          <a:xfrm>
            <a:off x="728323" y="3886200"/>
            <a:ext cx="604118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risks could arise from this approach?</a:t>
            </a:r>
          </a:p>
        </p:txBody>
      </p:sp>
      <p:sp>
        <p:nvSpPr>
          <p:cNvPr id="10" name="Text 10"/>
          <p:cNvSpPr/>
          <p:nvPr/>
        </p:nvSpPr>
        <p:spPr>
          <a:xfrm>
            <a:off x="728323" y="4251960"/>
            <a:ext cx="604118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would DevSecOps improve the development process?</a:t>
            </a:r>
          </a:p>
        </p:txBody>
      </p:sp>
      <p:sp>
        <p:nvSpPr>
          <p:cNvPr id="11" name="Text 11"/>
          <p:cNvSpPr/>
          <p:nvPr/>
        </p:nvSpPr>
        <p:spPr>
          <a:xfrm>
            <a:off x="728323" y="4617720"/>
            <a:ext cx="604118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SDLC phases should include security activities?</a:t>
            </a:r>
          </a:p>
        </p:txBody>
      </p:sp>
      <p:sp>
        <p:nvSpPr>
          <p:cNvPr id="12" name="Text 12"/>
          <p:cNvSpPr/>
          <p:nvPr/>
        </p:nvSpPr>
        <p:spPr>
          <a:xfrm>
            <a:off x="627932" y="5120640"/>
            <a:ext cx="62360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prepared to share your group's ideas with the class.</a:t>
            </a:r>
          </a:p>
        </p:txBody>
      </p:sp>
      <p:sp>
        <p:nvSpPr>
          <p:cNvPr id="13" name="Shape 13"/>
          <p:cNvSpPr/>
          <p:nvPr/>
        </p:nvSpPr>
        <p:spPr>
          <a:xfrm>
            <a:off x="7544714" y="1691640"/>
            <a:ext cx="4267399" cy="44805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/>
          <p:nvPr/>
        </p:nvSpPr>
        <p:spPr>
          <a:xfrm>
            <a:off x="7901599" y="2103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</a:p>
        </p:txBody>
      </p:sp>
      <p:sp>
        <p:nvSpPr>
          <p:cNvPr id="15" name="Text 15"/>
          <p:cNvSpPr/>
          <p:nvPr/>
        </p:nvSpPr>
        <p:spPr>
          <a:xfrm>
            <a:off x="7901599" y="2606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risks could arise from delaying security testing?</a:t>
            </a:r>
          </a:p>
        </p:txBody>
      </p:sp>
      <p:sp>
        <p:nvSpPr>
          <p:cNvPr id="16" name="Text 16"/>
          <p:cNvSpPr/>
          <p:nvPr/>
        </p:nvSpPr>
        <p:spPr>
          <a:xfrm>
            <a:off x="7901599" y="34061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DevSecOps change this process?</a:t>
            </a:r>
          </a:p>
        </p:txBody>
      </p:sp>
      <p:sp>
        <p:nvSpPr>
          <p:cNvPr id="17" name="Text 17"/>
          <p:cNvSpPr/>
          <p:nvPr/>
        </p:nvSpPr>
        <p:spPr>
          <a:xfrm>
            <a:off x="7901599" y="42062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phases need security built in?</a:t>
            </a:r>
          </a:p>
        </p:txBody>
      </p:sp>
      <p:sp>
        <p:nvSpPr>
          <p:cNvPr id="18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|  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</a:p>
        </p:txBody>
      </p:sp>
      <p:sp>
        <p:nvSpPr>
          <p:cNvPr id="3" name="Text 3"/>
          <p:cNvSpPr/>
          <p:nvPr/>
        </p:nvSpPr>
        <p:spPr>
          <a:xfrm>
            <a:off x="531221" y="2724753"/>
            <a:ext cx="9897291" cy="1584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4306824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open discussion.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3934824"/>
            <a:ext cx="640080" cy="41148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2092</TotalTime>
  <Words>1325</Words>
  <Application>Microsoft Macintosh PowerPoint</Application>
  <PresentationFormat>Widescreen</PresentationFormat>
  <Paragraphs>403</Paragraphs>
  <Slides>31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Ayesha Wijesooriya</cp:lastModifiedBy>
  <cp:revision>5</cp:revision>
  <dcterms:created xsi:type="dcterms:W3CDTF">2026-07-12T09:36:35Z</dcterms:created>
  <dcterms:modified xsi:type="dcterms:W3CDTF">2026-07-16T08:14:54Z</dcterms:modified>
</cp:coreProperties>
</file>