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/>
    <p:restoredTop sz="94610"/>
  </p:normalViewPr>
  <p:slideViewPr>
    <p:cSldViewPr snapToGrid="0" snapToObjects="1">
      <p:cViewPr>
        <p:scale>
          <a:sx n="120" d="100"/>
          <a:sy n="120" d="100"/>
        </p:scale>
        <p:origin x="280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5949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400800" cy="6400800"/>
          </a:xfrm>
          <a:prstGeom prst="ellipse">
            <a:avLst/>
          </a:prstGeom>
          <a:solidFill>
            <a:srgbClr val="134A7D"/>
          </a:solidFill>
          <a:ln/>
        </p:spPr>
        <p:txBody>
          <a:bodyPr/>
          <a:lstStyle/>
          <a:p>
            <a:endParaRPr lang="en-LK" sz="2000"/>
          </a:p>
        </p:txBody>
      </p:sp>
      <p:sp>
        <p:nvSpPr>
          <p:cNvPr id="3" name="Shape 1"/>
          <p:cNvSpPr/>
          <p:nvPr/>
        </p:nvSpPr>
        <p:spPr>
          <a:xfrm>
            <a:off x="-2194560" y="4206240"/>
            <a:ext cx="4572000" cy="4572000"/>
          </a:xfrm>
          <a:prstGeom prst="ellipse">
            <a:avLst/>
          </a:prstGeom>
          <a:solidFill>
            <a:srgbClr val="134A7D"/>
          </a:solidFill>
          <a:ln/>
        </p:spPr>
        <p:txBody>
          <a:bodyPr/>
          <a:lstStyle/>
          <a:p>
            <a:endParaRPr lang="en-LK" sz="2000"/>
          </a:p>
        </p:txBody>
      </p:sp>
      <p:sp>
        <p:nvSpPr>
          <p:cNvPr id="4" name="Shape 2"/>
          <p:cNvSpPr/>
          <p:nvPr/>
        </p:nvSpPr>
        <p:spPr>
          <a:xfrm>
            <a:off x="9784080" y="5120640"/>
            <a:ext cx="1828800" cy="1828800"/>
          </a:xfrm>
          <a:prstGeom prst="ellipse">
            <a:avLst/>
          </a:prstGeom>
          <a:solidFill>
            <a:srgbClr val="0090C9"/>
          </a:solidFill>
          <a:ln/>
        </p:spPr>
        <p:txBody>
          <a:bodyPr/>
          <a:lstStyle/>
          <a:p>
            <a:endParaRPr lang="en-LK" sz="200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6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10241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Monitoring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Incident Response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44577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F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07 — Security monitoring, log management, IDS/IPS, incident response, and digital forensics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 sz="3200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 sz="3200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ROADMAP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Topics Covered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3200"/>
          </a:p>
        </p:txBody>
      </p:sp>
      <p:sp>
        <p:nvSpPr>
          <p:cNvPr id="7" name="Shape 5"/>
          <p:cNvSpPr/>
          <p:nvPr/>
        </p:nvSpPr>
        <p:spPr>
          <a:xfrm>
            <a:off x="713232" y="183794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8" name="Text 6"/>
          <p:cNvSpPr/>
          <p:nvPr/>
        </p:nvSpPr>
        <p:spPr>
          <a:xfrm>
            <a:off x="713232" y="18379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3232" y="2203704"/>
            <a:ext cx="5065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Monitoring &amp; Log Management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13232" y="2582234"/>
            <a:ext cx="506577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Observing systems, collecting logs, SIEM.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17920" y="169164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3200"/>
          </a:p>
        </p:txBody>
      </p:sp>
      <p:sp>
        <p:nvSpPr>
          <p:cNvPr id="12" name="Shape 10"/>
          <p:cNvSpPr/>
          <p:nvPr/>
        </p:nvSpPr>
        <p:spPr>
          <a:xfrm>
            <a:off x="6382512" y="183794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13" name="Text 11"/>
          <p:cNvSpPr/>
          <p:nvPr/>
        </p:nvSpPr>
        <p:spPr>
          <a:xfrm>
            <a:off x="6382512" y="18379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82512" y="2203704"/>
            <a:ext cx="5065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Intrusion Detection &amp; Prevention (IDS/IPS)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82512" y="2582234"/>
            <a:ext cx="506577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and stopping malicious activity.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3200"/>
          </a:p>
        </p:txBody>
      </p:sp>
      <p:sp>
        <p:nvSpPr>
          <p:cNvPr id="17" name="Shape 15"/>
          <p:cNvSpPr/>
          <p:nvPr/>
        </p:nvSpPr>
        <p:spPr>
          <a:xfrm>
            <a:off x="713232" y="384962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18" name="Text 16"/>
          <p:cNvSpPr/>
          <p:nvPr/>
        </p:nvSpPr>
        <p:spPr>
          <a:xfrm>
            <a:off x="713232" y="38496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3232" y="4215384"/>
            <a:ext cx="5065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Planning &amp; Execution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13232" y="4644206"/>
            <a:ext cx="506577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for and handling security incidents.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17920" y="370332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3200"/>
          </a:p>
        </p:txBody>
      </p:sp>
      <p:sp>
        <p:nvSpPr>
          <p:cNvPr id="22" name="Shape 20"/>
          <p:cNvSpPr/>
          <p:nvPr/>
        </p:nvSpPr>
        <p:spPr>
          <a:xfrm>
            <a:off x="6382512" y="384962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23" name="Text 21"/>
          <p:cNvSpPr/>
          <p:nvPr/>
        </p:nvSpPr>
        <p:spPr>
          <a:xfrm>
            <a:off x="6382512" y="38496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82512" y="4215384"/>
            <a:ext cx="5065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Incident Investigation &amp; Forensics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382512" y="4586609"/>
            <a:ext cx="5065776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Reconstructing attacks and preserving evidence.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07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3D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377440"/>
            <a:ext cx="5943600" cy="5943600"/>
          </a:xfrm>
          <a:prstGeom prst="ellipse">
            <a:avLst/>
          </a:prstGeom>
          <a:solidFill>
            <a:srgbClr val="134A7D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9875520" y="4023360"/>
            <a:ext cx="3840480" cy="3840480"/>
          </a:xfrm>
          <a:prstGeom prst="ellipse">
            <a:avLst/>
          </a:prstGeom>
          <a:solidFill>
            <a:srgbClr val="134A7D"/>
          </a:solidFill>
          <a:ln/>
        </p:spPr>
        <p:txBody>
          <a:bodyPr/>
          <a:lstStyle/>
          <a:p>
            <a:endParaRPr lang="en-LK" sz="2000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6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3154680"/>
            <a:ext cx="10424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Continuous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and Incident Response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5948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F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r>
              <a:rPr lang="en-US" sz="1600" dirty="0">
                <a:solidFill>
                  <a:srgbClr val="CF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>
                <a:solidFill>
                  <a:srgbClr val="CF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does not stop at deployment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Need Continuous Security Monitoring?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does not end when an application is successfully deployed.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2384008"/>
            <a:ext cx="5349240" cy="2142271"/>
          </a:xfrm>
          <a:prstGeom prst="roundRect">
            <a:avLst>
              <a:gd name="adj" fmla="val 3721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8" name="Text 6"/>
          <p:cNvSpPr/>
          <p:nvPr/>
        </p:nvSpPr>
        <p:spPr>
          <a:xfrm>
            <a:off x="777240" y="2548601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an application has passed: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3033233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10" name="Text 8"/>
          <p:cNvSpPr/>
          <p:nvPr/>
        </p:nvSpPr>
        <p:spPr>
          <a:xfrm>
            <a:off x="1005840" y="2978369"/>
            <a:ext cx="4892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3307553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12" name="Text 10"/>
          <p:cNvSpPr/>
          <p:nvPr/>
        </p:nvSpPr>
        <p:spPr>
          <a:xfrm>
            <a:off x="1005840" y="3252689"/>
            <a:ext cx="4892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77240" y="3581873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14" name="Text 12"/>
          <p:cNvSpPr/>
          <p:nvPr/>
        </p:nvSpPr>
        <p:spPr>
          <a:xfrm>
            <a:off x="1005840" y="3527009"/>
            <a:ext cx="4892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77240" y="3856193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16" name="Text 14"/>
          <p:cNvSpPr/>
          <p:nvPr/>
        </p:nvSpPr>
        <p:spPr>
          <a:xfrm>
            <a:off x="1005840" y="3801329"/>
            <a:ext cx="4892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scanning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77240" y="4130513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18" name="Text 16"/>
          <p:cNvSpPr/>
          <p:nvPr/>
        </p:nvSpPr>
        <p:spPr>
          <a:xfrm>
            <a:off x="1005840" y="4075649"/>
            <a:ext cx="4892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configuration checks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63640" y="2384009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BEAEA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20" name="Text 18"/>
          <p:cNvSpPr/>
          <p:nvPr/>
        </p:nvSpPr>
        <p:spPr>
          <a:xfrm>
            <a:off x="6492240" y="2548601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threats can still occur after deployment: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92240" y="3033233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22" name="Text 20"/>
          <p:cNvSpPr/>
          <p:nvPr/>
        </p:nvSpPr>
        <p:spPr>
          <a:xfrm>
            <a:off x="6720840" y="2978369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Stolen credentials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961120" y="3033233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24" name="Text 22"/>
          <p:cNvSpPr/>
          <p:nvPr/>
        </p:nvSpPr>
        <p:spPr>
          <a:xfrm>
            <a:off x="9189720" y="2978369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login attempts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92240" y="3417281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26" name="Text 24"/>
          <p:cNvSpPr/>
          <p:nvPr/>
        </p:nvSpPr>
        <p:spPr>
          <a:xfrm>
            <a:off x="6720840" y="3362417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infections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961120" y="3417281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28" name="Text 26"/>
          <p:cNvSpPr/>
          <p:nvPr/>
        </p:nvSpPr>
        <p:spPr>
          <a:xfrm>
            <a:off x="9189720" y="3362417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escalation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92240" y="3801329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30" name="Text 28"/>
          <p:cNvSpPr/>
          <p:nvPr/>
        </p:nvSpPr>
        <p:spPr>
          <a:xfrm>
            <a:off x="6720840" y="3746465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threats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961120" y="3801329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32" name="Text 30"/>
          <p:cNvSpPr/>
          <p:nvPr/>
        </p:nvSpPr>
        <p:spPr>
          <a:xfrm>
            <a:off x="9189720" y="3746465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against APIs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48640" y="4818888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0B3D6B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34" name="Text 32"/>
          <p:cNvSpPr/>
          <p:nvPr/>
        </p:nvSpPr>
        <p:spPr>
          <a:xfrm>
            <a:off x="822960" y="4818888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monitoring provides ongoing visibility into applications, infrastructure, networks, and security events, so suspicious activity can be detected and answered quickly.</a:t>
            </a: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After Deployment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993392" cy="868680"/>
          </a:xfrm>
          <a:prstGeom prst="roundRect">
            <a:avLst>
              <a:gd name="adj" fmla="val 9474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7" name="Text 5"/>
          <p:cNvSpPr/>
          <p:nvPr/>
        </p:nvSpPr>
        <p:spPr>
          <a:xfrm>
            <a:off x="621792" y="1965960"/>
            <a:ext cx="18470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523744" y="1965960"/>
            <a:ext cx="3108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816352" y="1965960"/>
            <a:ext cx="1993392" cy="868680"/>
          </a:xfrm>
          <a:prstGeom prst="roundRect">
            <a:avLst>
              <a:gd name="adj" fmla="val 9474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0" name="Text 8"/>
          <p:cNvSpPr/>
          <p:nvPr/>
        </p:nvSpPr>
        <p:spPr>
          <a:xfrm>
            <a:off x="2889504" y="1965960"/>
            <a:ext cx="18470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791456" y="1965960"/>
            <a:ext cx="3108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084064" y="1965960"/>
            <a:ext cx="1993392" cy="868680"/>
          </a:xfrm>
          <a:prstGeom prst="roundRect">
            <a:avLst>
              <a:gd name="adj" fmla="val 9474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3" name="Text 11"/>
          <p:cNvSpPr/>
          <p:nvPr/>
        </p:nvSpPr>
        <p:spPr>
          <a:xfrm>
            <a:off x="5157216" y="1965960"/>
            <a:ext cx="18470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059168" y="1965960"/>
            <a:ext cx="3108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351776" y="1965960"/>
            <a:ext cx="1993392" cy="868680"/>
          </a:xfrm>
          <a:prstGeom prst="roundRect">
            <a:avLst>
              <a:gd name="adj" fmla="val 9474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6" name="Text 14"/>
          <p:cNvSpPr/>
          <p:nvPr/>
        </p:nvSpPr>
        <p:spPr>
          <a:xfrm>
            <a:off x="7424928" y="1965960"/>
            <a:ext cx="18470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326880" y="1965960"/>
            <a:ext cx="3108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619488" y="1965960"/>
            <a:ext cx="1993392" cy="868680"/>
          </a:xfrm>
          <a:prstGeom prst="roundRect">
            <a:avLst>
              <a:gd name="adj" fmla="val 9474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9" name="Text 17"/>
          <p:cNvSpPr/>
          <p:nvPr/>
        </p:nvSpPr>
        <p:spPr>
          <a:xfrm>
            <a:off x="9692640" y="1965960"/>
            <a:ext cx="18470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0479024" y="2834640"/>
            <a:ext cx="27432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548640" y="3337560"/>
            <a:ext cx="1993392" cy="868680"/>
          </a:xfrm>
          <a:prstGeom prst="roundRect">
            <a:avLst>
              <a:gd name="adj" fmla="val 9474"/>
            </a:avLst>
          </a:prstGeom>
          <a:solidFill>
            <a:srgbClr val="DCEAFB"/>
          </a:solidFill>
          <a:ln w="15875">
            <a:solidFill>
              <a:srgbClr val="0090C9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2" name="Text 20"/>
          <p:cNvSpPr/>
          <p:nvPr/>
        </p:nvSpPr>
        <p:spPr>
          <a:xfrm>
            <a:off x="621792" y="3337560"/>
            <a:ext cx="18470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523744" y="3337560"/>
            <a:ext cx="3108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2816352" y="3337560"/>
            <a:ext cx="1993392" cy="868680"/>
          </a:xfrm>
          <a:prstGeom prst="roundRect">
            <a:avLst>
              <a:gd name="adj" fmla="val 9474"/>
            </a:avLst>
          </a:prstGeom>
          <a:solidFill>
            <a:srgbClr val="DCEAFB"/>
          </a:solidFill>
          <a:ln w="15875">
            <a:solidFill>
              <a:srgbClr val="0090C9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5" name="Text 23"/>
          <p:cNvSpPr/>
          <p:nvPr/>
        </p:nvSpPr>
        <p:spPr>
          <a:xfrm>
            <a:off x="2889504" y="3337560"/>
            <a:ext cx="18470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91456" y="3337560"/>
            <a:ext cx="3108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5084064" y="3337560"/>
            <a:ext cx="1993392" cy="868680"/>
          </a:xfrm>
          <a:prstGeom prst="roundRect">
            <a:avLst>
              <a:gd name="adj" fmla="val 9474"/>
            </a:avLst>
          </a:prstGeom>
          <a:solidFill>
            <a:srgbClr val="DCEAFB"/>
          </a:solidFill>
          <a:ln w="15875">
            <a:solidFill>
              <a:srgbClr val="0090C9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8" name="Text 26"/>
          <p:cNvSpPr/>
          <p:nvPr/>
        </p:nvSpPr>
        <p:spPr>
          <a:xfrm>
            <a:off x="5157216" y="3337560"/>
            <a:ext cx="18470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059168" y="3337560"/>
            <a:ext cx="3108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7351776" y="3337560"/>
            <a:ext cx="1993392" cy="868680"/>
          </a:xfrm>
          <a:prstGeom prst="roundRect">
            <a:avLst>
              <a:gd name="adj" fmla="val 9474"/>
            </a:avLst>
          </a:prstGeom>
          <a:solidFill>
            <a:srgbClr val="DCEAFB"/>
          </a:solidFill>
          <a:ln w="15875">
            <a:solidFill>
              <a:srgbClr val="0090C9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31" name="Text 29"/>
          <p:cNvSpPr/>
          <p:nvPr/>
        </p:nvSpPr>
        <p:spPr>
          <a:xfrm>
            <a:off x="7424928" y="3337560"/>
            <a:ext cx="18470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&amp; Improve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48640" y="47548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traditional view treats Deploy as the end. DevSecOps instead loops back, findings from Monitor, Detect, Respond, and Learn &amp; Improve feed into Development, creating a continuous security feedback loop.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07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Continuous Security Monitoring?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23310" y="1511861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Security Monitoring (CSM) </a:t>
            </a: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ongoing observation and analysis of applications, infrastructure, networks, identities, configurations, and security events to identify threats, vulnerabilities, and incidents continuously, rather than occasionally.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 Can Observe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90156" y="3520440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9" name="Text 7"/>
          <p:cNvSpPr/>
          <p:nvPr/>
        </p:nvSpPr>
        <p:spPr>
          <a:xfrm>
            <a:off x="818756" y="346557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activities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33356" y="3520440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1" name="Text 9"/>
          <p:cNvSpPr/>
          <p:nvPr/>
        </p:nvSpPr>
        <p:spPr>
          <a:xfrm>
            <a:off x="3561956" y="346557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attempts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0156" y="3886200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3" name="Text 11"/>
          <p:cNvSpPr/>
          <p:nvPr/>
        </p:nvSpPr>
        <p:spPr>
          <a:xfrm>
            <a:off x="818756" y="38313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traffic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333356" y="3886200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5" name="Text 13"/>
          <p:cNvSpPr/>
          <p:nvPr/>
        </p:nvSpPr>
        <p:spPr>
          <a:xfrm>
            <a:off x="3561956" y="38313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behavior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0156" y="4251960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7" name="Text 15"/>
          <p:cNvSpPr/>
          <p:nvPr/>
        </p:nvSpPr>
        <p:spPr>
          <a:xfrm>
            <a:off x="818756" y="41970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processes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333356" y="4251960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9" name="Text 17"/>
          <p:cNvSpPr/>
          <p:nvPr/>
        </p:nvSpPr>
        <p:spPr>
          <a:xfrm>
            <a:off x="3561956" y="41970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activities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0156" y="4617720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1" name="Text 19"/>
          <p:cNvSpPr/>
          <p:nvPr/>
        </p:nvSpPr>
        <p:spPr>
          <a:xfrm>
            <a:off x="818756" y="456285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requests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333356" y="4617720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3" name="Text 21"/>
          <p:cNvSpPr/>
          <p:nvPr/>
        </p:nvSpPr>
        <p:spPr>
          <a:xfrm>
            <a:off x="3561956" y="456285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changes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90156" y="4983480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5" name="Text 23"/>
          <p:cNvSpPr/>
          <p:nvPr/>
        </p:nvSpPr>
        <p:spPr>
          <a:xfrm>
            <a:off x="818756" y="492861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activities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333356" y="4983480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7" name="Text 25"/>
          <p:cNvSpPr/>
          <p:nvPr/>
        </p:nvSpPr>
        <p:spPr>
          <a:xfrm>
            <a:off x="3561956" y="492861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modifications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63640" y="251460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9" name="Text 27"/>
          <p:cNvSpPr/>
          <p:nvPr/>
        </p:nvSpPr>
        <p:spPr>
          <a:xfrm>
            <a:off x="6537960" y="27432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Objectives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537960" y="3200400"/>
            <a:ext cx="48006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E4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Detect threats early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537960" y="3657600"/>
            <a:ext cx="48006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E4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Identify abnormal activities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537960" y="4114800"/>
            <a:ext cx="48006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E4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Provide real-time / near-real-time alerts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537960" y="4572000"/>
            <a:ext cx="48006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E4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Support incident response</a:t>
            </a: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537960" y="5029200"/>
            <a:ext cx="48006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E4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Reduce time attackers remain undetected</a:t>
            </a: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537960" y="5486400"/>
            <a:ext cx="48006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E4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Maintain visibility of production</a:t>
            </a: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D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377440"/>
            <a:ext cx="5943600" cy="5943600"/>
          </a:xfrm>
          <a:prstGeom prst="ellipse">
            <a:avLst/>
          </a:prstGeom>
          <a:solidFill>
            <a:srgbClr val="134A7D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9875520" y="4023360"/>
            <a:ext cx="3840480" cy="3840480"/>
          </a:xfrm>
          <a:prstGeom prst="ellipse">
            <a:avLst/>
          </a:prstGeom>
          <a:solidFill>
            <a:srgbClr val="134A7D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6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3154680"/>
            <a:ext cx="10424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Monitoring and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Management in DevSecOps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5948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F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actionable alerts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MONITORING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Security Monitoring?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monitoring </a:t>
            </a: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process of continuously observing systems and analyzing security-related information to identify potential attacks, policy violations, vulnerabilities, and abnormal activities.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8640" y="25374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 ·  Servers  ·  Cloud  ·  Containers  ·  Network Devices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806440" y="290322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223260"/>
            <a:ext cx="1691640" cy="868680"/>
          </a:xfrm>
          <a:prstGeom prst="roundRect">
            <a:avLst>
              <a:gd name="adj" fmla="val 7368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0" name="Text 8"/>
          <p:cNvSpPr/>
          <p:nvPr/>
        </p:nvSpPr>
        <p:spPr>
          <a:xfrm>
            <a:off x="594360" y="3223260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Data / Logs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221992" y="3223260"/>
            <a:ext cx="2194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423160" y="3223260"/>
            <a:ext cx="1691640" cy="868680"/>
          </a:xfrm>
          <a:prstGeom prst="roundRect">
            <a:avLst>
              <a:gd name="adj" fmla="val 7368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3" name="Text 11"/>
          <p:cNvSpPr/>
          <p:nvPr/>
        </p:nvSpPr>
        <p:spPr>
          <a:xfrm>
            <a:off x="2468880" y="3223260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Platform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096512" y="3223260"/>
            <a:ext cx="2194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297680" y="3223260"/>
            <a:ext cx="1691640" cy="868680"/>
          </a:xfrm>
          <a:prstGeom prst="roundRect">
            <a:avLst>
              <a:gd name="adj" fmla="val 7368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6" name="Text 14"/>
          <p:cNvSpPr/>
          <p:nvPr/>
        </p:nvSpPr>
        <p:spPr>
          <a:xfrm>
            <a:off x="4343400" y="3223260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71032" y="3223260"/>
            <a:ext cx="2194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172200" y="3223260"/>
            <a:ext cx="1691640" cy="868680"/>
          </a:xfrm>
          <a:prstGeom prst="roundRect">
            <a:avLst>
              <a:gd name="adj" fmla="val 7368"/>
            </a:avLst>
          </a:prstGeom>
          <a:solidFill>
            <a:srgbClr val="DCEAFB"/>
          </a:solidFill>
          <a:ln w="15875">
            <a:solidFill>
              <a:srgbClr val="0090C9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9" name="Text 17"/>
          <p:cNvSpPr/>
          <p:nvPr/>
        </p:nvSpPr>
        <p:spPr>
          <a:xfrm>
            <a:off x="6217920" y="3223260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Activity?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845552" y="3223260"/>
            <a:ext cx="2194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8046720" y="3223260"/>
            <a:ext cx="1691640" cy="868680"/>
          </a:xfrm>
          <a:prstGeom prst="roundRect">
            <a:avLst>
              <a:gd name="adj" fmla="val 7368"/>
            </a:avLst>
          </a:prstGeom>
          <a:solidFill>
            <a:srgbClr val="DCEAFB"/>
          </a:solidFill>
          <a:ln w="15875">
            <a:solidFill>
              <a:srgbClr val="0090C9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2" name="Text 20"/>
          <p:cNvSpPr/>
          <p:nvPr/>
        </p:nvSpPr>
        <p:spPr>
          <a:xfrm>
            <a:off x="8092440" y="3223260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Alert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720072" y="3223260"/>
            <a:ext cx="2194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9921240" y="3223260"/>
            <a:ext cx="1691640" cy="868680"/>
          </a:xfrm>
          <a:prstGeom prst="roundRect">
            <a:avLst>
              <a:gd name="adj" fmla="val 7368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5" name="Text 23"/>
          <p:cNvSpPr/>
          <p:nvPr/>
        </p:nvSpPr>
        <p:spPr>
          <a:xfrm>
            <a:off x="9966960" y="3223260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/ Response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48640" y="48463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7" name="Text 25"/>
          <p:cNvSpPr/>
          <p:nvPr/>
        </p:nvSpPr>
        <p:spPr>
          <a:xfrm>
            <a:off x="822960" y="48463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allows security teams to understand what is currently happening within the environment.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07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MONITORING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53796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Should We Monitor?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7900733"/>
              </p:ext>
            </p:extLst>
          </p:nvPr>
        </p:nvGraphicFramePr>
        <p:xfrm>
          <a:off x="1147577" y="1655064"/>
          <a:ext cx="8774189" cy="4475988"/>
        </p:xfrm>
        <a:graphic>
          <a:graphicData uri="http://schemas.openxmlformats.org/drawingml/2006/table">
            <a:tbl>
              <a:tblPr/>
              <a:tblGrid>
                <a:gridCol w="23204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53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73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 of Information to Monitor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3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Errors, authentication events, API requests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3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Processes, CPU usage, file changes, login attempts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3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Connections, traffic patterns, blocked requests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3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IAM activity, API calls, configuration changes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3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 creation, execution, suspicious processes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3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Kubernetes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 activity, API requests, RBAC changes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73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attempts, queries, administrative changes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73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 logins, privilege changes, MFA events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07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MANAGEMENT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Log?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 </a:t>
            </a: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record of an event or activity that occurred within a system, application, device, or service.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825496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 Entry May Contain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3200"/>
          </a:p>
        </p:txBody>
      </p:sp>
      <p:sp>
        <p:nvSpPr>
          <p:cNvPr id="9" name="Text 7"/>
          <p:cNvSpPr/>
          <p:nvPr/>
        </p:nvSpPr>
        <p:spPr>
          <a:xfrm>
            <a:off x="777240" y="323697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291840" y="3291840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3200"/>
          </a:p>
        </p:txBody>
      </p:sp>
      <p:sp>
        <p:nvSpPr>
          <p:cNvPr id="11" name="Text 9"/>
          <p:cNvSpPr/>
          <p:nvPr/>
        </p:nvSpPr>
        <p:spPr>
          <a:xfrm>
            <a:off x="3520440" y="323697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account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3200"/>
          </a:p>
        </p:txBody>
      </p:sp>
      <p:sp>
        <p:nvSpPr>
          <p:cNvPr id="13" name="Text 11"/>
          <p:cNvSpPr/>
          <p:nvPr/>
        </p:nvSpPr>
        <p:spPr>
          <a:xfrm>
            <a:off x="777240" y="36027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IP address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291840" y="3657600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3200"/>
          </a:p>
        </p:txBody>
      </p:sp>
      <p:sp>
        <p:nvSpPr>
          <p:cNvPr id="15" name="Text 13"/>
          <p:cNvSpPr/>
          <p:nvPr/>
        </p:nvSpPr>
        <p:spPr>
          <a:xfrm>
            <a:off x="3520440" y="36027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type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3200"/>
          </a:p>
        </p:txBody>
      </p:sp>
      <p:sp>
        <p:nvSpPr>
          <p:cNvPr id="17" name="Text 15"/>
          <p:cNvSpPr/>
          <p:nvPr/>
        </p:nvSpPr>
        <p:spPr>
          <a:xfrm>
            <a:off x="777240" y="39684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accessed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291840" y="4023360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3200"/>
          </a:p>
        </p:txBody>
      </p:sp>
      <p:sp>
        <p:nvSpPr>
          <p:cNvPr id="19" name="Text 17"/>
          <p:cNvSpPr/>
          <p:nvPr/>
        </p:nvSpPr>
        <p:spPr>
          <a:xfrm>
            <a:off x="3520440" y="39684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performed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48640" y="4389120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3200"/>
          </a:p>
        </p:txBody>
      </p:sp>
      <p:sp>
        <p:nvSpPr>
          <p:cNvPr id="21" name="Text 19"/>
          <p:cNvSpPr/>
          <p:nvPr/>
        </p:nvSpPr>
        <p:spPr>
          <a:xfrm>
            <a:off x="777240" y="433425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/ failure status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291840" y="4389120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3200"/>
          </a:p>
        </p:txBody>
      </p:sp>
      <p:sp>
        <p:nvSpPr>
          <p:cNvPr id="23" name="Text 21"/>
          <p:cNvSpPr/>
          <p:nvPr/>
        </p:nvSpPr>
        <p:spPr>
          <a:xfrm>
            <a:off x="3520440" y="433425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information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492240" y="1645920"/>
            <a:ext cx="4937760" cy="1886922"/>
          </a:xfrm>
          <a:prstGeom prst="roundRect">
            <a:avLst>
              <a:gd name="adj" fmla="val 5161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LK" sz="3200"/>
          </a:p>
        </p:txBody>
      </p:sp>
      <p:sp>
        <p:nvSpPr>
          <p:cNvPr id="25" name="Text 23"/>
          <p:cNvSpPr/>
          <p:nvPr/>
        </p:nvSpPr>
        <p:spPr>
          <a:xfrm>
            <a:off x="6720840" y="17830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Log Entry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720840" y="2084832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2000" dirty="0">
                <a:solidFill>
                  <a:srgbClr val="E4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2026-08-24 10:35:21   User: admin</a:t>
            </a:r>
            <a:endParaRPr lang="en-US" sz="20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2000" dirty="0">
                <a:solidFill>
                  <a:srgbClr val="E4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IP: 203.0.113.25   Action: Login</a:t>
            </a:r>
            <a:endParaRPr lang="en-US" sz="20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2000" dirty="0">
                <a:solidFill>
                  <a:srgbClr val="E4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FAILED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492240" y="3778259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failed login may be normal. But a rapid sequence may indicate a brute-force attack: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492240" y="4684986"/>
            <a:ext cx="4937760" cy="1395774"/>
          </a:xfrm>
          <a:prstGeom prst="roundRect">
            <a:avLst>
              <a:gd name="adj" fmla="val 6087"/>
            </a:avLst>
          </a:prstGeom>
          <a:solidFill>
            <a:srgbClr val="FBEAEA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LK" sz="3200"/>
          </a:p>
        </p:txBody>
      </p:sp>
      <p:sp>
        <p:nvSpPr>
          <p:cNvPr id="29" name="Text 27"/>
          <p:cNvSpPr/>
          <p:nvPr/>
        </p:nvSpPr>
        <p:spPr>
          <a:xfrm>
            <a:off x="6720840" y="4776426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b="1" dirty="0">
                <a:solidFill>
                  <a:srgbClr val="8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10:35:21  FAILED</a:t>
            </a:r>
            <a:endParaRPr lang="en-US" dirty="0"/>
          </a:p>
          <a:p>
            <a:pPr marL="0" indent="0">
              <a:lnSpc>
                <a:spcPts val="1700"/>
              </a:lnSpc>
              <a:buNone/>
            </a:pPr>
            <a:r>
              <a:rPr lang="en-US" b="1" dirty="0">
                <a:solidFill>
                  <a:srgbClr val="8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10:35:23  FAILED</a:t>
            </a:r>
            <a:endParaRPr lang="en-US" dirty="0"/>
          </a:p>
          <a:p>
            <a:pPr marL="0" indent="0">
              <a:lnSpc>
                <a:spcPts val="1700"/>
              </a:lnSpc>
              <a:buNone/>
            </a:pPr>
            <a:r>
              <a:rPr lang="en-US" b="1" dirty="0">
                <a:solidFill>
                  <a:srgbClr val="8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10:35:25  FAILED</a:t>
            </a:r>
            <a:endParaRPr lang="en-US" dirty="0"/>
          </a:p>
          <a:p>
            <a:pPr marL="0" indent="0">
              <a:lnSpc>
                <a:spcPts val="1700"/>
              </a:lnSpc>
              <a:buNone/>
            </a:pPr>
            <a:r>
              <a:rPr lang="en-US" b="1" dirty="0">
                <a:solidFill>
                  <a:srgbClr val="8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10:35:27  FAILED</a:t>
            </a:r>
            <a:endParaRPr lang="en-US" dirty="0"/>
          </a:p>
          <a:p>
            <a:pPr marL="0" indent="0">
              <a:lnSpc>
                <a:spcPts val="1700"/>
              </a:lnSpc>
              <a:buNone/>
            </a:pPr>
            <a:r>
              <a:rPr lang="en-US" b="1" dirty="0">
                <a:solidFill>
                  <a:srgbClr val="8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10:35:29  FAILED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48640" y="51206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become valuable when they are collected and analyzed together.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07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MANAGEMENT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Security Logs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505200" cy="2011680"/>
          </a:xfrm>
          <a:prstGeom prst="roundRect">
            <a:avLst>
              <a:gd name="adj" fmla="val 3636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7" name="Shape 5"/>
          <p:cNvSpPr/>
          <p:nvPr/>
        </p:nvSpPr>
        <p:spPr>
          <a:xfrm>
            <a:off x="713232" y="183794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8" name="Text 6"/>
          <p:cNvSpPr/>
          <p:nvPr/>
        </p:nvSpPr>
        <p:spPr>
          <a:xfrm>
            <a:off x="713232" y="18379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3232" y="2203704"/>
            <a:ext cx="3176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Logs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09658" y="2560320"/>
            <a:ext cx="317601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activities, application errors, authentication events, API activities.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28160" y="1691640"/>
            <a:ext cx="3505200" cy="2011680"/>
          </a:xfrm>
          <a:prstGeom prst="roundRect">
            <a:avLst>
              <a:gd name="adj" fmla="val 3636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12" name="Shape 10"/>
          <p:cNvSpPr/>
          <p:nvPr/>
        </p:nvSpPr>
        <p:spPr>
          <a:xfrm>
            <a:off x="4492752" y="183794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13" name="Text 11"/>
          <p:cNvSpPr/>
          <p:nvPr/>
        </p:nvSpPr>
        <p:spPr>
          <a:xfrm>
            <a:off x="4492752" y="18379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92752" y="2203704"/>
            <a:ext cx="3176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 Logs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492752" y="2606040"/>
            <a:ext cx="317601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Login/logout, process execution, privilege changes, system errors.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07680" y="1691640"/>
            <a:ext cx="3505200" cy="2011680"/>
          </a:xfrm>
          <a:prstGeom prst="roundRect">
            <a:avLst>
              <a:gd name="adj" fmla="val 3636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3200"/>
          </a:p>
        </p:txBody>
      </p:sp>
      <p:sp>
        <p:nvSpPr>
          <p:cNvPr id="17" name="Shape 15"/>
          <p:cNvSpPr/>
          <p:nvPr/>
        </p:nvSpPr>
        <p:spPr>
          <a:xfrm>
            <a:off x="8272272" y="183794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400" dirty="0"/>
          </a:p>
        </p:txBody>
      </p:sp>
      <p:sp>
        <p:nvSpPr>
          <p:cNvPr id="18" name="Text 16"/>
          <p:cNvSpPr/>
          <p:nvPr/>
        </p:nvSpPr>
        <p:spPr>
          <a:xfrm>
            <a:off x="8272272" y="18379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72272" y="2203704"/>
            <a:ext cx="3176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Logs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72272" y="2587752"/>
            <a:ext cx="317601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activity, network connections, IDS/IPS alerts.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3977640"/>
            <a:ext cx="3505200" cy="2011680"/>
          </a:xfrm>
          <a:prstGeom prst="roundRect">
            <a:avLst>
              <a:gd name="adj" fmla="val 3636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22" name="Shape 20"/>
          <p:cNvSpPr/>
          <p:nvPr/>
        </p:nvSpPr>
        <p:spPr>
          <a:xfrm>
            <a:off x="713232" y="412394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23" name="Text 21"/>
          <p:cNvSpPr/>
          <p:nvPr/>
        </p:nvSpPr>
        <p:spPr>
          <a:xfrm>
            <a:off x="713232" y="41239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3232" y="4489704"/>
            <a:ext cx="3176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Audit Logs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09658" y="4873857"/>
            <a:ext cx="317601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creation/deletion, IAM changes, administrative actions, API calls.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328160" y="3977640"/>
            <a:ext cx="3505200" cy="2011680"/>
          </a:xfrm>
          <a:prstGeom prst="roundRect">
            <a:avLst>
              <a:gd name="adj" fmla="val 3636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27" name="Shape 25"/>
          <p:cNvSpPr/>
          <p:nvPr/>
        </p:nvSpPr>
        <p:spPr>
          <a:xfrm>
            <a:off x="4492752" y="412394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28" name="Text 26"/>
          <p:cNvSpPr/>
          <p:nvPr/>
        </p:nvSpPr>
        <p:spPr>
          <a:xfrm>
            <a:off x="4492752" y="41239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492752" y="4489704"/>
            <a:ext cx="3176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/ Kubernetes Logs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507992" y="4837176"/>
            <a:ext cx="317601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activity, pod events, Kubernetes API activity.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07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MANAGEMENT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Management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management </a:t>
            </a: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process of collecting, centralizing, storing, protecting, analyzing, and retaining logs generated by different systems. A centralized approach is preferable to keeping logs separately on individual systems.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2507138"/>
            <a:ext cx="2103120" cy="384048"/>
          </a:xfrm>
          <a:prstGeom prst="roundRect">
            <a:avLst>
              <a:gd name="adj" fmla="val 11905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8" name="Text 6"/>
          <p:cNvSpPr/>
          <p:nvPr/>
        </p:nvSpPr>
        <p:spPr>
          <a:xfrm>
            <a:off x="548640" y="250713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880360" y="2507138"/>
            <a:ext cx="2103120" cy="384048"/>
          </a:xfrm>
          <a:prstGeom prst="roundRect">
            <a:avLst>
              <a:gd name="adj" fmla="val 11905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0" name="Text 8"/>
          <p:cNvSpPr/>
          <p:nvPr/>
        </p:nvSpPr>
        <p:spPr>
          <a:xfrm>
            <a:off x="2880360" y="250713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010058"/>
            <a:ext cx="2103120" cy="384048"/>
          </a:xfrm>
          <a:prstGeom prst="roundRect">
            <a:avLst>
              <a:gd name="adj" fmla="val 11905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2" name="Text 10"/>
          <p:cNvSpPr/>
          <p:nvPr/>
        </p:nvSpPr>
        <p:spPr>
          <a:xfrm>
            <a:off x="548640" y="301005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880360" y="3010058"/>
            <a:ext cx="2103120" cy="384048"/>
          </a:xfrm>
          <a:prstGeom prst="roundRect">
            <a:avLst>
              <a:gd name="adj" fmla="val 11905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4" name="Text 12"/>
          <p:cNvSpPr/>
          <p:nvPr/>
        </p:nvSpPr>
        <p:spPr>
          <a:xfrm>
            <a:off x="2880360" y="301005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/ Azure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512978"/>
            <a:ext cx="2103120" cy="384048"/>
          </a:xfrm>
          <a:prstGeom prst="roundRect">
            <a:avLst>
              <a:gd name="adj" fmla="val 11905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6" name="Text 14"/>
          <p:cNvSpPr/>
          <p:nvPr/>
        </p:nvSpPr>
        <p:spPr>
          <a:xfrm>
            <a:off x="548640" y="351297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880360" y="3512978"/>
            <a:ext cx="2103120" cy="384048"/>
          </a:xfrm>
          <a:prstGeom prst="roundRect">
            <a:avLst>
              <a:gd name="adj" fmla="val 11905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8" name="Text 16"/>
          <p:cNvSpPr/>
          <p:nvPr/>
        </p:nvSpPr>
        <p:spPr>
          <a:xfrm>
            <a:off x="2880360" y="351297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74920" y="291861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5760720" y="2735738"/>
            <a:ext cx="2743200" cy="822960"/>
          </a:xfrm>
          <a:prstGeom prst="roundRect">
            <a:avLst>
              <a:gd name="adj" fmla="val 7778"/>
            </a:avLst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1" name="Text 19"/>
          <p:cNvSpPr/>
          <p:nvPr/>
        </p:nvSpPr>
        <p:spPr>
          <a:xfrm>
            <a:off x="5760720" y="2735738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Log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858000" y="355869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760720" y="3833018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4" name="Text 22"/>
          <p:cNvSpPr/>
          <p:nvPr/>
        </p:nvSpPr>
        <p:spPr>
          <a:xfrm>
            <a:off x="5760720" y="383301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 →  Alert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48640" y="4539996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48640" y="5006340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7" name="Text 25"/>
          <p:cNvSpPr/>
          <p:nvPr/>
        </p:nvSpPr>
        <p:spPr>
          <a:xfrm>
            <a:off x="777240" y="4951476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visibility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68980" y="5072634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9" name="Text 27"/>
          <p:cNvSpPr/>
          <p:nvPr/>
        </p:nvSpPr>
        <p:spPr>
          <a:xfrm>
            <a:off x="3497580" y="4912614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investigation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48640" y="5335524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31" name="Text 29"/>
          <p:cNvSpPr/>
          <p:nvPr/>
        </p:nvSpPr>
        <p:spPr>
          <a:xfrm>
            <a:off x="777240" y="5280660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threat detection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268980" y="5401818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33" name="Text 31"/>
          <p:cNvSpPr/>
          <p:nvPr/>
        </p:nvSpPr>
        <p:spPr>
          <a:xfrm>
            <a:off x="3497580" y="5241798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preservation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48640" y="5664708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35" name="Text 33"/>
          <p:cNvSpPr/>
          <p:nvPr/>
        </p:nvSpPr>
        <p:spPr>
          <a:xfrm>
            <a:off x="777240" y="5609844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support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268980" y="573100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37" name="Text 35"/>
          <p:cNvSpPr/>
          <p:nvPr/>
        </p:nvSpPr>
        <p:spPr>
          <a:xfrm>
            <a:off x="3497580" y="5570982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correlation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263640" y="4631436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BEAEA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39" name="Text 37"/>
          <p:cNvSpPr/>
          <p:nvPr/>
        </p:nvSpPr>
        <p:spPr>
          <a:xfrm>
            <a:off x="6492240" y="4631436"/>
            <a:ext cx="4892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must be protected against unauthorized deletion or modification attackers may try to remove evidence of their activities.</a:t>
            </a: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07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MANAGEMENT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Information and Event Management (SIEM)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2915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SIEM </a:t>
            </a: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collects and analyzes security information from multiple systems to identify suspicious patterns and generate alerts.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372185"/>
            <a:ext cx="1463040" cy="731520"/>
          </a:xfrm>
          <a:prstGeom prst="roundRect">
            <a:avLst>
              <a:gd name="adj" fmla="val 750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3200"/>
          </a:p>
        </p:txBody>
      </p:sp>
      <p:sp>
        <p:nvSpPr>
          <p:cNvPr id="8" name="Text 6"/>
          <p:cNvSpPr/>
          <p:nvPr/>
        </p:nvSpPr>
        <p:spPr>
          <a:xfrm>
            <a:off x="576072" y="2372185"/>
            <a:ext cx="14081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Sources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965960" y="2372185"/>
            <a:ext cx="228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148840" y="2372185"/>
            <a:ext cx="1463040" cy="731520"/>
          </a:xfrm>
          <a:prstGeom prst="roundRect">
            <a:avLst>
              <a:gd name="adj" fmla="val 750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3200"/>
          </a:p>
        </p:txBody>
      </p:sp>
      <p:sp>
        <p:nvSpPr>
          <p:cNvPr id="11" name="Text 9"/>
          <p:cNvSpPr/>
          <p:nvPr/>
        </p:nvSpPr>
        <p:spPr>
          <a:xfrm>
            <a:off x="2176272" y="2372185"/>
            <a:ext cx="14081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66160" y="2372185"/>
            <a:ext cx="228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749040" y="2372185"/>
            <a:ext cx="1463040" cy="731520"/>
          </a:xfrm>
          <a:prstGeom prst="roundRect">
            <a:avLst>
              <a:gd name="adj" fmla="val 750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3200"/>
          </a:p>
        </p:txBody>
      </p:sp>
      <p:sp>
        <p:nvSpPr>
          <p:cNvPr id="14" name="Text 12"/>
          <p:cNvSpPr/>
          <p:nvPr/>
        </p:nvSpPr>
        <p:spPr>
          <a:xfrm>
            <a:off x="3776472" y="2372185"/>
            <a:ext cx="14081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66360" y="2372185"/>
            <a:ext cx="228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349240" y="2372185"/>
            <a:ext cx="1463040" cy="731520"/>
          </a:xfrm>
          <a:prstGeom prst="roundRect">
            <a:avLst>
              <a:gd name="adj" fmla="val 750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3200"/>
          </a:p>
        </p:txBody>
      </p:sp>
      <p:sp>
        <p:nvSpPr>
          <p:cNvPr id="17" name="Text 15"/>
          <p:cNvSpPr/>
          <p:nvPr/>
        </p:nvSpPr>
        <p:spPr>
          <a:xfrm>
            <a:off x="5376672" y="2372185"/>
            <a:ext cx="14081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&amp; Analysis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66560" y="2372185"/>
            <a:ext cx="228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949440" y="2372185"/>
            <a:ext cx="1463040" cy="731520"/>
          </a:xfrm>
          <a:prstGeom prst="roundRect">
            <a:avLst>
              <a:gd name="adj" fmla="val 7500"/>
            </a:avLst>
          </a:prstGeom>
          <a:solidFill>
            <a:srgbClr val="DCEAFB"/>
          </a:solidFill>
          <a:ln w="15875">
            <a:solidFill>
              <a:srgbClr val="0090C9"/>
            </a:solidFill>
            <a:prstDash val="solid"/>
          </a:ln>
        </p:spPr>
        <p:txBody>
          <a:bodyPr/>
          <a:lstStyle/>
          <a:p>
            <a:endParaRPr lang="en-LK" sz="3200"/>
          </a:p>
        </p:txBody>
      </p:sp>
      <p:sp>
        <p:nvSpPr>
          <p:cNvPr id="20" name="Text 18"/>
          <p:cNvSpPr/>
          <p:nvPr/>
        </p:nvSpPr>
        <p:spPr>
          <a:xfrm>
            <a:off x="6976872" y="2372185"/>
            <a:ext cx="14081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Detected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66760" y="2372185"/>
            <a:ext cx="228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8549640" y="2372185"/>
            <a:ext cx="1463040" cy="731520"/>
          </a:xfrm>
          <a:prstGeom prst="roundRect">
            <a:avLst>
              <a:gd name="adj" fmla="val 7500"/>
            </a:avLst>
          </a:prstGeom>
          <a:solidFill>
            <a:srgbClr val="DCEAFB"/>
          </a:solidFill>
          <a:ln w="15875">
            <a:solidFill>
              <a:srgbClr val="0090C9"/>
            </a:solidFill>
            <a:prstDash val="solid"/>
          </a:ln>
        </p:spPr>
        <p:txBody>
          <a:bodyPr/>
          <a:lstStyle/>
          <a:p>
            <a:endParaRPr lang="en-LK" sz="3200"/>
          </a:p>
        </p:txBody>
      </p:sp>
      <p:sp>
        <p:nvSpPr>
          <p:cNvPr id="23" name="Text 21"/>
          <p:cNvSpPr/>
          <p:nvPr/>
        </p:nvSpPr>
        <p:spPr>
          <a:xfrm>
            <a:off x="8577072" y="2372185"/>
            <a:ext cx="14081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966960" y="2372185"/>
            <a:ext cx="228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10149840" y="2372185"/>
            <a:ext cx="1463040" cy="731520"/>
          </a:xfrm>
          <a:prstGeom prst="roundRect">
            <a:avLst>
              <a:gd name="adj" fmla="val 7500"/>
            </a:avLst>
          </a:prstGeom>
          <a:solidFill>
            <a:srgbClr val="DCEAFB"/>
          </a:solidFill>
          <a:ln w="15875">
            <a:solidFill>
              <a:srgbClr val="0090C9"/>
            </a:solidFill>
            <a:prstDash val="solid"/>
          </a:ln>
        </p:spPr>
        <p:txBody>
          <a:bodyPr/>
          <a:lstStyle/>
          <a:p>
            <a:endParaRPr lang="en-LK" sz="3200"/>
          </a:p>
        </p:txBody>
      </p:sp>
      <p:sp>
        <p:nvSpPr>
          <p:cNvPr id="26" name="Text 24"/>
          <p:cNvSpPr/>
          <p:nvPr/>
        </p:nvSpPr>
        <p:spPr>
          <a:xfrm>
            <a:off x="10177272" y="2372185"/>
            <a:ext cx="14081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Team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3297095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correlation reveals what individual events cannot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561147" y="3846050"/>
            <a:ext cx="2114550" cy="68580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3200"/>
          </a:p>
        </p:txBody>
      </p:sp>
      <p:sp>
        <p:nvSpPr>
          <p:cNvPr id="29" name="Text 27"/>
          <p:cNvSpPr/>
          <p:nvPr/>
        </p:nvSpPr>
        <p:spPr>
          <a:xfrm>
            <a:off x="606867" y="3846050"/>
            <a:ext cx="202311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Failed Logins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2657409" y="3846050"/>
            <a:ext cx="2651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2904297" y="3846050"/>
            <a:ext cx="2114550" cy="68580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3200"/>
          </a:p>
        </p:txBody>
      </p:sp>
      <p:sp>
        <p:nvSpPr>
          <p:cNvPr id="32" name="Text 30"/>
          <p:cNvSpPr/>
          <p:nvPr/>
        </p:nvSpPr>
        <p:spPr>
          <a:xfrm>
            <a:off x="2950017" y="3846050"/>
            <a:ext cx="202311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Login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000559" y="3846050"/>
            <a:ext cx="2651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5247447" y="3846050"/>
            <a:ext cx="2114550" cy="68580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3200"/>
          </a:p>
        </p:txBody>
      </p:sp>
      <p:sp>
        <p:nvSpPr>
          <p:cNvPr id="35" name="Text 33"/>
          <p:cNvSpPr/>
          <p:nvPr/>
        </p:nvSpPr>
        <p:spPr>
          <a:xfrm>
            <a:off x="5293167" y="3846050"/>
            <a:ext cx="202311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Administrator Created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343709" y="3846050"/>
            <a:ext cx="2651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400" dirty="0"/>
          </a:p>
        </p:txBody>
      </p:sp>
      <p:sp>
        <p:nvSpPr>
          <p:cNvPr id="37" name="Shape 35"/>
          <p:cNvSpPr/>
          <p:nvPr/>
        </p:nvSpPr>
        <p:spPr>
          <a:xfrm>
            <a:off x="7590597" y="3846050"/>
            <a:ext cx="2114550" cy="68580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3200"/>
          </a:p>
        </p:txBody>
      </p:sp>
      <p:sp>
        <p:nvSpPr>
          <p:cNvPr id="38" name="Text 36"/>
          <p:cNvSpPr/>
          <p:nvPr/>
        </p:nvSpPr>
        <p:spPr>
          <a:xfrm>
            <a:off x="7636317" y="3846050"/>
            <a:ext cx="202311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Downloaded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979467" y="3846050"/>
            <a:ext cx="1645920" cy="685800"/>
          </a:xfrm>
          <a:prstGeom prst="roundRect">
            <a:avLst>
              <a:gd name="adj" fmla="val 8000"/>
            </a:avLst>
          </a:prstGeom>
          <a:solidFill>
            <a:srgbClr val="0B3D6B"/>
          </a:solidFill>
          <a:ln/>
        </p:spPr>
        <p:txBody>
          <a:bodyPr/>
          <a:lstStyle/>
          <a:p>
            <a:endParaRPr lang="en-LK" sz="3200"/>
          </a:p>
        </p:txBody>
      </p:sp>
      <p:sp>
        <p:nvSpPr>
          <p:cNvPr id="40" name="Text 38"/>
          <p:cNvSpPr/>
          <p:nvPr/>
        </p:nvSpPr>
        <p:spPr>
          <a:xfrm>
            <a:off x="9979467" y="384605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Account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63460" y="4759925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Individually, these events may look harmless. Correlated together, they may indicate account compromise.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563880" y="528523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SIEM Platforms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563880" y="5632704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Sentinel   ·   Splunk   ·   IBM QRadar   ·   Elastic Security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07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MANAGEMENT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in DevSecOps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2560320" cy="914400"/>
          </a:xfrm>
          <a:prstGeom prst="roundRect">
            <a:avLst>
              <a:gd name="adj" fmla="val 900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7" name="Text 5"/>
          <p:cNvSpPr/>
          <p:nvPr/>
        </p:nvSpPr>
        <p:spPr>
          <a:xfrm>
            <a:off x="621792" y="1965960"/>
            <a:ext cx="24140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090672" y="1965960"/>
            <a:ext cx="310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383280" y="1965960"/>
            <a:ext cx="2560320" cy="914400"/>
          </a:xfrm>
          <a:prstGeom prst="roundRect">
            <a:avLst>
              <a:gd name="adj" fmla="val 900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0" name="Text 8"/>
          <p:cNvSpPr/>
          <p:nvPr/>
        </p:nvSpPr>
        <p:spPr>
          <a:xfrm>
            <a:off x="3456432" y="1965960"/>
            <a:ext cx="24140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925312" y="1965960"/>
            <a:ext cx="310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217920" y="1965960"/>
            <a:ext cx="2560320" cy="914400"/>
          </a:xfrm>
          <a:prstGeom prst="roundRect">
            <a:avLst>
              <a:gd name="adj" fmla="val 900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3" name="Text 11"/>
          <p:cNvSpPr/>
          <p:nvPr/>
        </p:nvSpPr>
        <p:spPr>
          <a:xfrm>
            <a:off x="6291072" y="1965960"/>
            <a:ext cx="24140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759952" y="1965960"/>
            <a:ext cx="310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052560" y="1965960"/>
            <a:ext cx="2560320" cy="914400"/>
          </a:xfrm>
          <a:prstGeom prst="roundRect">
            <a:avLst>
              <a:gd name="adj" fmla="val 900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6" name="Text 14"/>
          <p:cNvSpPr/>
          <p:nvPr/>
        </p:nvSpPr>
        <p:spPr>
          <a:xfrm>
            <a:off x="9125712" y="1965960"/>
            <a:ext cx="24140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195560" y="288036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548640" y="3383280"/>
            <a:ext cx="2560320" cy="914400"/>
          </a:xfrm>
          <a:prstGeom prst="roundRect">
            <a:avLst>
              <a:gd name="adj" fmla="val 9000"/>
            </a:avLst>
          </a:prstGeom>
          <a:solidFill>
            <a:srgbClr val="DCEAFB"/>
          </a:solidFill>
          <a:ln w="15875">
            <a:solidFill>
              <a:srgbClr val="0090C9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9" name="Text 17"/>
          <p:cNvSpPr/>
          <p:nvPr/>
        </p:nvSpPr>
        <p:spPr>
          <a:xfrm>
            <a:off x="621792" y="3383280"/>
            <a:ext cx="24140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Monitoring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090672" y="3383280"/>
            <a:ext cx="310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3383280" y="3383280"/>
            <a:ext cx="2560320" cy="914400"/>
          </a:xfrm>
          <a:prstGeom prst="roundRect">
            <a:avLst>
              <a:gd name="adj" fmla="val 9000"/>
            </a:avLst>
          </a:prstGeom>
          <a:solidFill>
            <a:srgbClr val="DCEAFB"/>
          </a:solidFill>
          <a:ln w="15875">
            <a:solidFill>
              <a:srgbClr val="0090C9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2" name="Text 20"/>
          <p:cNvSpPr/>
          <p:nvPr/>
        </p:nvSpPr>
        <p:spPr>
          <a:xfrm>
            <a:off x="3456432" y="3383280"/>
            <a:ext cx="24140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Findings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925312" y="3383280"/>
            <a:ext cx="310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6217920" y="3383280"/>
            <a:ext cx="2560320" cy="914400"/>
          </a:xfrm>
          <a:prstGeom prst="roundRect">
            <a:avLst>
              <a:gd name="adj" fmla="val 900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5" name="Text 23"/>
          <p:cNvSpPr/>
          <p:nvPr/>
        </p:nvSpPr>
        <p:spPr>
          <a:xfrm>
            <a:off x="6291072" y="3383280"/>
            <a:ext cx="24140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/ Security / Ops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if runtime monitoring repeatedly detects attacks against a particular API endpoint, that information returns to developers so the API's security controls can be improved. This is sometimes called "shifting right" using production feedback to continuously improve security.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07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3D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377440"/>
            <a:ext cx="5943600" cy="5943600"/>
          </a:xfrm>
          <a:prstGeom prst="ellipse">
            <a:avLst/>
          </a:prstGeom>
          <a:solidFill>
            <a:srgbClr val="134A7D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9875520" y="4023360"/>
            <a:ext cx="3840480" cy="3840480"/>
          </a:xfrm>
          <a:prstGeom prst="ellipse">
            <a:avLst/>
          </a:prstGeom>
          <a:solidFill>
            <a:srgbClr val="134A7D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6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3154680"/>
            <a:ext cx="10424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Intrusion Detection and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Prevention Systems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7091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F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— and stopping — malicious activity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/ IPS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Intrusion?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intrusion </a:t>
            </a: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 unauthorized or malicious activity that attempts to compromise a system, network, or application.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658276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8" name="Text 6"/>
          <p:cNvSpPr/>
          <p:nvPr/>
        </p:nvSpPr>
        <p:spPr>
          <a:xfrm>
            <a:off x="777240" y="2505456"/>
            <a:ext cx="45830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network access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263640" y="2658276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3600"/>
          </a:p>
        </p:txBody>
      </p:sp>
      <p:sp>
        <p:nvSpPr>
          <p:cNvPr id="10" name="Text 8"/>
          <p:cNvSpPr/>
          <p:nvPr/>
        </p:nvSpPr>
        <p:spPr>
          <a:xfrm>
            <a:off x="6492240" y="2491056"/>
            <a:ext cx="403912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communication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48640" y="3161196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2" name="Text 10"/>
          <p:cNvSpPr/>
          <p:nvPr/>
        </p:nvSpPr>
        <p:spPr>
          <a:xfrm>
            <a:off x="777240" y="3008376"/>
            <a:ext cx="45830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scanning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263640" y="3161196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3600"/>
          </a:p>
        </p:txBody>
      </p:sp>
      <p:sp>
        <p:nvSpPr>
          <p:cNvPr id="14" name="Text 12"/>
          <p:cNvSpPr/>
          <p:nvPr/>
        </p:nvSpPr>
        <p:spPr>
          <a:xfrm>
            <a:off x="6492240" y="299008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login attempts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48640" y="3664116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6" name="Text 14"/>
          <p:cNvSpPr/>
          <p:nvPr/>
        </p:nvSpPr>
        <p:spPr>
          <a:xfrm>
            <a:off x="777240" y="3511296"/>
            <a:ext cx="47196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 of vulnerabilities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263640" y="3664116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3600"/>
          </a:p>
        </p:txBody>
      </p:sp>
      <p:sp>
        <p:nvSpPr>
          <p:cNvPr id="18" name="Text 16"/>
          <p:cNvSpPr/>
          <p:nvPr/>
        </p:nvSpPr>
        <p:spPr>
          <a:xfrm>
            <a:off x="6492240" y="3496896"/>
            <a:ext cx="437545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network traffic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48640" y="4167036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0" name="Text 18"/>
          <p:cNvSpPr/>
          <p:nvPr/>
        </p:nvSpPr>
        <p:spPr>
          <a:xfrm>
            <a:off x="777240" y="4014216"/>
            <a:ext cx="437282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Attempts to access restricted resources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48640" y="5074920"/>
            <a:ext cx="9352105" cy="868680"/>
          </a:xfrm>
          <a:prstGeom prst="roundRect">
            <a:avLst>
              <a:gd name="adj" fmla="val 8421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2" name="Text 20"/>
          <p:cNvSpPr/>
          <p:nvPr/>
        </p:nvSpPr>
        <p:spPr>
          <a:xfrm>
            <a:off x="822960" y="507492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monitoring should identify these activities as early as possible.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07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/ IPS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Intrusion Detection System (IDS)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IDS </a:t>
            </a: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network or system activity to identify suspicious behavior or known attack patterns. When malicious activity is identified, the IDS generates an alert.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2029968" cy="868680"/>
          </a:xfrm>
          <a:prstGeom prst="roundRect">
            <a:avLst>
              <a:gd name="adj" fmla="val 7368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8" name="Text 6"/>
          <p:cNvSpPr/>
          <p:nvPr/>
        </p:nvSpPr>
        <p:spPr>
          <a:xfrm>
            <a:off x="594360" y="2788920"/>
            <a:ext cx="19385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Traffic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560320" y="2788920"/>
            <a:ext cx="2651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807208" y="2788920"/>
            <a:ext cx="2029968" cy="868680"/>
          </a:xfrm>
          <a:prstGeom prst="roundRect">
            <a:avLst>
              <a:gd name="adj" fmla="val 7368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11" name="Text 9"/>
          <p:cNvSpPr/>
          <p:nvPr/>
        </p:nvSpPr>
        <p:spPr>
          <a:xfrm>
            <a:off x="2852928" y="2788920"/>
            <a:ext cx="19385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18888" y="2788920"/>
            <a:ext cx="2651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065776" y="2788920"/>
            <a:ext cx="2029968" cy="868680"/>
          </a:xfrm>
          <a:prstGeom prst="roundRect">
            <a:avLst>
              <a:gd name="adj" fmla="val 7368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14" name="Text 12"/>
          <p:cNvSpPr/>
          <p:nvPr/>
        </p:nvSpPr>
        <p:spPr>
          <a:xfrm>
            <a:off x="5111496" y="2788920"/>
            <a:ext cx="19385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Traffic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77456" y="2788920"/>
            <a:ext cx="2651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7324344" y="2788920"/>
            <a:ext cx="2029968" cy="868680"/>
          </a:xfrm>
          <a:prstGeom prst="roundRect">
            <a:avLst>
              <a:gd name="adj" fmla="val 7368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17" name="Text 15"/>
          <p:cNvSpPr/>
          <p:nvPr/>
        </p:nvSpPr>
        <p:spPr>
          <a:xfrm>
            <a:off x="7370064" y="2788920"/>
            <a:ext cx="19385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Detected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336024" y="2788920"/>
            <a:ext cx="2651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9582912" y="2788920"/>
            <a:ext cx="2029968" cy="868680"/>
          </a:xfrm>
          <a:prstGeom prst="roundRect">
            <a:avLst>
              <a:gd name="adj" fmla="val 7368"/>
            </a:avLst>
          </a:prstGeom>
          <a:solidFill>
            <a:srgbClr val="FBEAEA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20" name="Text 18"/>
          <p:cNvSpPr/>
          <p:nvPr/>
        </p:nvSpPr>
        <p:spPr>
          <a:xfrm>
            <a:off x="9628632" y="2788920"/>
            <a:ext cx="19385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1628" y="429768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0B3D6B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22" name="Text 20"/>
          <p:cNvSpPr/>
          <p:nvPr/>
        </p:nvSpPr>
        <p:spPr>
          <a:xfrm>
            <a:off x="805948" y="42976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characteristic:  IDS detects and alerts, but normally does not automatically block the traffic.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07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/ IPS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Intrusion Prevention System (IPS)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52885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IPS </a:t>
            </a: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network traffic and can automatically take action when malicious activity is detected.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624328" y="2331720"/>
            <a:ext cx="1565910" cy="777240"/>
          </a:xfrm>
          <a:prstGeom prst="roundRect">
            <a:avLst>
              <a:gd name="adj" fmla="val 8235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8" name="Text 6"/>
          <p:cNvSpPr/>
          <p:nvPr/>
        </p:nvSpPr>
        <p:spPr>
          <a:xfrm>
            <a:off x="2651760" y="2331720"/>
            <a:ext cx="151104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171950" y="2331720"/>
            <a:ext cx="2651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418838" y="2331720"/>
            <a:ext cx="1565910" cy="777240"/>
          </a:xfrm>
          <a:prstGeom prst="roundRect">
            <a:avLst>
              <a:gd name="adj" fmla="val 8235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1" name="Text 9"/>
          <p:cNvSpPr/>
          <p:nvPr/>
        </p:nvSpPr>
        <p:spPr>
          <a:xfrm>
            <a:off x="4446270" y="2331720"/>
            <a:ext cx="151104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966460" y="2331720"/>
            <a:ext cx="2651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213348" y="2331720"/>
            <a:ext cx="1565910" cy="777240"/>
          </a:xfrm>
          <a:prstGeom prst="roundRect">
            <a:avLst>
              <a:gd name="adj" fmla="val 8235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4" name="Text 12"/>
          <p:cNvSpPr/>
          <p:nvPr/>
        </p:nvSpPr>
        <p:spPr>
          <a:xfrm>
            <a:off x="6240780" y="2331720"/>
            <a:ext cx="151104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760970" y="2331720"/>
            <a:ext cx="2651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007858" y="2331720"/>
            <a:ext cx="1565910" cy="777240"/>
          </a:xfrm>
          <a:prstGeom prst="roundRect">
            <a:avLst>
              <a:gd name="adj" fmla="val 8235"/>
            </a:avLst>
          </a:prstGeom>
          <a:solidFill>
            <a:srgbClr val="DCEAFB"/>
          </a:solidFill>
          <a:ln w="15875">
            <a:solidFill>
              <a:srgbClr val="0090C9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7" name="Text 15"/>
          <p:cNvSpPr/>
          <p:nvPr/>
        </p:nvSpPr>
        <p:spPr>
          <a:xfrm>
            <a:off x="8035290" y="2331720"/>
            <a:ext cx="151104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Malicious?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967853" y="3108960"/>
            <a:ext cx="731520" cy="5088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642098" y="32461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882253" y="31089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9144000" y="323835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007733" y="3617834"/>
            <a:ext cx="1691640" cy="548640"/>
          </a:xfrm>
          <a:prstGeom prst="roundRect">
            <a:avLst>
              <a:gd name="adj" fmla="val 1000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3" name="Text 21"/>
          <p:cNvSpPr/>
          <p:nvPr/>
        </p:nvSpPr>
        <p:spPr>
          <a:xfrm>
            <a:off x="7007733" y="3617834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8882253" y="3617834"/>
            <a:ext cx="1691640" cy="548640"/>
          </a:xfrm>
          <a:prstGeom prst="roundRect">
            <a:avLst>
              <a:gd name="adj" fmla="val 10000"/>
            </a:avLst>
          </a:prstGeom>
          <a:solidFill>
            <a:srgbClr val="FBEAEA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5" name="Text 23"/>
          <p:cNvSpPr/>
          <p:nvPr/>
        </p:nvSpPr>
        <p:spPr>
          <a:xfrm>
            <a:off x="8882253" y="3617834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48640" y="43434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IPS May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48640" y="500772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8" name="Text 26"/>
          <p:cNvSpPr/>
          <p:nvPr/>
        </p:nvSpPr>
        <p:spPr>
          <a:xfrm>
            <a:off x="777240" y="493457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malicious packets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2761488" y="500772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30" name="Text 28"/>
          <p:cNvSpPr/>
          <p:nvPr/>
        </p:nvSpPr>
        <p:spPr>
          <a:xfrm>
            <a:off x="2990088" y="493457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 connection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974336" y="500772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32" name="Text 30"/>
          <p:cNvSpPr/>
          <p:nvPr/>
        </p:nvSpPr>
        <p:spPr>
          <a:xfrm>
            <a:off x="5202936" y="493457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an IP address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187184" y="500772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34" name="Text 32"/>
          <p:cNvSpPr/>
          <p:nvPr/>
        </p:nvSpPr>
        <p:spPr>
          <a:xfrm>
            <a:off x="7415784" y="493457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a connection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400032" y="500772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36" name="Text 34"/>
          <p:cNvSpPr/>
          <p:nvPr/>
        </p:nvSpPr>
        <p:spPr>
          <a:xfrm>
            <a:off x="9628632" y="493457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 alert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/ IPS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IDS vs IPS</a:t>
            </a:r>
            <a:endParaRPr lang="en-US" sz="3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077057"/>
              </p:ext>
            </p:extLst>
          </p:nvPr>
        </p:nvGraphicFramePr>
        <p:xfrm>
          <a:off x="548640" y="1563624"/>
          <a:ext cx="11064240" cy="2651760"/>
        </p:xfrm>
        <a:graphic>
          <a:graphicData uri="http://schemas.openxmlformats.org/drawingml/2006/table">
            <a:tbl>
              <a:tblPr/>
              <a:tblGrid>
                <a:gridCol w="553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Intrusion Detection System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Intrusion Prevention System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Detects malicious activity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Detects and prevents malicious activity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Primarily generates alerts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automatically block attacks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Usually passive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/ in-line control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not normally interrupt traffic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interrupt malicious traffic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B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5720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Way to Remember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548640" y="493776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9" name="Text 6"/>
          <p:cNvSpPr/>
          <p:nvPr/>
        </p:nvSpPr>
        <p:spPr>
          <a:xfrm>
            <a:off x="777240" y="4937760"/>
            <a:ext cx="4892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</a:rPr>
              <a:t>IDS = Security Alarm
</a:t>
            </a:r>
            <a:r>
              <a:rPr lang="en-US" sz="1600" dirty="0">
                <a:solidFill>
                  <a:srgbClr val="1B2733"/>
                </a:solidFill>
              </a:rPr>
              <a:t>It detects someone entering and raises an alarm.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6263640" y="493776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DCEAFB"/>
          </a:solidFill>
          <a:ln w="12700">
            <a:solidFill>
              <a:srgbClr val="0090C9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11" name="Text 8"/>
          <p:cNvSpPr/>
          <p:nvPr/>
        </p:nvSpPr>
        <p:spPr>
          <a:xfrm>
            <a:off x="6492240" y="4937760"/>
            <a:ext cx="4892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</a:rPr>
              <a:t>IPS = Security Guard
</a:t>
            </a:r>
            <a:r>
              <a:rPr lang="en-US" sz="1600" dirty="0">
                <a:solidFill>
                  <a:srgbClr val="1B2733"/>
                </a:solidFill>
              </a:rPr>
              <a:t>It detects the intruder and attempts to stop them.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07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/ IPS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IDS/IPS Detection Techniques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7" name="Text 5"/>
          <p:cNvSpPr/>
          <p:nvPr/>
        </p:nvSpPr>
        <p:spPr>
          <a:xfrm>
            <a:off x="822960" y="1892808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Signature-Based Detection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64002" y="2624328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9" name="Text 7"/>
          <p:cNvSpPr/>
          <p:nvPr/>
        </p:nvSpPr>
        <p:spPr>
          <a:xfrm>
            <a:off x="1078992" y="24688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activities against known attack patterns or signatures.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864002" y="3335540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1" name="Text 9"/>
          <p:cNvSpPr/>
          <p:nvPr/>
        </p:nvSpPr>
        <p:spPr>
          <a:xfrm>
            <a:off x="1097280" y="3191256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Advantage:  Effective against known attacks; generally lower false positives for well-defined signatures.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78992" y="4247388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 May fail to identify new or unknown attacks.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263640" y="169164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5" name="Text 13"/>
          <p:cNvSpPr/>
          <p:nvPr/>
        </p:nvSpPr>
        <p:spPr>
          <a:xfrm>
            <a:off x="6537960" y="1892808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Anomaly-Based Detection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572197" y="2624328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7" name="Text 15"/>
          <p:cNvSpPr/>
          <p:nvPr/>
        </p:nvSpPr>
        <p:spPr>
          <a:xfrm>
            <a:off x="6793992" y="24688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baseline of normal behavior and identifies significant deviations.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666614" y="4137660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9" name="Text 17"/>
          <p:cNvSpPr/>
          <p:nvPr/>
        </p:nvSpPr>
        <p:spPr>
          <a:xfrm>
            <a:off x="6812280" y="320040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Advantage:  Can identify previously unknown or unusual attacks.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574536" y="3360420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1" name="Text 19"/>
          <p:cNvSpPr/>
          <p:nvPr/>
        </p:nvSpPr>
        <p:spPr>
          <a:xfrm>
            <a:off x="6812280" y="3972324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 May produce more false positives; requires understanding of normal behavior.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07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9CF06562-D925-ADFD-C847-50284094B8AF}"/>
              </a:ext>
            </a:extLst>
          </p:cNvPr>
          <p:cNvSpPr/>
          <p:nvPr/>
        </p:nvSpPr>
        <p:spPr>
          <a:xfrm>
            <a:off x="888457" y="4381039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3D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377440"/>
            <a:ext cx="5943600" cy="5943600"/>
          </a:xfrm>
          <a:prstGeom prst="ellipse">
            <a:avLst/>
          </a:prstGeom>
          <a:solidFill>
            <a:srgbClr val="134A7D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9875520" y="4023360"/>
            <a:ext cx="3840480" cy="3840480"/>
          </a:xfrm>
          <a:prstGeom prst="ellipse">
            <a:avLst/>
          </a:prstGeom>
          <a:solidFill>
            <a:srgbClr val="134A7D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6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3154680"/>
            <a:ext cx="84518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 Response Planning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Execution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709160"/>
            <a:ext cx="742790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F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for, and acting during, a security incident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Security Incident?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7" name="Text 5"/>
          <p:cNvSpPr/>
          <p:nvPr/>
        </p:nvSpPr>
        <p:spPr>
          <a:xfrm>
            <a:off x="777240" y="169164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</a:rPr>
              <a:t>Security Event
</a:t>
            </a:r>
            <a:r>
              <a:rPr lang="en-US" dirty="0">
                <a:solidFill>
                  <a:srgbClr val="1B2733"/>
                </a:solidFill>
              </a:rPr>
              <a:t>An observable occurrence within a system or network.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DCEAFB"/>
          </a:solidFill>
          <a:ln w="12700">
            <a:solidFill>
              <a:srgbClr val="0090C9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9" name="Text 7"/>
          <p:cNvSpPr/>
          <p:nvPr/>
        </p:nvSpPr>
        <p:spPr>
          <a:xfrm>
            <a:off x="6492240" y="169164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</a:rPr>
              <a:t>Security Incident
</a:t>
            </a:r>
            <a:r>
              <a:rPr lang="en-US" dirty="0">
                <a:solidFill>
                  <a:srgbClr val="1B2733"/>
                </a:solidFill>
              </a:rPr>
              <a:t>An event, or group of events, that actually or potentially compromises security or violates policy.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63880" y="3372754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of Security Incidents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63880" y="4005391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2" name="Text 10"/>
          <p:cNvSpPr/>
          <p:nvPr/>
        </p:nvSpPr>
        <p:spPr>
          <a:xfrm>
            <a:off x="792480" y="3932239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unauthorized access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325368" y="4078012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4" name="Text 12"/>
          <p:cNvSpPr/>
          <p:nvPr/>
        </p:nvSpPr>
        <p:spPr>
          <a:xfrm>
            <a:off x="3535680" y="3932239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infection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50280" y="4070462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6" name="Text 14"/>
          <p:cNvSpPr/>
          <p:nvPr/>
        </p:nvSpPr>
        <p:spPr>
          <a:xfrm>
            <a:off x="6278880" y="3932239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811768" y="4060255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8" name="Text 16"/>
          <p:cNvSpPr/>
          <p:nvPr/>
        </p:nvSpPr>
        <p:spPr>
          <a:xfrm>
            <a:off x="9022080" y="3932239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breach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55303" y="4483856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0" name="Text 18"/>
          <p:cNvSpPr/>
          <p:nvPr/>
        </p:nvSpPr>
        <p:spPr>
          <a:xfrm>
            <a:off x="806196" y="4464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Compromised cloud account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307080" y="4416871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2" name="Text 20"/>
          <p:cNvSpPr/>
          <p:nvPr/>
        </p:nvSpPr>
        <p:spPr>
          <a:xfrm>
            <a:off x="3535680" y="4343719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privilege escalation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050280" y="4529682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4" name="Text 22"/>
          <p:cNvSpPr/>
          <p:nvPr/>
        </p:nvSpPr>
        <p:spPr>
          <a:xfrm>
            <a:off x="6278880" y="4343719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Compromised container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811768" y="4500337"/>
            <a:ext cx="109728" cy="109728"/>
          </a:xfrm>
          <a:prstGeom prst="ellipse">
            <a:avLst/>
          </a:prstGeom>
          <a:solidFill>
            <a:srgbClr val="B23A3A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6" name="Text 24"/>
          <p:cNvSpPr/>
          <p:nvPr/>
        </p:nvSpPr>
        <p:spPr>
          <a:xfrm>
            <a:off x="9022080" y="4343719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Denial-of-Service attack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03504" y="5134356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security event becomes a security incident.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07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Incident Response?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45336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(IR) </a:t>
            </a: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organized process used by an organization to prepare for, detect, analyze, contain, eradicate, and recover from cybersecurity incidents.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8640" y="249631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Objectives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48640" y="304495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9" name="Text 7"/>
          <p:cNvSpPr/>
          <p:nvPr/>
        </p:nvSpPr>
        <p:spPr>
          <a:xfrm>
            <a:off x="777240" y="297180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damage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251960" y="304495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1" name="Text 9"/>
          <p:cNvSpPr/>
          <p:nvPr/>
        </p:nvSpPr>
        <p:spPr>
          <a:xfrm>
            <a:off x="4480560" y="297180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ongoing attacks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7955280" y="304495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3" name="Text 11"/>
          <p:cNvSpPr/>
          <p:nvPr/>
        </p:nvSpPr>
        <p:spPr>
          <a:xfrm>
            <a:off x="8183880" y="297180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affected assets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48640" y="350215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5" name="Text 13"/>
          <p:cNvSpPr/>
          <p:nvPr/>
        </p:nvSpPr>
        <p:spPr>
          <a:xfrm>
            <a:off x="777240" y="342900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normal operations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251960" y="350215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7" name="Text 15"/>
          <p:cNvSpPr/>
          <p:nvPr/>
        </p:nvSpPr>
        <p:spPr>
          <a:xfrm>
            <a:off x="4480560" y="342900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evidence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7955280" y="350215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9" name="Text 17"/>
          <p:cNvSpPr/>
          <p:nvPr/>
        </p:nvSpPr>
        <p:spPr>
          <a:xfrm>
            <a:off x="8183880" y="342900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the root cause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48640" y="3959352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1" name="Text 19"/>
          <p:cNvSpPr/>
          <p:nvPr/>
        </p:nvSpPr>
        <p:spPr>
          <a:xfrm>
            <a:off x="777240" y="388620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recurrence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63880" y="4700016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0B3D6B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23" name="Text 21"/>
          <p:cNvSpPr/>
          <p:nvPr/>
        </p:nvSpPr>
        <p:spPr>
          <a:xfrm>
            <a:off x="838200" y="4700016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an incident response plan, organizations may respond slowly or inconsistently during an attack.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07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 Response Lifecycle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505200" cy="1920240"/>
          </a:xfrm>
          <a:prstGeom prst="roundRect">
            <a:avLst>
              <a:gd name="adj" fmla="val 381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7" name="Shape 5"/>
          <p:cNvSpPr/>
          <p:nvPr/>
        </p:nvSpPr>
        <p:spPr>
          <a:xfrm>
            <a:off x="713232" y="183794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000" dirty="0"/>
          </a:p>
        </p:txBody>
      </p:sp>
      <p:sp>
        <p:nvSpPr>
          <p:cNvPr id="8" name="Text 6"/>
          <p:cNvSpPr/>
          <p:nvPr/>
        </p:nvSpPr>
        <p:spPr>
          <a:xfrm>
            <a:off x="713232" y="18379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" y="2249211"/>
            <a:ext cx="3176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Preparation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13232" y="2541819"/>
            <a:ext cx="3176016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plan, roles, communication procedures, monitoring, backups, security tools.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28160" y="1691640"/>
            <a:ext cx="3505200" cy="1920240"/>
          </a:xfrm>
          <a:prstGeom prst="roundRect">
            <a:avLst>
              <a:gd name="adj" fmla="val 381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000"/>
          </a:p>
        </p:txBody>
      </p:sp>
      <p:sp>
        <p:nvSpPr>
          <p:cNvPr id="12" name="Shape 10"/>
          <p:cNvSpPr/>
          <p:nvPr/>
        </p:nvSpPr>
        <p:spPr>
          <a:xfrm>
            <a:off x="4492752" y="183794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000"/>
          </a:p>
        </p:txBody>
      </p:sp>
      <p:sp>
        <p:nvSpPr>
          <p:cNvPr id="13" name="Text 11"/>
          <p:cNvSpPr/>
          <p:nvPr/>
        </p:nvSpPr>
        <p:spPr>
          <a:xfrm>
            <a:off x="4492752" y="18379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92752" y="2249211"/>
            <a:ext cx="3176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Detection &amp; Analysis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492752" y="2541819"/>
            <a:ext cx="3176016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alerts, review logs, determine affected systems and severity.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07680" y="1691640"/>
            <a:ext cx="3505200" cy="1920240"/>
          </a:xfrm>
          <a:prstGeom prst="roundRect">
            <a:avLst>
              <a:gd name="adj" fmla="val 381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000"/>
          </a:p>
        </p:txBody>
      </p:sp>
      <p:sp>
        <p:nvSpPr>
          <p:cNvPr id="17" name="Shape 15"/>
          <p:cNvSpPr/>
          <p:nvPr/>
        </p:nvSpPr>
        <p:spPr>
          <a:xfrm>
            <a:off x="8272272" y="183794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000"/>
          </a:p>
        </p:txBody>
      </p:sp>
      <p:sp>
        <p:nvSpPr>
          <p:cNvPr id="18" name="Text 16"/>
          <p:cNvSpPr/>
          <p:nvPr/>
        </p:nvSpPr>
        <p:spPr>
          <a:xfrm>
            <a:off x="8272272" y="18379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72272" y="2249211"/>
            <a:ext cx="3176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Containment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72272" y="2541819"/>
            <a:ext cx="3176016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compromised machine/container, disable account, block malicious IP.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3886200"/>
            <a:ext cx="3505200" cy="1920240"/>
          </a:xfrm>
          <a:prstGeom prst="roundRect">
            <a:avLst>
              <a:gd name="adj" fmla="val 381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000"/>
          </a:p>
        </p:txBody>
      </p:sp>
      <p:sp>
        <p:nvSpPr>
          <p:cNvPr id="22" name="Shape 20"/>
          <p:cNvSpPr/>
          <p:nvPr/>
        </p:nvSpPr>
        <p:spPr>
          <a:xfrm>
            <a:off x="713232" y="403250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000"/>
          </a:p>
        </p:txBody>
      </p:sp>
      <p:sp>
        <p:nvSpPr>
          <p:cNvPr id="23" name="Text 21"/>
          <p:cNvSpPr/>
          <p:nvPr/>
        </p:nvSpPr>
        <p:spPr>
          <a:xfrm>
            <a:off x="713232" y="40325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13232" y="4425696"/>
            <a:ext cx="3176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Eradication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13232" y="4718304"/>
            <a:ext cx="3176016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malware, patch vulnerability, delete malicious accounts, fix config.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328160" y="3886200"/>
            <a:ext cx="3505200" cy="1920240"/>
          </a:xfrm>
          <a:prstGeom prst="roundRect">
            <a:avLst>
              <a:gd name="adj" fmla="val 381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000"/>
          </a:p>
        </p:txBody>
      </p:sp>
      <p:sp>
        <p:nvSpPr>
          <p:cNvPr id="27" name="Shape 25"/>
          <p:cNvSpPr/>
          <p:nvPr/>
        </p:nvSpPr>
        <p:spPr>
          <a:xfrm>
            <a:off x="4492752" y="403250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000"/>
          </a:p>
        </p:txBody>
      </p:sp>
      <p:sp>
        <p:nvSpPr>
          <p:cNvPr id="28" name="Text 26"/>
          <p:cNvSpPr/>
          <p:nvPr/>
        </p:nvSpPr>
        <p:spPr>
          <a:xfrm>
            <a:off x="4492752" y="40325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492752" y="4425696"/>
            <a:ext cx="3176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Recovery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492752" y="4718304"/>
            <a:ext cx="3176016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from clean backups, reconnect systems, monitor for further attacks.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107680" y="3886200"/>
            <a:ext cx="3505200" cy="1920240"/>
          </a:xfrm>
          <a:prstGeom prst="roundRect">
            <a:avLst>
              <a:gd name="adj" fmla="val 3810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000"/>
          </a:p>
        </p:txBody>
      </p:sp>
      <p:sp>
        <p:nvSpPr>
          <p:cNvPr id="32" name="Shape 30"/>
          <p:cNvSpPr/>
          <p:nvPr/>
        </p:nvSpPr>
        <p:spPr>
          <a:xfrm>
            <a:off x="8272272" y="4032504"/>
            <a:ext cx="310896" cy="310896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000"/>
          </a:p>
        </p:txBody>
      </p:sp>
      <p:sp>
        <p:nvSpPr>
          <p:cNvPr id="33" name="Text 31"/>
          <p:cNvSpPr/>
          <p:nvPr/>
        </p:nvSpPr>
        <p:spPr>
          <a:xfrm>
            <a:off x="8272272" y="40325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272272" y="4425696"/>
            <a:ext cx="3176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Lessons Learned</a:t>
            </a: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8272272" y="4718304"/>
            <a:ext cx="3176016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incident and improve security controls.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 Response Roles and Responsibilities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66928" y="1911096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7" name="Text 5"/>
          <p:cNvSpPr/>
          <p:nvPr/>
        </p:nvSpPr>
        <p:spPr>
          <a:xfrm>
            <a:off x="841248" y="1737360"/>
            <a:ext cx="10744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Team —  </a:t>
            </a: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the response.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66928" y="2368296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9" name="Text 7"/>
          <p:cNvSpPr/>
          <p:nvPr/>
        </p:nvSpPr>
        <p:spPr>
          <a:xfrm>
            <a:off x="841248" y="2194560"/>
            <a:ext cx="10744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Analysts —  </a:t>
            </a: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alerts and evidence.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66928" y="2825496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11" name="Text 9"/>
          <p:cNvSpPr/>
          <p:nvPr/>
        </p:nvSpPr>
        <p:spPr>
          <a:xfrm>
            <a:off x="841248" y="2651760"/>
            <a:ext cx="10744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/ Cloud Administrators —  </a:t>
            </a: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and restore infrastructure.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66928" y="3282696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13" name="Text 11"/>
          <p:cNvSpPr/>
          <p:nvPr/>
        </p:nvSpPr>
        <p:spPr>
          <a:xfrm>
            <a:off x="841248" y="3108960"/>
            <a:ext cx="10744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/ DevOps Engineers —  </a:t>
            </a: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application and pipeline issues.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66928" y="3739896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15" name="Text 13"/>
          <p:cNvSpPr/>
          <p:nvPr/>
        </p:nvSpPr>
        <p:spPr>
          <a:xfrm>
            <a:off x="841248" y="3566160"/>
            <a:ext cx="10744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—  </a:t>
            </a: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business-level decisions.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66928" y="4197096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17" name="Text 15"/>
          <p:cNvSpPr/>
          <p:nvPr/>
        </p:nvSpPr>
        <p:spPr>
          <a:xfrm>
            <a:off x="841248" y="4023360"/>
            <a:ext cx="10744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/ Compliance Teams —  </a:t>
            </a: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regulatory and reporting requirements.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66928" y="4654296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400"/>
          </a:p>
        </p:txBody>
      </p:sp>
      <p:sp>
        <p:nvSpPr>
          <p:cNvPr id="19" name="Text 17"/>
          <p:cNvSpPr/>
          <p:nvPr/>
        </p:nvSpPr>
        <p:spPr>
          <a:xfrm>
            <a:off x="841248" y="4480560"/>
            <a:ext cx="10744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Team —  </a:t>
            </a: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internal / external communication where required.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07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538581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400"/>
          </a:p>
        </p:txBody>
      </p:sp>
      <p:sp>
        <p:nvSpPr>
          <p:cNvPr id="23" name="Text 21"/>
          <p:cNvSpPr/>
          <p:nvPr/>
        </p:nvSpPr>
        <p:spPr>
          <a:xfrm>
            <a:off x="822960" y="5385816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improves incident response because developers, operations personnel, and security specialists collaborate rather than operating as completely separate teams.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3D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377440"/>
            <a:ext cx="5943600" cy="5943600"/>
          </a:xfrm>
          <a:prstGeom prst="ellipse">
            <a:avLst/>
          </a:prstGeom>
          <a:solidFill>
            <a:srgbClr val="134A7D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9875520" y="4023360"/>
            <a:ext cx="3840480" cy="3840480"/>
          </a:xfrm>
          <a:prstGeom prst="ellipse">
            <a:avLst/>
          </a:prstGeom>
          <a:solidFill>
            <a:srgbClr val="134A7D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6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3154680"/>
            <a:ext cx="10424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Incident Investigation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Digital Forensics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5720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F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Reconstructing what happened, and proving it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Incident Investigation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2704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investigation attempts to determine: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2112264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8" name="Text 6"/>
          <p:cNvSpPr/>
          <p:nvPr/>
        </p:nvSpPr>
        <p:spPr>
          <a:xfrm>
            <a:off x="777240" y="2057400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happened?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48640" y="2478024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0" name="Text 8"/>
          <p:cNvSpPr/>
          <p:nvPr/>
        </p:nvSpPr>
        <p:spPr>
          <a:xfrm>
            <a:off x="777240" y="2423160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did it happen?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48640" y="2843784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2" name="Text 10"/>
          <p:cNvSpPr/>
          <p:nvPr/>
        </p:nvSpPr>
        <p:spPr>
          <a:xfrm>
            <a:off x="777240" y="2788920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the attacker gain access?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48640" y="3209544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4" name="Text 12"/>
          <p:cNvSpPr/>
          <p:nvPr/>
        </p:nvSpPr>
        <p:spPr>
          <a:xfrm>
            <a:off x="777240" y="3154680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systems were affected?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48640" y="3575304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6" name="Text 14"/>
          <p:cNvSpPr/>
          <p:nvPr/>
        </p:nvSpPr>
        <p:spPr>
          <a:xfrm>
            <a:off x="777240" y="3520440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accounts were compromised?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48640" y="3941064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8" name="Text 16"/>
          <p:cNvSpPr/>
          <p:nvPr/>
        </p:nvSpPr>
        <p:spPr>
          <a:xfrm>
            <a:off x="777240" y="3886200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actions did the attacker perform?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48640" y="4306824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0" name="Text 18"/>
          <p:cNvSpPr/>
          <p:nvPr/>
        </p:nvSpPr>
        <p:spPr>
          <a:xfrm>
            <a:off x="777240" y="4251960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data accessed or stolen?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48640" y="4672584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2" name="Text 20"/>
          <p:cNvSpPr/>
          <p:nvPr/>
        </p:nvSpPr>
        <p:spPr>
          <a:xfrm>
            <a:off x="777240" y="4617720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attacker still present?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48640" y="5038344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4" name="Text 22"/>
          <p:cNvSpPr/>
          <p:nvPr/>
        </p:nvSpPr>
        <p:spPr>
          <a:xfrm>
            <a:off x="777240" y="4983480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vulnerability caused the incident?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477354" y="1591056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Reconstructing the Attack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6492240" y="2057400"/>
            <a:ext cx="4937760" cy="384048"/>
          </a:xfrm>
          <a:prstGeom prst="roundRect">
            <a:avLst>
              <a:gd name="adj" fmla="val 11905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7" name="Text 25"/>
          <p:cNvSpPr/>
          <p:nvPr/>
        </p:nvSpPr>
        <p:spPr>
          <a:xfrm>
            <a:off x="6492240" y="205740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492240" y="2441448"/>
            <a:ext cx="4937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92240" y="2587752"/>
            <a:ext cx="4937760" cy="384048"/>
          </a:xfrm>
          <a:prstGeom prst="roundRect">
            <a:avLst>
              <a:gd name="adj" fmla="val 11905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30" name="Text 28"/>
          <p:cNvSpPr/>
          <p:nvPr/>
        </p:nvSpPr>
        <p:spPr>
          <a:xfrm>
            <a:off x="6492240" y="2587752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Data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492240" y="2971800"/>
            <a:ext cx="4937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92240" y="3118104"/>
            <a:ext cx="4937760" cy="384048"/>
          </a:xfrm>
          <a:prstGeom prst="roundRect">
            <a:avLst>
              <a:gd name="adj" fmla="val 11905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33" name="Text 31"/>
          <p:cNvSpPr/>
          <p:nvPr/>
        </p:nvSpPr>
        <p:spPr>
          <a:xfrm>
            <a:off x="6492240" y="3118104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Evidence</a:t>
            </a: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492240" y="3502152"/>
            <a:ext cx="4937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92240" y="3648456"/>
            <a:ext cx="4937760" cy="384048"/>
          </a:xfrm>
          <a:prstGeom prst="roundRect">
            <a:avLst>
              <a:gd name="adj" fmla="val 11905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36" name="Text 34"/>
          <p:cNvSpPr/>
          <p:nvPr/>
        </p:nvSpPr>
        <p:spPr>
          <a:xfrm>
            <a:off x="6492240" y="3648456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Audit Records</a:t>
            </a: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492240" y="4032504"/>
            <a:ext cx="4937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92240" y="4178808"/>
            <a:ext cx="4937760" cy="384048"/>
          </a:xfrm>
          <a:prstGeom prst="roundRect">
            <a:avLst>
              <a:gd name="adj" fmla="val 11905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39" name="Text 37"/>
          <p:cNvSpPr/>
          <p:nvPr/>
        </p:nvSpPr>
        <p:spPr>
          <a:xfrm>
            <a:off x="6492240" y="417880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Evidence</a:t>
            </a: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8823960" y="4654296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6492240" y="4910328"/>
            <a:ext cx="4937760" cy="384048"/>
          </a:xfrm>
          <a:prstGeom prst="roundRect">
            <a:avLst>
              <a:gd name="adj" fmla="val 11905"/>
            </a:avLst>
          </a:prstGeom>
          <a:solidFill>
            <a:srgbClr val="DCEAFB"/>
          </a:solidFill>
          <a:ln w="12700">
            <a:solidFill>
              <a:srgbClr val="0090C9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42" name="Text 40"/>
          <p:cNvSpPr/>
          <p:nvPr/>
        </p:nvSpPr>
        <p:spPr>
          <a:xfrm>
            <a:off x="6492240" y="491032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Timeline</a:t>
            </a: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8823960" y="5294376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6492240" y="5550408"/>
            <a:ext cx="4937760" cy="384048"/>
          </a:xfrm>
          <a:prstGeom prst="roundRect">
            <a:avLst>
              <a:gd name="adj" fmla="val 11905"/>
            </a:avLst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45" name="Text 43"/>
          <p:cNvSpPr/>
          <p:nvPr/>
        </p:nvSpPr>
        <p:spPr>
          <a:xfrm>
            <a:off x="6492240" y="555040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07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Forensics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8510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forensics </a:t>
            </a: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systematic process of identifying, collecting, preserving, examining, analyzing, and reporting digital evidence related to a security incident.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Evidence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980944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9" name="Text 7"/>
          <p:cNvSpPr/>
          <p:nvPr/>
        </p:nvSpPr>
        <p:spPr>
          <a:xfrm>
            <a:off x="777240" y="292608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logs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0" y="2980944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1" name="Text 9"/>
          <p:cNvSpPr/>
          <p:nvPr/>
        </p:nvSpPr>
        <p:spPr>
          <a:xfrm>
            <a:off x="2971800" y="292608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logs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937760" y="2980944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3" name="Text 11"/>
          <p:cNvSpPr/>
          <p:nvPr/>
        </p:nvSpPr>
        <p:spPr>
          <a:xfrm>
            <a:off x="5166360" y="292608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captures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132320" y="2980944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5" name="Text 13"/>
          <p:cNvSpPr/>
          <p:nvPr/>
        </p:nvSpPr>
        <p:spPr>
          <a:xfrm>
            <a:off x="7360920" y="292608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326880" y="2980944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7" name="Text 15"/>
          <p:cNvSpPr/>
          <p:nvPr/>
        </p:nvSpPr>
        <p:spPr>
          <a:xfrm>
            <a:off x="9555480" y="292608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3392424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9" name="Text 17"/>
          <p:cNvSpPr/>
          <p:nvPr/>
        </p:nvSpPr>
        <p:spPr>
          <a:xfrm>
            <a:off x="777240" y="333756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images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743200" y="3392424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1" name="Text 19"/>
          <p:cNvSpPr/>
          <p:nvPr/>
        </p:nvSpPr>
        <p:spPr>
          <a:xfrm>
            <a:off x="2971800" y="333756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937760" y="3392424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3" name="Text 21"/>
          <p:cNvSpPr/>
          <p:nvPr/>
        </p:nvSpPr>
        <p:spPr>
          <a:xfrm>
            <a:off x="5166360" y="333756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audit logs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132320" y="3392424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5" name="Text 23"/>
          <p:cNvSpPr/>
          <p:nvPr/>
        </p:nvSpPr>
        <p:spPr>
          <a:xfrm>
            <a:off x="7360920" y="333756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records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326880" y="3392424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7" name="Text 25"/>
          <p:cNvSpPr/>
          <p:nvPr/>
        </p:nvSpPr>
        <p:spPr>
          <a:xfrm>
            <a:off x="9555480" y="333756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logs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8640" y="4300445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BEAEA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9" name="Text 27"/>
          <p:cNvSpPr/>
          <p:nvPr/>
        </p:nvSpPr>
        <p:spPr>
          <a:xfrm>
            <a:off x="822960" y="4300445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evidence should be handled carefully, improper handling can modify or destroy important evidence.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07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Digital Forensics Process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19072"/>
            <a:ext cx="384048" cy="384048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000"/>
          </a:p>
        </p:txBody>
      </p:sp>
      <p:sp>
        <p:nvSpPr>
          <p:cNvPr id="7" name="Text 5"/>
          <p:cNvSpPr/>
          <p:nvPr/>
        </p:nvSpPr>
        <p:spPr>
          <a:xfrm>
            <a:off x="548640" y="1719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0704" y="167335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60704" y="1965960"/>
            <a:ext cx="480060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potential sources of evidence.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999232"/>
            <a:ext cx="384048" cy="384048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000"/>
          </a:p>
        </p:txBody>
      </p:sp>
      <p:sp>
        <p:nvSpPr>
          <p:cNvPr id="11" name="Text 9"/>
          <p:cNvSpPr/>
          <p:nvPr/>
        </p:nvSpPr>
        <p:spPr>
          <a:xfrm>
            <a:off x="548640" y="29992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60704" y="295351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60704" y="3246120"/>
            <a:ext cx="480060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relevant digital evidence.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279392"/>
            <a:ext cx="384048" cy="384048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000"/>
          </a:p>
        </p:txBody>
      </p:sp>
      <p:sp>
        <p:nvSpPr>
          <p:cNvPr id="15" name="Text 13"/>
          <p:cNvSpPr/>
          <p:nvPr/>
        </p:nvSpPr>
        <p:spPr>
          <a:xfrm>
            <a:off x="548640" y="42793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60704" y="423367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Preservation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60704" y="4526280"/>
            <a:ext cx="480060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evidence against modification or destruction.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63640" y="1719072"/>
            <a:ext cx="384048" cy="384048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000"/>
          </a:p>
        </p:txBody>
      </p:sp>
      <p:sp>
        <p:nvSpPr>
          <p:cNvPr id="19" name="Text 17"/>
          <p:cNvSpPr/>
          <p:nvPr/>
        </p:nvSpPr>
        <p:spPr>
          <a:xfrm>
            <a:off x="6263640" y="1719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75704" y="167335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Examination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775704" y="1965960"/>
            <a:ext cx="480060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relevant information.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63640" y="2999232"/>
            <a:ext cx="384048" cy="384048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000"/>
          </a:p>
        </p:txBody>
      </p:sp>
      <p:sp>
        <p:nvSpPr>
          <p:cNvPr id="23" name="Text 21"/>
          <p:cNvSpPr/>
          <p:nvPr/>
        </p:nvSpPr>
        <p:spPr>
          <a:xfrm>
            <a:off x="6263640" y="29992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775704" y="295351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775704" y="3246120"/>
            <a:ext cx="480060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what occurred and reconstruct the sequence of events.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63640" y="4279392"/>
            <a:ext cx="384048" cy="384048"/>
          </a:xfrm>
          <a:prstGeom prst="ellipse">
            <a:avLst/>
          </a:prstGeom>
          <a:solidFill>
            <a:srgbClr val="0B3D6B"/>
          </a:solidFill>
          <a:ln/>
        </p:spPr>
        <p:txBody>
          <a:bodyPr/>
          <a:lstStyle/>
          <a:p>
            <a:endParaRPr lang="en-LK" sz="2000"/>
          </a:p>
        </p:txBody>
      </p:sp>
      <p:sp>
        <p:nvSpPr>
          <p:cNvPr id="27" name="Text 25"/>
          <p:cNvSpPr/>
          <p:nvPr/>
        </p:nvSpPr>
        <p:spPr>
          <a:xfrm>
            <a:off x="6263640" y="42793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75704" y="423367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775704" y="4526280"/>
            <a:ext cx="480060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findings, methods, evidence, and conclusions.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07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 of Custody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of Custody </a:t>
            </a: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documented record showing how digital evidence was collected, handled, transferred, stored, and analyzed. It helps demonstrate that evidence has not been improperly altered.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590516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Chain-of-Custody Record May Contain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3140964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9" name="Text 7"/>
          <p:cNvSpPr/>
          <p:nvPr/>
        </p:nvSpPr>
        <p:spPr>
          <a:xfrm>
            <a:off x="777240" y="30861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of evidence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91840" y="3140964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1" name="Text 9"/>
          <p:cNvSpPr/>
          <p:nvPr/>
        </p:nvSpPr>
        <p:spPr>
          <a:xfrm>
            <a:off x="3520440" y="30861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and time collected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35040" y="3140964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3" name="Text 11"/>
          <p:cNvSpPr/>
          <p:nvPr/>
        </p:nvSpPr>
        <p:spPr>
          <a:xfrm>
            <a:off x="6263640" y="30861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 collected it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778240" y="3140964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5" name="Text 13"/>
          <p:cNvSpPr/>
          <p:nvPr/>
        </p:nvSpPr>
        <p:spPr>
          <a:xfrm>
            <a:off x="9006840" y="308610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location / source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552444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7" name="Text 15"/>
          <p:cNvSpPr/>
          <p:nvPr/>
        </p:nvSpPr>
        <p:spPr>
          <a:xfrm>
            <a:off x="777240" y="349758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identifier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291840" y="3552444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9" name="Text 17"/>
          <p:cNvSpPr/>
          <p:nvPr/>
        </p:nvSpPr>
        <p:spPr>
          <a:xfrm>
            <a:off x="3520440" y="349758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 between individuals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035040" y="3552444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1" name="Text 19"/>
          <p:cNvSpPr/>
          <p:nvPr/>
        </p:nvSpPr>
        <p:spPr>
          <a:xfrm>
            <a:off x="6263640" y="349758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information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778240" y="3552444"/>
            <a:ext cx="109728" cy="10972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3" name="Text 21"/>
          <p:cNvSpPr/>
          <p:nvPr/>
        </p:nvSpPr>
        <p:spPr>
          <a:xfrm>
            <a:off x="9006840" y="349758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performed on the evidence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63880" y="4379976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0B3D6B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5" name="Text 23"/>
          <p:cNvSpPr/>
          <p:nvPr/>
        </p:nvSpPr>
        <p:spPr>
          <a:xfrm>
            <a:off x="838200" y="4379976"/>
            <a:ext cx="10515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it important?  </a:t>
            </a:r>
            <a:r>
              <a:rPr lang="en-US" dirty="0">
                <a:solidFill>
                  <a:srgbClr val="E4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proper evidence handling, it may be difficult to demonstrate the integrity and reliability of digital evidence, particularly when an incident leads to legal or disciplinary proceedings.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07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Logs for Incident Investigation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are one of the most important sources of evidence during incident investigation.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0843" y="2348733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8" name="Text 6"/>
          <p:cNvSpPr/>
          <p:nvPr/>
        </p:nvSpPr>
        <p:spPr>
          <a:xfrm>
            <a:off x="769443" y="2485893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4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09:01  Multiple failed login attempts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9443" y="2796789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4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09:06  Successful login from unusual IP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69443" y="3107685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4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09:08  Privilege changed to Administrator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9443" y="3418581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4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09:12  Database accessed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9443" y="3729477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4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09:15  Large amount of data downloaded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69443" y="4040373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4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09:18  Account logged out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63640" y="2047618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Correlating these records builds an incident timeline: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263640" y="2549901"/>
            <a:ext cx="5349240" cy="329184"/>
          </a:xfrm>
          <a:prstGeom prst="roundRect">
            <a:avLst>
              <a:gd name="adj" fmla="val 13889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6" name="Text 14"/>
          <p:cNvSpPr/>
          <p:nvPr/>
        </p:nvSpPr>
        <p:spPr>
          <a:xfrm>
            <a:off x="6263640" y="2549901"/>
            <a:ext cx="5349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Attack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801100" y="2879084"/>
            <a:ext cx="274320" cy="1843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63640" y="3094765"/>
            <a:ext cx="5349240" cy="329184"/>
          </a:xfrm>
          <a:prstGeom prst="roundRect">
            <a:avLst>
              <a:gd name="adj" fmla="val 13889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9" name="Text 17"/>
          <p:cNvSpPr/>
          <p:nvPr/>
        </p:nvSpPr>
        <p:spPr>
          <a:xfrm>
            <a:off x="6263640" y="3094765"/>
            <a:ext cx="5349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Compromise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801100" y="3327141"/>
            <a:ext cx="274320" cy="4130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63640" y="3628360"/>
            <a:ext cx="5349240" cy="329184"/>
          </a:xfrm>
          <a:prstGeom prst="roundRect">
            <a:avLst>
              <a:gd name="adj" fmla="val 13889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2" name="Text 20"/>
          <p:cNvSpPr/>
          <p:nvPr/>
        </p:nvSpPr>
        <p:spPr>
          <a:xfrm>
            <a:off x="6263640" y="3628360"/>
            <a:ext cx="5349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Escalation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801100" y="3775197"/>
            <a:ext cx="274320" cy="5937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55843" y="4141913"/>
            <a:ext cx="5349240" cy="329184"/>
          </a:xfrm>
          <a:prstGeom prst="roundRect">
            <a:avLst>
              <a:gd name="adj" fmla="val 13889"/>
            </a:avLst>
          </a:prstGeom>
          <a:solidFill>
            <a:srgbClr val="FBEAEA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5" name="Text 23"/>
          <p:cNvSpPr/>
          <p:nvPr/>
        </p:nvSpPr>
        <p:spPr>
          <a:xfrm>
            <a:off x="6255843" y="4141913"/>
            <a:ext cx="5349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Access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801100" y="4223252"/>
            <a:ext cx="274320" cy="6570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55843" y="4647279"/>
            <a:ext cx="5349240" cy="329184"/>
          </a:xfrm>
          <a:prstGeom prst="roundRect">
            <a:avLst>
              <a:gd name="adj" fmla="val 13889"/>
            </a:avLst>
          </a:prstGeom>
          <a:solidFill>
            <a:srgbClr val="FBEAEA"/>
          </a:solidFill>
          <a:ln w="12700">
            <a:solidFill>
              <a:srgbClr val="E8B4B4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8" name="Text 26"/>
          <p:cNvSpPr/>
          <p:nvPr/>
        </p:nvSpPr>
        <p:spPr>
          <a:xfrm>
            <a:off x="6255843" y="4647279"/>
            <a:ext cx="5349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8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Data Exfiltration</a:t>
            </a: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540843" y="5254823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30" name="Text 28"/>
          <p:cNvSpPr/>
          <p:nvPr/>
        </p:nvSpPr>
        <p:spPr>
          <a:xfrm>
            <a:off x="815163" y="5254823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i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shows why continuous monitoring, good logging, incident response, and forensics are closely connected.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07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Shape 1"/>
          <p:cNvSpPr/>
          <p:nvPr/>
        </p:nvSpPr>
        <p:spPr>
          <a:xfrm>
            <a:off x="-1463040" y="5303520"/>
            <a:ext cx="2743200" cy="2743200"/>
          </a:xfrm>
          <a:prstGeom prst="ellipse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B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Monitoring and Incident Response in DevSecOps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993392" cy="777240"/>
          </a:xfrm>
          <a:prstGeom prst="roundRect">
            <a:avLst>
              <a:gd name="adj" fmla="val 10588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7" name="Text 5"/>
          <p:cNvSpPr/>
          <p:nvPr/>
        </p:nvSpPr>
        <p:spPr>
          <a:xfrm>
            <a:off x="621792" y="1965960"/>
            <a:ext cx="18470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523744" y="1965960"/>
            <a:ext cx="3108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816352" y="1965960"/>
            <a:ext cx="1993392" cy="777240"/>
          </a:xfrm>
          <a:prstGeom prst="roundRect">
            <a:avLst>
              <a:gd name="adj" fmla="val 10588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0" name="Text 8"/>
          <p:cNvSpPr/>
          <p:nvPr/>
        </p:nvSpPr>
        <p:spPr>
          <a:xfrm>
            <a:off x="2889504" y="1965960"/>
            <a:ext cx="18470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791456" y="1965960"/>
            <a:ext cx="3108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084064" y="1965960"/>
            <a:ext cx="1993392" cy="777240"/>
          </a:xfrm>
          <a:prstGeom prst="roundRect">
            <a:avLst>
              <a:gd name="adj" fmla="val 10588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3" name="Text 11"/>
          <p:cNvSpPr/>
          <p:nvPr/>
        </p:nvSpPr>
        <p:spPr>
          <a:xfrm>
            <a:off x="5157216" y="1965960"/>
            <a:ext cx="18470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059168" y="1965960"/>
            <a:ext cx="3108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351776" y="1965960"/>
            <a:ext cx="1993392" cy="777240"/>
          </a:xfrm>
          <a:prstGeom prst="roundRect">
            <a:avLst>
              <a:gd name="adj" fmla="val 10588"/>
            </a:avLst>
          </a:prstGeom>
          <a:solidFill>
            <a:srgbClr val="DCEAFB"/>
          </a:solidFill>
          <a:ln w="15875">
            <a:solidFill>
              <a:srgbClr val="0090C9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6" name="Text 14"/>
          <p:cNvSpPr/>
          <p:nvPr/>
        </p:nvSpPr>
        <p:spPr>
          <a:xfrm>
            <a:off x="7424928" y="1965960"/>
            <a:ext cx="18470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/ Alert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326880" y="1965960"/>
            <a:ext cx="3108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619488" y="1965960"/>
            <a:ext cx="1993392" cy="777240"/>
          </a:xfrm>
          <a:prstGeom prst="roundRect">
            <a:avLst>
              <a:gd name="adj" fmla="val 10588"/>
            </a:avLst>
          </a:prstGeom>
          <a:solidFill>
            <a:srgbClr val="DCEAFB"/>
          </a:solidFill>
          <a:ln w="15875">
            <a:solidFill>
              <a:srgbClr val="0090C9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9" name="Text 17"/>
          <p:cNvSpPr/>
          <p:nvPr/>
        </p:nvSpPr>
        <p:spPr>
          <a:xfrm>
            <a:off x="9692640" y="1965960"/>
            <a:ext cx="18470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0479024" y="2743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548640" y="3246120"/>
            <a:ext cx="1993392" cy="777240"/>
          </a:xfrm>
          <a:prstGeom prst="roundRect">
            <a:avLst>
              <a:gd name="adj" fmla="val 10588"/>
            </a:avLst>
          </a:prstGeom>
          <a:solidFill>
            <a:srgbClr val="DCEAFB"/>
          </a:solidFill>
          <a:ln w="15875">
            <a:solidFill>
              <a:srgbClr val="0090C9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2" name="Text 20"/>
          <p:cNvSpPr/>
          <p:nvPr/>
        </p:nvSpPr>
        <p:spPr>
          <a:xfrm>
            <a:off x="621792" y="3246120"/>
            <a:ext cx="18470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523744" y="3246120"/>
            <a:ext cx="3108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2816352" y="3246120"/>
            <a:ext cx="1993392" cy="777240"/>
          </a:xfrm>
          <a:prstGeom prst="roundRect">
            <a:avLst>
              <a:gd name="adj" fmla="val 10588"/>
            </a:avLst>
          </a:prstGeom>
          <a:solidFill>
            <a:srgbClr val="DCEAFB"/>
          </a:solidFill>
          <a:ln w="15875">
            <a:solidFill>
              <a:srgbClr val="0090C9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5" name="Text 23"/>
          <p:cNvSpPr/>
          <p:nvPr/>
        </p:nvSpPr>
        <p:spPr>
          <a:xfrm>
            <a:off x="2889504" y="3246120"/>
            <a:ext cx="18470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09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91456" y="3246120"/>
            <a:ext cx="3108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5084064" y="3246120"/>
            <a:ext cx="1993392" cy="777240"/>
          </a:xfrm>
          <a:prstGeom prst="roundRect">
            <a:avLst>
              <a:gd name="adj" fmla="val 10588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8" name="Text 26"/>
          <p:cNvSpPr/>
          <p:nvPr/>
        </p:nvSpPr>
        <p:spPr>
          <a:xfrm>
            <a:off x="5157216" y="3246120"/>
            <a:ext cx="18470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059168" y="3246120"/>
            <a:ext cx="3108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7351776" y="3246120"/>
            <a:ext cx="1993392" cy="777240"/>
          </a:xfrm>
          <a:prstGeom prst="roundRect">
            <a:avLst>
              <a:gd name="adj" fmla="val 10588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31" name="Text 29"/>
          <p:cNvSpPr/>
          <p:nvPr/>
        </p:nvSpPr>
        <p:spPr>
          <a:xfrm>
            <a:off x="7424928" y="3246120"/>
            <a:ext cx="18470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9326880" y="3246120"/>
            <a:ext cx="3108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9619488" y="3246120"/>
            <a:ext cx="1993392" cy="777240"/>
          </a:xfrm>
          <a:prstGeom prst="roundRect">
            <a:avLst>
              <a:gd name="adj" fmla="val 10588"/>
            </a:avLst>
          </a:prstGeom>
          <a:solidFill>
            <a:srgbClr val="EAF1FB"/>
          </a:solidFill>
          <a:ln w="12700">
            <a:solidFill>
              <a:srgbClr val="C9DBEE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34" name="Text 32"/>
          <p:cNvSpPr/>
          <p:nvPr/>
        </p:nvSpPr>
        <p:spPr>
          <a:xfrm>
            <a:off x="9692640" y="3246120"/>
            <a:ext cx="18470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Code / Config</a:t>
            </a: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incident should not simply be fixed and forgotten. Findings feed back into secure coding, threat models, CI/CD security controls, cloud configuration, container security, IAM policies, monitoring rules, and security tests — creating continuous security improvement.</a:t>
            </a: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3D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4572000" cy="4572000"/>
          </a:xfrm>
          <a:prstGeom prst="ellipse">
            <a:avLst/>
          </a:prstGeom>
          <a:solidFill>
            <a:srgbClr val="134A7D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Monitoring, Response &amp; Forensics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483864" cy="4709160"/>
          </a:xfrm>
          <a:prstGeom prst="roundRect">
            <a:avLst>
              <a:gd name="adj" fmla="val 2100"/>
            </a:avLst>
          </a:prstGeom>
          <a:solidFill>
            <a:srgbClr val="0F4778"/>
          </a:solidFill>
          <a:ln w="12700">
            <a:solidFill>
              <a:srgbClr val="1E5D93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6" name="Text 4"/>
          <p:cNvSpPr/>
          <p:nvPr/>
        </p:nvSpPr>
        <p:spPr>
          <a:xfrm>
            <a:off x="777240" y="1801368"/>
            <a:ext cx="3026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77240" y="2530602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8" name="Text 6"/>
          <p:cNvSpPr/>
          <p:nvPr/>
        </p:nvSpPr>
        <p:spPr>
          <a:xfrm>
            <a:off x="987552" y="2423160"/>
            <a:ext cx="27980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4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doesn't end at deployment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87022" y="3170682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0" name="Text 8"/>
          <p:cNvSpPr/>
          <p:nvPr/>
        </p:nvSpPr>
        <p:spPr>
          <a:xfrm>
            <a:off x="987552" y="3031236"/>
            <a:ext cx="27980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4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 gives ongoing visibility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3588595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2" name="Text 10"/>
          <p:cNvSpPr/>
          <p:nvPr/>
        </p:nvSpPr>
        <p:spPr>
          <a:xfrm>
            <a:off x="987552" y="3429000"/>
            <a:ext cx="27980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4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are the raw evidence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88829" y="4062275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4" name="Text 12"/>
          <p:cNvSpPr/>
          <p:nvPr/>
        </p:nvSpPr>
        <p:spPr>
          <a:xfrm>
            <a:off x="987552" y="3931920"/>
            <a:ext cx="27980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4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management + SIEM centralize &amp; correlate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6580" y="4741164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16" name="Text 14"/>
          <p:cNvSpPr/>
          <p:nvPr/>
        </p:nvSpPr>
        <p:spPr>
          <a:xfrm>
            <a:off x="987552" y="4581144"/>
            <a:ext cx="27980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4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alerts, IPS can block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352544" y="1600200"/>
            <a:ext cx="3483864" cy="4709160"/>
          </a:xfrm>
          <a:prstGeom prst="roundRect">
            <a:avLst>
              <a:gd name="adj" fmla="val 2100"/>
            </a:avLst>
          </a:prstGeom>
          <a:solidFill>
            <a:srgbClr val="0F4778"/>
          </a:solidFill>
          <a:ln w="12700">
            <a:solidFill>
              <a:srgbClr val="1E5D93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18" name="Text 16"/>
          <p:cNvSpPr/>
          <p:nvPr/>
        </p:nvSpPr>
        <p:spPr>
          <a:xfrm>
            <a:off x="4581144" y="1801368"/>
            <a:ext cx="3026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90926" y="2542032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0" name="Text 18"/>
          <p:cNvSpPr/>
          <p:nvPr/>
        </p:nvSpPr>
        <p:spPr>
          <a:xfrm>
            <a:off x="4791456" y="2423160"/>
            <a:ext cx="27980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4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event is an incident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90926" y="3067705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2" name="Text 20"/>
          <p:cNvSpPr/>
          <p:nvPr/>
        </p:nvSpPr>
        <p:spPr>
          <a:xfrm>
            <a:off x="4791456" y="2926080"/>
            <a:ext cx="27980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4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Prepare, detect, contain, eradicate, recover, learn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601559" y="3708317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4" name="Text 22"/>
          <p:cNvSpPr/>
          <p:nvPr/>
        </p:nvSpPr>
        <p:spPr>
          <a:xfrm>
            <a:off x="4791456" y="3559355"/>
            <a:ext cx="27980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4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roles and responsibilities matter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94860" y="4229205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26" name="Text 24"/>
          <p:cNvSpPr/>
          <p:nvPr/>
        </p:nvSpPr>
        <p:spPr>
          <a:xfrm>
            <a:off x="4791456" y="4114800"/>
            <a:ext cx="27980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4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improves IR through collaboration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156448" y="1600200"/>
            <a:ext cx="3483864" cy="4709160"/>
          </a:xfrm>
          <a:prstGeom prst="roundRect">
            <a:avLst>
              <a:gd name="adj" fmla="val 2100"/>
            </a:avLst>
          </a:prstGeom>
          <a:solidFill>
            <a:srgbClr val="0F4778"/>
          </a:solidFill>
          <a:ln w="12700">
            <a:solidFill>
              <a:srgbClr val="1E5D93"/>
            </a:solidFill>
            <a:prstDash val="solid"/>
          </a:ln>
        </p:spPr>
        <p:txBody>
          <a:bodyPr/>
          <a:lstStyle/>
          <a:p>
            <a:endParaRPr lang="en-LK" sz="2800"/>
          </a:p>
        </p:txBody>
      </p:sp>
      <p:sp>
        <p:nvSpPr>
          <p:cNvPr id="28" name="Text 26"/>
          <p:cNvSpPr/>
          <p:nvPr/>
        </p:nvSpPr>
        <p:spPr>
          <a:xfrm>
            <a:off x="8385048" y="1801368"/>
            <a:ext cx="3026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&amp; Forensics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8394830" y="2573504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30" name="Text 28"/>
          <p:cNvSpPr/>
          <p:nvPr/>
        </p:nvSpPr>
        <p:spPr>
          <a:xfrm>
            <a:off x="8595360" y="2423160"/>
            <a:ext cx="27980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4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reconstructs the attack timeline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394830" y="3117040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32" name="Text 30"/>
          <p:cNvSpPr/>
          <p:nvPr/>
        </p:nvSpPr>
        <p:spPr>
          <a:xfrm>
            <a:off x="8595360" y="2991257"/>
            <a:ext cx="27980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4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forensics preserves &amp; analyzes evidence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405463" y="3704808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34" name="Text 32"/>
          <p:cNvSpPr/>
          <p:nvPr/>
        </p:nvSpPr>
        <p:spPr>
          <a:xfrm>
            <a:off x="8595360" y="3559355"/>
            <a:ext cx="27980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4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of custody protects evidence integrity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385048" y="4272693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LK" sz="2800"/>
          </a:p>
        </p:txBody>
      </p:sp>
      <p:sp>
        <p:nvSpPr>
          <p:cNvPr id="36" name="Text 34"/>
          <p:cNvSpPr/>
          <p:nvPr/>
        </p:nvSpPr>
        <p:spPr>
          <a:xfrm>
            <a:off x="8595360" y="4112673"/>
            <a:ext cx="27980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4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feed back into CI/CD for improvement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3D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400800" cy="6400800"/>
          </a:xfrm>
          <a:prstGeom prst="ellipse">
            <a:avLst/>
          </a:prstGeom>
          <a:solidFill>
            <a:srgbClr val="134A7D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" name="Text 1"/>
          <p:cNvSpPr/>
          <p:nvPr/>
        </p:nvSpPr>
        <p:spPr>
          <a:xfrm>
            <a:off x="822960" y="2606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6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3017520"/>
            <a:ext cx="9875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incident is not fixed and forgotten, it feeds back into continuous security improvement.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F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</a:t>
            </a: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 ·  DevOps Security  ·  Lecture 07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</TotalTime>
  <Words>2585</Words>
  <Application>Microsoft Macintosh PowerPoint</Application>
  <PresentationFormat>Widescreen</PresentationFormat>
  <Paragraphs>597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Ayesha Wijesooriya</cp:lastModifiedBy>
  <cp:revision>2</cp:revision>
  <dcterms:created xsi:type="dcterms:W3CDTF">2026-08-28T09:57:34Z</dcterms:created>
  <dcterms:modified xsi:type="dcterms:W3CDTF">2026-09-02T12:14:07Z</dcterms:modified>
</cp:coreProperties>
</file>