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72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477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0F62B0">
              <a:alpha val="45000"/>
            </a:srgbClr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645920" y="4846320"/>
            <a:ext cx="3657600" cy="3657600"/>
          </a:xfrm>
          <a:prstGeom prst="ellipse">
            <a:avLst/>
          </a:prstGeom>
          <a:solidFill>
            <a:srgbClr val="071B33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SECURITY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Security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04  ·  Cloud, Network &amp; Identity Security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11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F28CBD-E226-BC25-501A-EF7BA7298E79}"/>
              </a:ext>
            </a:extLst>
          </p:cNvPr>
          <p:cNvSpPr/>
          <p:nvPr/>
        </p:nvSpPr>
        <p:spPr>
          <a:xfrm>
            <a:off x="640080" y="49149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WIJESOORIYA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this lecture, students should be able 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9953" y="1929384"/>
            <a:ext cx="10908792" cy="404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importance of infrastructure security in DevSecOps environments.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cloud infrastructure security concepts and responsibilities.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network security principles to protect cloud-based applications.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Identity and Access Management (IAM) concepts in cloud platforms.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secure configuration management practices and system hardening techniques.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security controls for protecting cloud infrastructure.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40096" cy="1554480"/>
          </a:xfrm>
          <a:prstGeom prst="roundRect">
            <a:avLst>
              <a:gd name="adj" fmla="val 5294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5" name="Shape 3"/>
          <p:cNvSpPr/>
          <p:nvPr/>
        </p:nvSpPr>
        <p:spPr>
          <a:xfrm>
            <a:off x="804672" y="1792224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6" name="Text 4"/>
          <p:cNvSpPr/>
          <p:nvPr/>
        </p:nvSpPr>
        <p:spPr>
          <a:xfrm>
            <a:off x="804672" y="1792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Cloud Infrastructure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08776" y="1627632"/>
            <a:ext cx="5340096" cy="1554480"/>
          </a:xfrm>
          <a:prstGeom prst="roundRect">
            <a:avLst>
              <a:gd name="adj" fmla="val 5294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9" name="Shape 7"/>
          <p:cNvSpPr/>
          <p:nvPr/>
        </p:nvSpPr>
        <p:spPr>
          <a:xfrm>
            <a:off x="6373368" y="1792224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6373368" y="1792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73368" y="2409958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Security Principles and Controls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410712"/>
            <a:ext cx="5340096" cy="1554480"/>
          </a:xfrm>
          <a:prstGeom prst="roundRect">
            <a:avLst>
              <a:gd name="adj" fmla="val 5294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3" name="Shape 11"/>
          <p:cNvSpPr/>
          <p:nvPr/>
        </p:nvSpPr>
        <p:spPr>
          <a:xfrm>
            <a:off x="804672" y="3575304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804672" y="3575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4672" y="4187952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and Access Management (IAM)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08776" y="3410712"/>
            <a:ext cx="5340096" cy="1554480"/>
          </a:xfrm>
          <a:prstGeom prst="roundRect">
            <a:avLst>
              <a:gd name="adj" fmla="val 5294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7" name="Shape 15"/>
          <p:cNvSpPr/>
          <p:nvPr/>
        </p:nvSpPr>
        <p:spPr>
          <a:xfrm>
            <a:off x="6373368" y="3575304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6373368" y="3575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73368" y="4221548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Configuration Management and Hardening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0F62B0">
              <a:alpha val="45000"/>
            </a:srgbClr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F6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108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315468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Infrastructure Security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Infrastructure Security?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62396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Security is the practice of protecting the underlying technology that supports applications, services, and organizational operations.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84974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involves implementing security controls to safeguard physical and virtual infrastructure components against cyber threats, unauthorized access, system failures, and data breaches.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381602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application security, which focuses on protecting software applications, infrastructure security protects the environment where those applications are deployed and executed.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Infrastructure Security Protects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security spans many components, in pursuit of clear objectives: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794382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servers and data centers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 (VMs)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systems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systems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devices — routers, switches, firewalls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4496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9" name="Text 7"/>
          <p:cNvSpPr/>
          <p:nvPr/>
        </p:nvSpPr>
        <p:spPr>
          <a:xfrm>
            <a:off x="6483096" y="2130077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3096" y="2325960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infrastructure from cyber attacks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unauthorized access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business continuity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system availability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sensitive organizational data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operational risks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regulatory and compliance requirements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Components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IT infrastructure consists of multiple layers a weakness in any layer can compromise the entire system.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404872"/>
            <a:ext cx="3483864" cy="19202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6" name="Text 4"/>
          <p:cNvSpPr/>
          <p:nvPr/>
        </p:nvSpPr>
        <p:spPr>
          <a:xfrm>
            <a:off x="841248" y="256946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3026664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applications, mobile applications, APIs, enterprise software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52544" y="2404872"/>
            <a:ext cx="3483864" cy="19202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4553712" y="256946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&amp; VMs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53648" y="3026664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containers, Kubernetes clusters, virtual machines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065008" y="2404872"/>
            <a:ext cx="3483864" cy="19202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8266176" y="256946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66049" y="2999232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Server, Linux, Unix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40080" y="4553712"/>
            <a:ext cx="3483864" cy="19202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841248" y="47183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Infrastructure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121" y="5175504"/>
            <a:ext cx="33101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instances, storage services, databases, load balancers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352544" y="4553712"/>
            <a:ext cx="3483864" cy="19202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4553712" y="4718304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Infrastructure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53648" y="5175504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Routers, switches, firewalls, VPN gateways, DNS services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065008" y="4553712"/>
            <a:ext cx="3483864" cy="19202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8266175" y="4718304"/>
            <a:ext cx="32825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Infrastructure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66049" y="5175504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data centers, storage devices, networking hardware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in Depth for Infrastructure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security applies the principle of Defense in Depth, where multiple security controls are implemented across different layers.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359152"/>
            <a:ext cx="10908792" cy="3346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Access Management (IAM)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Systems (IDS)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configurations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5751576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implementing multiple layers of defense, organizations reduce the likelihood that a single vulnerability will compromise the entire infrastructure.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0F62B0">
              <a:alpha val="45000"/>
            </a:srgbClr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F6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108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315468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Cloud Infrastructure (AWS &amp; Azure)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Cloud Computing?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is a computing model that provides </a:t>
            </a:r>
            <a:r>
              <a:rPr lang="en-US" u="sng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access </a:t>
            </a: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shared computing resources - servers, storage, databases, networking, software, analytics, and security services - over the Internet, billed only for what is used.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16" y="290779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enables organizations to rapidly deploy applications, scale resources on demand, reduce infrastructure costs, and improve business agility.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16" y="4233672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/>
          <p:nvPr/>
        </p:nvSpPr>
        <p:spPr>
          <a:xfrm>
            <a:off x="726176" y="4325112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  </a:t>
            </a:r>
            <a:r>
              <a:rPr lang="en-US" sz="14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model for enabling ubiquitous, convenient, on-demand network access to a shared pool of configurable computing resources that can be rapidly provisioned and released with minimal management effort." - NIST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Characteristics of Cloud Computing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9953" y="1318470"/>
            <a:ext cx="10908792" cy="4727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Self-Service - users can provision computing resources without interacting with the cloud provider.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Network Access - resources are accessible over the Internet from various devices.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Pooling - physical resources are shared among multiple customers using virtualization.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Elasticity - resources can automatically scale up or down based on demand.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Service - customers pay only for the resources they consume (pay-as-you-go).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and Challenges of Cloud Computing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7F5E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68553" y="1917271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553" y="2411047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infrastructure costs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application deployment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scalability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capabilities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accessibility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operational efficiency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54496" y="1709928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FBEAEA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6483096" y="1953847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83096" y="2249424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concerns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misconfigurations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requirements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customer-managed resources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Service Models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 are categorized into three primary models, each defining how responsibility is shared between provider and customer.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53821"/>
              </p:ext>
            </p:extLst>
          </p:nvPr>
        </p:nvGraphicFramePr>
        <p:xfrm>
          <a:off x="640080" y="2176272"/>
          <a:ext cx="10908792" cy="417880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4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Responsibility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4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Virtualized computing resources: VMs, storage, networking.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EC2, Azure VMs, Google Compute Engine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OS, applications, data, IAM, configurations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complete application platform without managing underlying infrastructure.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App Service, Google App Engine, AWS Elastic Beanstalk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code, data, user access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4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managed software applications delivered over the Internet.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365, Gmail, Salesforce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management, data usage, access control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 vs. PaaS vs. SaaS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732912"/>
              </p:ext>
            </p:extLst>
          </p:nvPr>
        </p:nvGraphicFramePr>
        <p:xfrm>
          <a:off x="640080" y="1627632"/>
          <a:ext cx="10908792" cy="472744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7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servers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operating system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applications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data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control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FUNDAMENTALS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17236" cy="2226564"/>
          </a:xfrm>
          <a:prstGeom prst="roundRect">
            <a:avLst>
              <a:gd name="adj" fmla="val 369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1600"/>
          </a:p>
        </p:txBody>
      </p:sp>
      <p:sp>
        <p:nvSpPr>
          <p:cNvPr id="5" name="Text 3"/>
          <p:cNvSpPr/>
          <p:nvPr/>
        </p:nvSpPr>
        <p:spPr>
          <a:xfrm>
            <a:off x="822960" y="1686059"/>
            <a:ext cx="49514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Cloud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84248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and managed by a third-party provider, shared among multiple customers (AWS, Azure, Google Cloud).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17143"/>
            <a:ext cx="24300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66644"/>
            <a:ext cx="2430018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scalable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deployment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44418" y="2615629"/>
            <a:ext cx="24300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44418" y="2845743"/>
            <a:ext cx="2430018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direct control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concerns for sensitive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1636" y="1627632"/>
            <a:ext cx="5317236" cy="2226564"/>
          </a:xfrm>
          <a:prstGeom prst="roundRect">
            <a:avLst>
              <a:gd name="adj" fmla="val 369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1600"/>
          </a:p>
        </p:txBody>
      </p:sp>
      <p:sp>
        <p:nvSpPr>
          <p:cNvPr id="12" name="Text 10"/>
          <p:cNvSpPr/>
          <p:nvPr/>
        </p:nvSpPr>
        <p:spPr>
          <a:xfrm>
            <a:off x="6414389" y="1696034"/>
            <a:ext cx="49514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Cloud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4389" y="1923921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dedicated to a single organization.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14516" y="2595114"/>
            <a:ext cx="24300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4516" y="2832414"/>
            <a:ext cx="2430018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control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compliance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35974" y="2603814"/>
            <a:ext cx="24300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35974" y="2832414"/>
            <a:ext cx="2430018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operational costs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dedicated management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128516"/>
            <a:ext cx="5317236" cy="2226564"/>
          </a:xfrm>
          <a:prstGeom prst="roundRect">
            <a:avLst>
              <a:gd name="adj" fmla="val 369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1600"/>
          </a:p>
        </p:txBody>
      </p:sp>
      <p:sp>
        <p:nvSpPr>
          <p:cNvPr id="19" name="Text 17"/>
          <p:cNvSpPr/>
          <p:nvPr/>
        </p:nvSpPr>
        <p:spPr>
          <a:xfrm>
            <a:off x="822960" y="4169664"/>
            <a:ext cx="49514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Cloud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482906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public and private cloud - sensitive data stays private, other workloads use public cloud.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5070735"/>
            <a:ext cx="24300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5332169"/>
            <a:ext cx="2887218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disaster recovery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31636" y="4128516"/>
            <a:ext cx="5317236" cy="2226564"/>
          </a:xfrm>
          <a:prstGeom prst="roundRect">
            <a:avLst>
              <a:gd name="adj" fmla="val 369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1600"/>
          </a:p>
        </p:txBody>
      </p:sp>
      <p:sp>
        <p:nvSpPr>
          <p:cNvPr id="24" name="Text 22"/>
          <p:cNvSpPr/>
          <p:nvPr/>
        </p:nvSpPr>
        <p:spPr>
          <a:xfrm>
            <a:off x="6414389" y="4167438"/>
            <a:ext cx="49514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14389" y="4482906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services from multiple providers, e.g. AWS for compute, Azure for identity, Google Cloud for AI.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4516" y="5097320"/>
            <a:ext cx="24300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14516" y="5356158"/>
            <a:ext cx="2430018" cy="1037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vendor lock-in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resilience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Best-of-breed services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Responsibility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Responsibility Model defines how security duties are divided between cloud provider and customer.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68680" y="229514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Provider - Security OF the Cloud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320795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centers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servers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hardware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infrastructure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 services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4496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83096" y="229514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- Security IN the Cloud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3096" y="2816352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(IaaS)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configurations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settings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and firewall rules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02769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Security Challenges (1/2)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39953" y="2091838"/>
            <a:ext cx="3483864" cy="3291840"/>
          </a:xfrm>
          <a:prstGeom prst="roundRect">
            <a:avLst>
              <a:gd name="adj" fmla="val 25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41121" y="2327387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Misconfiguration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121" y="2958055"/>
            <a:ext cx="328269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security settings expose resources. Examples: publicly accessible storage buckets, open security groups, weak IAM policies.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52544" y="2102645"/>
            <a:ext cx="3483864" cy="3291840"/>
          </a:xfrm>
          <a:prstGeom prst="roundRect">
            <a:avLst>
              <a:gd name="adj" fmla="val 25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4553712" y="2314737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Breaches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53712" y="2948168"/>
            <a:ext cx="331012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information exposed via poor controls or compromised accounts - customer databases, financial records, personal information.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065008" y="2114520"/>
            <a:ext cx="3483864" cy="3291840"/>
          </a:xfrm>
          <a:prstGeom prst="roundRect">
            <a:avLst>
              <a:gd name="adj" fmla="val 25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8266176" y="230286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IAM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66176" y="2936291"/>
            <a:ext cx="331012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permissions or poor authentication increase risk - shared admin accounts, lack of MFA, overly permissive policies.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Security Challenges (2/2)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483864" cy="2011680"/>
          </a:xfrm>
          <a:prstGeom prst="roundRect">
            <a:avLst>
              <a:gd name="adj" fmla="val 409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41248" y="171907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Insecure APIs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176272"/>
            <a:ext cx="3282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authentication, improper authorization, or poor input validation can let attackers exploit cloud resources.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52544" y="1627632"/>
            <a:ext cx="3483864" cy="2011680"/>
          </a:xfrm>
          <a:prstGeom prst="roundRect">
            <a:avLst>
              <a:gd name="adj" fmla="val 409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4567428" y="171907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Insider Threats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53712" y="2176272"/>
            <a:ext cx="32552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or contractors with legitimate access may intentionally or unintentionally compromise resources.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065008" y="1627632"/>
            <a:ext cx="3483864" cy="2011680"/>
          </a:xfrm>
          <a:prstGeom prst="roundRect">
            <a:avLst>
              <a:gd name="adj" fmla="val 409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8247888" y="171907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Hijacking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66175" y="2176272"/>
            <a:ext cx="328256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steal credentials or session tokens to gain unauthorized access to cloud environments.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3483864" cy="2011680"/>
          </a:xfrm>
          <a:prstGeom prst="roundRect">
            <a:avLst>
              <a:gd name="adj" fmla="val 409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841248" y="4360857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Denial of Service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" y="4855464"/>
            <a:ext cx="30815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overwhelm cloud services with excessive requests, affecting availability.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325112" y="4215384"/>
            <a:ext cx="3483864" cy="2011680"/>
          </a:xfrm>
          <a:prstGeom prst="roundRect">
            <a:avLst>
              <a:gd name="adj" fmla="val 409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dirty="0"/>
          </a:p>
        </p:txBody>
      </p:sp>
      <p:sp>
        <p:nvSpPr>
          <p:cNvPr id="17" name="Text 15"/>
          <p:cNvSpPr/>
          <p:nvPr/>
        </p:nvSpPr>
        <p:spPr>
          <a:xfrm>
            <a:off x="4526280" y="4325112"/>
            <a:ext cx="3310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Regulatory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26280" y="4855464"/>
            <a:ext cx="30815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must comply with GDPR, HIPAA, or PCI DSS when storing and processing data in the cloud.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Security Principles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6296" y="1961388"/>
            <a:ext cx="3483864" cy="19202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22960" y="2093471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732928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users and services only the permissions necessary to perform their tasks.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43870" y="1961388"/>
            <a:ext cx="3483864" cy="19202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4553712" y="2087505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0" y="2703774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IAM, firewalls, encryption, monitoring, and backups.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037576" y="1951235"/>
            <a:ext cx="3483864" cy="19202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8284400" y="206497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Default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84464" y="2661884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resources with secure defaults; disable unnecessary services.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3483864" cy="19202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841248" y="4428129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 Everywhere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6646" y="4982529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at rest, in transit, and during backup.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352480" y="4315017"/>
            <a:ext cx="3483864" cy="19202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/>
          <p:nvPr/>
        </p:nvSpPr>
        <p:spPr>
          <a:xfrm>
            <a:off x="4553712" y="4440541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53712" y="5010912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logs, alerts, and automated detection to identify suspicious activity.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083296" y="4325112"/>
            <a:ext cx="3483864" cy="19202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/>
          <p:nvPr/>
        </p:nvSpPr>
        <p:spPr>
          <a:xfrm>
            <a:off x="8284400" y="4458413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66176" y="4965311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patching, config validation, security scanning, and compliance checks.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Security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(AWS) provides a wide range of security services that help organizations protect their cloud infrastructure.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2313432"/>
            <a:ext cx="10908792" cy="3346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Access Management (IAM)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using AWS Key Management Service (KMS)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with Amazon CloudWatch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using AWS CloudTrail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with Amazon GuardDuty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management using AWS Security Hub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 with Amazon Inspector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using AWS Secrets Manager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579729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follows the Shared Responsibility Model and provides customers with tools to build secure cloud environments.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39953" y="790956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Security Services</a:t>
            </a:r>
            <a:endParaRPr lang="en-US" sz="3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471091"/>
              </p:ext>
            </p:extLst>
          </p:nvPr>
        </p:nvGraphicFramePr>
        <p:xfrm>
          <a:off x="640080" y="1627632"/>
          <a:ext cx="10908792" cy="472744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2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2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users, groups, roles, and permissions.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2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CloudTrail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and audit API activities performed within AWS.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2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CloudWatch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infrastructure performance, logs, and events.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2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GuardDuty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malicious activity using machine learning and threat intelligence.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2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Security Hub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 security findings from multiple AWS services.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2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Inspector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workloads for vulnerabilities and configuration issues.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2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KMS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and manage encryption keys.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52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Secrets Manager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Securely store passwords, API keys, and other secrets.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Azure Security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follows the Shared Responsibility Model and builds security around three main principles.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68680" y="229514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Identities - only authorized users and services can access resources.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- encryption, backup, and access controls.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Infrastructure - monitor, detect, and respond to threats.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4496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83096" y="229514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Azure Security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3096" y="2816352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identity management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security monitoring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protection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assessment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encryption support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vulnerability management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Azure Security Services</a:t>
            </a:r>
            <a:endParaRPr lang="en-US" sz="3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49785"/>
              </p:ext>
            </p:extLst>
          </p:nvPr>
        </p:nvGraphicFramePr>
        <p:xfrm>
          <a:off x="640080" y="1627632"/>
          <a:ext cx="10908792" cy="472744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9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9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Entra ID (Azure AD)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and access management for users and applications.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9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Defender for Cloud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vulnerabilities, recommends improvements, detects threats.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9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Key Vault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Securely stores encryption keys, certificates, passwords, and secrets.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9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Collects performance metrics, logs, and alerts.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9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Policy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Enforces organizational security and compliance policies.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9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Sentinel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SIEM and SOAR for threat detection and response.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09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Firewall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firewall filtering traffic to and from Azure resources.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Data Protection Important?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16" y="187849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one of an organization's most valuable assets - and one of the most targeted. In the cloud, data is created, moved, and stored across many services, widening the opportunity for exposure.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9066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data protection preserves customer trust, meets legal and regulatory obligations, and limits the financial and reputational damage of a breach.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0182" y="99153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 Principles - Encryption &amp; Access Control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39953" y="1975104"/>
            <a:ext cx="5167081" cy="4462272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68680" y="22494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Encryption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53086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readable information into unreadable ciphertext.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- protects stored data (AWS KMS, Azure Key Vault).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 - protects data crossing networks (HTTPS, TLS, VPN).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18143" y="1975104"/>
            <a:ext cx="5167081" cy="4462272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6483096" y="2224486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83096" y="2432304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users should access sensitive data.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Access Management (IAM)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Classification &amp; Backup / Recovery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should be classified by sensitivity, and secure backups maintained for recovery.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982980" y="2496312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Classification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- company website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- employee handbook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customer database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Confidential - credit card data, medical records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4496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83096" y="2466088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&amp; Recovery - protects against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97396" y="2691719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deletion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failures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attacks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disasters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Logging and Monitoring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92808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every cyber attack is impossible. Organizations must continuously monitor their cloud environments to detect suspicious activities, identify security incidents, and respond quickly.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provides visibility into what is happening within the cloud environment.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Monitoring Activities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should monitor: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1005776" y="249631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login attempts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52544" y="222199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4238180" y="2633472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authentication attempts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65008" y="222199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8430641" y="2586089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Administrative actions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571500" y="3845052"/>
            <a:ext cx="3282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 to security groups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52544" y="350215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4649724" y="377647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changes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65008" y="350215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/>
          <p:nvPr/>
        </p:nvSpPr>
        <p:spPr>
          <a:xfrm>
            <a:off x="8776815" y="3816195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traffic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478231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/>
          <p:nvPr/>
        </p:nvSpPr>
        <p:spPr>
          <a:xfrm>
            <a:off x="1381631" y="5046301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requests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352544" y="478231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/>
          <p:nvPr/>
        </p:nvSpPr>
        <p:spPr>
          <a:xfrm>
            <a:off x="4796915" y="5113337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utilization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065008" y="478231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/>
          <p:nvPr/>
        </p:nvSpPr>
        <p:spPr>
          <a:xfrm>
            <a:off x="8659368" y="5046301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logs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Services and Benefits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68680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Services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CloudTrail - records API activity and user actions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CloudWatch - monitors infrastructure performance and logs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GuardDuty - detects suspicious activity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- performance metrics, logs, alerts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 for Cloud - vulnerability &amp; threat detection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 - SIEM and SOAR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54496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6483096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Monitoring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97396" y="1789255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threat detection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incident response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support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operational visibility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and Disaster Recovery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can occur due to cyber attacks, hardware failures, accidental deletion, software errors, or natural disasters. Regular backups ensure organizations can recover critical data and continue operations.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980944"/>
            <a:ext cx="10908792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regular backups.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backup data.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backups in multiple locations.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backup restoration procedures regularly.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to backup repositories.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backup jobs.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Recovery - RTO &amp; RPO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(DR) restores IT services after a major disruption. A DR plan defines recovery procedures, responsibilities, priorities, communication plans, and business continuity measures.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5294376" cy="4197096"/>
          </a:xfrm>
          <a:prstGeom prst="roundRect">
            <a:avLst>
              <a:gd name="adj" fmla="val 196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68680" y="2340864"/>
            <a:ext cx="4837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Time Objective (RTO)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253008"/>
            <a:ext cx="4837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acceptable time required to restore a system after a disruption.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5852160"/>
            <a:ext cx="4837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online banking application must be restored within 2 hours.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54496" y="2157984"/>
            <a:ext cx="5294376" cy="4197096"/>
          </a:xfrm>
          <a:prstGeom prst="roundRect">
            <a:avLst>
              <a:gd name="adj" fmla="val 196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6483096" y="2340864"/>
            <a:ext cx="4837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Point Objective (RPO)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83096" y="3253008"/>
            <a:ext cx="4837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acceptable amount of data loss, measured in time.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83096" y="5852160"/>
            <a:ext cx="4837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No more than 15 minutes of transaction data may be lost.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0F62B0">
              <a:alpha val="45000"/>
            </a:srgbClr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F6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108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315468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Security Principles and Controls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Network Security?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is the practice of protecting computer networks, communication channels, and connected devices from unauthorized access, misuse, attacks, and data breaches.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9953" y="29672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DevSecOps environment, network security protects communication between users, applications, databases, microservices, containers, VMs, cloud resources, APIs, and external services.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370789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network security, attackers can intercept sensitive information, gain unauthorized access, disrupt services, or move laterally through an organization's infrastructure.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Common Threats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applications across cloud, containers, APIs, and microservices make network security essential to prevent exploitation of exposed services.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68680" y="229514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553" y="2619815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unauthorized network access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sensitive information in transit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confidentiality, integrity, availability (CIA)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prevent malicious activities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reliable communication between systems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impact of cyber attacks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4496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83096" y="229514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Threats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3096" y="2816352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propagation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 (DoS/DDoS)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 (MitM) attacks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sniffing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spoofing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attacks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hijacking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attacks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CIA Triad in Network Security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 Triad forms the foundation of information security and guides the design of secure networks.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3483864" cy="3291840"/>
          </a:xfrm>
          <a:prstGeom prst="roundRect">
            <a:avLst>
              <a:gd name="adj" fmla="val 25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41248" y="238658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121" y="2947931"/>
            <a:ext cx="308152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parties can view data as it moves across the network - enforced through encryption and access control.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52544" y="2221992"/>
            <a:ext cx="3483864" cy="3291840"/>
          </a:xfrm>
          <a:prstGeom prst="roundRect">
            <a:avLst>
              <a:gd name="adj" fmla="val 25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4553712" y="238658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53648" y="2959093"/>
            <a:ext cx="308152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not altered in transit or at rest - enforced through hashing, checksums, and digital signatures.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065008" y="2221992"/>
            <a:ext cx="3483864" cy="3291840"/>
          </a:xfrm>
          <a:prstGeom prst="roundRect">
            <a:avLst>
              <a:gd name="adj" fmla="val 25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8266176" y="238658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93024" y="2916936"/>
            <a:ext cx="308152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resources remain accessible to legitimate users - protected against DoS/DDoS and outages.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Security Controls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controls are technologies, policies, and procedures that protect networks from cyber threats, grouped into three categories: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3453384" cy="4224528"/>
          </a:xfrm>
          <a:prstGeom prst="roundRect">
            <a:avLst>
              <a:gd name="adj" fmla="val 2383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22960" y="2295144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 Controls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833" y="2861599"/>
            <a:ext cx="3087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attacks before they occur.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73552"/>
            <a:ext cx="3087624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Lists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67784" y="2130552"/>
            <a:ext cx="3453384" cy="4224528"/>
          </a:xfrm>
          <a:prstGeom prst="roundRect">
            <a:avLst>
              <a:gd name="adj" fmla="val 2383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4550664" y="2295144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Detective Controls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50537" y="2870563"/>
            <a:ext cx="3087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attacks while, or after, they occur.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0537" y="3181459"/>
            <a:ext cx="3087624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Systems (IDS)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Monitoring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 Tools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095488" y="2130552"/>
            <a:ext cx="3453384" cy="4224528"/>
          </a:xfrm>
          <a:prstGeom prst="roundRect">
            <a:avLst>
              <a:gd name="adj" fmla="val 2383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8278368" y="2295144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Corrective Controls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8241" y="2825496"/>
            <a:ext cx="3087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impact and restore normal operations.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8241" y="3017520"/>
            <a:ext cx="3087624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Recovery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39953" y="79457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Network Security Technologies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1672520" y="193852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352544" y="162763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/>
          <p:nvPr/>
        </p:nvSpPr>
        <p:spPr>
          <a:xfrm>
            <a:off x="5823064" y="192237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65008" y="162763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9441180" y="200615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1910027" y="329089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52544" y="290779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/>
          <p:nvPr/>
        </p:nvSpPr>
        <p:spPr>
          <a:xfrm>
            <a:off x="4636008" y="3259361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 Firewall (WAF)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65008" y="290779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/>
          <p:nvPr/>
        </p:nvSpPr>
        <p:spPr>
          <a:xfrm>
            <a:off x="8941168" y="3237629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 Servers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418795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/>
          <p:nvPr/>
        </p:nvSpPr>
        <p:spPr>
          <a:xfrm>
            <a:off x="1435608" y="4516661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Security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352544" y="418795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/>
          <p:nvPr/>
        </p:nvSpPr>
        <p:spPr>
          <a:xfrm>
            <a:off x="4636008" y="44897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Access Control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65008" y="4187952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/>
          <p:nvPr/>
        </p:nvSpPr>
        <p:spPr>
          <a:xfrm>
            <a:off x="8836191" y="44897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Gateways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02249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firewall is a network security device or software application that monitors, filters, and controls incoming and outgoing network traffic based on predefined security rules.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908386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act as the first line of defense by blocking unauthorized traffic while allowing legitimate communication.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16" y="82753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Firewalls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40096" cy="1737360"/>
          </a:xfrm>
          <a:prstGeom prst="roundRect">
            <a:avLst>
              <a:gd name="adj" fmla="val 4737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41248" y="1792224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 Filtering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267712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individual packets using source IP, destination IP, port number, and protocol. Simple but limited.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08776" y="1627632"/>
            <a:ext cx="5340096" cy="1737360"/>
          </a:xfrm>
          <a:prstGeom prst="roundRect">
            <a:avLst>
              <a:gd name="adj" fmla="val 4737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6409944" y="1792224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 Firewall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9944" y="2267712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active network connections and makes decisions based on connection state. More secure than packet filtering.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" y="3593592"/>
            <a:ext cx="5340096" cy="1737360"/>
          </a:xfrm>
          <a:prstGeom prst="roundRect">
            <a:avLst>
              <a:gd name="adj" fmla="val 4737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841248" y="3758184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Next-Gen Firewall (NGFW)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" y="4233672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application awareness, intrusion prevention, malware detection, user identity awareness, and SSL inspection.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08776" y="3593592"/>
            <a:ext cx="5340096" cy="1737360"/>
          </a:xfrm>
          <a:prstGeom prst="roundRect">
            <a:avLst>
              <a:gd name="adj" fmla="val 4737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6409944" y="3758184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 Firewall (WAF)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9817" y="4215978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web applications from SQL injection, XSS, command injection, and file inclusion by inspecting HTTP/HTTPS traffic.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&amp; IPS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 Detection &amp; Prevention Systems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68680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9424"/>
            <a:ext cx="4837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79192"/>
            <a:ext cx="4837176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network traffic for suspicious activity or known attack patterns.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alerts when an attack is detected.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stop the attack.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4496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83096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3096" y="2249424"/>
            <a:ext cx="4837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Prevention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83096" y="2679192"/>
            <a:ext cx="4837176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traffic and automatically blocks malicious activity in real time.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inline, actively protecting the network.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drop malicious packets.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&amp; IPS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IDS vs. IPS at a Glance</a:t>
            </a:r>
            <a:endParaRPr lang="en-US" sz="3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585506"/>
              </p:ext>
            </p:extLst>
          </p:nvPr>
        </p:nvGraphicFramePr>
        <p:xfrm>
          <a:off x="640080" y="1627632"/>
          <a:ext cx="10908792" cy="4727450"/>
        </p:xfrm>
        <a:graphic>
          <a:graphicData uri="http://schemas.openxmlformats.org/drawingml/2006/table">
            <a:tbl>
              <a:tblPr/>
              <a:tblGrid>
                <a:gridCol w="5454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attacks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and blocks attacks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alerts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Automatically prevents attacks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monitoring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protection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interrupt traffic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drop malicious packets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&amp; IPS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Detection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68680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Signature-Based Detection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known attacks using predefined attack signatures.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accurate for known threats.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cannot detect new attacks.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54496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6483096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Anomaly-Based Detection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83096" y="2313432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abnormal behavior against a normal baseline.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can detect unknown attacks.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higher false-positive rate.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Private Network (VPN)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VPN creates an encrypted communication channel between users and organizational resources over an untrusted network such as the Internet, providing secure remote access while protecting transmitted data from interception.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16" y="2873502"/>
            <a:ext cx="1090879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network traffic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sensitive information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secure remote work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packet sniffing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public Wi-Fi connections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530809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technologies: IPsec, SSL VPN, WireGuard, OpenVPN.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VPN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94376" cy="3701113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68680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Access VPN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3577" y="1284732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individual users to securely connect to organizational networks.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3577" y="3753612"/>
            <a:ext cx="4837176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Employees working from home.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4496" y="1627632"/>
            <a:ext cx="5294376" cy="3701113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83096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Site-to-Site VPN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37376" y="1330242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two geographically separate networks securely.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39793" y="3942011"/>
            <a:ext cx="4837176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company headquarters connected to branch offices.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0F62B0">
              <a:alpha val="45000"/>
            </a:srgbClr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F6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108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315468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and Access Management (IAM) in the Cloud</a:t>
            </a:r>
            <a:endParaRPr lang="en-US" sz="3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Identity and Access Management?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16" y="18699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is a framework of policies, technologies, and processes used to manage digital identities and control access to organizational resources - ensuring the right user or system has the right access to the right resource at the right time.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16" y="3113532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cloud computing, IAM is one of the most critical security mechanisms because resources are accessible over the Internet. IAM manages both human identities (employees, administrators, customers) and non-human identities (applications, VMs, APIs, services).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IAM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aims to: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16" y="1901952"/>
            <a:ext cx="10908792" cy="404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user identities.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access to resources.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the Principle of Least Privilege.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sensitive information.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insider threats.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accountability through logging and auditing.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regulatory compliance.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IAM Is Important in Cloud Security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environments are highly dynamic - new users, applications, and resources are constantly created and removed. IAM provides centralized control over these identities, ensuring only authorized entities can access cloud resources.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962656"/>
            <a:ext cx="10908792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IAM, anyone with credentials may access sensitive resources.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permissions increase security risks.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accounts can compromise cloud infrastructure.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lose visibility over who accessed what and when.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 of IAM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consists of several key components that work together to control access.</a:t>
            </a:r>
            <a:endParaRPr lang="en-US" sz="14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345337"/>
              </p:ext>
            </p:extLst>
          </p:nvPr>
        </p:nvGraphicFramePr>
        <p:xfrm>
          <a:off x="640080" y="2176272"/>
          <a:ext cx="10908792" cy="417880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person, application, or service that requires access to resources.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process of verifying the identity of a user or service.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what an authenticated identity is allowed to do.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identities with credentials.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 of users with similar permissions.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set of permissions assigned based on job functions.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defining what actions are allowed or denied.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actions that can be performed on cloud resources.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Models - RBAC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 assigns permissions to roles rather than individual users - widely used in cloud environments.</a:t>
            </a:r>
            <a:endParaRPr lang="en-US" sz="14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862078"/>
              </p:ext>
            </p:extLst>
          </p:nvPr>
        </p:nvGraphicFramePr>
        <p:xfrm>
          <a:off x="640080" y="2221992"/>
          <a:ext cx="68580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own results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module marks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users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39" y="2221992"/>
            <a:ext cx="3892731" cy="2377440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7" name="Text 4"/>
          <p:cNvSpPr/>
          <p:nvPr/>
        </p:nvSpPr>
        <p:spPr>
          <a:xfrm>
            <a:off x="8046720" y="2404872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046720" y="3008376"/>
            <a:ext cx="3319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management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least privilege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cloud environments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Models - ABAC, DAC &amp; MAC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453384" cy="3794760"/>
          </a:xfrm>
          <a:prstGeom prst="roundRect">
            <a:avLst>
              <a:gd name="adj" fmla="val 2383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22960" y="1792224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0702" y="2569463"/>
            <a:ext cx="3087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decisions are based on attributes: department, location, time, device, job title.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833" y="2605282"/>
            <a:ext cx="3087624" cy="3447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finance managers can access payroll information during office hours."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67784" y="1627632"/>
            <a:ext cx="3453384" cy="3794760"/>
          </a:xfrm>
          <a:prstGeom prst="roundRect">
            <a:avLst>
              <a:gd name="adj" fmla="val 2383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4550664" y="1792224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18533" y="2436877"/>
            <a:ext cx="3087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resource owner decides who can access resources.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8533" y="2409445"/>
            <a:ext cx="3087624" cy="3447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shares a document with selected colleagues.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095488" y="1627632"/>
            <a:ext cx="3453384" cy="3794760"/>
          </a:xfrm>
          <a:prstGeom prst="roundRect">
            <a:avLst>
              <a:gd name="adj" fmla="val 2383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/>
          <p:nvPr/>
        </p:nvSpPr>
        <p:spPr>
          <a:xfrm>
            <a:off x="8278368" y="1792224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46237" y="2426550"/>
            <a:ext cx="3087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determined by predefined security classifications.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0351" y="2473452"/>
            <a:ext cx="3087624" cy="3447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classified information.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 of Least Privilege (PoLP)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applications, and services should receive only the minimum permissions required to perform their tasks. Cloud example - a developer's access: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5294376" cy="3355848"/>
          </a:xfrm>
          <a:prstGeom prst="roundRect">
            <a:avLst>
              <a:gd name="adj" fmla="val 1948"/>
            </a:avLst>
          </a:prstGeom>
          <a:solidFill>
            <a:srgbClr val="E7F5E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68680" y="229514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553" y="2427733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EC2 instances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applications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application services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4496" y="2130552"/>
            <a:ext cx="5294376" cy="3429420"/>
          </a:xfrm>
          <a:prstGeom prst="roundRect">
            <a:avLst>
              <a:gd name="adj" fmla="val 1948"/>
            </a:avLst>
          </a:prstGeom>
          <a:solidFill>
            <a:srgbClr val="FBEAEA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83096" y="229514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Allow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2969" y="2402613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databases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IAM policies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billing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648446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Multi-Factor Authentication (MFA)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requires users to provide two or more independent authentication factors before access is granted. Even if attackers steal a password, they cannot easily access systems without the second factor.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" y="3227832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04672" y="331927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You Know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5049" y="3959352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PIN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34494" y="3218689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4517374" y="3374135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You Have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35662" y="3976572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phone, security token, smart card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083296" y="3218689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dirty="0"/>
          </a:p>
        </p:txBody>
      </p:sp>
      <p:sp>
        <p:nvSpPr>
          <p:cNvPr id="12" name="Text 10"/>
          <p:cNvSpPr/>
          <p:nvPr/>
        </p:nvSpPr>
        <p:spPr>
          <a:xfrm>
            <a:off x="8339328" y="3401567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You Are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84464" y="3959353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Fingerprint, face recognition, iris scan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Federation and Single Sign-On (SSO)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94376" cy="3730752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68680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Federation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553" y="1499616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users to access multiple systems using identities managed by another trusted organization.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8553" y="4288537"/>
            <a:ext cx="4837176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Students use university credentials to access Microsoft Azure or Google Workspace.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4496" y="1627632"/>
            <a:ext cx="5294376" cy="3730752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83096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Sign-On (SSO)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3096" y="1587640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users to authenticate once and access multiple applications without logging in repeatedly.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improved user experience, fewer passwords, reduced password fatigue, centralized identity management.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83096" y="4545724"/>
            <a:ext cx="4837176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One login for LMS, Email, Microsoft Teams and the Library Portal.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IAM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Identity and Access Management enables administrators to securely manage access to AWS resources.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68680" y="229514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- individual identities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- collections of users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- temporary permissions for users or services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- JSON documents defining permissions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4496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83096" y="229514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3096" y="2816352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the root account for daily activities.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 privilege.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credentials regularly.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roles instead of long-term access keys.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Entra ID (Azure AD)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cloud-based identity management service (formerly Azure Active Directory).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68680" y="229514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Protection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4496" y="2130552"/>
            <a:ext cx="5294376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83096" y="229514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Benefits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3096" y="2816352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identity management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authentication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federation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authentication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simplified administration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Best Practices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should implement the following best practices: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3483864" cy="2148840"/>
          </a:xfrm>
          <a:prstGeom prst="roundRect">
            <a:avLst>
              <a:gd name="adj" fmla="val 383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41248" y="238658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Management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2912067"/>
            <a:ext cx="308152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inactive accounts. Review permissions regularly. Use role-based access.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52544" y="2221992"/>
            <a:ext cx="3483864" cy="2148840"/>
          </a:xfrm>
          <a:prstGeom prst="roundRect">
            <a:avLst>
              <a:gd name="adj" fmla="val 383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4553712" y="238658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53648" y="2901973"/>
            <a:ext cx="308152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MFA. Enforce strong passwords. Disable shared accounts.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065008" y="2221992"/>
            <a:ext cx="3483864" cy="2148840"/>
          </a:xfrm>
          <a:prstGeom prst="roundRect">
            <a:avLst>
              <a:gd name="adj" fmla="val 383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8266176" y="238658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66048" y="2807208"/>
            <a:ext cx="308152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 privilege. Use temporary credentials. Separate administrative accounts.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40080" y="4599432"/>
            <a:ext cx="3483864" cy="2148840"/>
          </a:xfrm>
          <a:prstGeom prst="roundRect">
            <a:avLst>
              <a:gd name="adj" fmla="val 383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/>
          <p:nvPr/>
        </p:nvSpPr>
        <p:spPr>
          <a:xfrm>
            <a:off x="841248" y="476402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" y="5349240"/>
            <a:ext cx="308152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login activities. Detect unusual behavior. Log privileged operations.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352544" y="4599432"/>
            <a:ext cx="3483864" cy="2148840"/>
          </a:xfrm>
          <a:prstGeom prst="roundRect">
            <a:avLst>
              <a:gd name="adj" fmla="val 383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/>
          <p:nvPr/>
        </p:nvSpPr>
        <p:spPr>
          <a:xfrm>
            <a:off x="4553712" y="476402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Management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53648" y="5349240"/>
            <a:ext cx="308152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passwords regularly. Protect API keys. Store secrets securely.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IAM Threats and Misconfigurations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IAM practices often lead to cloud security incidents.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3453384" cy="4224528"/>
          </a:xfrm>
          <a:prstGeom prst="roundRect">
            <a:avLst>
              <a:gd name="adj" fmla="val 2383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63340" y="2404872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Threats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404872"/>
            <a:ext cx="3087624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reuse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hijacking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67784" y="2130552"/>
            <a:ext cx="3453384" cy="4224528"/>
          </a:xfrm>
          <a:prstGeom prst="roundRect">
            <a:avLst>
              <a:gd name="adj" fmla="val 2383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4408164" y="2295144"/>
            <a:ext cx="3453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Misconfigurations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50664" y="2866466"/>
            <a:ext cx="3087624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permissions for all users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access enabled unintentionally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accounts not removed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administrator accounts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access keys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MFA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095488" y="2130552"/>
            <a:ext cx="3453384" cy="4224528"/>
          </a:xfrm>
          <a:prstGeom prst="roundRect">
            <a:avLst>
              <a:gd name="adj" fmla="val 2383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8159617" y="2295144"/>
            <a:ext cx="3453384" cy="52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Recommendations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78368" y="2815224"/>
            <a:ext cx="3087624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privileged accounts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permissions regularly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unnecessary accounts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 privilege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identity monitoring tools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0F62B0">
              <a:alpha val="45000"/>
            </a:srgbClr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645920" y="4846320"/>
            <a:ext cx="3657600" cy="3657600"/>
          </a:xfrm>
          <a:prstGeom prst="ellipse">
            <a:avLst/>
          </a:prstGeom>
          <a:solidFill>
            <a:srgbClr val="071B33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0" y="242316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2319</TotalTime>
  <Words>4232</Words>
  <Application>Microsoft Macintosh PowerPoint</Application>
  <PresentationFormat>Custom</PresentationFormat>
  <Paragraphs>859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Ayesha Wijesooriya</cp:lastModifiedBy>
  <cp:revision>8</cp:revision>
  <dcterms:created xsi:type="dcterms:W3CDTF">2026-08-11T04:39:32Z</dcterms:created>
  <dcterms:modified xsi:type="dcterms:W3CDTF">2026-08-15T17:06:05Z</dcterms:modified>
</cp:coreProperties>
</file>