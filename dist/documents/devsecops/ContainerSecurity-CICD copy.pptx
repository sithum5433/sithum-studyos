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6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44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Shape 2"/>
          <p:cNvSpPr/>
          <p:nvPr/>
        </p:nvSpPr>
        <p:spPr>
          <a:xfrm>
            <a:off x="9784080" y="5120640"/>
            <a:ext cx="1828800" cy="1828800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Continuous Integration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Deployment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416765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06 —Integrating security into the delivery pipeline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ROADMAP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18488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7" name="Text 5"/>
          <p:cNvSpPr/>
          <p:nvPr/>
        </p:nvSpPr>
        <p:spPr>
          <a:xfrm>
            <a:off x="548640" y="1618488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42416" y="1600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Containerization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2185416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548640" y="2185416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42416" y="216712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vs Virtual Machines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548640" y="2752344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2416" y="2734056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Architecture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3319272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548640" y="3319272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42416" y="330098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 Challenges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42416" y="386791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 Best Practices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48640" y="4453128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548640" y="4453128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42416" y="44348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Security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263640" y="1618488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6263640" y="1618488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757416" y="1600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Security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263640" y="2185416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6263640" y="2185416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57416" y="216712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Kubernetes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263640" y="2752344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6263640" y="2752344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757416" y="2734056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Architecture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263640" y="3319272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4" name="Text 32"/>
          <p:cNvSpPr/>
          <p:nvPr/>
        </p:nvSpPr>
        <p:spPr>
          <a:xfrm>
            <a:off x="6263640" y="3319272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57416" y="330098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Security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263640" y="3886200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7" name="Text 35"/>
          <p:cNvSpPr/>
          <p:nvPr/>
        </p:nvSpPr>
        <p:spPr>
          <a:xfrm>
            <a:off x="6263640" y="3886200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757416" y="386791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Kubernetes Configuration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263640" y="4453128"/>
            <a:ext cx="365760" cy="365760"/>
          </a:xfrm>
          <a:prstGeom prst="ellipse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40" name="Text 38"/>
          <p:cNvSpPr/>
          <p:nvPr/>
        </p:nvSpPr>
        <p:spPr>
          <a:xfrm>
            <a:off x="6263640" y="4453128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57416" y="44348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 in DevSecOps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CI/CD?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22476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(CI): 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integrating code changes into a shared repository and automatically building and testing the application.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compilation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41071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377647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analysis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41422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777240" y="406908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2920" y="4569431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 (CD):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validated software for release.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 (CD):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deploys validated changes to production.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09360" y="1645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Pipeline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309360" y="2171957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6309360" y="2171957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309360" y="2665733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6309360" y="2665733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Repository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309360" y="3159509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6309360" y="3159509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309360" y="3653285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6" name="Text 24"/>
          <p:cNvSpPr/>
          <p:nvPr/>
        </p:nvSpPr>
        <p:spPr>
          <a:xfrm>
            <a:off x="6309360" y="3653285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309360" y="4147061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6309360" y="4147061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309360" y="4640837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0" name="Text 28"/>
          <p:cNvSpPr/>
          <p:nvPr/>
        </p:nvSpPr>
        <p:spPr>
          <a:xfrm>
            <a:off x="6309360" y="4640837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309360" y="5134613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2" name="Text 30"/>
          <p:cNvSpPr/>
          <p:nvPr/>
        </p:nvSpPr>
        <p:spPr>
          <a:xfrm>
            <a:off x="6309360" y="5134613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309360" y="5628389"/>
            <a:ext cx="5303520" cy="402336"/>
          </a:xfrm>
          <a:prstGeom prst="roundRect">
            <a:avLst>
              <a:gd name="adj" fmla="val 11364"/>
            </a:avLst>
          </a:prstGeom>
          <a:solidFill>
            <a:srgbClr val="0B3D6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4" name="Text 32"/>
          <p:cNvSpPr/>
          <p:nvPr/>
        </p:nvSpPr>
        <p:spPr>
          <a:xfrm>
            <a:off x="6309360" y="5628389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Integrate Security into CI/CD?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security testing happens near the end of development, vulnerabilities are discovered late, forcing teams back to earlier stages.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350419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77240" y="2487579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7240" y="2899059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→ Build → Test → Deploy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7240" y="3310539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Security Testing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7240" y="3722019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Vulnerability Found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63640" y="2350419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6492240" y="2487579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Approach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92240" y="2899059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→ Security Checks → Build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92240" y="3310539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Security Tests → Deploy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92240" y="3722019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Continuous Monitoring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8640" y="467145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515608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777240" y="508293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vulnerability detection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51960" y="515608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4480560" y="508293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remediation cost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55280" y="515608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8183880" y="508293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feedback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54013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777240" y="546698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security testing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51960" y="554013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4480560" y="546698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security controls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55280" y="554013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8183880" y="546698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human error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in the CI/CD Pipeline</a:t>
            </a:r>
            <a:endParaRPr lang="en-US" sz="3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183424"/>
              </p:ext>
            </p:extLst>
          </p:nvPr>
        </p:nvGraphicFramePr>
        <p:xfrm>
          <a:off x="548640" y="1691640"/>
          <a:ext cx="8379603" cy="4297680"/>
        </p:xfrm>
        <a:graphic>
          <a:graphicData uri="http://schemas.openxmlformats.org/drawingml/2006/table">
            <a:tbl>
              <a:tblPr/>
              <a:tblGrid>
                <a:gridCol w="2770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9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Activity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SAST, secret scanning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build validation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scanning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DAST, security tests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 scanning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checks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and threat detection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SECURITY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Shift-Left Security in CI/CD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moving security activities earlier in the software development lifecycle.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— too late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633062"/>
            <a:ext cx="5349240" cy="640080"/>
          </a:xfrm>
          <a:prstGeom prst="roundRect">
            <a:avLst>
              <a:gd name="adj" fmla="val 8571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685800" y="2633062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→ Testing → Deployment → Security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63640" y="219456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263640" y="2633062"/>
            <a:ext cx="5349240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6400800" y="2633062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→ Development → Testing → Deployment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5890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catching a vulnerable dependency early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064508"/>
            <a:ext cx="2594610" cy="868680"/>
          </a:xfrm>
          <a:prstGeom prst="roundRect">
            <a:avLst>
              <a:gd name="adj" fmla="val 7368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621792" y="4064508"/>
            <a:ext cx="244830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adds dependency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24962" y="4064508"/>
            <a:ext cx="265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371850" y="4064508"/>
            <a:ext cx="2594610" cy="868680"/>
          </a:xfrm>
          <a:prstGeom prst="roundRect">
            <a:avLst>
              <a:gd name="adj" fmla="val 7368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3445002" y="4064508"/>
            <a:ext cx="244830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Scan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8172" y="4064508"/>
            <a:ext cx="265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95060" y="4064508"/>
            <a:ext cx="2594610" cy="868680"/>
          </a:xfrm>
          <a:prstGeom prst="roundRect">
            <a:avLst>
              <a:gd name="adj" fmla="val 7368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6268212" y="4064508"/>
            <a:ext cx="244830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detected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71382" y="4064508"/>
            <a:ext cx="265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18270" y="4064508"/>
            <a:ext cx="2594610" cy="868680"/>
          </a:xfrm>
          <a:prstGeom prst="roundRect">
            <a:avLst>
              <a:gd name="adj" fmla="val 7368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9091422" y="4064508"/>
            <a:ext cx="244830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fixes it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349035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reduces the cost and effort of remediation.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Application Security Testing (SAST)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171778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source code or compiled code without executing the application.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79976" y="258189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Can Identify: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79976" y="320368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808576" y="313053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79976" y="358773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808576" y="351458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credentials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79976" y="397178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808576" y="38986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cryptography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79976" y="43558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808576" y="42826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functions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79976" y="473988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808576" y="466672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issues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640" y="533881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Tools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570457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 ·  Semgrep  ·  Checkmarx  ·  Fortify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37960" y="201168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6537960" y="201168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537960" y="269748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6537960" y="269748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Tool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537960" y="338328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6537960" y="338328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37960" y="406908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6537960" y="406908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537960" y="475488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6537960" y="475488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Fix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Composition Analysis (SCA)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applications depend heavily on third-party libraries. SCA identifies vulnerabilities in these dependencies.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42616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DCEA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822960" y="28254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28269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Flask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5840" y="36667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Requests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5840" y="40507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OpenSSL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Other Libraries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63640" y="2437647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Checks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63640" y="292227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6492240" y="2849127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versions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63640" y="328803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6492240" y="3214887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vulnerabilities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63640" y="365379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6492240" y="3580647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packages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63640" y="401955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6492240" y="3946407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information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263640" y="438531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6492240" y="4312167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relationships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63640" y="5102352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Tools:  OWASP Dependency-Check  ·  Snyk  ·  Dependabot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Scanning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57306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credentials can accidentally be committed to source-code repositories; AWS access keys, API tokens, database passwords, private keys.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711299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8" name="Text 6"/>
          <p:cNvSpPr/>
          <p:nvPr/>
        </p:nvSpPr>
        <p:spPr>
          <a:xfrm>
            <a:off x="594360" y="2711299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9464" y="2711299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98064" y="2711299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1" name="Text 9"/>
          <p:cNvSpPr/>
          <p:nvPr/>
        </p:nvSpPr>
        <p:spPr>
          <a:xfrm>
            <a:off x="2843784" y="2711299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18888" y="2711299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47488" y="2711299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4" name="Text 12"/>
          <p:cNvSpPr/>
          <p:nvPr/>
        </p:nvSpPr>
        <p:spPr>
          <a:xfrm>
            <a:off x="5093208" y="2711299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68312" y="2711299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96912" y="2711299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7" name="Text 15"/>
          <p:cNvSpPr/>
          <p:nvPr/>
        </p:nvSpPr>
        <p:spPr>
          <a:xfrm>
            <a:off x="7342632" y="2711299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Key Detected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17736" y="2711299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46336" y="2711299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20" name="Text 18"/>
          <p:cNvSpPr/>
          <p:nvPr/>
        </p:nvSpPr>
        <p:spPr>
          <a:xfrm>
            <a:off x="9592056" y="2711299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Fails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8712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03434" y="452042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3" name="Text 21"/>
          <p:cNvSpPr/>
          <p:nvPr/>
        </p:nvSpPr>
        <p:spPr>
          <a:xfrm>
            <a:off x="732034" y="44472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hard-code secrets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03434" y="490447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5" name="Text 23"/>
          <p:cNvSpPr/>
          <p:nvPr/>
        </p:nvSpPr>
        <p:spPr>
          <a:xfrm>
            <a:off x="732034" y="48313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repositories automatically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03434" y="528852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7" name="Text 25"/>
          <p:cNvSpPr/>
          <p:nvPr/>
        </p:nvSpPr>
        <p:spPr>
          <a:xfrm>
            <a:off x="732034" y="52153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exposed credentials immediately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03434" y="567256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9" name="Text 27"/>
          <p:cNvSpPr/>
          <p:nvPr/>
        </p:nvSpPr>
        <p:spPr>
          <a:xfrm>
            <a:off x="732034" y="559941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secret-management systems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63640" y="3968496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Tools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6263640" y="4535424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32" name="Text 30"/>
          <p:cNvSpPr/>
          <p:nvPr/>
        </p:nvSpPr>
        <p:spPr>
          <a:xfrm>
            <a:off x="6446520" y="453542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 Scanning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263640" y="5038344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34" name="Text 32"/>
          <p:cNvSpPr/>
          <p:nvPr/>
        </p:nvSpPr>
        <p:spPr>
          <a:xfrm>
            <a:off x="6446520" y="503834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263640" y="5541264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36" name="Text 34"/>
          <p:cNvSpPr/>
          <p:nvPr/>
        </p:nvSpPr>
        <p:spPr>
          <a:xfrm>
            <a:off x="6446520" y="554126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TruffleHog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Application Security Testing (DAST)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508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 running application from the outside to identify vulnerabilities. Unlike SAST, DAST does not analyze source code directly.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641727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Can Identify: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319584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777240" y="3122691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3579891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777240" y="3506739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Scripting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96393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777240" y="3890787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weaknesses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4347987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777240" y="4274835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problems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732035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777240" y="4658883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5381244"/>
            <a:ext cx="5394960" cy="502920"/>
          </a:xfrm>
          <a:prstGeom prst="roundRect">
            <a:avLst>
              <a:gd name="adj" fmla="val 12727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548640" y="538124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Tool:  OWASP ZAP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537960" y="2011680"/>
            <a:ext cx="4892040" cy="621792"/>
          </a:xfrm>
          <a:prstGeom prst="roundRect">
            <a:avLst>
              <a:gd name="adj" fmla="val 882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6537960" y="2011680"/>
            <a:ext cx="4892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Web Application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537960" y="2761488"/>
            <a:ext cx="4892040" cy="621792"/>
          </a:xfrm>
          <a:prstGeom prst="roundRect">
            <a:avLst>
              <a:gd name="adj" fmla="val 882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6537960" y="2761488"/>
            <a:ext cx="4892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537960" y="3511296"/>
            <a:ext cx="4892040" cy="621792"/>
          </a:xfrm>
          <a:prstGeom prst="roundRect">
            <a:avLst>
              <a:gd name="adj" fmla="val 882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6537960" y="3511296"/>
            <a:ext cx="4892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Attacks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37960" y="4261104"/>
            <a:ext cx="4892040" cy="621792"/>
          </a:xfrm>
          <a:prstGeom prst="roundRect">
            <a:avLst>
              <a:gd name="adj" fmla="val 882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6537960" y="4261104"/>
            <a:ext cx="4892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Report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 Security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9993" y="15188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DevOps environments use Infrastructure as Code (IaC) to define infrastructure through configuration files, Terraform, AWS CloudFormation, Azure Bicep.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39993" y="2548093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8" name="Text 6"/>
          <p:cNvSpPr/>
          <p:nvPr/>
        </p:nvSpPr>
        <p:spPr>
          <a:xfrm>
            <a:off x="585713" y="2548093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Code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60817" y="2548093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789417" y="2548093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11" name="Text 9"/>
          <p:cNvSpPr/>
          <p:nvPr/>
        </p:nvSpPr>
        <p:spPr>
          <a:xfrm>
            <a:off x="2835137" y="2548093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Scanner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0241" y="2548093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38841" y="2548093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14" name="Text 12"/>
          <p:cNvSpPr/>
          <p:nvPr/>
        </p:nvSpPr>
        <p:spPr>
          <a:xfrm>
            <a:off x="5084561" y="2548093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 Found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59665" y="2548093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288265" y="2548093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17" name="Text 15"/>
          <p:cNvSpPr/>
          <p:nvPr/>
        </p:nvSpPr>
        <p:spPr>
          <a:xfrm>
            <a:off x="7333985" y="2548093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Fixes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309089" y="2548093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537689" y="2548093"/>
            <a:ext cx="2066544" cy="777240"/>
          </a:xfrm>
          <a:prstGeom prst="roundRect">
            <a:avLst>
              <a:gd name="adj" fmla="val 705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20" name="Text 18"/>
          <p:cNvSpPr/>
          <p:nvPr/>
        </p:nvSpPr>
        <p:spPr>
          <a:xfrm>
            <a:off x="9583409" y="2548093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Deployment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0995" y="361645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Scanning Can Identify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39993" y="424579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768593" y="4172641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storage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39993" y="461155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768593" y="4538401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firewall rules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39993" y="497731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768593" y="4904161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permissions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39993" y="534307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768593" y="5269921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resources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39993" y="570883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768593" y="5635681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network configurations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02768" y="3947231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Tools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302768" y="4539464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4" name="Text 32"/>
          <p:cNvSpPr/>
          <p:nvPr/>
        </p:nvSpPr>
        <p:spPr>
          <a:xfrm>
            <a:off x="6485648" y="453946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Checkov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302768" y="5042384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6" name="Text 34"/>
          <p:cNvSpPr/>
          <p:nvPr/>
        </p:nvSpPr>
        <p:spPr>
          <a:xfrm>
            <a:off x="6485648" y="504238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tfsec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302768" y="5545304"/>
            <a:ext cx="5349240" cy="384048"/>
          </a:xfrm>
          <a:prstGeom prst="roundRect">
            <a:avLst>
              <a:gd name="adj" fmla="val 14286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8" name="Text 36"/>
          <p:cNvSpPr/>
          <p:nvPr/>
        </p:nvSpPr>
        <p:spPr>
          <a:xfrm>
            <a:off x="6485648" y="554530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KICS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+ CI/CD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Security in CI/CD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80051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7" name="Text 5"/>
          <p:cNvSpPr/>
          <p:nvPr/>
        </p:nvSpPr>
        <p:spPr>
          <a:xfrm>
            <a:off x="576072" y="1680051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56816" y="1680051"/>
            <a:ext cx="246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48840" y="1680051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10" name="Text 8"/>
          <p:cNvSpPr/>
          <p:nvPr/>
        </p:nvSpPr>
        <p:spPr>
          <a:xfrm>
            <a:off x="2176272" y="1680051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57016" y="1680051"/>
            <a:ext cx="246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1680051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13" name="Text 11"/>
          <p:cNvSpPr/>
          <p:nvPr/>
        </p:nvSpPr>
        <p:spPr>
          <a:xfrm>
            <a:off x="3776472" y="1680051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57216" y="1680051"/>
            <a:ext cx="246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49240" y="1680051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16" name="Text 14"/>
          <p:cNvSpPr/>
          <p:nvPr/>
        </p:nvSpPr>
        <p:spPr>
          <a:xfrm>
            <a:off x="5376672" y="1680051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Check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57416" y="1680051"/>
            <a:ext cx="246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949440" y="1680051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19" name="Text 17"/>
          <p:cNvSpPr/>
          <p:nvPr/>
        </p:nvSpPr>
        <p:spPr>
          <a:xfrm>
            <a:off x="6976872" y="1680051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Signing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57616" y="1680051"/>
            <a:ext cx="246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49640" y="1680051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22" name="Text 20"/>
          <p:cNvSpPr/>
          <p:nvPr/>
        </p:nvSpPr>
        <p:spPr>
          <a:xfrm>
            <a:off x="8577072" y="1680051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57816" y="1680051"/>
            <a:ext cx="246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149840" y="1680051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600"/>
          </a:p>
        </p:txBody>
      </p:sp>
      <p:sp>
        <p:nvSpPr>
          <p:cNvPr id="25" name="Text 23"/>
          <p:cNvSpPr/>
          <p:nvPr/>
        </p:nvSpPr>
        <p:spPr>
          <a:xfrm>
            <a:off x="10177272" y="1680051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281295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548640" y="358572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8" name="Text 26"/>
          <p:cNvSpPr/>
          <p:nvPr/>
        </p:nvSpPr>
        <p:spPr>
          <a:xfrm>
            <a:off x="777240" y="3530860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image vulnerabilities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8640" y="391490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0" name="Text 28"/>
          <p:cNvSpPr/>
          <p:nvPr/>
        </p:nvSpPr>
        <p:spPr>
          <a:xfrm>
            <a:off x="777240" y="3860044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dependencies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8640" y="424409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2" name="Text 30"/>
          <p:cNvSpPr/>
          <p:nvPr/>
        </p:nvSpPr>
        <p:spPr>
          <a:xfrm>
            <a:off x="777240" y="4189228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secrets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48640" y="457327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4" name="Text 32"/>
          <p:cNvSpPr/>
          <p:nvPr/>
        </p:nvSpPr>
        <p:spPr>
          <a:xfrm>
            <a:off x="777240" y="4518412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base images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48640" y="49024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6" name="Text 34"/>
          <p:cNvSpPr/>
          <p:nvPr/>
        </p:nvSpPr>
        <p:spPr>
          <a:xfrm>
            <a:off x="777240" y="4847596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Dockerfile security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48640" y="52316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8" name="Text 36"/>
          <p:cNvSpPr/>
          <p:nvPr/>
        </p:nvSpPr>
        <p:spPr>
          <a:xfrm>
            <a:off x="777240" y="5176780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SBOM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548640" y="556082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40" name="Text 38"/>
          <p:cNvSpPr/>
          <p:nvPr/>
        </p:nvSpPr>
        <p:spPr>
          <a:xfrm>
            <a:off x="777240" y="5505964"/>
            <a:ext cx="5120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image signatures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263640" y="269748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Decision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6263640" y="3255264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43" name="Text 41"/>
          <p:cNvSpPr/>
          <p:nvPr/>
        </p:nvSpPr>
        <p:spPr>
          <a:xfrm>
            <a:off x="6263640" y="3255264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6263640" y="3803904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45" name="Text 43"/>
          <p:cNvSpPr/>
          <p:nvPr/>
        </p:nvSpPr>
        <p:spPr>
          <a:xfrm>
            <a:off x="6263640" y="3803904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Vulnerability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6263640" y="4352544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47" name="Text 45"/>
          <p:cNvSpPr/>
          <p:nvPr/>
        </p:nvSpPr>
        <p:spPr>
          <a:xfrm>
            <a:off x="6263640" y="4352544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FAILED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6263640" y="4901184"/>
            <a:ext cx="5349240" cy="45720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49" name="Text 47"/>
          <p:cNvSpPr/>
          <p:nvPr/>
        </p:nvSpPr>
        <p:spPr>
          <a:xfrm>
            <a:off x="6263640" y="4901184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BLOCKED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263640" y="5696712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prevents vulnerable container images from reaching production.</a:t>
            </a: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+ CI/CD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Gates in CI/CD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773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gate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automated condition in a CI/CD pipeline that determines whether a build can proceed to the next stage.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066544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9464" y="23317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98064" y="2331720"/>
            <a:ext cx="2066544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2843784" y="2331720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18888" y="23317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47488" y="2331720"/>
            <a:ext cx="2066544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5093208" y="2331720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68312" y="23317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296912" y="2331720"/>
            <a:ext cx="2066544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7342632" y="2331720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Scan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17736" y="23317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9546336" y="2331720"/>
            <a:ext cx="2066544" cy="640080"/>
          </a:xfrm>
          <a:prstGeom prst="roundRect">
            <a:avLst>
              <a:gd name="adj" fmla="val 857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9592056" y="2331720"/>
            <a:ext cx="1975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70832" y="340614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4370832" y="34061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Pass?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569464" y="4050792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2569464" y="40507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→  Deploy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44184" y="4050792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6044184" y="40507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→  Stop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DCEA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822960" y="4983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Policy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22960" y="53492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Critical vulnerabilities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17920" y="53492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Maximum 5 Medium vulnerabilities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22960" y="57332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exposed secrets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17920" y="57332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high-risk IaC misconfigurations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AUTOMATION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Automation in CI/CD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052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Shape 5"/>
          <p:cNvSpPr/>
          <p:nvPr/>
        </p:nvSpPr>
        <p:spPr>
          <a:xfrm>
            <a:off x="71323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1323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323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Code Scanning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232" y="2560001"/>
            <a:ext cx="31760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 commit is scanned.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8160" y="1691640"/>
            <a:ext cx="35052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2" name="Shape 10"/>
          <p:cNvSpPr/>
          <p:nvPr/>
        </p:nvSpPr>
        <p:spPr>
          <a:xfrm>
            <a:off x="449275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449275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92752" y="2267393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Dependency Scanning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92752" y="2734056"/>
            <a:ext cx="31760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dependencies are checked for vulnerabilities.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07680" y="1691640"/>
            <a:ext cx="35052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7" name="Shape 15"/>
          <p:cNvSpPr/>
          <p:nvPr/>
        </p:nvSpPr>
        <p:spPr>
          <a:xfrm>
            <a:off x="827227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827227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7227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Container Scanning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72272" y="2569464"/>
            <a:ext cx="31760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 are scanned before deployment.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35052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Shape 20"/>
          <p:cNvSpPr/>
          <p:nvPr/>
        </p:nvSpPr>
        <p:spPr>
          <a:xfrm>
            <a:off x="71323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71323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3232" y="4270141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Infrastructure Scanning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3232" y="4672371"/>
            <a:ext cx="31760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checked before provisioning.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28160" y="3703320"/>
            <a:ext cx="350520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Shape 25"/>
          <p:cNvSpPr/>
          <p:nvPr/>
        </p:nvSpPr>
        <p:spPr>
          <a:xfrm>
            <a:off x="449275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449275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92752" y="421538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92752" y="4559666"/>
            <a:ext cx="31760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security policies.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AUTOMATION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 Security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BEAEA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Security Threats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41248" y="25420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1078992" y="2468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developer credentials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41248" y="29992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1078992" y="2926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code commits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41248" y="34564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1078992" y="33832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build servers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41248" y="39136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1078992" y="38404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CI/CD tokens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41248" y="43708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1078992" y="4297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dependencies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841248" y="48280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1078992" y="4754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pipeline modifications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841248" y="528523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1078992" y="5212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attacks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263640" y="1691640"/>
            <a:ext cx="5349240" cy="4434840"/>
          </a:xfrm>
          <a:prstGeom prst="roundRect">
            <a:avLst>
              <a:gd name="adj" fmla="val 1702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6537960" y="18928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556248" y="25420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6793992" y="2468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authentication &amp; MFA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56248" y="29992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6793992" y="2926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556248" y="34564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6793992" y="33832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branches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556248" y="39136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6793992" y="38404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556248" y="43708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3" name="Text 31"/>
          <p:cNvSpPr/>
          <p:nvPr/>
        </p:nvSpPr>
        <p:spPr>
          <a:xfrm>
            <a:off x="6793992" y="4297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build agents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556248" y="48280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5" name="Text 33"/>
          <p:cNvSpPr/>
          <p:nvPr/>
        </p:nvSpPr>
        <p:spPr>
          <a:xfrm>
            <a:off x="6793992" y="4754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556248" y="52852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7" name="Text 35"/>
          <p:cNvSpPr/>
          <p:nvPr/>
        </p:nvSpPr>
        <p:spPr>
          <a:xfrm>
            <a:off x="6793992" y="5212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signing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556248" y="574243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9" name="Text 37"/>
          <p:cNvSpPr/>
          <p:nvPr/>
        </p:nvSpPr>
        <p:spPr>
          <a:xfrm>
            <a:off x="6793992" y="56692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Supply Chain Security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3754" y="1564103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applications are built using many external components, each dependency introduces potential security risk.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31507"/>
            <a:ext cx="5349240" cy="2130339"/>
          </a:xfrm>
          <a:prstGeom prst="roundRect">
            <a:avLst>
              <a:gd name="adj" fmla="val 3721"/>
            </a:avLst>
          </a:prstGeom>
          <a:solidFill>
            <a:srgbClr val="DCEA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822960" y="24686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8801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Open Source Libraries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1727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Container Images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4653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Build Tools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7579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0505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Third-Party Services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2331508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May Compromise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400800" y="2797959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6629400" y="2743095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packages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400800" y="3108855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6629400" y="3053991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400800" y="3419751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6629400" y="3364887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400800" y="3730647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6629400" y="3675783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400800" y="4041543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6629400" y="3986679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repositories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8640" y="4617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Measures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510213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777240" y="5028987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scanning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91840" y="510213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3520440" y="5028987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35040" y="510213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6263640" y="5028987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repositories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778240" y="510213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3" name="Text 31"/>
          <p:cNvSpPr/>
          <p:nvPr/>
        </p:nvSpPr>
        <p:spPr>
          <a:xfrm>
            <a:off x="9006840" y="5028987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signing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5486187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5" name="Text 33"/>
          <p:cNvSpPr/>
          <p:nvPr/>
        </p:nvSpPr>
        <p:spPr>
          <a:xfrm>
            <a:off x="777240" y="5413035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verification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91840" y="5486187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7" name="Text 35"/>
          <p:cNvSpPr/>
          <p:nvPr/>
        </p:nvSpPr>
        <p:spPr>
          <a:xfrm>
            <a:off x="3520440" y="5413035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pinning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035040" y="5486187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9" name="Text 37"/>
          <p:cNvSpPr/>
          <p:nvPr/>
        </p:nvSpPr>
        <p:spPr>
          <a:xfrm>
            <a:off x="6263640" y="5413035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Artifact Management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artifact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file produced during the software build process executables, packages, container images, libraries, and deployment packages.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245250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should be securely stored and verified before deployment.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0815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0" name="Text 8"/>
          <p:cNvSpPr/>
          <p:nvPr/>
        </p:nvSpPr>
        <p:spPr>
          <a:xfrm>
            <a:off x="777240" y="34930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trusted artifact repositories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35661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2" name="Text 10"/>
          <p:cNvSpPr/>
          <p:nvPr/>
        </p:nvSpPr>
        <p:spPr>
          <a:xfrm>
            <a:off x="6492240" y="34930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access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4" name="Text 12"/>
          <p:cNvSpPr/>
          <p:nvPr/>
        </p:nvSpPr>
        <p:spPr>
          <a:xfrm>
            <a:off x="777240" y="39502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artifacts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40233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6" name="Text 14"/>
          <p:cNvSpPr/>
          <p:nvPr/>
        </p:nvSpPr>
        <p:spPr>
          <a:xfrm>
            <a:off x="6492240" y="39502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artifacts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8" name="Text 16"/>
          <p:cNvSpPr/>
          <p:nvPr/>
        </p:nvSpPr>
        <p:spPr>
          <a:xfrm>
            <a:off x="777240" y="44074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integrity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44805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0" name="Text 18"/>
          <p:cNvSpPr/>
          <p:nvPr/>
        </p:nvSpPr>
        <p:spPr>
          <a:xfrm>
            <a:off x="6492240" y="44074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version history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2" name="Text 20"/>
          <p:cNvSpPr/>
          <p:nvPr/>
        </p:nvSpPr>
        <p:spPr>
          <a:xfrm>
            <a:off x="777240" y="486460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unauthorized modification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 CI/CD Pipeline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90672" y="196596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0" name="Text 8"/>
          <p:cNvSpPr/>
          <p:nvPr/>
        </p:nvSpPr>
        <p:spPr>
          <a:xfrm>
            <a:off x="3456432" y="196596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25312" y="196596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3" name="Text 11"/>
          <p:cNvSpPr/>
          <p:nvPr/>
        </p:nvSpPr>
        <p:spPr>
          <a:xfrm>
            <a:off x="6291072" y="196596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59952" y="196596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052560" y="196596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6" name="Text 14"/>
          <p:cNvSpPr/>
          <p:nvPr/>
        </p:nvSpPr>
        <p:spPr>
          <a:xfrm>
            <a:off x="9125712" y="196596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 rot="5400000">
            <a:off x="10195560" y="2743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9" name="Text 17"/>
          <p:cNvSpPr/>
          <p:nvPr/>
        </p:nvSpPr>
        <p:spPr>
          <a:xfrm>
            <a:off x="621792" y="324612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Build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90672" y="324612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83280" y="324612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2" name="Text 20"/>
          <p:cNvSpPr/>
          <p:nvPr/>
        </p:nvSpPr>
        <p:spPr>
          <a:xfrm>
            <a:off x="3456432" y="324612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Scan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25312" y="324612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217920" y="324612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5" name="Text 23"/>
          <p:cNvSpPr/>
          <p:nvPr/>
        </p:nvSpPr>
        <p:spPr>
          <a:xfrm>
            <a:off x="6291072" y="324612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9952" y="324612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052560" y="324612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8" name="Text 26"/>
          <p:cNvSpPr/>
          <p:nvPr/>
        </p:nvSpPr>
        <p:spPr>
          <a:xfrm>
            <a:off x="9125712" y="324612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Scan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95560" y="402336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48640" y="452628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31" name="Text 29"/>
          <p:cNvSpPr/>
          <p:nvPr/>
        </p:nvSpPr>
        <p:spPr>
          <a:xfrm>
            <a:off x="621792" y="452628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090672" y="452628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383280" y="452628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34" name="Text 32"/>
          <p:cNvSpPr/>
          <p:nvPr/>
        </p:nvSpPr>
        <p:spPr>
          <a:xfrm>
            <a:off x="3456432" y="452628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Repo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25312" y="452628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217920" y="452628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37" name="Text 35"/>
          <p:cNvSpPr/>
          <p:nvPr/>
        </p:nvSpPr>
        <p:spPr>
          <a:xfrm>
            <a:off x="6291072" y="452628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59952" y="452628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9052560" y="4526280"/>
            <a:ext cx="2560320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40" name="Text 38"/>
          <p:cNvSpPr/>
          <p:nvPr/>
        </p:nvSpPr>
        <p:spPr>
          <a:xfrm>
            <a:off x="9125712" y="452628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boxes are security activities. Security is continuously integrated rather than performed as a final stage.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F36EB6C9-7B6E-83D0-09F0-A0E44E2B65FC}"/>
              </a:ext>
            </a:extLst>
          </p:cNvPr>
          <p:cNvSpPr/>
          <p:nvPr/>
        </p:nvSpPr>
        <p:spPr>
          <a:xfrm rot="5400000">
            <a:off x="2828544" y="27261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EC0F20E8-5AB1-A6D3-C668-67381B5C57DE}"/>
              </a:ext>
            </a:extLst>
          </p:cNvPr>
          <p:cNvSpPr/>
          <p:nvPr/>
        </p:nvSpPr>
        <p:spPr>
          <a:xfrm rot="5400000">
            <a:off x="4223004" y="272034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937A0269-95BE-8A7E-55CC-D5A4B577971C}"/>
              </a:ext>
            </a:extLst>
          </p:cNvPr>
          <p:cNvSpPr/>
          <p:nvPr/>
        </p:nvSpPr>
        <p:spPr>
          <a:xfrm>
            <a:off x="1868424" y="282136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9ACF942F-1C89-24B5-740C-D678D17229F6}"/>
              </a:ext>
            </a:extLst>
          </p:cNvPr>
          <p:cNvSpPr/>
          <p:nvPr/>
        </p:nvSpPr>
        <p:spPr>
          <a:xfrm rot="5400000">
            <a:off x="5806440" y="2750005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FDB9DF11-2BA0-7CC3-739C-DBC9699D8127}"/>
              </a:ext>
            </a:extLst>
          </p:cNvPr>
          <p:cNvSpPr/>
          <p:nvPr/>
        </p:nvSpPr>
        <p:spPr>
          <a:xfrm rot="5400000">
            <a:off x="7539228" y="275277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E51B0BC6-D3DC-79C4-3CB3-ECCF3427829A}"/>
              </a:ext>
            </a:extLst>
          </p:cNvPr>
          <p:cNvSpPr/>
          <p:nvPr/>
        </p:nvSpPr>
        <p:spPr>
          <a:xfrm rot="5400000">
            <a:off x="8933688" y="275808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9ED8D841-8E86-FEEA-C774-08EA88DB52BB}"/>
              </a:ext>
            </a:extLst>
          </p:cNvPr>
          <p:cNvSpPr/>
          <p:nvPr/>
        </p:nvSpPr>
        <p:spPr>
          <a:xfrm>
            <a:off x="10305607" y="262092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AA4121A0-A89E-6A6C-60AA-0305BDD32E91}"/>
              </a:ext>
            </a:extLst>
          </p:cNvPr>
          <p:cNvSpPr/>
          <p:nvPr/>
        </p:nvSpPr>
        <p:spPr>
          <a:xfrm rot="5400000">
            <a:off x="1972818" y="270706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2EC89C50-DC03-2AD0-5436-8663161EDD23}"/>
              </a:ext>
            </a:extLst>
          </p:cNvPr>
          <p:cNvSpPr/>
          <p:nvPr/>
        </p:nvSpPr>
        <p:spPr>
          <a:xfrm rot="5400000">
            <a:off x="10168447" y="404622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3" name="Text 15">
            <a:extLst>
              <a:ext uri="{FF2B5EF4-FFF2-40B4-BE49-F238E27FC236}">
                <a16:creationId xmlns:a16="http://schemas.microsoft.com/office/drawing/2014/main" id="{1769E3D0-B894-65A5-94D0-1FBF002A3F12}"/>
              </a:ext>
            </a:extLst>
          </p:cNvPr>
          <p:cNvSpPr/>
          <p:nvPr/>
        </p:nvSpPr>
        <p:spPr>
          <a:xfrm rot="5400000">
            <a:off x="2819790" y="402336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4" name="Text 15">
            <a:extLst>
              <a:ext uri="{FF2B5EF4-FFF2-40B4-BE49-F238E27FC236}">
                <a16:creationId xmlns:a16="http://schemas.microsoft.com/office/drawing/2014/main" id="{CC88131C-34D4-E80E-F1D3-2FCC0EF5D249}"/>
              </a:ext>
            </a:extLst>
          </p:cNvPr>
          <p:cNvSpPr/>
          <p:nvPr/>
        </p:nvSpPr>
        <p:spPr>
          <a:xfrm rot="5400000">
            <a:off x="4214250" y="40176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5" name="Text 15">
            <a:extLst>
              <a:ext uri="{FF2B5EF4-FFF2-40B4-BE49-F238E27FC236}">
                <a16:creationId xmlns:a16="http://schemas.microsoft.com/office/drawing/2014/main" id="{FA745795-7F9D-C7EE-E4DF-F9D2B0AE5EC2}"/>
              </a:ext>
            </a:extLst>
          </p:cNvPr>
          <p:cNvSpPr/>
          <p:nvPr/>
        </p:nvSpPr>
        <p:spPr>
          <a:xfrm>
            <a:off x="1859670" y="411862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2AB5AEF4-6335-9DAC-0023-11409F15DA6F}"/>
              </a:ext>
            </a:extLst>
          </p:cNvPr>
          <p:cNvSpPr/>
          <p:nvPr/>
        </p:nvSpPr>
        <p:spPr>
          <a:xfrm rot="5400000">
            <a:off x="5797686" y="4047265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7" name="Text 15">
            <a:extLst>
              <a:ext uri="{FF2B5EF4-FFF2-40B4-BE49-F238E27FC236}">
                <a16:creationId xmlns:a16="http://schemas.microsoft.com/office/drawing/2014/main" id="{6725A534-DD78-7F5C-7F5D-D43723404BA4}"/>
              </a:ext>
            </a:extLst>
          </p:cNvPr>
          <p:cNvSpPr/>
          <p:nvPr/>
        </p:nvSpPr>
        <p:spPr>
          <a:xfrm rot="5400000">
            <a:off x="7530474" y="405003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8" name="Text 15">
            <a:extLst>
              <a:ext uri="{FF2B5EF4-FFF2-40B4-BE49-F238E27FC236}">
                <a16:creationId xmlns:a16="http://schemas.microsoft.com/office/drawing/2014/main" id="{BABB423B-FC2B-E848-6F98-A47B8D77AB6E}"/>
              </a:ext>
            </a:extLst>
          </p:cNvPr>
          <p:cNvSpPr/>
          <p:nvPr/>
        </p:nvSpPr>
        <p:spPr>
          <a:xfrm rot="5400000">
            <a:off x="8924934" y="405534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9" name="Text 15">
            <a:extLst>
              <a:ext uri="{FF2B5EF4-FFF2-40B4-BE49-F238E27FC236}">
                <a16:creationId xmlns:a16="http://schemas.microsoft.com/office/drawing/2014/main" id="{5E20E18F-4D4A-C972-2E2F-9140165BFAAF}"/>
              </a:ext>
            </a:extLst>
          </p:cNvPr>
          <p:cNvSpPr/>
          <p:nvPr/>
        </p:nvSpPr>
        <p:spPr>
          <a:xfrm>
            <a:off x="10296853" y="391818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70" name="Text 15">
            <a:extLst>
              <a:ext uri="{FF2B5EF4-FFF2-40B4-BE49-F238E27FC236}">
                <a16:creationId xmlns:a16="http://schemas.microsoft.com/office/drawing/2014/main" id="{61AC6C3B-C41E-4D04-D422-831E5E5DF1B9}"/>
              </a:ext>
            </a:extLst>
          </p:cNvPr>
          <p:cNvSpPr/>
          <p:nvPr/>
        </p:nvSpPr>
        <p:spPr>
          <a:xfrm rot="5400000">
            <a:off x="1964064" y="400432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Secure CI/CD Pipeline for an Online Shopping App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0704" y="167335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60704" y="196596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 checks for exposed credentials.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11" name="Text 9"/>
          <p:cNvSpPr/>
          <p:nvPr/>
        </p:nvSpPr>
        <p:spPr>
          <a:xfrm>
            <a:off x="548640" y="2724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0704" y="26791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60704" y="297180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is analyzed for vulnerabilities.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15" name="Text 13"/>
          <p:cNvSpPr/>
          <p:nvPr/>
        </p:nvSpPr>
        <p:spPr>
          <a:xfrm>
            <a:off x="548640" y="3730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0704" y="36850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60704" y="397764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dependencies are scanned.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73659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19" name="Text 17"/>
          <p:cNvSpPr/>
          <p:nvPr/>
        </p:nvSpPr>
        <p:spPr>
          <a:xfrm>
            <a:off x="548640" y="4736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0704" y="469087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60704" y="498348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packaged into a container.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74243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23" name="Text 21"/>
          <p:cNvSpPr/>
          <p:nvPr/>
        </p:nvSpPr>
        <p:spPr>
          <a:xfrm>
            <a:off x="548640" y="5742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0704" y="569671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Scan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60704" y="598932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image is checked for vulnerabilities.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171907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27" name="Text 25"/>
          <p:cNvSpPr/>
          <p:nvPr/>
        </p:nvSpPr>
        <p:spPr>
          <a:xfrm>
            <a:off x="626364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75704" y="167335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IaC Scan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75704" y="196596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configuration is checked for misconfigurations.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63640" y="272491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31" name="Text 29"/>
          <p:cNvSpPr/>
          <p:nvPr/>
        </p:nvSpPr>
        <p:spPr>
          <a:xfrm>
            <a:off x="6263640" y="2724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75704" y="26791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75704" y="297180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checks whether security policies are satisfied.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3640" y="373075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35" name="Text 33"/>
          <p:cNvSpPr/>
          <p:nvPr/>
        </p:nvSpPr>
        <p:spPr>
          <a:xfrm>
            <a:off x="6263640" y="3730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75704" y="36850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775704" y="397764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 artifacts are deployed.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63640" y="473659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39" name="Text 37"/>
          <p:cNvSpPr/>
          <p:nvPr/>
        </p:nvSpPr>
        <p:spPr>
          <a:xfrm>
            <a:off x="6263640" y="4736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75704" y="469087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Monitoring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75704" y="498348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and infrastructure are continuously monitored.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Secure CI/CD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Shape 5"/>
          <p:cNvSpPr/>
          <p:nvPr/>
        </p:nvSpPr>
        <p:spPr>
          <a:xfrm>
            <a:off x="71323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1323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3232" y="220370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Detection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232" y="2569464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identified earlier.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2" name="Shape 10"/>
          <p:cNvSpPr/>
          <p:nvPr/>
        </p:nvSpPr>
        <p:spPr>
          <a:xfrm>
            <a:off x="354787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354787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47872" y="2281109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Remediation Cost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47872" y="2719596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issues before deployment.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7" name="Shape 15"/>
          <p:cNvSpPr/>
          <p:nvPr/>
        </p:nvSpPr>
        <p:spPr>
          <a:xfrm>
            <a:off x="638251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638251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82512" y="220370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Feedback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82512" y="2496312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tools provide immediate feedback.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5256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Shape 20"/>
          <p:cNvSpPr/>
          <p:nvPr/>
        </p:nvSpPr>
        <p:spPr>
          <a:xfrm>
            <a:off x="921715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921715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217152" y="220370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217152" y="2496312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checks applied to every build.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7033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Shape 25"/>
          <p:cNvSpPr/>
          <p:nvPr/>
        </p:nvSpPr>
        <p:spPr>
          <a:xfrm>
            <a:off x="71323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71323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13232" y="4288536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Human Error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13232" y="4719580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reduces manual reliance.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383280" y="37033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2" name="Shape 30"/>
          <p:cNvSpPr/>
          <p:nvPr/>
        </p:nvSpPr>
        <p:spPr>
          <a:xfrm>
            <a:off x="354787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3" name="Text 31"/>
          <p:cNvSpPr/>
          <p:nvPr/>
        </p:nvSpPr>
        <p:spPr>
          <a:xfrm>
            <a:off x="354787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47872" y="4279392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Compliance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547872" y="4754880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policies enforced continuously.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370332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7" name="Shape 35"/>
          <p:cNvSpPr/>
          <p:nvPr/>
        </p:nvSpPr>
        <p:spPr>
          <a:xfrm>
            <a:off x="638251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8" name="Text 36"/>
          <p:cNvSpPr/>
          <p:nvPr/>
        </p:nvSpPr>
        <p:spPr>
          <a:xfrm>
            <a:off x="638251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382512" y="4288536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Collaboration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82512" y="4672584"/>
            <a:ext cx="223113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security, and ops share responsibility.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4572000" cy="45720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Container, Kubernetes &amp; CI/CD Security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3864" cy="4709160"/>
          </a:xfrm>
          <a:prstGeom prst="roundRect">
            <a:avLst>
              <a:gd name="adj" fmla="val 2100"/>
            </a:avLst>
          </a:prstGeom>
          <a:solidFill>
            <a:srgbClr val="0F4778"/>
          </a:solidFill>
          <a:ln w="12700">
            <a:solidFill>
              <a:srgbClr val="1E5D93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Security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247802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987552" y="242316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Portability, consistency, isolation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98094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987552" y="292608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automatically secure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48386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987552" y="342900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images, registries, runtime, hosts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" y="4132026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969264" y="4077162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least privilege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5528" y="462027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1005840" y="4565409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images and dependencies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5528" y="512319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1005840" y="5068329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secrets · monitor runtime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52544" y="1600200"/>
            <a:ext cx="3483864" cy="4709160"/>
          </a:xfrm>
          <a:prstGeom prst="roundRect">
            <a:avLst>
              <a:gd name="adj" fmla="val 2100"/>
            </a:avLst>
          </a:prstGeom>
          <a:solidFill>
            <a:srgbClr val="0F4778"/>
          </a:solidFill>
          <a:ln w="12700">
            <a:solidFill>
              <a:srgbClr val="1E5D93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4581144" y="1801368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Security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81144" y="247802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4791456" y="242316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control plane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81144" y="298094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4791456" y="292608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RBAC and least privilege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81144" y="348386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6" name="Text 24"/>
          <p:cNvSpPr/>
          <p:nvPr/>
        </p:nvSpPr>
        <p:spPr>
          <a:xfrm>
            <a:off x="4791456" y="342900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pods and containers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81144" y="398678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4791456" y="393192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network policies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81144" y="448970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0" name="Text 28"/>
          <p:cNvSpPr/>
          <p:nvPr/>
        </p:nvSpPr>
        <p:spPr>
          <a:xfrm>
            <a:off x="4791456" y="443484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secrets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499262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2" name="Text 30"/>
          <p:cNvSpPr/>
          <p:nvPr/>
        </p:nvSpPr>
        <p:spPr>
          <a:xfrm>
            <a:off x="4791456" y="493776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privileged workloads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56448" y="1600200"/>
            <a:ext cx="3483864" cy="4709160"/>
          </a:xfrm>
          <a:prstGeom prst="roundRect">
            <a:avLst>
              <a:gd name="adj" fmla="val 2100"/>
            </a:avLst>
          </a:prstGeom>
          <a:solidFill>
            <a:srgbClr val="0F4778"/>
          </a:solidFill>
          <a:ln w="12700">
            <a:solidFill>
              <a:srgbClr val="1E5D93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4" name="Text 32"/>
          <p:cNvSpPr/>
          <p:nvPr/>
        </p:nvSpPr>
        <p:spPr>
          <a:xfrm>
            <a:off x="8385048" y="1801368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CI/CD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8385048" y="247802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6" name="Text 34"/>
          <p:cNvSpPr/>
          <p:nvPr/>
        </p:nvSpPr>
        <p:spPr>
          <a:xfrm>
            <a:off x="8595360" y="242316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security throughout the pipeline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85048" y="298094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8" name="Text 36"/>
          <p:cNvSpPr/>
          <p:nvPr/>
        </p:nvSpPr>
        <p:spPr>
          <a:xfrm>
            <a:off x="8595360" y="292608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SAST, SCA, DAST, IaC &amp; container scanning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85048" y="348386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40" name="Text 38"/>
          <p:cNvSpPr/>
          <p:nvPr/>
        </p:nvSpPr>
        <p:spPr>
          <a:xfrm>
            <a:off x="8595360" y="342900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secrets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85048" y="398678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42" name="Text 40"/>
          <p:cNvSpPr/>
          <p:nvPr/>
        </p:nvSpPr>
        <p:spPr>
          <a:xfrm>
            <a:off x="8595360" y="393192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security gates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85048" y="448970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44" name="Text 42"/>
          <p:cNvSpPr/>
          <p:nvPr/>
        </p:nvSpPr>
        <p:spPr>
          <a:xfrm>
            <a:off x="8595360" y="443484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CI/CD pipeline &amp; supply chain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85048" y="499262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46" name="Text 44"/>
          <p:cNvSpPr/>
          <p:nvPr/>
        </p:nvSpPr>
        <p:spPr>
          <a:xfrm>
            <a:off x="8595360" y="493776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security wherever possible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1448</TotalTime>
  <Words>1563</Words>
  <Application>Microsoft Macintosh PowerPoint</Application>
  <PresentationFormat>Widescreen</PresentationFormat>
  <Paragraphs>496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Ayesha Wijesooriya</cp:lastModifiedBy>
  <cp:revision>9</cp:revision>
  <dcterms:created xsi:type="dcterms:W3CDTF">2026-08-20T11:11:13Z</dcterms:created>
  <dcterms:modified xsi:type="dcterms:W3CDTF">2026-08-24T10:02:16Z</dcterms:modified>
</cp:coreProperties>
</file>