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81" r:id="rId20"/>
    <p:sldId id="282" r:id="rId21"/>
    <p:sldId id="283" r:id="rId22"/>
    <p:sldId id="274" r:id="rId23"/>
    <p:sldId id="275" r:id="rId24"/>
    <p:sldId id="276" r:id="rId25"/>
    <p:sldId id="277" r:id="rId26"/>
    <p:sldId id="278" r:id="rId27"/>
    <p:sldId id="279" r:id="rId28"/>
    <p:sldId id="280"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60AE"/>
    <a:srgbClr val="EBEFF6"/>
    <a:srgbClr val="FDFDFE"/>
    <a:srgbClr val="C8ECFC"/>
    <a:srgbClr val="003054"/>
    <a:srgbClr val="0070C0"/>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CD222C-B643-89C9-9A17-45CCB3EA1EE4}" v="153" dt="2026-04-22T09:12:40.049"/>
    <p1510:client id="{3462B1AA-9905-A3D4-6989-70D618815ED0}" v="161" dt="2026-04-22T09:10:51.725"/>
  </p1510:revLst>
</p1510:revInfo>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3969" autoAdjust="0"/>
  </p:normalViewPr>
  <p:slideViewPr>
    <p:cSldViewPr snapToGrid="0">
      <p:cViewPr varScale="1">
        <p:scale>
          <a:sx n="69" d="100"/>
          <a:sy n="69" d="100"/>
        </p:scale>
        <p:origin x="78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5/10/relationships/revisionInfo" Target="revisionInfo.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5A265B-85F9-4AB9-A7F7-F201F3EC6124}" type="datetimeFigureOut">
              <a:rPr lang="en-US" smtClean="0"/>
              <a:t>9/17/2026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EDF255-290D-41DE-BD04-0A7C06A1BC10}" type="slidenum">
              <a:rPr lang="en-US" smtClean="0"/>
              <a:t>‹#›</a:t>
            </a:fld>
            <a:endParaRPr lang="en-US"/>
          </a:p>
        </p:txBody>
      </p:sp>
    </p:spTree>
    <p:extLst>
      <p:ext uri="{BB962C8B-B14F-4D97-AF65-F5344CB8AC3E}">
        <p14:creationId xmlns:p14="http://schemas.microsoft.com/office/powerpoint/2010/main" val="27846368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C36BA-4D0C-582A-D90D-A5050C3B570A}"/>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50835A14-CC45-415E-91D7-B390853369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CA3511F-336C-5F04-B406-EAC188B39250}"/>
              </a:ext>
            </a:extLst>
          </p:cNvPr>
          <p:cNvSpPr>
            <a:spLocks noGrp="1"/>
          </p:cNvSpPr>
          <p:nvPr>
            <p:ph type="dt" sz="half" idx="10"/>
          </p:nvPr>
        </p:nvSpPr>
        <p:spPr/>
        <p:txBody>
          <a:bodyPr/>
          <a:lstStyle/>
          <a:p>
            <a:fld id="{DCA9E3F6-6859-4CA3-A09E-D0F7F72ACFE0}" type="datetime1">
              <a:rPr lang="en-US" smtClean="0"/>
              <a:t>9/17/2026</a:t>
            </a:fld>
            <a:endParaRPr lang="en-US"/>
          </a:p>
        </p:txBody>
      </p:sp>
      <p:sp>
        <p:nvSpPr>
          <p:cNvPr id="5" name="Footer Placeholder 4">
            <a:extLst>
              <a:ext uri="{FF2B5EF4-FFF2-40B4-BE49-F238E27FC236}">
                <a16:creationId xmlns:a16="http://schemas.microsoft.com/office/drawing/2014/main" id="{02544DD8-8DE2-49BF-2256-D6C974530B7F}"/>
              </a:ext>
            </a:extLst>
          </p:cNvPr>
          <p:cNvSpPr>
            <a:spLocks noGrp="1"/>
          </p:cNvSpPr>
          <p:nvPr>
            <p:ph type="ftr" sz="quarter" idx="11"/>
          </p:nvPr>
        </p:nvSpPr>
        <p:spPr/>
        <p:txBody>
          <a:bodyPr/>
          <a:lstStyle/>
          <a:p>
            <a:r>
              <a:rPr lang="en-US"/>
              <a:t>BSc (Hons) in Information Technology</a:t>
            </a:r>
          </a:p>
        </p:txBody>
      </p:sp>
      <p:sp>
        <p:nvSpPr>
          <p:cNvPr id="6" name="Slide Number Placeholder 5">
            <a:extLst>
              <a:ext uri="{FF2B5EF4-FFF2-40B4-BE49-F238E27FC236}">
                <a16:creationId xmlns:a16="http://schemas.microsoft.com/office/drawing/2014/main" id="{F9AE118B-A9C0-2539-EE0E-7F976FEA3DDF}"/>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9910337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D9DBE-034D-F88C-332A-467E245C0AA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86D88A-9AB2-CE18-CCE1-4CE93CF5FA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8E28A8-BA96-F50D-807E-BE9AFD5BB942}"/>
              </a:ext>
            </a:extLst>
          </p:cNvPr>
          <p:cNvSpPr>
            <a:spLocks noGrp="1"/>
          </p:cNvSpPr>
          <p:nvPr>
            <p:ph type="dt" sz="half" idx="10"/>
          </p:nvPr>
        </p:nvSpPr>
        <p:spPr/>
        <p:txBody>
          <a:bodyPr/>
          <a:lstStyle/>
          <a:p>
            <a:fld id="{26FF9165-B718-4A05-ABEA-493F7CF226F4}" type="datetime1">
              <a:rPr lang="en-US" smtClean="0"/>
              <a:t>9/17/2026</a:t>
            </a:fld>
            <a:endParaRPr lang="en-US"/>
          </a:p>
        </p:txBody>
      </p:sp>
      <p:sp>
        <p:nvSpPr>
          <p:cNvPr id="5" name="Footer Placeholder 4">
            <a:extLst>
              <a:ext uri="{FF2B5EF4-FFF2-40B4-BE49-F238E27FC236}">
                <a16:creationId xmlns:a16="http://schemas.microsoft.com/office/drawing/2014/main" id="{DF9172DB-9131-6C85-8238-09E061156DF0}"/>
              </a:ext>
            </a:extLst>
          </p:cNvPr>
          <p:cNvSpPr>
            <a:spLocks noGrp="1"/>
          </p:cNvSpPr>
          <p:nvPr>
            <p:ph type="ftr" sz="quarter" idx="11"/>
          </p:nvPr>
        </p:nvSpPr>
        <p:spPr/>
        <p:txBody>
          <a:bodyPr/>
          <a:lstStyle/>
          <a:p>
            <a:r>
              <a:rPr lang="en-US"/>
              <a:t>BSc (Hons) in Information Technology</a:t>
            </a:r>
          </a:p>
        </p:txBody>
      </p:sp>
      <p:sp>
        <p:nvSpPr>
          <p:cNvPr id="6" name="Slide Number Placeholder 5">
            <a:extLst>
              <a:ext uri="{FF2B5EF4-FFF2-40B4-BE49-F238E27FC236}">
                <a16:creationId xmlns:a16="http://schemas.microsoft.com/office/drawing/2014/main" id="{FFB35A60-C9F7-6C8C-1CB6-26C1644CF7DC}"/>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24436209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6D231-9473-3376-B7F9-2B9B0001BFF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3098136-DBDE-3025-06A8-1C273FCE09E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8E3572A-62DD-CA9F-E4DD-D035DA296BC3}"/>
              </a:ext>
            </a:extLst>
          </p:cNvPr>
          <p:cNvSpPr>
            <a:spLocks noGrp="1"/>
          </p:cNvSpPr>
          <p:nvPr>
            <p:ph type="dt" sz="half" idx="10"/>
          </p:nvPr>
        </p:nvSpPr>
        <p:spPr/>
        <p:txBody>
          <a:bodyPr/>
          <a:lstStyle/>
          <a:p>
            <a:fld id="{BFF99AE2-4C36-4768-AD66-E53AE3B69896}" type="datetime1">
              <a:rPr lang="en-US" smtClean="0"/>
              <a:t>9/17/2026</a:t>
            </a:fld>
            <a:endParaRPr lang="en-US"/>
          </a:p>
        </p:txBody>
      </p:sp>
      <p:sp>
        <p:nvSpPr>
          <p:cNvPr id="5" name="Footer Placeholder 4">
            <a:extLst>
              <a:ext uri="{FF2B5EF4-FFF2-40B4-BE49-F238E27FC236}">
                <a16:creationId xmlns:a16="http://schemas.microsoft.com/office/drawing/2014/main" id="{CEB06F99-EECF-A28B-02D8-6E9260C98AC3}"/>
              </a:ext>
            </a:extLst>
          </p:cNvPr>
          <p:cNvSpPr>
            <a:spLocks noGrp="1"/>
          </p:cNvSpPr>
          <p:nvPr>
            <p:ph type="ftr" sz="quarter" idx="11"/>
          </p:nvPr>
        </p:nvSpPr>
        <p:spPr/>
        <p:txBody>
          <a:bodyPr/>
          <a:lstStyle/>
          <a:p>
            <a:r>
              <a:rPr lang="en-US"/>
              <a:t>BSc (Hons) in Information Technology</a:t>
            </a:r>
          </a:p>
        </p:txBody>
      </p:sp>
      <p:sp>
        <p:nvSpPr>
          <p:cNvPr id="6" name="Slide Number Placeholder 5">
            <a:extLst>
              <a:ext uri="{FF2B5EF4-FFF2-40B4-BE49-F238E27FC236}">
                <a16:creationId xmlns:a16="http://schemas.microsoft.com/office/drawing/2014/main" id="{A0497C3B-FDFB-646C-AA5A-1D48D6DB0C4F}"/>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10061668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D8290-BA90-4A7A-864A-9F9331466B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188928-35DF-C4DA-EEF3-AF71B4FDE92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E324945-DF26-5646-D08A-6A42E8E1ECF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7E4C70D-C5D2-DE0E-5A4D-5C54D957BBF0}"/>
              </a:ext>
            </a:extLst>
          </p:cNvPr>
          <p:cNvSpPr>
            <a:spLocks noGrp="1"/>
          </p:cNvSpPr>
          <p:nvPr>
            <p:ph type="dt" sz="half" idx="10"/>
          </p:nvPr>
        </p:nvSpPr>
        <p:spPr/>
        <p:txBody>
          <a:bodyPr/>
          <a:lstStyle/>
          <a:p>
            <a:fld id="{8D61E677-F796-43F6-BC96-25B1E0E4BB94}" type="datetime1">
              <a:rPr lang="en-US" smtClean="0"/>
              <a:t>9/17/2026</a:t>
            </a:fld>
            <a:endParaRPr lang="en-US"/>
          </a:p>
        </p:txBody>
      </p:sp>
      <p:sp>
        <p:nvSpPr>
          <p:cNvPr id="6" name="Footer Placeholder 5">
            <a:extLst>
              <a:ext uri="{FF2B5EF4-FFF2-40B4-BE49-F238E27FC236}">
                <a16:creationId xmlns:a16="http://schemas.microsoft.com/office/drawing/2014/main" id="{3F936F4D-2522-DF44-1C34-3B60B4B4BEB9}"/>
              </a:ext>
            </a:extLst>
          </p:cNvPr>
          <p:cNvSpPr>
            <a:spLocks noGrp="1"/>
          </p:cNvSpPr>
          <p:nvPr>
            <p:ph type="ftr" sz="quarter" idx="11"/>
          </p:nvPr>
        </p:nvSpPr>
        <p:spPr/>
        <p:txBody>
          <a:bodyPr/>
          <a:lstStyle/>
          <a:p>
            <a:r>
              <a:rPr lang="en-US"/>
              <a:t>BSc (Hons) in Information Technology</a:t>
            </a:r>
          </a:p>
        </p:txBody>
      </p:sp>
      <p:sp>
        <p:nvSpPr>
          <p:cNvPr id="7" name="Slide Number Placeholder 6">
            <a:extLst>
              <a:ext uri="{FF2B5EF4-FFF2-40B4-BE49-F238E27FC236}">
                <a16:creationId xmlns:a16="http://schemas.microsoft.com/office/drawing/2014/main" id="{EAD36A2C-43F6-FE22-6DC6-758D53EBA043}"/>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7430630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B5137-4489-DD84-A8A0-C614F15F124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9641754-800C-4717-0512-67D3739D2F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E28F263-D07C-28BF-3BB6-9B65279454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9DEA40D-AAC1-9598-D1AF-7635335E1F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06D1A6-36AD-89AE-1A4F-1E8B9A77E76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BE20158-925C-A7E9-5222-5E66069D1F9C}"/>
              </a:ext>
            </a:extLst>
          </p:cNvPr>
          <p:cNvSpPr>
            <a:spLocks noGrp="1"/>
          </p:cNvSpPr>
          <p:nvPr>
            <p:ph type="dt" sz="half" idx="10"/>
          </p:nvPr>
        </p:nvSpPr>
        <p:spPr/>
        <p:txBody>
          <a:bodyPr/>
          <a:lstStyle/>
          <a:p>
            <a:fld id="{7CEC14BC-1BD6-4166-8FDC-A0F77CFEB6BC}" type="datetime1">
              <a:rPr lang="en-US" smtClean="0"/>
              <a:t>9/17/2026</a:t>
            </a:fld>
            <a:endParaRPr lang="en-US"/>
          </a:p>
        </p:txBody>
      </p:sp>
      <p:sp>
        <p:nvSpPr>
          <p:cNvPr id="8" name="Footer Placeholder 7">
            <a:extLst>
              <a:ext uri="{FF2B5EF4-FFF2-40B4-BE49-F238E27FC236}">
                <a16:creationId xmlns:a16="http://schemas.microsoft.com/office/drawing/2014/main" id="{74889187-3B4A-58A4-0C3B-C7E850F66B05}"/>
              </a:ext>
            </a:extLst>
          </p:cNvPr>
          <p:cNvSpPr>
            <a:spLocks noGrp="1"/>
          </p:cNvSpPr>
          <p:nvPr>
            <p:ph type="ftr" sz="quarter" idx="11"/>
          </p:nvPr>
        </p:nvSpPr>
        <p:spPr/>
        <p:txBody>
          <a:bodyPr/>
          <a:lstStyle/>
          <a:p>
            <a:r>
              <a:rPr lang="en-US"/>
              <a:t>BSc (Hons) in Information Technology</a:t>
            </a:r>
          </a:p>
        </p:txBody>
      </p:sp>
      <p:sp>
        <p:nvSpPr>
          <p:cNvPr id="9" name="Slide Number Placeholder 8">
            <a:extLst>
              <a:ext uri="{FF2B5EF4-FFF2-40B4-BE49-F238E27FC236}">
                <a16:creationId xmlns:a16="http://schemas.microsoft.com/office/drawing/2014/main" id="{308F996D-4AE8-BB7F-D3A1-995EE754271E}"/>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4149834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80101-22BA-32E5-2060-4A9C785ACDB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1593B0A-96D8-DA75-C76E-DA71825A01AE}"/>
              </a:ext>
            </a:extLst>
          </p:cNvPr>
          <p:cNvSpPr>
            <a:spLocks noGrp="1"/>
          </p:cNvSpPr>
          <p:nvPr>
            <p:ph type="dt" sz="half" idx="10"/>
          </p:nvPr>
        </p:nvSpPr>
        <p:spPr/>
        <p:txBody>
          <a:bodyPr/>
          <a:lstStyle/>
          <a:p>
            <a:fld id="{3A9FD351-5A68-4A1F-946B-20C3567895CF}" type="datetime1">
              <a:rPr lang="en-US" smtClean="0"/>
              <a:t>9/17/2026</a:t>
            </a:fld>
            <a:endParaRPr lang="en-US"/>
          </a:p>
        </p:txBody>
      </p:sp>
      <p:sp>
        <p:nvSpPr>
          <p:cNvPr id="4" name="Footer Placeholder 3">
            <a:extLst>
              <a:ext uri="{FF2B5EF4-FFF2-40B4-BE49-F238E27FC236}">
                <a16:creationId xmlns:a16="http://schemas.microsoft.com/office/drawing/2014/main" id="{5B881D16-288F-8034-9059-C666E54D7B15}"/>
              </a:ext>
            </a:extLst>
          </p:cNvPr>
          <p:cNvSpPr>
            <a:spLocks noGrp="1"/>
          </p:cNvSpPr>
          <p:nvPr>
            <p:ph type="ftr" sz="quarter" idx="11"/>
          </p:nvPr>
        </p:nvSpPr>
        <p:spPr/>
        <p:txBody>
          <a:bodyPr/>
          <a:lstStyle/>
          <a:p>
            <a:r>
              <a:rPr lang="en-US"/>
              <a:t>BSc (Hons) in Information Technology</a:t>
            </a:r>
          </a:p>
        </p:txBody>
      </p:sp>
      <p:sp>
        <p:nvSpPr>
          <p:cNvPr id="5" name="Slide Number Placeholder 4">
            <a:extLst>
              <a:ext uri="{FF2B5EF4-FFF2-40B4-BE49-F238E27FC236}">
                <a16:creationId xmlns:a16="http://schemas.microsoft.com/office/drawing/2014/main" id="{CE065B0D-78DE-91A7-D803-150A4D18B266}"/>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13976849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7D95D1-8997-87CC-14A9-30F3E28ED848}"/>
              </a:ext>
            </a:extLst>
          </p:cNvPr>
          <p:cNvSpPr>
            <a:spLocks noGrp="1"/>
          </p:cNvSpPr>
          <p:nvPr>
            <p:ph type="dt" sz="half" idx="10"/>
          </p:nvPr>
        </p:nvSpPr>
        <p:spPr/>
        <p:txBody>
          <a:bodyPr/>
          <a:lstStyle/>
          <a:p>
            <a:fld id="{2BA7CCCF-53CF-49A2-8E4E-6C875B11F612}" type="datetime1">
              <a:rPr lang="en-US" smtClean="0"/>
              <a:t>9/17/2026</a:t>
            </a:fld>
            <a:endParaRPr lang="en-US"/>
          </a:p>
        </p:txBody>
      </p:sp>
      <p:sp>
        <p:nvSpPr>
          <p:cNvPr id="3" name="Footer Placeholder 2">
            <a:extLst>
              <a:ext uri="{FF2B5EF4-FFF2-40B4-BE49-F238E27FC236}">
                <a16:creationId xmlns:a16="http://schemas.microsoft.com/office/drawing/2014/main" id="{8185F0F5-689E-656C-326C-0DF47574D589}"/>
              </a:ext>
            </a:extLst>
          </p:cNvPr>
          <p:cNvSpPr>
            <a:spLocks noGrp="1"/>
          </p:cNvSpPr>
          <p:nvPr>
            <p:ph type="ftr" sz="quarter" idx="11"/>
          </p:nvPr>
        </p:nvSpPr>
        <p:spPr/>
        <p:txBody>
          <a:bodyPr/>
          <a:lstStyle/>
          <a:p>
            <a:r>
              <a:rPr lang="en-US"/>
              <a:t>BSc (Hons) in Information Technology</a:t>
            </a:r>
          </a:p>
        </p:txBody>
      </p:sp>
      <p:sp>
        <p:nvSpPr>
          <p:cNvPr id="4" name="Slide Number Placeholder 3">
            <a:extLst>
              <a:ext uri="{FF2B5EF4-FFF2-40B4-BE49-F238E27FC236}">
                <a16:creationId xmlns:a16="http://schemas.microsoft.com/office/drawing/2014/main" id="{2948FF23-2E61-3111-9C42-8D84E4817CB5}"/>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510882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0A2505E-CFD5-8901-B1E4-35E1DFF8B637}"/>
              </a:ext>
            </a:extLst>
          </p:cNvPr>
          <p:cNvSpPr/>
          <p:nvPr userDrawn="1"/>
        </p:nvSpPr>
        <p:spPr>
          <a:xfrm>
            <a:off x="3048000" y="6176963"/>
            <a:ext cx="9143994" cy="667612"/>
          </a:xfrm>
          <a:prstGeom prst="rect">
            <a:avLst/>
          </a:prstGeom>
          <a:solidFill>
            <a:srgbClr val="003054"/>
          </a:solidFill>
          <a:ln>
            <a:solidFill>
              <a:srgbClr val="0000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7" name="Rectangle 6">
            <a:extLst>
              <a:ext uri="{FF2B5EF4-FFF2-40B4-BE49-F238E27FC236}">
                <a16:creationId xmlns:a16="http://schemas.microsoft.com/office/drawing/2014/main" id="{E0A7784B-71B0-4A27-69C4-436C1E401103}"/>
              </a:ext>
            </a:extLst>
          </p:cNvPr>
          <p:cNvSpPr/>
          <p:nvPr userDrawn="1"/>
        </p:nvSpPr>
        <p:spPr>
          <a:xfrm>
            <a:off x="0" y="1"/>
            <a:ext cx="12192000" cy="1690688"/>
          </a:xfrm>
          <a:prstGeom prst="rect">
            <a:avLst/>
          </a:prstGeom>
          <a:solidFill>
            <a:srgbClr val="003054"/>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2" name="Title Placeholder 1">
            <a:extLst>
              <a:ext uri="{FF2B5EF4-FFF2-40B4-BE49-F238E27FC236}">
                <a16:creationId xmlns:a16="http://schemas.microsoft.com/office/drawing/2014/main" id="{F41F2622-3876-DB58-BA22-E1EC5EDCEED2}"/>
              </a:ext>
            </a:extLst>
          </p:cNvPr>
          <p:cNvSpPr>
            <a:spLocks noGrp="1"/>
          </p:cNvSpPr>
          <p:nvPr>
            <p:ph type="title"/>
          </p:nvPr>
        </p:nvSpPr>
        <p:spPr>
          <a:xfrm>
            <a:off x="838200" y="22657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4F546EC-E134-9B17-EE99-C27C18DC9F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82DB5F-A581-B2FE-E227-EF8B4134FA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bg1"/>
                </a:solidFill>
              </a:defRPr>
            </a:lvl1pPr>
          </a:lstStyle>
          <a:p>
            <a:fld id="{ADC54051-F9E3-4634-8E2D-FEE7EC79C47F}" type="datetime1">
              <a:rPr lang="en-US" smtClean="0"/>
              <a:t>9/17/2026</a:t>
            </a:fld>
            <a:endParaRPr lang="en-US"/>
          </a:p>
        </p:txBody>
      </p:sp>
      <p:sp>
        <p:nvSpPr>
          <p:cNvPr id="5" name="Footer Placeholder 4">
            <a:extLst>
              <a:ext uri="{FF2B5EF4-FFF2-40B4-BE49-F238E27FC236}">
                <a16:creationId xmlns:a16="http://schemas.microsoft.com/office/drawing/2014/main" id="{884CB4C9-6F98-0B0C-A82A-07D2BA3BC1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bg1"/>
                </a:solidFill>
              </a:defRPr>
            </a:lvl1pPr>
          </a:lstStyle>
          <a:p>
            <a:r>
              <a:rPr lang="en-US">
                <a:solidFill>
                  <a:schemeClr val="bg1"/>
                </a:solidFill>
              </a:rPr>
              <a:t>BSc (Hons) in Information Technology</a:t>
            </a:r>
          </a:p>
        </p:txBody>
      </p:sp>
      <p:sp>
        <p:nvSpPr>
          <p:cNvPr id="6" name="Slide Number Placeholder 5">
            <a:extLst>
              <a:ext uri="{FF2B5EF4-FFF2-40B4-BE49-F238E27FC236}">
                <a16:creationId xmlns:a16="http://schemas.microsoft.com/office/drawing/2014/main" id="{A08E30B7-3975-EABC-A921-0B090B3CED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1"/>
                </a:solidFill>
              </a:defRPr>
            </a:lvl1pPr>
          </a:lstStyle>
          <a:p>
            <a:fld id="{B05DC659-408D-4781-A84D-B150AC404B91}" type="slidenum">
              <a:rPr lang="en-US" smtClean="0"/>
              <a:pPr/>
              <a:t>‹#›</a:t>
            </a:fld>
            <a:endParaRPr lang="en-US"/>
          </a:p>
        </p:txBody>
      </p:sp>
      <p:pic>
        <p:nvPicPr>
          <p:cNvPr id="10" name="Picture 9">
            <a:extLst>
              <a:ext uri="{FF2B5EF4-FFF2-40B4-BE49-F238E27FC236}">
                <a16:creationId xmlns:a16="http://schemas.microsoft.com/office/drawing/2014/main" id="{937B7A56-4602-F3E4-33AF-7961B3348122}"/>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52913" y="6221220"/>
            <a:ext cx="2850179" cy="590320"/>
          </a:xfrm>
          <a:prstGeom prst="rect">
            <a:avLst/>
          </a:prstGeom>
        </p:spPr>
      </p:pic>
    </p:spTree>
    <p:extLst>
      <p:ext uri="{BB962C8B-B14F-4D97-AF65-F5344CB8AC3E}">
        <p14:creationId xmlns:p14="http://schemas.microsoft.com/office/powerpoint/2010/main" val="38161847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931920"/>
          </a:xfrm>
          <a:prstGeom prst="rect">
            <a:avLst/>
          </a:prstGeom>
          <a:solidFill>
            <a:srgbClr val="0030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371600"/>
            <a:ext cx="10332720" cy="1645920"/>
          </a:xfrm>
          <a:prstGeom prst="rect">
            <a:avLst/>
          </a:prstGeom>
          <a:noFill/>
        </p:spPr>
        <p:txBody>
          <a:bodyPr wrap="square">
            <a:spAutoFit/>
          </a:bodyPr>
          <a:lstStyle/>
          <a:p>
            <a:r>
              <a:rPr sz="3200" b="1" i="0">
                <a:solidFill>
                  <a:srgbClr val="FFFFFF"/>
                </a:solidFill>
                <a:latin typeface="Cambria"/>
              </a:rPr>
              <a:t>Firewall Placement, Zones, and Access Control Lists</a:t>
            </a:r>
          </a:p>
        </p:txBody>
      </p:sp>
      <p:sp>
        <p:nvSpPr>
          <p:cNvPr id="4" name="TextBox 3"/>
          <p:cNvSpPr txBox="1"/>
          <p:nvPr/>
        </p:nvSpPr>
        <p:spPr>
          <a:xfrm>
            <a:off x="914400" y="2926080"/>
            <a:ext cx="10332720" cy="914400"/>
          </a:xfrm>
          <a:prstGeom prst="rect">
            <a:avLst/>
          </a:prstGeom>
          <a:noFill/>
        </p:spPr>
        <p:txBody>
          <a:bodyPr wrap="square">
            <a:spAutoFit/>
          </a:bodyPr>
          <a:lstStyle/>
          <a:p>
            <a:r>
              <a:rPr sz="2000" b="0" i="0">
                <a:solidFill>
                  <a:srgbClr val="FFFFFF"/>
                </a:solidFill>
                <a:latin typeface="Calibri"/>
              </a:rPr>
              <a:t>IE3122: Network Security | Week 7</a:t>
            </a:r>
          </a:p>
          <a:p>
            <a:r>
              <a:rPr sz="1500" b="0" i="1">
                <a:solidFill>
                  <a:srgbClr val="FFFFFF"/>
                </a:solidFill>
                <a:latin typeface="Calibri"/>
              </a:rPr>
              <a:t>Where firewalls actually go in a network, and how to configure what passes through them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i="0">
                <a:solidFill>
                  <a:srgbClr val="FFFFFF"/>
                </a:solidFill>
                <a:latin typeface="Cambria"/>
              </a:rPr>
              <a:t>Today's Agenda</a:t>
            </a:r>
          </a:p>
        </p:txBody>
      </p:sp>
      <p:sp>
        <p:nvSpPr>
          <p:cNvPr id="3" name="TextBox 2"/>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What a DMZ is, and why it exists</a:t>
            </a:r>
          </a:p>
          <a:p>
            <a:pPr marL="201168" indent="-201168">
              <a:spcAft>
                <a:spcPts val="1100"/>
              </a:spcAft>
              <a:buFont typeface="Arial"/>
              <a:buChar char="–"/>
            </a:pPr>
            <a:r>
              <a:rPr sz="1600" b="0" i="0">
                <a:solidFill>
                  <a:srgbClr val="222A33"/>
                </a:solidFill>
                <a:latin typeface="Calibri"/>
              </a:rPr>
              <a:t>Zone-Based Firewall as a configuration model, not a new technology</a:t>
            </a:r>
          </a:p>
          <a:p>
            <a:pPr marL="201168" indent="-201168">
              <a:spcAft>
                <a:spcPts val="1100"/>
              </a:spcAft>
              <a:buFont typeface="Arial"/>
              <a:buChar char="–"/>
            </a:pPr>
            <a:r>
              <a:rPr sz="1600" b="0" i="0">
                <a:solidFill>
                  <a:srgbClr val="222A33"/>
                </a:solidFill>
                <a:latin typeface="Calibri"/>
              </a:rPr>
              <a:t>Four firewall placement architectures, compared for strengths and weaknesses</a:t>
            </a:r>
          </a:p>
          <a:p>
            <a:pPr marL="201168" indent="-201168">
              <a:spcAft>
                <a:spcPts val="1100"/>
              </a:spcAft>
              <a:buFont typeface="Arial"/>
              <a:buChar char="–"/>
            </a:pPr>
            <a:r>
              <a:rPr sz="1600" b="0" i="0">
                <a:solidFill>
                  <a:srgbClr val="222A33"/>
                </a:solidFill>
                <a:latin typeface="Calibri"/>
              </a:rPr>
              <a:t>Access Control Lists: Standard, Extended, and Named</a:t>
            </a:r>
          </a:p>
          <a:p>
            <a:pPr marL="201168" indent="-201168">
              <a:spcAft>
                <a:spcPts val="1100"/>
              </a:spcAft>
              <a:buFont typeface="Arial"/>
              <a:buChar char="–"/>
            </a:pPr>
            <a:r>
              <a:rPr sz="1600" b="0" i="0">
                <a:solidFill>
                  <a:srgbClr val="222A33"/>
                </a:solidFill>
                <a:latin typeface="Calibri"/>
              </a:rPr>
              <a:t>ACL placement rules, and a worked configuration example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i="0">
                <a:solidFill>
                  <a:srgbClr val="FFFFFF"/>
                </a:solidFill>
                <a:latin typeface="Cambria"/>
              </a:rPr>
              <a:t>Learning Outcomes for Today</a:t>
            </a:r>
          </a:p>
        </p:txBody>
      </p:sp>
      <p:sp>
        <p:nvSpPr>
          <p:cNvPr id="3" name="TextBox 2"/>
          <p:cNvSpPr txBox="1"/>
          <p:nvPr/>
        </p:nvSpPr>
        <p:spPr>
          <a:xfrm>
            <a:off x="731520" y="1828800"/>
            <a:ext cx="10698480" cy="4114800"/>
          </a:xfrm>
          <a:prstGeom prst="rect">
            <a:avLst/>
          </a:prstGeom>
          <a:noFill/>
        </p:spPr>
        <p:txBody>
          <a:bodyPr wrap="square">
            <a:spAutoFit/>
          </a:bodyPr>
          <a:lstStyle/>
          <a:p>
            <a:pPr marL="0" indent="0">
              <a:spcAft>
                <a:spcPts val="400"/>
              </a:spcAft>
              <a:buNone/>
            </a:pPr>
            <a:r>
              <a:rPr sz="1700" b="1" i="0">
                <a:solidFill>
                  <a:srgbClr val="003054"/>
                </a:solidFill>
                <a:latin typeface="Calibri"/>
              </a:rPr>
              <a:t>LO3</a:t>
            </a:r>
          </a:p>
          <a:p>
            <a:pPr marL="201168" indent="-201168">
              <a:spcAft>
                <a:spcPts val="1600"/>
              </a:spcAft>
              <a:buFont typeface="Arial"/>
              <a:buChar char="–"/>
            </a:pPr>
            <a:r>
              <a:rPr sz="1700" b="0" i="0">
                <a:solidFill>
                  <a:srgbClr val="222A33"/>
                </a:solidFill>
                <a:latin typeface="Calibri"/>
              </a:rPr>
              <a:t>Analyse security requirements and recommend appropriate technologies.</a:t>
            </a:r>
          </a:p>
          <a:p>
            <a:pPr marL="0" indent="0">
              <a:spcAft>
                <a:spcPts val="400"/>
              </a:spcAft>
              <a:buNone/>
            </a:pPr>
            <a:r>
              <a:rPr sz="1700" b="1" i="0">
                <a:solidFill>
                  <a:srgbClr val="003054"/>
                </a:solidFill>
                <a:latin typeface="Calibri"/>
              </a:rPr>
              <a:t>LO4</a:t>
            </a:r>
          </a:p>
          <a:p>
            <a:pPr marL="201168" indent="-201168">
              <a:spcAft>
                <a:spcPts val="1600"/>
              </a:spcAft>
              <a:buFont typeface="Arial"/>
              <a:buChar char="–"/>
            </a:pPr>
            <a:r>
              <a:rPr sz="1700" b="0" i="0">
                <a:solidFill>
                  <a:srgbClr val="222A33"/>
                </a:solidFill>
                <a:latin typeface="Calibri"/>
              </a:rPr>
              <a:t>Evaluate different security technologies, compare them, and identify appropriate use cases.</a:t>
            </a:r>
          </a:p>
          <a:p>
            <a:pPr marL="0" indent="0">
              <a:spcAft>
                <a:spcPts val="400"/>
              </a:spcAft>
              <a:buNone/>
            </a:pPr>
            <a:r>
              <a:rPr sz="1700" b="1" i="0">
                <a:solidFill>
                  <a:srgbClr val="003054"/>
                </a:solidFill>
                <a:latin typeface="Calibri"/>
              </a:rPr>
              <a:t>LO5</a:t>
            </a:r>
          </a:p>
          <a:p>
            <a:pPr marL="201168" indent="-201168">
              <a:spcAft>
                <a:spcPts val="1600"/>
              </a:spcAft>
              <a:buFont typeface="Arial"/>
              <a:buChar char="–"/>
            </a:pPr>
            <a:r>
              <a:rPr sz="1700" b="0" i="0">
                <a:solidFill>
                  <a:srgbClr val="222A33"/>
                </a:solidFill>
                <a:latin typeface="Calibri"/>
              </a:rPr>
              <a:t>Configure security technologies to satisfy specific requirements.</a:t>
            </a:r>
          </a:p>
          <a:p>
            <a:pPr marL="201168" indent="-201168">
              <a:spcAft>
                <a:spcPts val="800"/>
              </a:spcAft>
              <a:buFont typeface="Arial"/>
              <a:buChar char="–"/>
            </a:pPr>
            <a:r>
              <a:rPr sz="1400" b="0" i="1">
                <a:solidFill>
                  <a:srgbClr val="6B7682"/>
                </a:solidFill>
                <a:latin typeface="Calibri"/>
              </a:rPr>
              <a:t>By the end of this session you should be able to recommend a placement architecture for a given scenario, and correctly configure and place an ACL to enforce it.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ctr"/>
            <a:r>
              <a:rPr sz="4000" b="1" i="0">
                <a:solidFill>
                  <a:srgbClr val="003054"/>
                </a:solidFill>
                <a:latin typeface="Cambria"/>
              </a:rPr>
              <a:t>The DMZ and the Zone-Based Model</a:t>
            </a:r>
          </a:p>
        </p:txBody>
      </p:sp>
      <p:sp>
        <p:nvSpPr>
          <p:cNvPr id="3" name="Text Placeholder 2"/>
          <p:cNvSpPr>
            <a:spLocks noGrp="1"/>
          </p:cNvSpPr>
          <p:nvPr>
            <p:ph type="body" idx="1"/>
          </p:nvPr>
        </p:nvSpPr>
        <p:spPr/>
        <p:txBody>
          <a:bodyPr wrap="square"/>
          <a:lstStyle/>
          <a:p>
            <a:pPr algn="ctr"/>
            <a:r>
              <a:rPr sz="1800" b="0" i="1">
                <a:solidFill>
                  <a:srgbClr val="6B7682"/>
                </a:solidFill>
                <a:latin typeface="Calibri"/>
              </a:rPr>
              <a:t>A buffer network, and a way of thinking about policy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What Is a DMZ?</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CONCEPT</a:t>
            </a:r>
          </a:p>
        </p:txBody>
      </p:sp>
      <p:sp>
        <p:nvSpPr>
          <p:cNvPr id="4" name="Rounded Rectangle 3"/>
          <p:cNvSpPr/>
          <p:nvPr/>
        </p:nvSpPr>
        <p:spPr>
          <a:xfrm>
            <a:off x="548640" y="1920240"/>
            <a:ext cx="2377440" cy="640080"/>
          </a:xfrm>
          <a:prstGeom prst="roundRect">
            <a:avLst/>
          </a:prstGeom>
          <a:solidFill>
            <a:srgbClr val="00305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i="0">
                <a:solidFill>
                  <a:srgbClr val="FFFFFF"/>
                </a:solidFill>
                <a:latin typeface="Calibri"/>
              </a:rPr>
              <a:t>Internet</a:t>
            </a:r>
          </a:p>
        </p:txBody>
      </p:sp>
      <p:cxnSp>
        <p:nvCxnSpPr>
          <p:cNvPr id="5" name="Connector 4"/>
          <p:cNvCxnSpPr/>
          <p:nvPr/>
        </p:nvCxnSpPr>
        <p:spPr>
          <a:xfrm>
            <a:off x="2926080" y="2240280"/>
            <a:ext cx="1920240" cy="0"/>
          </a:xfrm>
          <a:prstGeom prst="line">
            <a:avLst/>
          </a:prstGeom>
          <a:ln w="25400">
            <a:solidFill>
              <a:srgbClr val="003054"/>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846320" y="1691640"/>
            <a:ext cx="2468880" cy="1097280"/>
          </a:xfrm>
          <a:prstGeom prst="round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i="0">
                <a:solidFill>
                  <a:srgbClr val="FFFFFF"/>
                </a:solidFill>
                <a:latin typeface="Calibri"/>
              </a:rPr>
              <a:t>DMZ
(public-facing servers)</a:t>
            </a:r>
          </a:p>
        </p:txBody>
      </p:sp>
      <p:cxnSp>
        <p:nvCxnSpPr>
          <p:cNvPr id="7" name="Connector 6"/>
          <p:cNvCxnSpPr/>
          <p:nvPr/>
        </p:nvCxnSpPr>
        <p:spPr>
          <a:xfrm>
            <a:off x="7315200" y="2240280"/>
            <a:ext cx="1920240" cy="0"/>
          </a:xfrm>
          <a:prstGeom prst="line">
            <a:avLst/>
          </a:prstGeom>
          <a:ln w="25400">
            <a:solidFill>
              <a:srgbClr val="C039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9235440" y="1920240"/>
            <a:ext cx="2377440" cy="640080"/>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i="0">
                <a:solidFill>
                  <a:srgbClr val="FFFFFF"/>
                </a:solidFill>
                <a:latin typeface="Calibri"/>
              </a:rPr>
              <a:t>Internal Network</a:t>
            </a:r>
          </a:p>
        </p:txBody>
      </p:sp>
      <p:sp>
        <p:nvSpPr>
          <p:cNvPr id="9" name="TextBox 8"/>
          <p:cNvSpPr txBox="1"/>
          <p:nvPr/>
        </p:nvSpPr>
        <p:spPr>
          <a:xfrm>
            <a:off x="6949440" y="2514600"/>
            <a:ext cx="2743200" cy="365760"/>
          </a:xfrm>
          <a:prstGeom prst="rect">
            <a:avLst/>
          </a:prstGeom>
          <a:noFill/>
        </p:spPr>
        <p:txBody>
          <a:bodyPr wrap="square">
            <a:spAutoFit/>
          </a:bodyPr>
          <a:lstStyle/>
          <a:p>
            <a:r>
              <a:rPr sz="1050" b="0" i="1">
                <a:solidFill>
                  <a:srgbClr val="6B7682"/>
                </a:solidFill>
                <a:latin typeface="Calibri"/>
              </a:rPr>
              <a:t>blocked or tightly restricted</a:t>
            </a:r>
          </a:p>
        </p:txBody>
      </p:sp>
      <p:sp>
        <p:nvSpPr>
          <p:cNvPr id="10" name="TextBox 9"/>
          <p:cNvSpPr txBox="1"/>
          <p:nvPr/>
        </p:nvSpPr>
        <p:spPr>
          <a:xfrm>
            <a:off x="731520" y="3108960"/>
            <a:ext cx="10698480" cy="2834640"/>
          </a:xfrm>
          <a:prstGeom prst="rect">
            <a:avLst/>
          </a:prstGeom>
          <a:noFill/>
        </p:spPr>
        <p:txBody>
          <a:bodyPr wrap="square">
            <a:spAutoFit/>
          </a:bodyPr>
          <a:lstStyle/>
          <a:p>
            <a:pPr marL="201168" indent="-201168">
              <a:spcAft>
                <a:spcPts val="1100"/>
              </a:spcAft>
              <a:buFont typeface="Arial"/>
              <a:buChar char="–"/>
            </a:pPr>
            <a:r>
              <a:rPr sz="1450" b="0" i="0">
                <a:solidFill>
                  <a:srgbClr val="222A33"/>
                </a:solidFill>
                <a:latin typeface="Calibri"/>
              </a:rPr>
              <a:t>A DMZ (Demilitarised Zone) is a buffer network segment sitting between a trusted internal network and an untrusted external one, usually the Internet.</a:t>
            </a:r>
          </a:p>
          <a:p>
            <a:pPr marL="201168" indent="-201168">
              <a:spcAft>
                <a:spcPts val="1100"/>
              </a:spcAft>
              <a:buFont typeface="Arial"/>
              <a:buChar char="–"/>
            </a:pPr>
            <a:r>
              <a:rPr sz="1450" b="0" i="0">
                <a:solidFill>
                  <a:srgbClr val="222A33"/>
                </a:solidFill>
                <a:latin typeface="Calibri"/>
              </a:rPr>
              <a:t>It hosts services that genuinely need to be reachable from outside, such as web, email, or DNS servers, without exposing the internal network directly to that same exposure.</a:t>
            </a:r>
          </a:p>
          <a:p>
            <a:pPr marL="201168" indent="-201168">
              <a:spcAft>
                <a:spcPts val="1100"/>
              </a:spcAft>
              <a:buFont typeface="Arial"/>
              <a:buChar char="–"/>
            </a:pPr>
            <a:r>
              <a:rPr sz="1450" b="0" i="0">
                <a:solidFill>
                  <a:srgbClr val="222A33"/>
                </a:solidFill>
                <a:latin typeface="Calibri"/>
              </a:rPr>
              <a:t>The key principle: if a DMZ-hosted server is compromised, the attacker still doesn't have a direct path into the internal network. The DMZ contains the damage rather than preventing it entirely.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Zone-Based Firewall: A Configuration Model, Not a New Technology</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CONFIGURATION MODEL</a:t>
            </a:r>
          </a:p>
        </p:txBody>
      </p:sp>
      <p:sp>
        <p:nvSpPr>
          <p:cNvPr id="4" name="TextBox 3"/>
          <p:cNvSpPr txBox="1"/>
          <p:nvPr/>
        </p:nvSpPr>
        <p:spPr>
          <a:xfrm>
            <a:off x="731520" y="1828800"/>
            <a:ext cx="10698480" cy="2872581"/>
          </a:xfrm>
          <a:prstGeom prst="rect">
            <a:avLst/>
          </a:prstGeom>
          <a:noFill/>
        </p:spPr>
        <p:txBody>
          <a:bodyPr wrap="square">
            <a:spAutoFit/>
          </a:bodyPr>
          <a:lstStyle/>
          <a:p>
            <a:pPr marL="201168" indent="-201168">
              <a:spcAft>
                <a:spcPts val="1100"/>
              </a:spcAft>
              <a:buFont typeface="Arial"/>
              <a:buChar char="–"/>
            </a:pPr>
            <a:r>
              <a:rPr sz="1600" b="0" i="0" dirty="0">
                <a:solidFill>
                  <a:srgbClr val="222A33"/>
                </a:solidFill>
                <a:latin typeface="Calibri"/>
              </a:rPr>
              <a:t>Recall Deck A's seven types: those are inspection technologies, answering the question of how a decision gets made. </a:t>
            </a:r>
            <a:endParaRPr lang="en-US" sz="1600" b="0" i="0" dirty="0">
              <a:solidFill>
                <a:srgbClr val="222A33"/>
              </a:solidFill>
              <a:latin typeface="Calibri"/>
            </a:endParaRPr>
          </a:p>
          <a:p>
            <a:pPr marL="201168" indent="-201168">
              <a:spcAft>
                <a:spcPts val="1100"/>
              </a:spcAft>
              <a:buFont typeface="Arial"/>
              <a:buChar char="–"/>
            </a:pPr>
            <a:r>
              <a:rPr sz="1600" b="0" i="0" dirty="0">
                <a:solidFill>
                  <a:srgbClr val="222A33"/>
                </a:solidFill>
                <a:latin typeface="Calibri"/>
              </a:rPr>
              <a:t>Zone-Based Firewall (ZBF) answers a different question entirely: how do you organize policy across many interfaces as a network grows? Any of the seven types could sit underneath a ZBF configuration.</a:t>
            </a:r>
          </a:p>
          <a:p>
            <a:pPr marL="201168" indent="-201168">
              <a:spcAft>
                <a:spcPts val="1100"/>
              </a:spcAft>
              <a:buFont typeface="Arial"/>
              <a:buChar char="–"/>
            </a:pPr>
            <a:r>
              <a:rPr sz="1600" b="0" i="0" dirty="0">
                <a:solidFill>
                  <a:srgbClr val="222A33"/>
                </a:solidFill>
                <a:latin typeface="Calibri"/>
              </a:rPr>
              <a:t>Interfaces are assigned to logical zones, such as INSIDE, OUTSIDE, and DMZ, rather than writing policy per individual interface pair.</a:t>
            </a:r>
          </a:p>
          <a:p>
            <a:pPr marL="201168" indent="-201168">
              <a:spcAft>
                <a:spcPts val="1100"/>
              </a:spcAft>
              <a:buFont typeface="Arial"/>
              <a:buChar char="–"/>
            </a:pPr>
            <a:r>
              <a:rPr sz="1600" b="0" i="0" dirty="0">
                <a:solidFill>
                  <a:srgbClr val="222A33"/>
                </a:solidFill>
                <a:latin typeface="Calibri"/>
              </a:rPr>
              <a:t>Traffic is only permitted between two different zones if an explicit zone-pair policy allows it. By default, traffic between different zones is denied unless stated, while traffic within the same zone is typically allowed by default.</a:t>
            </a:r>
          </a:p>
          <a:p>
            <a:pPr marL="201168" indent="-201168">
              <a:spcAft>
                <a:spcPts val="1100"/>
              </a:spcAft>
              <a:buFont typeface="Arial"/>
              <a:buChar char="–"/>
            </a:pPr>
            <a:r>
              <a:rPr sz="1600" b="0" i="0" dirty="0">
                <a:solidFill>
                  <a:srgbClr val="222A33"/>
                </a:solidFill>
                <a:latin typeface="Calibri"/>
              </a:rPr>
              <a:t>A zone-pair policy is directional and doesn't have to be symmetric: an INSIDE-to-OUTSIDE policy can be broad, while the OUTSIDE-to-INSIDE policy for the same two zones can be far stricter.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How DMZ and ZBF Fit Together</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CONFIGURATION MODEL</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The DMZ concept from the previous slide maps directly onto ZBF: a three-zone design (INSIDE, OUTSIDE, DMZ) is one of the most common real-world ZBF configurations.</a:t>
            </a:r>
          </a:p>
          <a:p>
            <a:pPr marL="201168" indent="-201168">
              <a:spcAft>
                <a:spcPts val="1100"/>
              </a:spcAft>
              <a:buFont typeface="Arial"/>
              <a:buChar char="–"/>
            </a:pPr>
            <a:r>
              <a:rPr sz="1600" b="0" i="0">
                <a:solidFill>
                  <a:srgbClr val="222A33"/>
                </a:solidFill>
                <a:latin typeface="Calibri"/>
              </a:rPr>
              <a:t>Each zone-pair gets its own tailored policy: OUTSIDE-to-DMZ permits specific public services; DMZ-to-INSIDE is denied or extremely restricted; INSIDE-to-OUTSIDE and INSIDE-to-DMZ are generally permitted.</a:t>
            </a:r>
          </a:p>
          <a:p>
            <a:pPr marL="201168" indent="-201168">
              <a:spcAft>
                <a:spcPts val="1100"/>
              </a:spcAft>
              <a:buFont typeface="Arial"/>
              <a:buChar char="–"/>
            </a:pPr>
            <a:r>
              <a:rPr sz="1600" b="0" i="0">
                <a:solidFill>
                  <a:srgbClr val="222A33"/>
                </a:solidFill>
                <a:latin typeface="Calibri"/>
              </a:rPr>
              <a:t>The advantage over configuring ACLs per interface directly: as the network grows, you reason about policy in terms of which zones may talk to which, not by tracking every individual interface pairing by hand. This scales far better and is much easier to audit.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ctr"/>
            <a:r>
              <a:rPr sz="4000" b="1" i="0">
                <a:solidFill>
                  <a:srgbClr val="003054"/>
                </a:solidFill>
                <a:latin typeface="Cambria"/>
              </a:rPr>
              <a:t>Four Placement Architectures</a:t>
            </a:r>
          </a:p>
        </p:txBody>
      </p:sp>
      <p:sp>
        <p:nvSpPr>
          <p:cNvPr id="3" name="Text Placeholder 2"/>
          <p:cNvSpPr>
            <a:spLocks noGrp="1"/>
          </p:cNvSpPr>
          <p:nvPr>
            <p:ph type="body" idx="1"/>
          </p:nvPr>
        </p:nvSpPr>
        <p:spPr/>
        <p:txBody>
          <a:bodyPr wrap="square"/>
          <a:lstStyle/>
          <a:p>
            <a:pPr algn="ctr"/>
            <a:r>
              <a:rPr sz="1800" b="0" i="1">
                <a:solidFill>
                  <a:srgbClr val="6B7682"/>
                </a:solidFill>
                <a:latin typeface="Calibri"/>
              </a:rPr>
              <a:t>Where the firewall (or firewalls) actually sit relative to the border router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Architecture 1: Single Firewall Behind the Border Router</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PLACEMENT</a:t>
            </a:r>
          </a:p>
        </p:txBody>
      </p:sp>
      <p:sp>
        <p:nvSpPr>
          <p:cNvPr id="4" name="Rounded Rectangle 3"/>
          <p:cNvSpPr/>
          <p:nvPr/>
        </p:nvSpPr>
        <p:spPr>
          <a:xfrm>
            <a:off x="457200" y="1828800"/>
            <a:ext cx="2011680" cy="594360"/>
          </a:xfrm>
          <a:prstGeom prst="roundRect">
            <a:avLst/>
          </a:prstGeom>
          <a:solidFill>
            <a:srgbClr val="00305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i="0">
                <a:solidFill>
                  <a:srgbClr val="FFFFFF"/>
                </a:solidFill>
                <a:latin typeface="Calibri"/>
              </a:rPr>
              <a:t>Internet</a:t>
            </a:r>
          </a:p>
        </p:txBody>
      </p:sp>
      <p:cxnSp>
        <p:nvCxnSpPr>
          <p:cNvPr id="5" name="Connector 4"/>
          <p:cNvCxnSpPr/>
          <p:nvPr/>
        </p:nvCxnSpPr>
        <p:spPr>
          <a:xfrm>
            <a:off x="2468880" y="2125980"/>
            <a:ext cx="1463040" cy="0"/>
          </a:xfrm>
          <a:prstGeom prst="line">
            <a:avLst/>
          </a:prstGeom>
          <a:ln w="22225">
            <a:solidFill>
              <a:srgbClr val="003054"/>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3931920" y="1828800"/>
            <a:ext cx="2103120" cy="594360"/>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i="0">
                <a:solidFill>
                  <a:srgbClr val="FFFFFF"/>
                </a:solidFill>
                <a:latin typeface="Calibri"/>
              </a:rPr>
              <a:t>Border
Router</a:t>
            </a:r>
          </a:p>
        </p:txBody>
      </p:sp>
      <p:cxnSp>
        <p:nvCxnSpPr>
          <p:cNvPr id="7" name="Connector 6"/>
          <p:cNvCxnSpPr/>
          <p:nvPr/>
        </p:nvCxnSpPr>
        <p:spPr>
          <a:xfrm>
            <a:off x="6035040" y="2125980"/>
            <a:ext cx="1463039" cy="0"/>
          </a:xfrm>
          <a:prstGeom prst="line">
            <a:avLst/>
          </a:prstGeom>
          <a:ln w="22225">
            <a:solidFill>
              <a:srgbClr val="003054"/>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7498079" y="1828800"/>
            <a:ext cx="2011680" cy="594360"/>
          </a:xfrm>
          <a:prstGeom prst="round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i="0">
                <a:solidFill>
                  <a:srgbClr val="FFFFFF"/>
                </a:solidFill>
                <a:latin typeface="Calibri"/>
              </a:rPr>
              <a:t>Firewall</a:t>
            </a:r>
          </a:p>
        </p:txBody>
      </p:sp>
      <p:cxnSp>
        <p:nvCxnSpPr>
          <p:cNvPr id="9" name="Connector 8"/>
          <p:cNvCxnSpPr/>
          <p:nvPr/>
        </p:nvCxnSpPr>
        <p:spPr>
          <a:xfrm>
            <a:off x="9509760" y="2125980"/>
            <a:ext cx="1463040" cy="0"/>
          </a:xfrm>
          <a:prstGeom prst="line">
            <a:avLst/>
          </a:prstGeom>
          <a:ln w="22225">
            <a:solidFill>
              <a:srgbClr val="00305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9144000" y="2651760"/>
            <a:ext cx="2194560" cy="502920"/>
          </a:xfrm>
          <a:prstGeom prst="round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i="0">
                <a:solidFill>
                  <a:srgbClr val="222A33"/>
                </a:solidFill>
                <a:latin typeface="Calibri"/>
              </a:rPr>
              <a:t>DMZ</a:t>
            </a:r>
          </a:p>
        </p:txBody>
      </p:sp>
      <p:cxnSp>
        <p:nvCxnSpPr>
          <p:cNvPr id="11" name="Connector 10"/>
          <p:cNvCxnSpPr/>
          <p:nvPr/>
        </p:nvCxnSpPr>
        <p:spPr>
          <a:xfrm>
            <a:off x="8503920" y="2423160"/>
            <a:ext cx="1188720" cy="228600"/>
          </a:xfrm>
          <a:prstGeom prst="line">
            <a:avLst/>
          </a:prstGeom>
          <a:ln w="15875">
            <a:solidFill>
              <a:srgbClr val="6B7682"/>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9235440" y="1737360"/>
            <a:ext cx="2377440" cy="292608"/>
          </a:xfrm>
          <a:prstGeom prst="rect">
            <a:avLst/>
          </a:prstGeom>
          <a:noFill/>
        </p:spPr>
        <p:txBody>
          <a:bodyPr wrap="square">
            <a:spAutoFit/>
          </a:bodyPr>
          <a:lstStyle/>
          <a:p>
            <a:r>
              <a:rPr sz="1200" b="0" i="0">
                <a:solidFill>
                  <a:srgbClr val="222A33"/>
                </a:solidFill>
                <a:latin typeface="Calibri"/>
              </a:rPr>
              <a:t>Internal Network</a:t>
            </a:r>
          </a:p>
        </p:txBody>
      </p:sp>
      <p:sp>
        <p:nvSpPr>
          <p:cNvPr id="13" name="TextBox 12"/>
          <p:cNvSpPr txBox="1"/>
          <p:nvPr/>
        </p:nvSpPr>
        <p:spPr>
          <a:xfrm>
            <a:off x="731520" y="3337560"/>
            <a:ext cx="5257800" cy="457200"/>
          </a:xfrm>
          <a:prstGeom prst="rect">
            <a:avLst/>
          </a:prstGeom>
          <a:noFill/>
        </p:spPr>
        <p:txBody>
          <a:bodyPr wrap="square">
            <a:spAutoFit/>
          </a:bodyPr>
          <a:lstStyle/>
          <a:p>
            <a:r>
              <a:rPr sz="1800" b="1" i="0">
                <a:solidFill>
                  <a:srgbClr val="196B24"/>
                </a:solidFill>
                <a:latin typeface="Calibri"/>
              </a:rPr>
              <a:t>Strengths</a:t>
            </a:r>
          </a:p>
        </p:txBody>
      </p:sp>
      <p:sp>
        <p:nvSpPr>
          <p:cNvPr id="14" name="TextBox 13"/>
          <p:cNvSpPr txBox="1"/>
          <p:nvPr/>
        </p:nvSpPr>
        <p:spPr>
          <a:xfrm>
            <a:off x="731520" y="3840480"/>
            <a:ext cx="5257800" cy="2148840"/>
          </a:xfrm>
          <a:prstGeom prst="rect">
            <a:avLst/>
          </a:prstGeom>
          <a:noFill/>
        </p:spPr>
        <p:txBody>
          <a:bodyPr wrap="square">
            <a:spAutoFit/>
          </a:bodyPr>
          <a:lstStyle/>
          <a:p>
            <a:pPr marL="201168" indent="-201168">
              <a:spcAft>
                <a:spcPts val="1000"/>
              </a:spcAft>
              <a:buFont typeface="Arial"/>
              <a:buChar char="–"/>
            </a:pPr>
            <a:r>
              <a:rPr sz="1500" b="0" i="0">
                <a:solidFill>
                  <a:srgbClr val="222A33"/>
                </a:solidFill>
                <a:latin typeface="Calibri"/>
              </a:rPr>
              <a:t>Simple, single point of policy management</a:t>
            </a:r>
          </a:p>
          <a:p>
            <a:pPr marL="201168" indent="-201168">
              <a:spcAft>
                <a:spcPts val="1000"/>
              </a:spcAft>
              <a:buFont typeface="Arial"/>
              <a:buChar char="–"/>
            </a:pPr>
            <a:r>
              <a:rPr sz="1500" b="0" i="0">
                <a:solidFill>
                  <a:srgbClr val="222A33"/>
                </a:solidFill>
                <a:latin typeface="Calibri"/>
              </a:rPr>
              <a:t>Lower cost, only one security device to buy and maintain</a:t>
            </a:r>
          </a:p>
        </p:txBody>
      </p:sp>
      <p:sp>
        <p:nvSpPr>
          <p:cNvPr id="15" name="TextBox 14"/>
          <p:cNvSpPr txBox="1"/>
          <p:nvPr/>
        </p:nvSpPr>
        <p:spPr>
          <a:xfrm>
            <a:off x="6446520" y="3337560"/>
            <a:ext cx="5257800" cy="457200"/>
          </a:xfrm>
          <a:prstGeom prst="rect">
            <a:avLst/>
          </a:prstGeom>
          <a:noFill/>
        </p:spPr>
        <p:txBody>
          <a:bodyPr wrap="square">
            <a:spAutoFit/>
          </a:bodyPr>
          <a:lstStyle/>
          <a:p>
            <a:r>
              <a:rPr sz="1800" b="1" i="0">
                <a:solidFill>
                  <a:srgbClr val="C0392B"/>
                </a:solidFill>
                <a:latin typeface="Calibri"/>
              </a:rPr>
              <a:t>Weaknesses</a:t>
            </a:r>
          </a:p>
        </p:txBody>
      </p:sp>
      <p:sp>
        <p:nvSpPr>
          <p:cNvPr id="16" name="TextBox 15"/>
          <p:cNvSpPr txBox="1"/>
          <p:nvPr/>
        </p:nvSpPr>
        <p:spPr>
          <a:xfrm>
            <a:off x="6446520" y="3840480"/>
            <a:ext cx="5257800" cy="2148840"/>
          </a:xfrm>
          <a:prstGeom prst="rect">
            <a:avLst/>
          </a:prstGeom>
          <a:noFill/>
        </p:spPr>
        <p:txBody>
          <a:bodyPr wrap="square">
            <a:spAutoFit/>
          </a:bodyPr>
          <a:lstStyle/>
          <a:p>
            <a:pPr marL="201168" indent="-201168">
              <a:spcAft>
                <a:spcPts val="1000"/>
              </a:spcAft>
              <a:buFont typeface="Arial"/>
              <a:buChar char="–"/>
            </a:pPr>
            <a:r>
              <a:rPr sz="1500" b="0" i="0">
                <a:solidFill>
                  <a:srgbClr val="222A33"/>
                </a:solidFill>
                <a:latin typeface="Calibri"/>
              </a:rPr>
              <a:t>Single point of failure for the whole network</a:t>
            </a:r>
          </a:p>
          <a:p>
            <a:pPr marL="201168" indent="-201168">
              <a:spcAft>
                <a:spcPts val="1000"/>
              </a:spcAft>
              <a:buFont typeface="Arial"/>
              <a:buChar char="–"/>
            </a:pPr>
            <a:r>
              <a:rPr sz="1500" b="0" i="0">
                <a:solidFill>
                  <a:srgbClr val="222A33"/>
                </a:solidFill>
                <a:latin typeface="Calibri"/>
              </a:rPr>
              <a:t>DMZ and internal traffic compete for the same device's rules and processing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Architecture 2: Single Firewall In Front of the Border Router</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PLACEMENT</a:t>
            </a:r>
          </a:p>
        </p:txBody>
      </p:sp>
      <p:sp>
        <p:nvSpPr>
          <p:cNvPr id="4" name="Rounded Rectangle 3"/>
          <p:cNvSpPr/>
          <p:nvPr/>
        </p:nvSpPr>
        <p:spPr>
          <a:xfrm>
            <a:off x="457200" y="1828800"/>
            <a:ext cx="2011680" cy="594360"/>
          </a:xfrm>
          <a:prstGeom prst="roundRect">
            <a:avLst/>
          </a:prstGeom>
          <a:solidFill>
            <a:srgbClr val="00305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i="0">
                <a:solidFill>
                  <a:srgbClr val="FFFFFF"/>
                </a:solidFill>
                <a:latin typeface="Calibri"/>
              </a:rPr>
              <a:t>Internet</a:t>
            </a:r>
          </a:p>
        </p:txBody>
      </p:sp>
      <p:cxnSp>
        <p:nvCxnSpPr>
          <p:cNvPr id="5" name="Connector 4"/>
          <p:cNvCxnSpPr/>
          <p:nvPr/>
        </p:nvCxnSpPr>
        <p:spPr>
          <a:xfrm>
            <a:off x="2468880" y="2125980"/>
            <a:ext cx="1463040" cy="0"/>
          </a:xfrm>
          <a:prstGeom prst="line">
            <a:avLst/>
          </a:prstGeom>
          <a:ln w="22225">
            <a:solidFill>
              <a:srgbClr val="003054"/>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3931920" y="1828800"/>
            <a:ext cx="2011680" cy="594360"/>
          </a:xfrm>
          <a:prstGeom prst="round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i="0">
                <a:solidFill>
                  <a:srgbClr val="FFFFFF"/>
                </a:solidFill>
                <a:latin typeface="Calibri"/>
              </a:rPr>
              <a:t>Firewall</a:t>
            </a:r>
          </a:p>
        </p:txBody>
      </p:sp>
      <p:cxnSp>
        <p:nvCxnSpPr>
          <p:cNvPr id="7" name="Connector 6"/>
          <p:cNvCxnSpPr/>
          <p:nvPr/>
        </p:nvCxnSpPr>
        <p:spPr>
          <a:xfrm>
            <a:off x="5943600" y="2125980"/>
            <a:ext cx="1463040" cy="0"/>
          </a:xfrm>
          <a:prstGeom prst="line">
            <a:avLst/>
          </a:prstGeom>
          <a:ln w="22225">
            <a:solidFill>
              <a:srgbClr val="003054"/>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7406640" y="1828800"/>
            <a:ext cx="2103120" cy="594360"/>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i="0">
                <a:solidFill>
                  <a:srgbClr val="FFFFFF"/>
                </a:solidFill>
                <a:latin typeface="Calibri"/>
              </a:rPr>
              <a:t>Border
Router</a:t>
            </a:r>
          </a:p>
        </p:txBody>
      </p:sp>
      <p:cxnSp>
        <p:nvCxnSpPr>
          <p:cNvPr id="9" name="Connector 8"/>
          <p:cNvCxnSpPr/>
          <p:nvPr/>
        </p:nvCxnSpPr>
        <p:spPr>
          <a:xfrm>
            <a:off x="9509760" y="2125980"/>
            <a:ext cx="1463040" cy="0"/>
          </a:xfrm>
          <a:prstGeom prst="line">
            <a:avLst/>
          </a:prstGeom>
          <a:ln w="22225">
            <a:solidFill>
              <a:srgbClr val="00305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9692640" y="1737360"/>
            <a:ext cx="2377440" cy="292608"/>
          </a:xfrm>
          <a:prstGeom prst="rect">
            <a:avLst/>
          </a:prstGeom>
          <a:noFill/>
        </p:spPr>
        <p:txBody>
          <a:bodyPr wrap="square">
            <a:spAutoFit/>
          </a:bodyPr>
          <a:lstStyle/>
          <a:p>
            <a:r>
              <a:rPr sz="1200" b="0" i="0">
                <a:solidFill>
                  <a:srgbClr val="222A33"/>
                </a:solidFill>
                <a:latin typeface="Calibri"/>
              </a:rPr>
              <a:t>Internal Network</a:t>
            </a:r>
          </a:p>
        </p:txBody>
      </p:sp>
      <p:sp>
        <p:nvSpPr>
          <p:cNvPr id="11" name="TextBox 10"/>
          <p:cNvSpPr txBox="1"/>
          <p:nvPr/>
        </p:nvSpPr>
        <p:spPr>
          <a:xfrm>
            <a:off x="731520" y="3337560"/>
            <a:ext cx="5257800" cy="457200"/>
          </a:xfrm>
          <a:prstGeom prst="rect">
            <a:avLst/>
          </a:prstGeom>
          <a:noFill/>
        </p:spPr>
        <p:txBody>
          <a:bodyPr wrap="square">
            <a:spAutoFit/>
          </a:bodyPr>
          <a:lstStyle/>
          <a:p>
            <a:r>
              <a:rPr sz="1800" b="1" i="0">
                <a:solidFill>
                  <a:srgbClr val="196B24"/>
                </a:solidFill>
                <a:latin typeface="Calibri"/>
              </a:rPr>
              <a:t>Strengths</a:t>
            </a:r>
          </a:p>
        </p:txBody>
      </p:sp>
      <p:sp>
        <p:nvSpPr>
          <p:cNvPr id="12" name="TextBox 11"/>
          <p:cNvSpPr txBox="1"/>
          <p:nvPr/>
        </p:nvSpPr>
        <p:spPr>
          <a:xfrm>
            <a:off x="731520" y="3840480"/>
            <a:ext cx="5257800" cy="2148840"/>
          </a:xfrm>
          <a:prstGeom prst="rect">
            <a:avLst/>
          </a:prstGeom>
          <a:noFill/>
        </p:spPr>
        <p:txBody>
          <a:bodyPr wrap="square">
            <a:spAutoFit/>
          </a:bodyPr>
          <a:lstStyle/>
          <a:p>
            <a:pPr marL="201168" indent="-201168">
              <a:spcAft>
                <a:spcPts val="1000"/>
              </a:spcAft>
              <a:buFont typeface="Arial"/>
              <a:buChar char="–"/>
            </a:pPr>
            <a:r>
              <a:rPr sz="1500" b="0" i="0">
                <a:solidFill>
                  <a:srgbClr val="222A33"/>
                </a:solidFill>
                <a:latin typeface="Calibri"/>
              </a:rPr>
              <a:t>The firewall inspects and filters all traffic before it even reaches the router, protecting the router itself</a:t>
            </a:r>
          </a:p>
          <a:p>
            <a:pPr marL="201168" indent="-201168">
              <a:spcAft>
                <a:spcPts val="1000"/>
              </a:spcAft>
              <a:buFont typeface="Arial"/>
              <a:buChar char="–"/>
            </a:pPr>
            <a:r>
              <a:rPr sz="1500" b="0" i="0">
                <a:solidFill>
                  <a:srgbClr val="222A33"/>
                </a:solidFill>
                <a:latin typeface="Calibri"/>
              </a:rPr>
              <a:t>Simpler conceptual flow for a small network where the firewall doubles as the primary gateway</a:t>
            </a:r>
          </a:p>
        </p:txBody>
      </p:sp>
      <p:sp>
        <p:nvSpPr>
          <p:cNvPr id="13" name="TextBox 12"/>
          <p:cNvSpPr txBox="1"/>
          <p:nvPr/>
        </p:nvSpPr>
        <p:spPr>
          <a:xfrm>
            <a:off x="6446520" y="3337560"/>
            <a:ext cx="5257800" cy="457200"/>
          </a:xfrm>
          <a:prstGeom prst="rect">
            <a:avLst/>
          </a:prstGeom>
          <a:noFill/>
        </p:spPr>
        <p:txBody>
          <a:bodyPr wrap="square">
            <a:spAutoFit/>
          </a:bodyPr>
          <a:lstStyle/>
          <a:p>
            <a:r>
              <a:rPr sz="1800" b="1" i="0">
                <a:solidFill>
                  <a:srgbClr val="C0392B"/>
                </a:solidFill>
                <a:latin typeface="Calibri"/>
              </a:rPr>
              <a:t>Weaknesses</a:t>
            </a:r>
          </a:p>
        </p:txBody>
      </p:sp>
      <p:sp>
        <p:nvSpPr>
          <p:cNvPr id="14" name="TextBox 13"/>
          <p:cNvSpPr txBox="1"/>
          <p:nvPr/>
        </p:nvSpPr>
        <p:spPr>
          <a:xfrm>
            <a:off x="6446520" y="3840480"/>
            <a:ext cx="5257800" cy="2148840"/>
          </a:xfrm>
          <a:prstGeom prst="rect">
            <a:avLst/>
          </a:prstGeom>
          <a:noFill/>
        </p:spPr>
        <p:txBody>
          <a:bodyPr wrap="square">
            <a:spAutoFit/>
          </a:bodyPr>
          <a:lstStyle/>
          <a:p>
            <a:pPr marL="201168" indent="-201168">
              <a:spcAft>
                <a:spcPts val="1000"/>
              </a:spcAft>
              <a:buFont typeface="Arial"/>
              <a:buChar char="–"/>
            </a:pPr>
            <a:r>
              <a:rPr sz="1500" b="0" i="0">
                <a:solidFill>
                  <a:srgbClr val="222A33"/>
                </a:solidFill>
                <a:latin typeface="Calibri"/>
              </a:rPr>
              <a:t>Non-standard design, so less documented best practice and vendor guidance</a:t>
            </a:r>
          </a:p>
          <a:p>
            <a:pPr marL="201168" indent="-201168">
              <a:spcAft>
                <a:spcPts val="1000"/>
              </a:spcAft>
              <a:buFont typeface="Arial"/>
              <a:buChar char="–"/>
            </a:pPr>
            <a:r>
              <a:rPr sz="1500" b="0" i="0">
                <a:solidFill>
                  <a:srgbClr val="222A33"/>
                </a:solidFill>
                <a:latin typeface="Calibri"/>
              </a:rPr>
              <a:t>The router's own management and routing-protocol traffic must all pass through firewall policy, adding complexity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Architecture 3: Dual Firewall, Router Before Both (Screened Subnet)</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PLACEMENT</a:t>
            </a:r>
          </a:p>
        </p:txBody>
      </p:sp>
      <p:sp>
        <p:nvSpPr>
          <p:cNvPr id="4" name="Rounded Rectangle 3"/>
          <p:cNvSpPr/>
          <p:nvPr/>
        </p:nvSpPr>
        <p:spPr>
          <a:xfrm>
            <a:off x="274320" y="1874519"/>
            <a:ext cx="1554480" cy="548640"/>
          </a:xfrm>
          <a:prstGeom prst="roundRect">
            <a:avLst/>
          </a:prstGeom>
          <a:solidFill>
            <a:srgbClr val="00305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i="0">
                <a:solidFill>
                  <a:srgbClr val="FFFFFF"/>
                </a:solidFill>
                <a:latin typeface="Calibri"/>
              </a:rPr>
              <a:t>Internet</a:t>
            </a:r>
          </a:p>
        </p:txBody>
      </p:sp>
      <p:cxnSp>
        <p:nvCxnSpPr>
          <p:cNvPr id="5" name="Connector 4"/>
          <p:cNvCxnSpPr/>
          <p:nvPr/>
        </p:nvCxnSpPr>
        <p:spPr>
          <a:xfrm>
            <a:off x="1828800" y="2148840"/>
            <a:ext cx="1051560" cy="0"/>
          </a:xfrm>
          <a:prstGeom prst="line">
            <a:avLst/>
          </a:prstGeom>
          <a:ln w="19050">
            <a:solidFill>
              <a:srgbClr val="003054"/>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2880360" y="1874519"/>
            <a:ext cx="1645920" cy="548640"/>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i="0">
                <a:solidFill>
                  <a:srgbClr val="FFFFFF"/>
                </a:solidFill>
                <a:latin typeface="Calibri"/>
              </a:rPr>
              <a:t>Router</a:t>
            </a:r>
          </a:p>
        </p:txBody>
      </p:sp>
      <p:cxnSp>
        <p:nvCxnSpPr>
          <p:cNvPr id="7" name="Connector 6"/>
          <p:cNvCxnSpPr/>
          <p:nvPr/>
        </p:nvCxnSpPr>
        <p:spPr>
          <a:xfrm>
            <a:off x="4526280" y="2148840"/>
            <a:ext cx="1051560" cy="0"/>
          </a:xfrm>
          <a:prstGeom prst="line">
            <a:avLst/>
          </a:prstGeom>
          <a:ln w="19050">
            <a:solidFill>
              <a:srgbClr val="003054"/>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577840" y="1874519"/>
            <a:ext cx="1645920" cy="548640"/>
          </a:xfrm>
          <a:prstGeom prst="round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i="0">
                <a:solidFill>
                  <a:srgbClr val="FFFFFF"/>
                </a:solidFill>
                <a:latin typeface="Calibri"/>
              </a:rPr>
              <a:t>Firewall 1</a:t>
            </a:r>
          </a:p>
        </p:txBody>
      </p:sp>
      <p:cxnSp>
        <p:nvCxnSpPr>
          <p:cNvPr id="9" name="Connector 8"/>
          <p:cNvCxnSpPr/>
          <p:nvPr/>
        </p:nvCxnSpPr>
        <p:spPr>
          <a:xfrm>
            <a:off x="7223760" y="2148840"/>
            <a:ext cx="1051560" cy="0"/>
          </a:xfrm>
          <a:prstGeom prst="line">
            <a:avLst/>
          </a:prstGeom>
          <a:ln w="19050">
            <a:solidFill>
              <a:srgbClr val="00305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8001000" y="2606040"/>
            <a:ext cx="1920240" cy="502920"/>
          </a:xfrm>
          <a:prstGeom prst="round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i="0">
                <a:solidFill>
                  <a:srgbClr val="222A33"/>
                </a:solidFill>
                <a:latin typeface="Calibri"/>
              </a:rPr>
              <a:t>DMZ</a:t>
            </a:r>
          </a:p>
        </p:txBody>
      </p:sp>
      <p:cxnSp>
        <p:nvCxnSpPr>
          <p:cNvPr id="11" name="Connector 10"/>
          <p:cNvCxnSpPr/>
          <p:nvPr/>
        </p:nvCxnSpPr>
        <p:spPr>
          <a:xfrm>
            <a:off x="8229600" y="2423160"/>
            <a:ext cx="365760" cy="182880"/>
          </a:xfrm>
          <a:prstGeom prst="line">
            <a:avLst/>
          </a:prstGeom>
          <a:ln w="15875">
            <a:solidFill>
              <a:srgbClr val="6B7682"/>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052560" y="2148840"/>
            <a:ext cx="1005840" cy="0"/>
          </a:xfrm>
          <a:prstGeom prst="line">
            <a:avLst/>
          </a:prstGeom>
          <a:ln w="19050">
            <a:solidFill>
              <a:srgbClr val="00305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275320" y="1874519"/>
            <a:ext cx="1737360" cy="548640"/>
          </a:xfrm>
          <a:prstGeom prst="round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i="0">
                <a:solidFill>
                  <a:srgbClr val="FFFFFF"/>
                </a:solidFill>
                <a:latin typeface="Calibri"/>
              </a:rPr>
              <a:t>Firewall 2</a:t>
            </a:r>
          </a:p>
        </p:txBody>
      </p:sp>
      <p:cxnSp>
        <p:nvCxnSpPr>
          <p:cNvPr id="14" name="Connector 13"/>
          <p:cNvCxnSpPr/>
          <p:nvPr/>
        </p:nvCxnSpPr>
        <p:spPr>
          <a:xfrm>
            <a:off x="10012680" y="2148840"/>
            <a:ext cx="960120" cy="0"/>
          </a:xfrm>
          <a:prstGeom prst="line">
            <a:avLst/>
          </a:prstGeom>
          <a:ln w="19050">
            <a:solidFill>
              <a:srgbClr val="00305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9966960" y="1737360"/>
            <a:ext cx="2194560" cy="292608"/>
          </a:xfrm>
          <a:prstGeom prst="rect">
            <a:avLst/>
          </a:prstGeom>
          <a:noFill/>
        </p:spPr>
        <p:txBody>
          <a:bodyPr wrap="square">
            <a:spAutoFit/>
          </a:bodyPr>
          <a:lstStyle/>
          <a:p>
            <a:r>
              <a:rPr sz="1100" b="0" i="0">
                <a:solidFill>
                  <a:srgbClr val="222A33"/>
                </a:solidFill>
                <a:latin typeface="Calibri"/>
              </a:rPr>
              <a:t>Internal</a:t>
            </a:r>
          </a:p>
        </p:txBody>
      </p:sp>
      <p:sp>
        <p:nvSpPr>
          <p:cNvPr id="16" name="TextBox 15"/>
          <p:cNvSpPr txBox="1"/>
          <p:nvPr/>
        </p:nvSpPr>
        <p:spPr>
          <a:xfrm>
            <a:off x="731520" y="3063240"/>
            <a:ext cx="5257800" cy="457200"/>
          </a:xfrm>
          <a:prstGeom prst="rect">
            <a:avLst/>
          </a:prstGeom>
          <a:noFill/>
        </p:spPr>
        <p:txBody>
          <a:bodyPr wrap="square">
            <a:spAutoFit/>
          </a:bodyPr>
          <a:lstStyle/>
          <a:p>
            <a:r>
              <a:rPr sz="1800" b="1" i="0">
                <a:solidFill>
                  <a:srgbClr val="196B24"/>
                </a:solidFill>
                <a:latin typeface="Calibri"/>
              </a:rPr>
              <a:t>Strengths</a:t>
            </a:r>
          </a:p>
        </p:txBody>
      </p:sp>
      <p:sp>
        <p:nvSpPr>
          <p:cNvPr id="17" name="TextBox 16"/>
          <p:cNvSpPr txBox="1"/>
          <p:nvPr/>
        </p:nvSpPr>
        <p:spPr>
          <a:xfrm>
            <a:off x="731520" y="3566160"/>
            <a:ext cx="5257800" cy="2423160"/>
          </a:xfrm>
          <a:prstGeom prst="rect">
            <a:avLst/>
          </a:prstGeom>
          <a:noFill/>
        </p:spPr>
        <p:txBody>
          <a:bodyPr wrap="square">
            <a:spAutoFit/>
          </a:bodyPr>
          <a:lstStyle/>
          <a:p>
            <a:pPr marL="201168" indent="-201168">
              <a:spcAft>
                <a:spcPts val="1000"/>
              </a:spcAft>
              <a:buFont typeface="Arial"/>
              <a:buChar char="–"/>
            </a:pPr>
            <a:r>
              <a:rPr sz="1400" b="0" i="0">
                <a:solidFill>
                  <a:srgbClr val="222A33"/>
                </a:solidFill>
                <a:latin typeface="Calibri"/>
              </a:rPr>
              <a:t>Strong defence in depth: an attacker must compromise two separate firewalls to reach the internal network</a:t>
            </a:r>
          </a:p>
          <a:p>
            <a:pPr marL="201168" indent="-201168">
              <a:spcAft>
                <a:spcPts val="1000"/>
              </a:spcAft>
              <a:buFont typeface="Arial"/>
              <a:buChar char="–"/>
            </a:pPr>
            <a:r>
              <a:rPr sz="1400" b="0" i="0">
                <a:solidFill>
                  <a:srgbClr val="222A33"/>
                </a:solidFill>
                <a:latin typeface="Calibri"/>
              </a:rPr>
              <a:t>The DMZ is genuinely isolated between two distinct security boundaries</a:t>
            </a:r>
          </a:p>
          <a:p>
            <a:pPr marL="201168" indent="-201168">
              <a:spcAft>
                <a:spcPts val="1000"/>
              </a:spcAft>
              <a:buFont typeface="Arial"/>
              <a:buChar char="–"/>
            </a:pPr>
            <a:r>
              <a:rPr sz="1400" b="0" i="0">
                <a:solidFill>
                  <a:srgbClr val="222A33"/>
                </a:solidFill>
                <a:latin typeface="Calibri"/>
              </a:rPr>
              <a:t>Each firewall's policy can be tailored specifically to its position</a:t>
            </a:r>
          </a:p>
        </p:txBody>
      </p:sp>
      <p:sp>
        <p:nvSpPr>
          <p:cNvPr id="18" name="TextBox 17"/>
          <p:cNvSpPr txBox="1"/>
          <p:nvPr/>
        </p:nvSpPr>
        <p:spPr>
          <a:xfrm>
            <a:off x="6446520" y="3063240"/>
            <a:ext cx="5257800" cy="457200"/>
          </a:xfrm>
          <a:prstGeom prst="rect">
            <a:avLst/>
          </a:prstGeom>
          <a:noFill/>
        </p:spPr>
        <p:txBody>
          <a:bodyPr wrap="square">
            <a:spAutoFit/>
          </a:bodyPr>
          <a:lstStyle/>
          <a:p>
            <a:r>
              <a:rPr sz="1800" b="1" i="0">
                <a:solidFill>
                  <a:srgbClr val="C0392B"/>
                </a:solidFill>
                <a:latin typeface="Calibri"/>
              </a:rPr>
              <a:t>Weaknesses</a:t>
            </a:r>
          </a:p>
        </p:txBody>
      </p:sp>
      <p:sp>
        <p:nvSpPr>
          <p:cNvPr id="19" name="TextBox 18"/>
          <p:cNvSpPr txBox="1"/>
          <p:nvPr/>
        </p:nvSpPr>
        <p:spPr>
          <a:xfrm>
            <a:off x="6446520" y="3566160"/>
            <a:ext cx="5257800" cy="2423160"/>
          </a:xfrm>
          <a:prstGeom prst="rect">
            <a:avLst/>
          </a:prstGeom>
          <a:noFill/>
        </p:spPr>
        <p:txBody>
          <a:bodyPr wrap="square">
            <a:spAutoFit/>
          </a:bodyPr>
          <a:lstStyle/>
          <a:p>
            <a:pPr marL="201168" indent="-201168">
              <a:spcAft>
                <a:spcPts val="1000"/>
              </a:spcAft>
              <a:buFont typeface="Arial"/>
              <a:buChar char="–"/>
            </a:pPr>
            <a:r>
              <a:rPr sz="1400" b="0" i="0">
                <a:solidFill>
                  <a:srgbClr val="222A33"/>
                </a:solidFill>
                <a:latin typeface="Calibri"/>
              </a:rPr>
              <a:t>Higher cost, two firewall devices to buy, license, and maintain</a:t>
            </a:r>
          </a:p>
          <a:p>
            <a:pPr marL="201168" indent="-201168">
              <a:spcAft>
                <a:spcPts val="1000"/>
              </a:spcAft>
              <a:buFont typeface="Arial"/>
              <a:buChar char="–"/>
            </a:pPr>
            <a:r>
              <a:rPr sz="1400" b="0" i="0">
                <a:solidFill>
                  <a:srgbClr val="222A33"/>
                </a:solidFill>
                <a:latin typeface="Calibri"/>
              </a:rPr>
              <a:t>More complex configuration and management overhead</a:t>
            </a:r>
          </a:p>
          <a:p>
            <a:pPr marL="201168" indent="-201168">
              <a:spcAft>
                <a:spcPts val="1000"/>
              </a:spcAft>
              <a:buFont typeface="Arial"/>
              <a:buChar char="–"/>
            </a:pPr>
            <a:r>
              <a:rPr sz="1400" b="0" i="0">
                <a:solidFill>
                  <a:srgbClr val="222A33"/>
                </a:solidFill>
                <a:latin typeface="Calibri"/>
              </a:rPr>
              <a:t>Real risk of policy inconsistency between the two devices if not carefully coordinated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Architecture 4: Dual Firewall, Router Between the Two</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PLACEMENT</a:t>
            </a:r>
          </a:p>
        </p:txBody>
      </p:sp>
      <p:sp>
        <p:nvSpPr>
          <p:cNvPr id="4" name="Rounded Rectangle 3"/>
          <p:cNvSpPr/>
          <p:nvPr/>
        </p:nvSpPr>
        <p:spPr>
          <a:xfrm>
            <a:off x="274320" y="1874519"/>
            <a:ext cx="1554480" cy="548640"/>
          </a:xfrm>
          <a:prstGeom prst="roundRect">
            <a:avLst/>
          </a:prstGeom>
          <a:solidFill>
            <a:srgbClr val="00305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i="0">
                <a:solidFill>
                  <a:srgbClr val="FFFFFF"/>
                </a:solidFill>
                <a:latin typeface="Calibri"/>
              </a:rPr>
              <a:t>Internet</a:t>
            </a:r>
          </a:p>
        </p:txBody>
      </p:sp>
      <p:cxnSp>
        <p:nvCxnSpPr>
          <p:cNvPr id="5" name="Connector 4"/>
          <p:cNvCxnSpPr/>
          <p:nvPr/>
        </p:nvCxnSpPr>
        <p:spPr>
          <a:xfrm>
            <a:off x="1828800" y="2148840"/>
            <a:ext cx="1051560" cy="0"/>
          </a:xfrm>
          <a:prstGeom prst="line">
            <a:avLst/>
          </a:prstGeom>
          <a:ln w="19050">
            <a:solidFill>
              <a:srgbClr val="003054"/>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2880360" y="1874519"/>
            <a:ext cx="1737360" cy="548640"/>
          </a:xfrm>
          <a:prstGeom prst="round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i="0">
                <a:solidFill>
                  <a:srgbClr val="FFFFFF"/>
                </a:solidFill>
                <a:latin typeface="Calibri"/>
              </a:rPr>
              <a:t>Firewall 1</a:t>
            </a:r>
          </a:p>
        </p:txBody>
      </p:sp>
      <p:cxnSp>
        <p:nvCxnSpPr>
          <p:cNvPr id="7" name="Connector 6"/>
          <p:cNvCxnSpPr/>
          <p:nvPr/>
        </p:nvCxnSpPr>
        <p:spPr>
          <a:xfrm>
            <a:off x="4617720" y="2148840"/>
            <a:ext cx="1051560" cy="0"/>
          </a:xfrm>
          <a:prstGeom prst="line">
            <a:avLst/>
          </a:prstGeom>
          <a:ln w="19050">
            <a:solidFill>
              <a:srgbClr val="003054"/>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669280" y="1874519"/>
            <a:ext cx="1645920" cy="548640"/>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i="0">
                <a:solidFill>
                  <a:srgbClr val="FFFFFF"/>
                </a:solidFill>
                <a:latin typeface="Calibri"/>
              </a:rPr>
              <a:t>Router</a:t>
            </a:r>
          </a:p>
        </p:txBody>
      </p:sp>
      <p:cxnSp>
        <p:nvCxnSpPr>
          <p:cNvPr id="9" name="Connector 8"/>
          <p:cNvCxnSpPr/>
          <p:nvPr/>
        </p:nvCxnSpPr>
        <p:spPr>
          <a:xfrm>
            <a:off x="7315200" y="2148840"/>
            <a:ext cx="1051560" cy="0"/>
          </a:xfrm>
          <a:prstGeom prst="line">
            <a:avLst/>
          </a:prstGeom>
          <a:ln w="19050">
            <a:solidFill>
              <a:srgbClr val="00305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7132320" y="2606040"/>
            <a:ext cx="1920240" cy="502920"/>
          </a:xfrm>
          <a:prstGeom prst="round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i="0">
                <a:solidFill>
                  <a:srgbClr val="222A33"/>
                </a:solidFill>
                <a:latin typeface="Calibri"/>
              </a:rPr>
              <a:t>DMZ</a:t>
            </a:r>
          </a:p>
        </p:txBody>
      </p:sp>
      <p:cxnSp>
        <p:nvCxnSpPr>
          <p:cNvPr id="11" name="Connector 10"/>
          <p:cNvCxnSpPr/>
          <p:nvPr/>
        </p:nvCxnSpPr>
        <p:spPr>
          <a:xfrm>
            <a:off x="6492240" y="2423160"/>
            <a:ext cx="1097280" cy="182880"/>
          </a:xfrm>
          <a:prstGeom prst="line">
            <a:avLst/>
          </a:prstGeom>
          <a:ln w="15875">
            <a:solidFill>
              <a:srgbClr val="6B7682"/>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366760" y="1874519"/>
            <a:ext cx="1737360" cy="548640"/>
          </a:xfrm>
          <a:prstGeom prst="round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i="0">
                <a:solidFill>
                  <a:srgbClr val="FFFFFF"/>
                </a:solidFill>
                <a:latin typeface="Calibri"/>
              </a:rPr>
              <a:t>Firewall 2</a:t>
            </a:r>
          </a:p>
        </p:txBody>
      </p:sp>
      <p:cxnSp>
        <p:nvCxnSpPr>
          <p:cNvPr id="13" name="Connector 12"/>
          <p:cNvCxnSpPr/>
          <p:nvPr/>
        </p:nvCxnSpPr>
        <p:spPr>
          <a:xfrm>
            <a:off x="10104120" y="2148840"/>
            <a:ext cx="868680" cy="0"/>
          </a:xfrm>
          <a:prstGeom prst="line">
            <a:avLst/>
          </a:prstGeom>
          <a:ln w="19050">
            <a:solidFill>
              <a:srgbClr val="00305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0058400" y="1737360"/>
            <a:ext cx="2194560" cy="292608"/>
          </a:xfrm>
          <a:prstGeom prst="rect">
            <a:avLst/>
          </a:prstGeom>
          <a:noFill/>
        </p:spPr>
        <p:txBody>
          <a:bodyPr wrap="square">
            <a:spAutoFit/>
          </a:bodyPr>
          <a:lstStyle/>
          <a:p>
            <a:r>
              <a:rPr sz="1100" b="0" i="0">
                <a:solidFill>
                  <a:srgbClr val="222A33"/>
                </a:solidFill>
                <a:latin typeface="Calibri"/>
              </a:rPr>
              <a:t>Internal</a:t>
            </a:r>
          </a:p>
        </p:txBody>
      </p:sp>
      <p:sp>
        <p:nvSpPr>
          <p:cNvPr id="15" name="TextBox 14"/>
          <p:cNvSpPr txBox="1"/>
          <p:nvPr/>
        </p:nvSpPr>
        <p:spPr>
          <a:xfrm>
            <a:off x="731520" y="3063240"/>
            <a:ext cx="5257800" cy="457200"/>
          </a:xfrm>
          <a:prstGeom prst="rect">
            <a:avLst/>
          </a:prstGeom>
          <a:noFill/>
        </p:spPr>
        <p:txBody>
          <a:bodyPr wrap="square">
            <a:spAutoFit/>
          </a:bodyPr>
          <a:lstStyle/>
          <a:p>
            <a:r>
              <a:rPr sz="1800" b="1" i="0">
                <a:solidFill>
                  <a:srgbClr val="196B24"/>
                </a:solidFill>
                <a:latin typeface="Calibri"/>
              </a:rPr>
              <a:t>Strengths</a:t>
            </a:r>
          </a:p>
        </p:txBody>
      </p:sp>
      <p:sp>
        <p:nvSpPr>
          <p:cNvPr id="16" name="TextBox 15"/>
          <p:cNvSpPr txBox="1"/>
          <p:nvPr/>
        </p:nvSpPr>
        <p:spPr>
          <a:xfrm>
            <a:off x="731520" y="3566160"/>
            <a:ext cx="5257800" cy="2423160"/>
          </a:xfrm>
          <a:prstGeom prst="rect">
            <a:avLst/>
          </a:prstGeom>
          <a:noFill/>
        </p:spPr>
        <p:txBody>
          <a:bodyPr wrap="square">
            <a:spAutoFit/>
          </a:bodyPr>
          <a:lstStyle/>
          <a:p>
            <a:pPr marL="201168" indent="-201168">
              <a:spcAft>
                <a:spcPts val="1000"/>
              </a:spcAft>
              <a:buFont typeface="Arial"/>
              <a:buChar char="–"/>
            </a:pPr>
            <a:r>
              <a:rPr sz="1400" b="0" i="0">
                <a:solidFill>
                  <a:srgbClr val="222A33"/>
                </a:solidFill>
                <a:latin typeface="Calibri"/>
              </a:rPr>
              <a:t>Firewall 1 filters all inbound internet traffic before it even reaches the router, protecting the router directly</a:t>
            </a:r>
          </a:p>
          <a:p>
            <a:pPr marL="201168" indent="-201168">
              <a:spcAft>
                <a:spcPts val="1000"/>
              </a:spcAft>
              <a:buFont typeface="Arial"/>
              <a:buChar char="–"/>
            </a:pPr>
            <a:r>
              <a:rPr sz="1400" b="0" i="0">
                <a:solidFill>
                  <a:srgbClr val="222A33"/>
                </a:solidFill>
                <a:latin typeface="Calibri"/>
              </a:rPr>
              <a:t>The router can focus purely on routing and NAT for the DMZ segment, without also being a security boundary</a:t>
            </a:r>
          </a:p>
        </p:txBody>
      </p:sp>
      <p:sp>
        <p:nvSpPr>
          <p:cNvPr id="17" name="TextBox 16"/>
          <p:cNvSpPr txBox="1"/>
          <p:nvPr/>
        </p:nvSpPr>
        <p:spPr>
          <a:xfrm>
            <a:off x="6446520" y="3063240"/>
            <a:ext cx="5257800" cy="457200"/>
          </a:xfrm>
          <a:prstGeom prst="rect">
            <a:avLst/>
          </a:prstGeom>
          <a:noFill/>
        </p:spPr>
        <p:txBody>
          <a:bodyPr wrap="square">
            <a:spAutoFit/>
          </a:bodyPr>
          <a:lstStyle/>
          <a:p>
            <a:r>
              <a:rPr sz="1800" b="1" i="0">
                <a:solidFill>
                  <a:srgbClr val="C0392B"/>
                </a:solidFill>
                <a:latin typeface="Calibri"/>
              </a:rPr>
              <a:t>Weaknesses</a:t>
            </a:r>
          </a:p>
        </p:txBody>
      </p:sp>
      <p:sp>
        <p:nvSpPr>
          <p:cNvPr id="18" name="TextBox 17"/>
          <p:cNvSpPr txBox="1"/>
          <p:nvPr/>
        </p:nvSpPr>
        <p:spPr>
          <a:xfrm>
            <a:off x="6446520" y="3566160"/>
            <a:ext cx="5257800" cy="2423160"/>
          </a:xfrm>
          <a:prstGeom prst="rect">
            <a:avLst/>
          </a:prstGeom>
          <a:noFill/>
        </p:spPr>
        <p:txBody>
          <a:bodyPr wrap="square">
            <a:spAutoFit/>
          </a:bodyPr>
          <a:lstStyle/>
          <a:p>
            <a:pPr marL="201168" indent="-201168">
              <a:spcAft>
                <a:spcPts val="1000"/>
              </a:spcAft>
              <a:buFont typeface="Arial"/>
              <a:buChar char="–"/>
            </a:pPr>
            <a:r>
              <a:rPr sz="1400" b="0" i="0">
                <a:solidFill>
                  <a:srgbClr val="222A33"/>
                </a:solidFill>
                <a:latin typeface="Calibri"/>
              </a:rPr>
              <a:t>If Firewall 1 is bypassed, the router sits exposed with no second firewall immediately in front of it</a:t>
            </a:r>
          </a:p>
          <a:p>
            <a:pPr marL="201168" indent="-201168">
              <a:spcAft>
                <a:spcPts val="1000"/>
              </a:spcAft>
              <a:buFont typeface="Arial"/>
              <a:buChar char="–"/>
            </a:pPr>
            <a:r>
              <a:rPr sz="1400" b="0" i="0">
                <a:solidFill>
                  <a:srgbClr val="222A33"/>
                </a:solidFill>
                <a:latin typeface="Calibri"/>
              </a:rPr>
              <a:t>Less common, less standardised design pattern with less vendor documentation</a:t>
            </a:r>
          </a:p>
          <a:p>
            <a:pPr marL="201168" indent="-201168">
              <a:spcAft>
                <a:spcPts val="1000"/>
              </a:spcAft>
              <a:buFont typeface="Arial"/>
              <a:buChar char="–"/>
            </a:pPr>
            <a:r>
              <a:rPr sz="1400" b="0" i="0">
                <a:solidFill>
                  <a:srgbClr val="222A33"/>
                </a:solidFill>
                <a:latin typeface="Calibri"/>
              </a:rPr>
              <a:t>The router becomes a dependency sitting between two security devices, a potential chokepoint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Architecture Comparison</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SUMMARY</a:t>
            </a:r>
          </a:p>
        </p:txBody>
      </p:sp>
      <p:graphicFrame>
        <p:nvGraphicFramePr>
          <p:cNvPr id="4" name="Table 3"/>
          <p:cNvGraphicFramePr>
            <a:graphicFrameLocks noGrp="1"/>
          </p:cNvGraphicFramePr>
          <p:nvPr/>
        </p:nvGraphicFramePr>
        <p:xfrm>
          <a:off x="274320" y="1737360"/>
          <a:ext cx="11612880" cy="4114800"/>
        </p:xfrm>
        <a:graphic>
          <a:graphicData uri="http://schemas.openxmlformats.org/drawingml/2006/table">
            <a:tbl>
              <a:tblPr firstRow="1" bandRow="1">
                <a:tableStyleId>{5C22544A-7EE6-4342-B048-85BDC9FD1C3A}</a:tableStyleId>
              </a:tblPr>
              <a:tblGrid>
                <a:gridCol w="28346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4663440">
                  <a:extLst>
                    <a:ext uri="{9D8B030D-6E8A-4147-A177-3AD203B41FA5}">
                      <a16:colId xmlns:a16="http://schemas.microsoft.com/office/drawing/2014/main" val="20003"/>
                    </a:ext>
                  </a:extLst>
                </a:gridCol>
              </a:tblGrid>
              <a:tr h="822960">
                <a:tc>
                  <a:txBody>
                    <a:bodyPr/>
                    <a:lstStyle/>
                    <a:p>
                      <a:r>
                        <a:rPr sz="1300" b="1" i="0">
                          <a:solidFill>
                            <a:srgbClr val="FFFFFF"/>
                          </a:solidFill>
                          <a:latin typeface="Calibri"/>
                        </a:rPr>
                        <a:t>Architecture</a:t>
                      </a:r>
                    </a:p>
                  </a:txBody>
                  <a:tcPr marL="73152" marR="73152" marT="27432" marB="27432" anchor="ctr">
                    <a:solidFill>
                      <a:srgbClr val="003054"/>
                    </a:solidFill>
                  </a:tcPr>
                </a:tc>
                <a:tc>
                  <a:txBody>
                    <a:bodyPr/>
                    <a:lstStyle/>
                    <a:p>
                      <a:r>
                        <a:rPr sz="1300" b="1" i="0">
                          <a:solidFill>
                            <a:srgbClr val="FFFFFF"/>
                          </a:solidFill>
                          <a:latin typeface="Calibri"/>
                        </a:rPr>
                        <a:t>Firewalls</a:t>
                      </a:r>
                    </a:p>
                  </a:txBody>
                  <a:tcPr marL="73152" marR="73152" marT="27432" marB="27432" anchor="ctr">
                    <a:solidFill>
                      <a:srgbClr val="003054"/>
                    </a:solidFill>
                  </a:tcPr>
                </a:tc>
                <a:tc>
                  <a:txBody>
                    <a:bodyPr/>
                    <a:lstStyle/>
                    <a:p>
                      <a:r>
                        <a:rPr sz="1300" b="1" i="0">
                          <a:solidFill>
                            <a:srgbClr val="FFFFFF"/>
                          </a:solidFill>
                          <a:latin typeface="Calibri"/>
                        </a:rPr>
                        <a:t>Router Position</a:t>
                      </a:r>
                    </a:p>
                  </a:txBody>
                  <a:tcPr marL="73152" marR="73152" marT="27432" marB="27432" anchor="ctr">
                    <a:solidFill>
                      <a:srgbClr val="003054"/>
                    </a:solidFill>
                  </a:tcPr>
                </a:tc>
                <a:tc>
                  <a:txBody>
                    <a:bodyPr/>
                    <a:lstStyle/>
                    <a:p>
                      <a:r>
                        <a:rPr sz="1300" b="1" i="0">
                          <a:solidFill>
                            <a:srgbClr val="FFFFFF"/>
                          </a:solidFill>
                          <a:latin typeface="Calibri"/>
                        </a:rPr>
                        <a:t>Key Trade-off</a:t>
                      </a:r>
                    </a:p>
                  </a:txBody>
                  <a:tcPr marL="73152" marR="73152" marT="27432" marB="27432" anchor="ctr">
                    <a:solidFill>
                      <a:srgbClr val="003054"/>
                    </a:solidFill>
                  </a:tcPr>
                </a:tc>
                <a:extLst>
                  <a:ext uri="{0D108BD9-81ED-4DB2-BD59-A6C34878D82A}">
                    <a16:rowId xmlns:a16="http://schemas.microsoft.com/office/drawing/2014/main" val="10000"/>
                  </a:ext>
                </a:extLst>
              </a:tr>
              <a:tr h="822960">
                <a:tc>
                  <a:txBody>
                    <a:bodyPr/>
                    <a:lstStyle/>
                    <a:p>
                      <a:r>
                        <a:rPr sz="1300" b="0" i="0">
                          <a:solidFill>
                            <a:srgbClr val="222A33"/>
                          </a:solidFill>
                          <a:latin typeface="Calibri"/>
                        </a:rPr>
                        <a:t>Single, Behind Router</a:t>
                      </a:r>
                    </a:p>
                  </a:txBody>
                  <a:tcPr marL="73152" marR="73152" marT="27432" marB="27432" anchor="ctr">
                    <a:solidFill>
                      <a:srgbClr val="FFFFFF"/>
                    </a:solidFill>
                  </a:tcPr>
                </a:tc>
                <a:tc>
                  <a:txBody>
                    <a:bodyPr/>
                    <a:lstStyle/>
                    <a:p>
                      <a:r>
                        <a:rPr sz="1300" b="0" i="0">
                          <a:solidFill>
                            <a:srgbClr val="222A33"/>
                          </a:solidFill>
                          <a:latin typeface="Calibri"/>
                        </a:rPr>
                        <a:t>1</a:t>
                      </a:r>
                    </a:p>
                  </a:txBody>
                  <a:tcPr marL="73152" marR="73152" marT="27432" marB="27432" anchor="ctr">
                    <a:solidFill>
                      <a:srgbClr val="FFFFFF"/>
                    </a:solidFill>
                  </a:tcPr>
                </a:tc>
                <a:tc>
                  <a:txBody>
                    <a:bodyPr/>
                    <a:lstStyle/>
                    <a:p>
                      <a:r>
                        <a:rPr sz="1300" b="0" i="0">
                          <a:solidFill>
                            <a:srgbClr val="222A33"/>
                          </a:solidFill>
                          <a:latin typeface="Calibri"/>
                        </a:rPr>
                        <a:t>Before the firewall</a:t>
                      </a:r>
                    </a:p>
                  </a:txBody>
                  <a:tcPr marL="73152" marR="73152" marT="27432" marB="27432" anchor="ctr">
                    <a:solidFill>
                      <a:srgbClr val="FFFFFF"/>
                    </a:solidFill>
                  </a:tcPr>
                </a:tc>
                <a:tc>
                  <a:txBody>
                    <a:bodyPr/>
                    <a:lstStyle/>
                    <a:p>
                      <a:r>
                        <a:rPr sz="1300" b="0" i="0">
                          <a:solidFill>
                            <a:srgbClr val="222A33"/>
                          </a:solidFill>
                          <a:latin typeface="Calibri"/>
                        </a:rPr>
                        <a:t>Simple and cheap, but a single point of failure</a:t>
                      </a:r>
                    </a:p>
                  </a:txBody>
                  <a:tcPr marL="73152" marR="73152" marT="27432" marB="27432" anchor="ctr">
                    <a:solidFill>
                      <a:srgbClr val="FFFFFF"/>
                    </a:solidFill>
                  </a:tcPr>
                </a:tc>
                <a:extLst>
                  <a:ext uri="{0D108BD9-81ED-4DB2-BD59-A6C34878D82A}">
                    <a16:rowId xmlns:a16="http://schemas.microsoft.com/office/drawing/2014/main" val="10001"/>
                  </a:ext>
                </a:extLst>
              </a:tr>
              <a:tr h="822960">
                <a:tc>
                  <a:txBody>
                    <a:bodyPr/>
                    <a:lstStyle/>
                    <a:p>
                      <a:r>
                        <a:rPr sz="1300" b="0" i="0">
                          <a:solidFill>
                            <a:srgbClr val="222A33"/>
                          </a:solidFill>
                          <a:latin typeface="Calibri"/>
                        </a:rPr>
                        <a:t>Single, In Front of Router</a:t>
                      </a:r>
                    </a:p>
                  </a:txBody>
                  <a:tcPr marL="73152" marR="73152" marT="27432" marB="27432" anchor="ctr">
                    <a:solidFill>
                      <a:srgbClr val="F2F4F7"/>
                    </a:solidFill>
                  </a:tcPr>
                </a:tc>
                <a:tc>
                  <a:txBody>
                    <a:bodyPr/>
                    <a:lstStyle/>
                    <a:p>
                      <a:r>
                        <a:rPr sz="1300" b="0" i="0">
                          <a:solidFill>
                            <a:srgbClr val="222A33"/>
                          </a:solidFill>
                          <a:latin typeface="Calibri"/>
                        </a:rPr>
                        <a:t>1</a:t>
                      </a:r>
                    </a:p>
                  </a:txBody>
                  <a:tcPr marL="73152" marR="73152" marT="27432" marB="27432" anchor="ctr">
                    <a:solidFill>
                      <a:srgbClr val="F2F4F7"/>
                    </a:solidFill>
                  </a:tcPr>
                </a:tc>
                <a:tc>
                  <a:txBody>
                    <a:bodyPr/>
                    <a:lstStyle/>
                    <a:p>
                      <a:r>
                        <a:rPr sz="1300" b="0" i="0">
                          <a:solidFill>
                            <a:srgbClr val="222A33"/>
                          </a:solidFill>
                          <a:latin typeface="Calibri"/>
                        </a:rPr>
                        <a:t>After the firewall</a:t>
                      </a:r>
                    </a:p>
                  </a:txBody>
                  <a:tcPr marL="73152" marR="73152" marT="27432" marB="27432" anchor="ctr">
                    <a:solidFill>
                      <a:srgbClr val="F2F4F7"/>
                    </a:solidFill>
                  </a:tcPr>
                </a:tc>
                <a:tc>
                  <a:txBody>
                    <a:bodyPr/>
                    <a:lstStyle/>
                    <a:p>
                      <a:r>
                        <a:rPr sz="1300" b="0" i="0">
                          <a:solidFill>
                            <a:srgbClr val="222A33"/>
                          </a:solidFill>
                          <a:latin typeface="Calibri"/>
                        </a:rPr>
                        <a:t>Protects the router, but non-standard</a:t>
                      </a:r>
                    </a:p>
                  </a:txBody>
                  <a:tcPr marL="73152" marR="73152" marT="27432" marB="27432" anchor="ctr">
                    <a:solidFill>
                      <a:srgbClr val="F2F4F7"/>
                    </a:solidFill>
                  </a:tcPr>
                </a:tc>
                <a:extLst>
                  <a:ext uri="{0D108BD9-81ED-4DB2-BD59-A6C34878D82A}">
                    <a16:rowId xmlns:a16="http://schemas.microsoft.com/office/drawing/2014/main" val="10002"/>
                  </a:ext>
                </a:extLst>
              </a:tr>
              <a:tr h="822960">
                <a:tc>
                  <a:txBody>
                    <a:bodyPr/>
                    <a:lstStyle/>
                    <a:p>
                      <a:r>
                        <a:rPr sz="1300" b="0" i="0">
                          <a:solidFill>
                            <a:srgbClr val="222A33"/>
                          </a:solidFill>
                          <a:latin typeface="Calibri"/>
                        </a:rPr>
                        <a:t>Dual, Router Before Both</a:t>
                      </a:r>
                    </a:p>
                  </a:txBody>
                  <a:tcPr marL="73152" marR="73152" marT="27432" marB="27432" anchor="ctr">
                    <a:solidFill>
                      <a:srgbClr val="FFFFFF"/>
                    </a:solidFill>
                  </a:tcPr>
                </a:tc>
                <a:tc>
                  <a:txBody>
                    <a:bodyPr/>
                    <a:lstStyle/>
                    <a:p>
                      <a:r>
                        <a:rPr sz="1300" b="0" i="0">
                          <a:solidFill>
                            <a:srgbClr val="222A33"/>
                          </a:solidFill>
                          <a:latin typeface="Calibri"/>
                        </a:rPr>
                        <a:t>2</a:t>
                      </a:r>
                    </a:p>
                  </a:txBody>
                  <a:tcPr marL="73152" marR="73152" marT="27432" marB="27432" anchor="ctr">
                    <a:solidFill>
                      <a:srgbClr val="FFFFFF"/>
                    </a:solidFill>
                  </a:tcPr>
                </a:tc>
                <a:tc>
                  <a:txBody>
                    <a:bodyPr/>
                    <a:lstStyle/>
                    <a:p>
                      <a:r>
                        <a:rPr sz="1300" b="0" i="0">
                          <a:solidFill>
                            <a:srgbClr val="222A33"/>
                          </a:solidFill>
                          <a:latin typeface="Calibri"/>
                        </a:rPr>
                        <a:t>Before both firewalls</a:t>
                      </a:r>
                    </a:p>
                  </a:txBody>
                  <a:tcPr marL="73152" marR="73152" marT="27432" marB="27432" anchor="ctr">
                    <a:solidFill>
                      <a:srgbClr val="FFFFFF"/>
                    </a:solidFill>
                  </a:tcPr>
                </a:tc>
                <a:tc>
                  <a:txBody>
                    <a:bodyPr/>
                    <a:lstStyle/>
                    <a:p>
                      <a:r>
                        <a:rPr sz="1300" b="0" i="0">
                          <a:solidFill>
                            <a:srgbClr val="222A33"/>
                          </a:solidFill>
                          <a:latin typeface="Calibri"/>
                        </a:rPr>
                        <a:t>Strong defence in depth, higher cost and complexity</a:t>
                      </a:r>
                    </a:p>
                  </a:txBody>
                  <a:tcPr marL="73152" marR="73152" marT="27432" marB="27432" anchor="ctr">
                    <a:solidFill>
                      <a:srgbClr val="FFFFFF"/>
                    </a:solidFill>
                  </a:tcPr>
                </a:tc>
                <a:extLst>
                  <a:ext uri="{0D108BD9-81ED-4DB2-BD59-A6C34878D82A}">
                    <a16:rowId xmlns:a16="http://schemas.microsoft.com/office/drawing/2014/main" val="10003"/>
                  </a:ext>
                </a:extLst>
              </a:tr>
              <a:tr h="822960">
                <a:tc>
                  <a:txBody>
                    <a:bodyPr/>
                    <a:lstStyle/>
                    <a:p>
                      <a:r>
                        <a:rPr sz="1300" b="0" i="0">
                          <a:solidFill>
                            <a:srgbClr val="222A33"/>
                          </a:solidFill>
                          <a:latin typeface="Calibri"/>
                        </a:rPr>
                        <a:t>Dual, Router Between</a:t>
                      </a:r>
                    </a:p>
                  </a:txBody>
                  <a:tcPr marL="73152" marR="73152" marT="27432" marB="27432" anchor="ctr">
                    <a:solidFill>
                      <a:srgbClr val="F2F4F7"/>
                    </a:solidFill>
                  </a:tcPr>
                </a:tc>
                <a:tc>
                  <a:txBody>
                    <a:bodyPr/>
                    <a:lstStyle/>
                    <a:p>
                      <a:r>
                        <a:rPr sz="1300" b="0" i="0">
                          <a:solidFill>
                            <a:srgbClr val="222A33"/>
                          </a:solidFill>
                          <a:latin typeface="Calibri"/>
                        </a:rPr>
                        <a:t>2</a:t>
                      </a:r>
                    </a:p>
                  </a:txBody>
                  <a:tcPr marL="73152" marR="73152" marT="27432" marB="27432" anchor="ctr">
                    <a:solidFill>
                      <a:srgbClr val="F2F4F7"/>
                    </a:solidFill>
                  </a:tcPr>
                </a:tc>
                <a:tc>
                  <a:txBody>
                    <a:bodyPr/>
                    <a:lstStyle/>
                    <a:p>
                      <a:r>
                        <a:rPr sz="1300" b="0" i="0">
                          <a:solidFill>
                            <a:srgbClr val="222A33"/>
                          </a:solidFill>
                          <a:latin typeface="Calibri"/>
                        </a:rPr>
                        <a:t>Between the two firewalls</a:t>
                      </a:r>
                    </a:p>
                  </a:txBody>
                  <a:tcPr marL="73152" marR="73152" marT="27432" marB="27432" anchor="ctr">
                    <a:solidFill>
                      <a:srgbClr val="F2F4F7"/>
                    </a:solidFill>
                  </a:tcPr>
                </a:tc>
                <a:tc>
                  <a:txBody>
                    <a:bodyPr/>
                    <a:lstStyle/>
                    <a:p>
                      <a:r>
                        <a:rPr sz="1300" b="0" i="0">
                          <a:solidFill>
                            <a:srgbClr val="222A33"/>
                          </a:solidFill>
                          <a:latin typeface="Calibri"/>
                        </a:rPr>
                        <a:t>Protects the router directly, but the router itself is exposed if Firewall 1 is bypassed</a:t>
                      </a:r>
                    </a:p>
                  </a:txBody>
                  <a:tcPr marL="73152" marR="73152" marT="27432" marB="27432" anchor="ctr">
                    <a:solidFill>
                      <a:srgbClr val="F2F4F7"/>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ctr"/>
            <a:r>
              <a:rPr sz="4000" b="1" i="0">
                <a:solidFill>
                  <a:srgbClr val="003054"/>
                </a:solidFill>
                <a:latin typeface="Cambria"/>
              </a:rPr>
              <a:t>Access Control Lists</a:t>
            </a:r>
          </a:p>
        </p:txBody>
      </p:sp>
      <p:sp>
        <p:nvSpPr>
          <p:cNvPr id="3" name="Text Placeholder 2"/>
          <p:cNvSpPr>
            <a:spLocks noGrp="1"/>
          </p:cNvSpPr>
          <p:nvPr>
            <p:ph type="body" idx="1"/>
          </p:nvPr>
        </p:nvSpPr>
        <p:spPr/>
        <p:txBody>
          <a:bodyPr wrap="square"/>
          <a:lstStyle/>
          <a:p>
            <a:pPr algn="ctr"/>
            <a:r>
              <a:rPr sz="1800" b="0" i="1">
                <a:solidFill>
                  <a:srgbClr val="6B7682"/>
                </a:solidFill>
                <a:latin typeface="Calibri"/>
              </a:rPr>
              <a:t>The hands-on configuration you'll use in this week's lab</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ACL Fundamentals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ACLS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An ACL is an ordered list of permit and deny statements applied to an interface. Statements are evaluated strictly top to bottom.</a:t>
            </a:r>
          </a:p>
          <a:p>
            <a:pPr marL="201168" indent="-201168">
              <a:spcAft>
                <a:spcPts val="1100"/>
              </a:spcAft>
              <a:buFont typeface="Arial"/>
              <a:buChar char="–"/>
            </a:pPr>
            <a:r>
              <a:rPr sz="1600" b="0" i="0">
                <a:solidFill>
                  <a:srgbClr val="222A33"/>
                </a:solidFill>
                <a:latin typeface="Calibri"/>
              </a:rPr>
              <a:t>The first statement that matches a given packet wins, and processing stops there. Statements further down the list are never even checked for that packet.</a:t>
            </a:r>
          </a:p>
          <a:p>
            <a:pPr marL="201168" indent="-201168">
              <a:spcAft>
                <a:spcPts val="1100"/>
              </a:spcAft>
              <a:buFont typeface="Arial"/>
              <a:buChar char="–"/>
            </a:pPr>
            <a:r>
              <a:rPr sz="1600" b="0" i="0">
                <a:solidFill>
                  <a:srgbClr val="222A33"/>
                </a:solidFill>
                <a:latin typeface="Calibri"/>
              </a:rPr>
              <a:t>Every ACL ends with an implicit deny, even though it's invisible in the configuration. If no statement matches, the traffic is dropped by default.</a:t>
            </a:r>
          </a:p>
          <a:p>
            <a:pPr marL="201168" indent="-201168">
              <a:spcAft>
                <a:spcPts val="1100"/>
              </a:spcAft>
              <a:buFont typeface="Arial"/>
              <a:buChar char="–"/>
            </a:pPr>
            <a:r>
              <a:rPr sz="1600" b="0" i="0">
                <a:solidFill>
                  <a:srgbClr val="222A33"/>
                </a:solidFill>
                <a:latin typeface="Calibri"/>
              </a:rPr>
              <a:t>An ACL is applied per interface and per direction, inbound or outbound, so the same list can behave completely differently depending on where and which way you apply it.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Standard ACLs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ACLS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Filters based only on source IP address. Nothing else about the packet is considered, not the destination, not the protocol, not the port.</a:t>
            </a:r>
          </a:p>
          <a:p>
            <a:pPr marL="201168" indent="-201168">
              <a:spcAft>
                <a:spcPts val="1100"/>
              </a:spcAft>
              <a:buFont typeface="Arial"/>
              <a:buChar char="–"/>
            </a:pPr>
            <a:r>
              <a:rPr sz="1600" b="0" i="0">
                <a:solidFill>
                  <a:srgbClr val="222A33"/>
                </a:solidFill>
                <a:latin typeface="Calibri"/>
              </a:rPr>
              <a:t>Numbered in the ranges 1 to 99 and 1300 to 1999.</a:t>
            </a:r>
          </a:p>
          <a:p>
            <a:pPr marL="201168" indent="-201168">
              <a:spcAft>
                <a:spcPts val="1100"/>
              </a:spcAft>
              <a:buFont typeface="Arial"/>
              <a:buChar char="–"/>
            </a:pPr>
            <a:r>
              <a:rPr sz="1600" b="0" i="0">
                <a:solidFill>
                  <a:srgbClr val="222A33"/>
                </a:solidFill>
                <a:latin typeface="Calibri"/>
              </a:rPr>
              <a:t>Because a Standard ACL can't distinguish by destination, applying it too early in the network risks blocking traffic to destinations you never intended to affect.</a:t>
            </a:r>
          </a:p>
          <a:p>
            <a:pPr marL="201168" indent="-201168">
              <a:spcAft>
                <a:spcPts val="1100"/>
              </a:spcAft>
              <a:buFont typeface="Arial"/>
              <a:buChar char="–"/>
            </a:pPr>
            <a:r>
              <a:rPr sz="1600" b="0" i="0">
                <a:solidFill>
                  <a:srgbClr val="222A33"/>
                </a:solidFill>
                <a:latin typeface="Calibri"/>
              </a:rPr>
              <a:t>Best practice, covered in detail shortly: place a Standard ACL as close to the destination as possible.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Extended ACLs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ACLS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Filters based on source and destination IP address, the protocol (TCP, UDP, ICMP, and others), and source and destination port numbers.</a:t>
            </a:r>
          </a:p>
          <a:p>
            <a:pPr marL="201168" indent="-201168">
              <a:spcAft>
                <a:spcPts val="1100"/>
              </a:spcAft>
              <a:buFont typeface="Arial"/>
              <a:buChar char="–"/>
            </a:pPr>
            <a:r>
              <a:rPr sz="1600" b="0" i="0">
                <a:solidFill>
                  <a:srgbClr val="222A33"/>
                </a:solidFill>
                <a:latin typeface="Calibri"/>
              </a:rPr>
              <a:t>Numbered in the ranges 100 to 199 and 2000 to 2699.</a:t>
            </a:r>
          </a:p>
          <a:p>
            <a:pPr marL="201168" indent="-201168">
              <a:spcAft>
                <a:spcPts val="1100"/>
              </a:spcAft>
              <a:buFont typeface="Arial"/>
              <a:buChar char="–"/>
            </a:pPr>
            <a:r>
              <a:rPr sz="1600" b="0" i="0">
                <a:solidFill>
                  <a:srgbClr val="222A33"/>
                </a:solidFill>
                <a:latin typeface="Calibri"/>
              </a:rPr>
              <a:t>Because an Extended ACL can match precisely on both source and destination together, it can safely be applied much earlier without the same risk of over-blocking that a Standard ACL carries.</a:t>
            </a:r>
          </a:p>
          <a:p>
            <a:pPr marL="201168" indent="-201168">
              <a:spcAft>
                <a:spcPts val="1100"/>
              </a:spcAft>
              <a:buFont typeface="Arial"/>
              <a:buChar char="–"/>
            </a:pPr>
            <a:r>
              <a:rPr sz="1600" b="0" i="0">
                <a:solidFill>
                  <a:srgbClr val="222A33"/>
                </a:solidFill>
                <a:latin typeface="Calibri"/>
              </a:rPr>
              <a:t>Best practice, covered in detail shortly: place an Extended ACL as close to the source as possible.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Named ACLs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ACLS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Functionally identical to a Standard or Extended ACL. The only difference is that a Named ACL is identified by a descriptive name instead of a number.</a:t>
            </a:r>
          </a:p>
          <a:p>
            <a:pPr marL="201168" indent="-201168">
              <a:spcAft>
                <a:spcPts val="1100"/>
              </a:spcAft>
              <a:buFont typeface="Arial"/>
              <a:buChar char="–"/>
            </a:pPr>
            <a:r>
              <a:rPr sz="1600" b="0" i="0">
                <a:solidFill>
                  <a:srgbClr val="222A33"/>
                </a:solidFill>
                <a:latin typeface="Calibri"/>
              </a:rPr>
              <a:t>A single Named ACL is still either standard-style or extended-style underneath. Naming it doesn't add new matching capability.</a:t>
            </a:r>
          </a:p>
          <a:p>
            <a:pPr marL="201168" indent="-201168">
              <a:spcAft>
                <a:spcPts val="1100"/>
              </a:spcAft>
              <a:buFont typeface="Arial"/>
              <a:buChar char="–"/>
            </a:pPr>
            <a:r>
              <a:rPr sz="1600" b="0" i="0">
                <a:solidFill>
                  <a:srgbClr val="222A33"/>
                </a:solidFill>
                <a:latin typeface="Calibri"/>
              </a:rPr>
              <a:t>The practical advantage is readability and maintainability: a name like BLOCK_TELNET_FROM_GUEST documents its own purpose, and individual lines can be added or removed without recreating the whole list.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Standard ACL: Command Format in Detail</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ACL SYNTAX</a:t>
            </a:r>
          </a:p>
        </p:txBody>
      </p:sp>
      <p:sp>
        <p:nvSpPr>
          <p:cNvPr id="4" name="Rounded Rectangle 3"/>
          <p:cNvSpPr/>
          <p:nvPr/>
        </p:nvSpPr>
        <p:spPr>
          <a:xfrm>
            <a:off x="548640" y="1774770"/>
            <a:ext cx="11064240" cy="562356"/>
          </a:xfrm>
          <a:prstGeom prst="roundRect">
            <a:avLst/>
          </a:prstGeom>
          <a:solidFill>
            <a:srgbClr val="F2F4F7"/>
          </a:solidFill>
          <a:ln w="9525">
            <a:solidFill>
              <a:srgbClr val="6B7682"/>
            </a:solidFill>
          </a:ln>
          <a:effectLst/>
        </p:spPr>
        <p:style>
          <a:lnRef idx="1">
            <a:schemeClr val="accent1"/>
          </a:lnRef>
          <a:fillRef idx="3">
            <a:schemeClr val="accent1"/>
          </a:fillRef>
          <a:effectRef idx="2">
            <a:schemeClr val="accent1"/>
          </a:effectRef>
          <a:fontRef idx="minor">
            <a:schemeClr val="lt1"/>
          </a:fontRef>
        </p:style>
        <p:txBody>
          <a:bodyPr wrap="square" lIns="182880" tIns="137160" bIns="137160" rtlCol="0" anchor="ctr"/>
          <a:lstStyle/>
          <a:p>
            <a:pPr algn="l">
              <a:spcAft>
                <a:spcPts val="200"/>
              </a:spcAft>
            </a:pPr>
            <a:r>
              <a:rPr sz="1400" b="0" i="0" dirty="0">
                <a:solidFill>
                  <a:srgbClr val="222A33"/>
                </a:solidFill>
                <a:latin typeface="Consolas"/>
              </a:rPr>
              <a:t>access-list {1-99 | 1300-1999} {permit | deny} {source} [source-wildcard] [log]</a:t>
            </a:r>
          </a:p>
        </p:txBody>
      </p:sp>
      <p:sp>
        <p:nvSpPr>
          <p:cNvPr id="5" name="TextBox 4"/>
          <p:cNvSpPr txBox="1"/>
          <p:nvPr/>
        </p:nvSpPr>
        <p:spPr>
          <a:xfrm>
            <a:off x="548640" y="2423160"/>
            <a:ext cx="11064240" cy="2286000"/>
          </a:xfrm>
          <a:prstGeom prst="rect">
            <a:avLst/>
          </a:prstGeom>
          <a:noFill/>
        </p:spPr>
        <p:txBody>
          <a:bodyPr wrap="square">
            <a:spAutoFit/>
          </a:bodyPr>
          <a:lstStyle/>
          <a:p>
            <a:pPr marL="201168" indent="-201168">
              <a:spcAft>
                <a:spcPts val="800"/>
              </a:spcAft>
              <a:buFont typeface="Arial"/>
              <a:buChar char="–"/>
            </a:pPr>
            <a:r>
              <a:rPr sz="1350" b="0" i="0">
                <a:solidFill>
                  <a:srgbClr val="222A33"/>
                </a:solidFill>
                <a:latin typeface="Calibri"/>
              </a:rPr>
              <a:t>Number: 1 to 99, or the expanded range 1300 to 1999. This is what tells the router the list is a Standard ACL.</a:t>
            </a:r>
          </a:p>
          <a:p>
            <a:pPr marL="201168" indent="-201168">
              <a:spcAft>
                <a:spcPts val="800"/>
              </a:spcAft>
              <a:buFont typeface="Arial"/>
              <a:buChar char="–"/>
            </a:pPr>
            <a:r>
              <a:rPr sz="1350" b="0" i="0">
                <a:solidFill>
                  <a:srgbClr val="222A33"/>
                </a:solidFill>
                <a:latin typeface="Calibri"/>
              </a:rPr>
              <a:t>permit or deny: the action taken when a packet matches this line.</a:t>
            </a:r>
          </a:p>
          <a:p>
            <a:pPr marL="201168" indent="-201168">
              <a:spcAft>
                <a:spcPts val="800"/>
              </a:spcAft>
              <a:buFont typeface="Arial"/>
              <a:buChar char="–"/>
            </a:pPr>
            <a:r>
              <a:rPr sz="1350" b="0" i="0">
                <a:solidFill>
                  <a:srgbClr val="222A33"/>
                </a:solidFill>
                <a:latin typeface="Calibri"/>
              </a:rPr>
              <a:t>Source: the address to match. This can be a specific host, a network combined with a wildcard mask, or the keyword any to match every address.</a:t>
            </a:r>
          </a:p>
          <a:p>
            <a:pPr marL="201168" indent="-201168">
              <a:spcAft>
                <a:spcPts val="800"/>
              </a:spcAft>
              <a:buFont typeface="Arial"/>
              <a:buChar char="–"/>
            </a:pPr>
            <a:r>
              <a:rPr sz="1350" b="0" i="0">
                <a:solidFill>
                  <a:srgbClr val="222A33"/>
                </a:solidFill>
                <a:latin typeface="Calibri"/>
              </a:rPr>
              <a:t>Source wildcard: the inverse of a subnet mask, marking which bits must match exactly (0) and which can be anything (1). The keyword host is shorthand for a wildcard of 0.0.0.0, an exact single-address match.</a:t>
            </a:r>
          </a:p>
          <a:p>
            <a:pPr marL="201168" indent="-201168">
              <a:spcAft>
                <a:spcPts val="800"/>
              </a:spcAft>
              <a:buFont typeface="Arial"/>
              <a:buChar char="–"/>
            </a:pPr>
            <a:r>
              <a:rPr sz="1350" b="0" i="0">
                <a:solidFill>
                  <a:srgbClr val="222A33"/>
                </a:solidFill>
                <a:latin typeface="Calibri"/>
              </a:rPr>
              <a:t>log (optional): records a message whenever this line is matched, useful for monitoring without changing the action taken.</a:t>
            </a:r>
          </a:p>
        </p:txBody>
      </p:sp>
      <p:sp>
        <p:nvSpPr>
          <p:cNvPr id="6" name="Rounded Rectangle 5"/>
          <p:cNvSpPr/>
          <p:nvPr/>
        </p:nvSpPr>
        <p:spPr>
          <a:xfrm>
            <a:off x="548640" y="4800600"/>
            <a:ext cx="11064240" cy="809244"/>
          </a:xfrm>
          <a:prstGeom prst="roundRect">
            <a:avLst/>
          </a:prstGeom>
          <a:solidFill>
            <a:srgbClr val="EAF2EA"/>
          </a:solidFill>
          <a:ln w="9525">
            <a:solidFill>
              <a:srgbClr val="6B7682"/>
            </a:solidFill>
          </a:ln>
          <a:effectLst/>
        </p:spPr>
        <p:style>
          <a:lnRef idx="1">
            <a:schemeClr val="accent1"/>
          </a:lnRef>
          <a:fillRef idx="3">
            <a:schemeClr val="accent1"/>
          </a:fillRef>
          <a:effectRef idx="2">
            <a:schemeClr val="accent1"/>
          </a:effectRef>
          <a:fontRef idx="minor">
            <a:schemeClr val="lt1"/>
          </a:fontRef>
        </p:style>
        <p:txBody>
          <a:bodyPr wrap="square" lIns="182880" tIns="137160" bIns="137160" rtlCol="0" anchor="ctr"/>
          <a:lstStyle/>
          <a:p>
            <a:pPr algn="l">
              <a:spcAft>
                <a:spcPts val="200"/>
              </a:spcAft>
            </a:pPr>
            <a:r>
              <a:rPr sz="1300" b="0" i="0">
                <a:solidFill>
                  <a:srgbClr val="222A33"/>
                </a:solidFill>
                <a:latin typeface="Consolas"/>
              </a:rPr>
              <a:t>Example: access-list 10 permit 192.168.100.0 0.0.0.31</a:t>
            </a:r>
          </a:p>
          <a:p>
            <a:pPr algn="l">
              <a:spcAft>
                <a:spcPts val="200"/>
              </a:spcAft>
            </a:pPr>
            <a:r>
              <a:rPr sz="1300" b="0" i="0">
                <a:solidFill>
                  <a:srgbClr val="222A33"/>
                </a:solidFill>
                <a:latin typeface="Consolas"/>
              </a:rPr>
              <a:t>Example: access-list 10 permit host 192.168.100.5</a:t>
            </a:r>
          </a:p>
        </p:txBody>
      </p:sp>
      <p:sp>
        <p:nvSpPr>
          <p:cNvPr id="7" name="TextBox 6"/>
          <p:cNvSpPr txBox="1"/>
          <p:nvPr/>
        </p:nvSpPr>
        <p:spPr>
          <a:xfrm>
            <a:off x="548640" y="5623560"/>
            <a:ext cx="11064240" cy="457200"/>
          </a:xfrm>
          <a:prstGeom prst="rect">
            <a:avLst/>
          </a:prstGeom>
          <a:noFill/>
        </p:spPr>
        <p:txBody>
          <a:bodyPr wrap="square">
            <a:spAutoFit/>
          </a:bodyPr>
          <a:lstStyle/>
          <a:p>
            <a:pPr marL="201168" indent="-201168">
              <a:spcAft>
                <a:spcPts val="800"/>
              </a:spcAft>
              <a:buFont typeface="Arial"/>
              <a:buChar char="–"/>
            </a:pPr>
            <a:r>
              <a:rPr sz="1300" b="0" i="0">
                <a:solidFill>
                  <a:srgbClr val="222A33"/>
                </a:solidFill>
                <a:latin typeface="Calibri"/>
              </a:rPr>
              <a:t>Applied to an interface the same way as any ACL: interface GigabitEthernet0/0, then ip access-group 10 out.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Extended ACL: Command Format in Detail</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ACL SYNTAX</a:t>
            </a:r>
          </a:p>
        </p:txBody>
      </p:sp>
      <p:sp>
        <p:nvSpPr>
          <p:cNvPr id="4" name="Rounded Rectangle 3"/>
          <p:cNvSpPr/>
          <p:nvPr/>
        </p:nvSpPr>
        <p:spPr>
          <a:xfrm>
            <a:off x="548640" y="1760915"/>
            <a:ext cx="11064240" cy="1107564"/>
          </a:xfrm>
          <a:prstGeom prst="roundRect">
            <a:avLst/>
          </a:prstGeom>
          <a:solidFill>
            <a:srgbClr val="F2F4F7"/>
          </a:solidFill>
          <a:ln w="9525">
            <a:solidFill>
              <a:srgbClr val="6B7682"/>
            </a:solidFill>
          </a:ln>
          <a:effectLst/>
        </p:spPr>
        <p:style>
          <a:lnRef idx="1">
            <a:schemeClr val="accent1"/>
          </a:lnRef>
          <a:fillRef idx="3">
            <a:schemeClr val="accent1"/>
          </a:fillRef>
          <a:effectRef idx="2">
            <a:schemeClr val="accent1"/>
          </a:effectRef>
          <a:fontRef idx="minor">
            <a:schemeClr val="lt1"/>
          </a:fontRef>
        </p:style>
        <p:txBody>
          <a:bodyPr wrap="square" lIns="182880" tIns="137160" bIns="137160" rtlCol="0" anchor="ctr"/>
          <a:lstStyle/>
          <a:p>
            <a:pPr algn="l">
              <a:spcAft>
                <a:spcPts val="200"/>
              </a:spcAft>
            </a:pPr>
            <a:r>
              <a:rPr sz="1350" b="0" i="0">
                <a:solidFill>
                  <a:srgbClr val="222A33"/>
                </a:solidFill>
                <a:latin typeface="Consolas"/>
              </a:rPr>
              <a:t>access-list {100-199 | 2000-2699} {permit | deny} {protocol}</a:t>
            </a:r>
          </a:p>
          <a:p>
            <a:pPr algn="l">
              <a:spcAft>
                <a:spcPts val="200"/>
              </a:spcAft>
            </a:pPr>
            <a:r>
              <a:rPr sz="1350" b="0" i="0">
                <a:solidFill>
                  <a:srgbClr val="222A33"/>
                </a:solidFill>
                <a:latin typeface="Consolas"/>
              </a:rPr>
              <a:t>  {source} [source-wildcard] [operator port]</a:t>
            </a:r>
          </a:p>
          <a:p>
            <a:pPr algn="l">
              <a:spcAft>
                <a:spcPts val="200"/>
              </a:spcAft>
            </a:pPr>
            <a:r>
              <a:rPr sz="1350" b="0" i="0">
                <a:solidFill>
                  <a:srgbClr val="222A33"/>
                </a:solidFill>
                <a:latin typeface="Consolas"/>
              </a:rPr>
              <a:t>  {destination} [destination-wildcard] [operator port] [established] [log]</a:t>
            </a:r>
          </a:p>
        </p:txBody>
      </p:sp>
      <p:sp>
        <p:nvSpPr>
          <p:cNvPr id="5" name="TextBox 4"/>
          <p:cNvSpPr txBox="1"/>
          <p:nvPr/>
        </p:nvSpPr>
        <p:spPr>
          <a:xfrm>
            <a:off x="548640" y="2880360"/>
            <a:ext cx="11064240" cy="2286000"/>
          </a:xfrm>
          <a:prstGeom prst="rect">
            <a:avLst/>
          </a:prstGeom>
          <a:noFill/>
        </p:spPr>
        <p:txBody>
          <a:bodyPr wrap="square">
            <a:spAutoFit/>
          </a:bodyPr>
          <a:lstStyle/>
          <a:p>
            <a:pPr marL="201168" indent="-201168">
              <a:spcAft>
                <a:spcPts val="800"/>
              </a:spcAft>
              <a:buFont typeface="Arial"/>
              <a:buChar char="–"/>
            </a:pPr>
            <a:r>
              <a:rPr sz="1300" b="0" i="0">
                <a:solidFill>
                  <a:srgbClr val="222A33"/>
                </a:solidFill>
                <a:latin typeface="Calibri"/>
              </a:rPr>
              <a:t>Number: 100 to 199, or the expanded range 2000 to 2699, identifying this as an Extended ACL.</a:t>
            </a:r>
          </a:p>
          <a:p>
            <a:pPr marL="201168" indent="-201168">
              <a:spcAft>
                <a:spcPts val="800"/>
              </a:spcAft>
              <a:buFont typeface="Arial"/>
              <a:buChar char="–"/>
            </a:pPr>
            <a:r>
              <a:rPr sz="1300" b="0" i="0">
                <a:solidFill>
                  <a:srgbClr val="222A33"/>
                </a:solidFill>
                <a:latin typeface="Calibri"/>
              </a:rPr>
              <a:t>Protocol: ip for all traffic, or a specific protocol such as tcp, udp, or icmp. Port matching only applies when the protocol is tcp or udp.</a:t>
            </a:r>
          </a:p>
          <a:p>
            <a:pPr marL="201168" indent="-201168">
              <a:spcAft>
                <a:spcPts val="800"/>
              </a:spcAft>
              <a:buFont typeface="Arial"/>
              <a:buChar char="–"/>
            </a:pPr>
            <a:r>
              <a:rPr sz="1300" b="0" i="0">
                <a:solidFill>
                  <a:srgbClr val="222A33"/>
                </a:solidFill>
                <a:latin typeface="Calibri"/>
              </a:rPr>
              <a:t>Source and destination: each specified the same way as a Standard ACL, host, network plus wildcard, or any, but here both ends of the conversation are matched, not just the source.</a:t>
            </a:r>
          </a:p>
          <a:p>
            <a:pPr marL="201168" indent="-201168">
              <a:spcAft>
                <a:spcPts val="800"/>
              </a:spcAft>
              <a:buFont typeface="Arial"/>
              <a:buChar char="–"/>
            </a:pPr>
            <a:r>
              <a:rPr sz="1300" b="0" i="0">
                <a:solidFill>
                  <a:srgbClr val="222A33"/>
                </a:solidFill>
                <a:latin typeface="Calibri"/>
              </a:rPr>
              <a:t>Operator port: an optional comparison (eq, gt, lt, neq, or range) followed by a port number or name, applied separately to source and destination.</a:t>
            </a:r>
          </a:p>
          <a:p>
            <a:pPr marL="201168" indent="-201168">
              <a:spcAft>
                <a:spcPts val="800"/>
              </a:spcAft>
              <a:buFont typeface="Arial"/>
              <a:buChar char="–"/>
            </a:pPr>
            <a:r>
              <a:rPr sz="1300" b="0" i="0">
                <a:solidFill>
                  <a:srgbClr val="222A33"/>
                </a:solidFill>
                <a:latin typeface="Calibri"/>
              </a:rPr>
              <a:t>established (TCP only, optional): matches only packets that are part of an already-established session, meaning the ACK or RST flag is set. This directly reflects Week 6's TCP handshake: a fresh SYN with no ACK will not match this keyword.</a:t>
            </a:r>
          </a:p>
        </p:txBody>
      </p:sp>
      <p:sp>
        <p:nvSpPr>
          <p:cNvPr id="6" name="Rounded Rectangle 5"/>
          <p:cNvSpPr/>
          <p:nvPr/>
        </p:nvSpPr>
        <p:spPr>
          <a:xfrm>
            <a:off x="548640" y="5257800"/>
            <a:ext cx="11064240" cy="541782"/>
          </a:xfrm>
          <a:prstGeom prst="roundRect">
            <a:avLst/>
          </a:prstGeom>
          <a:solidFill>
            <a:srgbClr val="EAF2EA"/>
          </a:solidFill>
          <a:ln w="9525">
            <a:solidFill>
              <a:srgbClr val="6B7682"/>
            </a:solidFill>
          </a:ln>
          <a:effectLst/>
        </p:spPr>
        <p:style>
          <a:lnRef idx="1">
            <a:schemeClr val="accent1"/>
          </a:lnRef>
          <a:fillRef idx="3">
            <a:schemeClr val="accent1"/>
          </a:fillRef>
          <a:effectRef idx="2">
            <a:schemeClr val="accent1"/>
          </a:effectRef>
          <a:fontRef idx="minor">
            <a:schemeClr val="lt1"/>
          </a:fontRef>
        </p:style>
        <p:txBody>
          <a:bodyPr wrap="square" lIns="182880" tIns="137160" bIns="137160" rtlCol="0" anchor="ctr"/>
          <a:lstStyle/>
          <a:p>
            <a:pPr algn="l">
              <a:spcAft>
                <a:spcPts val="200"/>
              </a:spcAft>
            </a:pPr>
            <a:r>
              <a:rPr sz="1300" b="0" i="0">
                <a:solidFill>
                  <a:srgbClr val="222A33"/>
                </a:solidFill>
                <a:latin typeface="Consolas"/>
              </a:rPr>
              <a:t>Example: access-list 101 deny tcp 192.168.10.0 0.0.0.255 host 192.168.20.5 eq 23</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Named ACL: Command Format in Detail</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ACL SYNTAX</a:t>
            </a:r>
          </a:p>
        </p:txBody>
      </p:sp>
      <p:sp>
        <p:nvSpPr>
          <p:cNvPr id="4" name="Rounded Rectangle 3"/>
          <p:cNvSpPr/>
          <p:nvPr/>
        </p:nvSpPr>
        <p:spPr>
          <a:xfrm>
            <a:off x="548640" y="1778925"/>
            <a:ext cx="11064240" cy="1107564"/>
          </a:xfrm>
          <a:prstGeom prst="roundRect">
            <a:avLst/>
          </a:prstGeom>
          <a:solidFill>
            <a:srgbClr val="F2F4F7"/>
          </a:solidFill>
          <a:ln w="9525">
            <a:solidFill>
              <a:srgbClr val="6B7682"/>
            </a:solidFill>
          </a:ln>
          <a:effectLst/>
        </p:spPr>
        <p:style>
          <a:lnRef idx="1">
            <a:schemeClr val="accent1"/>
          </a:lnRef>
          <a:fillRef idx="3">
            <a:schemeClr val="accent1"/>
          </a:fillRef>
          <a:effectRef idx="2">
            <a:schemeClr val="accent1"/>
          </a:effectRef>
          <a:fontRef idx="minor">
            <a:schemeClr val="lt1"/>
          </a:fontRef>
        </p:style>
        <p:txBody>
          <a:bodyPr wrap="square" lIns="182880" tIns="137160" bIns="137160" rtlCol="0" anchor="ctr"/>
          <a:lstStyle/>
          <a:p>
            <a:pPr algn="l">
              <a:spcAft>
                <a:spcPts val="200"/>
              </a:spcAft>
            </a:pPr>
            <a:r>
              <a:rPr sz="1350" b="0" i="0" dirty="0" err="1">
                <a:solidFill>
                  <a:srgbClr val="222A33"/>
                </a:solidFill>
                <a:latin typeface="Consolas"/>
              </a:rPr>
              <a:t>ip</a:t>
            </a:r>
            <a:r>
              <a:rPr sz="1350" b="0" i="0" dirty="0">
                <a:solidFill>
                  <a:srgbClr val="222A33"/>
                </a:solidFill>
                <a:latin typeface="Consolas"/>
              </a:rPr>
              <a:t> access-list {standard | extended} {name}</a:t>
            </a:r>
          </a:p>
          <a:p>
            <a:pPr algn="l">
              <a:spcAft>
                <a:spcPts val="200"/>
              </a:spcAft>
            </a:pPr>
            <a:r>
              <a:rPr sz="1350" b="0" i="0" dirty="0">
                <a:solidFill>
                  <a:srgbClr val="222A33"/>
                </a:solidFill>
                <a:latin typeface="Consolas"/>
              </a:rPr>
              <a:t>  [sequence-number] {permit | deny} { ...rest is identical to the matching</a:t>
            </a:r>
          </a:p>
          <a:p>
            <a:pPr algn="l">
              <a:spcAft>
                <a:spcPts val="200"/>
              </a:spcAft>
            </a:pPr>
            <a:r>
              <a:rPr sz="1350" b="0" i="0" dirty="0">
                <a:solidFill>
                  <a:srgbClr val="222A33"/>
                </a:solidFill>
                <a:latin typeface="Consolas"/>
              </a:rPr>
              <a:t>     Standard or Extended syntax above, just without repeating the name... }</a:t>
            </a:r>
          </a:p>
        </p:txBody>
      </p:sp>
      <p:sp>
        <p:nvSpPr>
          <p:cNvPr id="5" name="TextBox 4"/>
          <p:cNvSpPr txBox="1"/>
          <p:nvPr/>
        </p:nvSpPr>
        <p:spPr>
          <a:xfrm>
            <a:off x="548640" y="2926080"/>
            <a:ext cx="11064240" cy="1920240"/>
          </a:xfrm>
          <a:prstGeom prst="rect">
            <a:avLst/>
          </a:prstGeom>
          <a:noFill/>
        </p:spPr>
        <p:txBody>
          <a:bodyPr wrap="square">
            <a:spAutoFit/>
          </a:bodyPr>
          <a:lstStyle/>
          <a:p>
            <a:pPr marL="201168" indent="-201168">
              <a:spcAft>
                <a:spcPts val="800"/>
              </a:spcAft>
              <a:buFont typeface="Arial"/>
              <a:buChar char="–"/>
            </a:pPr>
            <a:r>
              <a:rPr sz="1300" b="0" i="0">
                <a:solidFill>
                  <a:srgbClr val="222A33"/>
                </a:solidFill>
                <a:latin typeface="Calibri"/>
              </a:rPr>
              <a:t>The first line enters a dedicated configuration sub-mode for that one list, rather than repeating access-list and a number on every line.</a:t>
            </a:r>
          </a:p>
          <a:p>
            <a:pPr marL="201168" indent="-201168">
              <a:spcAft>
                <a:spcPts val="800"/>
              </a:spcAft>
              <a:buFont typeface="Arial"/>
              <a:buChar char="–"/>
            </a:pPr>
            <a:r>
              <a:rPr sz="1300" b="0" i="0">
                <a:solidFill>
                  <a:srgbClr val="222A33"/>
                </a:solidFill>
                <a:latin typeface="Calibri"/>
              </a:rPr>
              <a:t>Inside that sub-mode, every subsequent line is just permit or deny, matched exactly like the Standard or Extended syntax already covered, since a Named ACL is either type underneath, never a third kind of matching logic.</a:t>
            </a:r>
          </a:p>
          <a:p>
            <a:pPr marL="201168" indent="-201168">
              <a:spcAft>
                <a:spcPts val="800"/>
              </a:spcAft>
              <a:buFont typeface="Arial"/>
              <a:buChar char="–"/>
            </a:pPr>
            <a:r>
              <a:rPr sz="1300" b="0" i="0">
                <a:solidFill>
                  <a:srgbClr val="222A33"/>
                </a:solidFill>
                <a:latin typeface="Calibri"/>
              </a:rPr>
              <a:t>An optional sequence number at the start of a line (for example 10, 20, 30) lets you insert a new line at a specific position later, without deleting and retyping the whole list.</a:t>
            </a:r>
          </a:p>
          <a:p>
            <a:pPr marL="201168" indent="-201168">
              <a:spcAft>
                <a:spcPts val="800"/>
              </a:spcAft>
              <a:buFont typeface="Arial"/>
              <a:buChar char="–"/>
            </a:pPr>
            <a:r>
              <a:rPr sz="1300" b="0" i="0">
                <a:solidFill>
                  <a:srgbClr val="222A33"/>
                </a:solidFill>
                <a:latin typeface="Calibri"/>
              </a:rPr>
              <a:t>The name itself must start with a letter, cannot contain spaces, is case-sensitive, and must be unique among all ACLs of that same type.</a:t>
            </a:r>
          </a:p>
        </p:txBody>
      </p:sp>
      <p:sp>
        <p:nvSpPr>
          <p:cNvPr id="6" name="Rounded Rectangle 5"/>
          <p:cNvSpPr/>
          <p:nvPr/>
        </p:nvSpPr>
        <p:spPr>
          <a:xfrm>
            <a:off x="548640" y="4937760"/>
            <a:ext cx="11064240" cy="1014984"/>
          </a:xfrm>
          <a:prstGeom prst="roundRect">
            <a:avLst/>
          </a:prstGeom>
          <a:solidFill>
            <a:srgbClr val="EAF2EA"/>
          </a:solidFill>
          <a:ln w="9525">
            <a:solidFill>
              <a:srgbClr val="6B7682"/>
            </a:solidFill>
          </a:ln>
          <a:effectLst/>
        </p:spPr>
        <p:style>
          <a:lnRef idx="1">
            <a:schemeClr val="accent1"/>
          </a:lnRef>
          <a:fillRef idx="3">
            <a:schemeClr val="accent1"/>
          </a:fillRef>
          <a:effectRef idx="2">
            <a:schemeClr val="accent1"/>
          </a:effectRef>
          <a:fontRef idx="minor">
            <a:schemeClr val="lt1"/>
          </a:fontRef>
        </p:style>
        <p:txBody>
          <a:bodyPr wrap="square" lIns="182880" tIns="137160" bIns="137160" rtlCol="0" anchor="ctr"/>
          <a:lstStyle/>
          <a:p>
            <a:pPr algn="l">
              <a:spcAft>
                <a:spcPts val="200"/>
              </a:spcAft>
            </a:pPr>
            <a:r>
              <a:rPr sz="1200" b="0" i="0">
                <a:solidFill>
                  <a:srgbClr val="222A33"/>
                </a:solidFill>
                <a:latin typeface="Consolas"/>
              </a:rPr>
              <a:t>Example: ip access-list extended BLOCK_TELNET_TO_SERVER</a:t>
            </a:r>
          </a:p>
          <a:p>
            <a:pPr algn="l">
              <a:spcAft>
                <a:spcPts val="200"/>
              </a:spcAft>
            </a:pPr>
            <a:r>
              <a:rPr sz="1200" b="0" i="0">
                <a:solidFill>
                  <a:srgbClr val="222A33"/>
                </a:solidFill>
                <a:latin typeface="Consolas"/>
              </a:rPr>
              <a:t>  10 deny tcp 192.168.10.0 0.0.0.255 host 192.168.20.5 eq 23</a:t>
            </a:r>
          </a:p>
          <a:p>
            <a:pPr algn="l">
              <a:spcAft>
                <a:spcPts val="200"/>
              </a:spcAft>
            </a:pPr>
            <a:r>
              <a:rPr sz="1200" b="0" i="0">
                <a:solidFill>
                  <a:srgbClr val="222A33"/>
                </a:solidFill>
                <a:latin typeface="Consolas"/>
              </a:rPr>
              <a:t>  20 permit ip any any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ACL Placement Rules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ACLS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Standard ACL: place it close to the destination. Since it can only filter by source address, placing it near the destination avoids accidentally blocking that source's traffic to other, unintended destinations elsewhere in the network.</a:t>
            </a:r>
          </a:p>
          <a:p>
            <a:pPr marL="201168" indent="-201168">
              <a:spcAft>
                <a:spcPts val="1100"/>
              </a:spcAft>
              <a:buFont typeface="Arial"/>
              <a:buChar char="–"/>
            </a:pPr>
            <a:r>
              <a:rPr sz="1600" b="0" i="0">
                <a:solidFill>
                  <a:srgbClr val="222A33"/>
                </a:solidFill>
                <a:latin typeface="Calibri"/>
              </a:rPr>
              <a:t>Extended ACL: place it close to the source. Since it can already match precisely on destination, protocol, and port, there's no benefit to letting unwanted traffic travel further into the network first. Stop it as early as possible instead.</a:t>
            </a:r>
          </a:p>
          <a:p>
            <a:pPr marL="201168" indent="-201168">
              <a:spcAft>
                <a:spcPts val="1100"/>
              </a:spcAft>
              <a:buFont typeface="Arial"/>
              <a:buChar char="–"/>
            </a:pPr>
            <a:r>
              <a:rPr sz="1600" b="0" i="0">
                <a:solidFill>
                  <a:srgbClr val="222A33"/>
                </a:solidFill>
                <a:latin typeface="Calibri"/>
              </a:rPr>
              <a:t>This connects directly back to the placement architectures you just saw: deciding where a firewall or router sits in the topology, and deciding where within that device's interfaces to apply a specific ACL, are both the same underlying question. Match traffic as early and as precisely as the tool allows, without over-blocking.</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Worked Example: Extended ACL</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CONFIGURATION</a:t>
            </a:r>
          </a:p>
        </p:txBody>
      </p:sp>
      <p:sp>
        <p:nvSpPr>
          <p:cNvPr id="4" name="TextBox 3"/>
          <p:cNvSpPr txBox="1"/>
          <p:nvPr/>
        </p:nvSpPr>
        <p:spPr>
          <a:xfrm>
            <a:off x="731520" y="1783080"/>
            <a:ext cx="10698480" cy="640080"/>
          </a:xfrm>
          <a:prstGeom prst="rect">
            <a:avLst/>
          </a:prstGeom>
          <a:noFill/>
        </p:spPr>
        <p:txBody>
          <a:bodyPr wrap="square">
            <a:spAutoFit/>
          </a:bodyPr>
          <a:lstStyle/>
          <a:p>
            <a:pPr marL="201168" indent="-201168">
              <a:spcAft>
                <a:spcPts val="1100"/>
              </a:spcAft>
              <a:buFont typeface="Arial"/>
              <a:buChar char="–"/>
            </a:pPr>
            <a:r>
              <a:rPr sz="1500" b="0" i="0">
                <a:solidFill>
                  <a:srgbClr val="222A33"/>
                </a:solidFill>
                <a:latin typeface="Calibri"/>
              </a:rPr>
              <a:t>Scenario: block Telnet (port 23) from the 192.168.10.0/24 subnet to a specific server at 192.168.20.5, while permitting everything else.</a:t>
            </a:r>
          </a:p>
        </p:txBody>
      </p:sp>
      <p:sp>
        <p:nvSpPr>
          <p:cNvPr id="5" name="TextBox 4"/>
          <p:cNvSpPr txBox="1"/>
          <p:nvPr/>
        </p:nvSpPr>
        <p:spPr>
          <a:xfrm>
            <a:off x="731520" y="2514600"/>
            <a:ext cx="10698480" cy="1463040"/>
          </a:xfrm>
          <a:prstGeom prst="rect">
            <a:avLst/>
          </a:prstGeom>
          <a:noFill/>
        </p:spPr>
        <p:txBody>
          <a:bodyPr wrap="square">
            <a:spAutoFit/>
          </a:bodyPr>
          <a:lstStyle/>
          <a:p>
            <a:pPr>
              <a:spcAft>
                <a:spcPts val="200"/>
              </a:spcAft>
            </a:pPr>
            <a:r>
              <a:rPr sz="1400" b="0" i="0">
                <a:solidFill>
                  <a:srgbClr val="222A33"/>
                </a:solidFill>
                <a:latin typeface="Consolas"/>
              </a:rPr>
              <a:t>access-list 101 deny tcp 192.168.10.0 0.0.0.255 host 192.168.20.5 eq 23</a:t>
            </a:r>
          </a:p>
          <a:p>
            <a:pPr>
              <a:spcAft>
                <a:spcPts val="200"/>
              </a:spcAft>
            </a:pPr>
            <a:r>
              <a:rPr sz="1400" b="0" i="0">
                <a:solidFill>
                  <a:srgbClr val="222A33"/>
                </a:solidFill>
                <a:latin typeface="Consolas"/>
              </a:rPr>
              <a:t>access-list 101 permit ip any any</a:t>
            </a:r>
          </a:p>
          <a:p>
            <a:pPr>
              <a:spcAft>
                <a:spcPts val="200"/>
              </a:spcAft>
            </a:pPr>
            <a:r>
              <a:rPr sz="1400" b="0" i="0">
                <a:solidFill>
                  <a:srgbClr val="222A33"/>
                </a:solidFill>
                <a:latin typeface="Consolas"/>
              </a:rPr>
              <a:t>interface GigabitEthernet0/1</a:t>
            </a:r>
          </a:p>
          <a:p>
            <a:pPr>
              <a:spcAft>
                <a:spcPts val="200"/>
              </a:spcAft>
            </a:pPr>
            <a:r>
              <a:rPr sz="1400" b="0" i="0">
                <a:solidFill>
                  <a:srgbClr val="222A33"/>
                </a:solidFill>
                <a:latin typeface="Consolas"/>
              </a:rPr>
              <a:t> ip access-group 101 in</a:t>
            </a:r>
          </a:p>
        </p:txBody>
      </p:sp>
      <p:sp>
        <p:nvSpPr>
          <p:cNvPr id="6" name="TextBox 5"/>
          <p:cNvSpPr txBox="1"/>
          <p:nvPr/>
        </p:nvSpPr>
        <p:spPr>
          <a:xfrm>
            <a:off x="731520" y="4114800"/>
            <a:ext cx="10698480" cy="1737360"/>
          </a:xfrm>
          <a:prstGeom prst="rect">
            <a:avLst/>
          </a:prstGeom>
          <a:noFill/>
        </p:spPr>
        <p:txBody>
          <a:bodyPr wrap="square">
            <a:spAutoFit/>
          </a:bodyPr>
          <a:lstStyle/>
          <a:p>
            <a:pPr marL="201168" indent="-201168">
              <a:spcAft>
                <a:spcPts val="1100"/>
              </a:spcAft>
              <a:buFont typeface="Arial"/>
              <a:buChar char="–"/>
            </a:pPr>
            <a:r>
              <a:rPr sz="1400" b="0" i="0">
                <a:solidFill>
                  <a:srgbClr val="222A33"/>
                </a:solidFill>
                <a:latin typeface="Calibri"/>
              </a:rPr>
              <a:t>Applied close to the source (the 192.168.10.0/24 subnet's own gateway interface), exactly matching the Extended ACL placement rule from the previous slide.</a:t>
            </a:r>
          </a:p>
          <a:p>
            <a:pPr marL="201168" indent="-201168">
              <a:spcAft>
                <a:spcPts val="1100"/>
              </a:spcAft>
              <a:buFont typeface="Arial"/>
              <a:buChar char="–"/>
            </a:pPr>
            <a:r>
              <a:rPr sz="1400" b="0" i="0">
                <a:solidFill>
                  <a:srgbClr val="222A33"/>
                </a:solidFill>
                <a:latin typeface="Calibri"/>
              </a:rPr>
              <a:t>The explicit permit ip any any at the end matters. Without it, the ACL's implicit deny would silently block every other kind of traffic too, not just Telnet.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Worked Example: Named ACL (Same Policy, Named Style)</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CONFIGURATION</a:t>
            </a:r>
          </a:p>
        </p:txBody>
      </p:sp>
      <p:sp>
        <p:nvSpPr>
          <p:cNvPr id="4" name="TextBox 3"/>
          <p:cNvSpPr txBox="1"/>
          <p:nvPr/>
        </p:nvSpPr>
        <p:spPr>
          <a:xfrm>
            <a:off x="731520" y="1920240"/>
            <a:ext cx="10698480" cy="1783080"/>
          </a:xfrm>
          <a:prstGeom prst="rect">
            <a:avLst/>
          </a:prstGeom>
          <a:noFill/>
        </p:spPr>
        <p:txBody>
          <a:bodyPr wrap="square">
            <a:spAutoFit/>
          </a:bodyPr>
          <a:lstStyle/>
          <a:p>
            <a:pPr>
              <a:spcAft>
                <a:spcPts val="200"/>
              </a:spcAft>
            </a:pPr>
            <a:r>
              <a:rPr sz="1400" b="0" i="0">
                <a:solidFill>
                  <a:srgbClr val="222A33"/>
                </a:solidFill>
                <a:latin typeface="Consolas"/>
              </a:rPr>
              <a:t>ip access-list extended BLOCK_TELNET_TO_SERVER</a:t>
            </a:r>
          </a:p>
          <a:p>
            <a:pPr>
              <a:spcAft>
                <a:spcPts val="200"/>
              </a:spcAft>
            </a:pPr>
            <a:r>
              <a:rPr sz="1400" b="0" i="0">
                <a:solidFill>
                  <a:srgbClr val="222A33"/>
                </a:solidFill>
                <a:latin typeface="Consolas"/>
              </a:rPr>
              <a:t> deny tcp 192.168.10.0 0.0.0.255 host 192.168.20.5 eq 23</a:t>
            </a:r>
          </a:p>
          <a:p>
            <a:pPr>
              <a:spcAft>
                <a:spcPts val="200"/>
              </a:spcAft>
            </a:pPr>
            <a:r>
              <a:rPr sz="1400" b="0" i="0">
                <a:solidFill>
                  <a:srgbClr val="222A33"/>
                </a:solidFill>
                <a:latin typeface="Consolas"/>
              </a:rPr>
              <a:t> permit ip any any</a:t>
            </a:r>
          </a:p>
          <a:p>
            <a:pPr>
              <a:spcAft>
                <a:spcPts val="200"/>
              </a:spcAft>
            </a:pPr>
            <a:r>
              <a:rPr sz="1400" b="0" i="0">
                <a:solidFill>
                  <a:srgbClr val="222A33"/>
                </a:solidFill>
                <a:latin typeface="Consolas"/>
              </a:rPr>
              <a:t>interface GigabitEthernet0/1</a:t>
            </a:r>
          </a:p>
          <a:p>
            <a:pPr>
              <a:spcAft>
                <a:spcPts val="200"/>
              </a:spcAft>
            </a:pPr>
            <a:r>
              <a:rPr sz="1400" b="0" i="0">
                <a:solidFill>
                  <a:srgbClr val="222A33"/>
                </a:solidFill>
                <a:latin typeface="Consolas"/>
              </a:rPr>
              <a:t> ip access-group BLOCK_TELNET_TO_SERVER in</a:t>
            </a:r>
          </a:p>
        </p:txBody>
      </p:sp>
      <p:sp>
        <p:nvSpPr>
          <p:cNvPr id="5" name="TextBox 4"/>
          <p:cNvSpPr txBox="1"/>
          <p:nvPr/>
        </p:nvSpPr>
        <p:spPr>
          <a:xfrm>
            <a:off x="731520" y="3749039"/>
            <a:ext cx="10698480" cy="2011680"/>
          </a:xfrm>
          <a:prstGeom prst="rect">
            <a:avLst/>
          </a:prstGeom>
          <a:noFill/>
        </p:spPr>
        <p:txBody>
          <a:bodyPr wrap="square">
            <a:spAutoFit/>
          </a:bodyPr>
          <a:lstStyle/>
          <a:p>
            <a:pPr marL="201168" indent="-201168">
              <a:spcAft>
                <a:spcPts val="1100"/>
              </a:spcAft>
              <a:buFont typeface="Arial"/>
              <a:buChar char="–"/>
            </a:pPr>
            <a:r>
              <a:rPr sz="1500" b="0" i="0">
                <a:solidFill>
                  <a:srgbClr val="222A33"/>
                </a:solidFill>
                <a:latin typeface="Calibri"/>
              </a:rPr>
              <a:t>Identical behaviour to the numbered version on the previous slide. The only difference is the self-documenting name in place of the number 101.</a:t>
            </a:r>
          </a:p>
          <a:p>
            <a:pPr marL="201168" indent="-201168">
              <a:spcAft>
                <a:spcPts val="1100"/>
              </a:spcAft>
              <a:buFont typeface="Arial"/>
              <a:buChar char="–"/>
            </a:pPr>
            <a:r>
              <a:rPr sz="1500" b="0" i="0">
                <a:solidFill>
                  <a:srgbClr val="222A33"/>
                </a:solidFill>
                <a:latin typeface="Calibri"/>
              </a:rPr>
              <a:t>In modern IOS, a specific line inside this named list can be removed or a new one inserted at a specific sequence number, without deleting and rebuilding the entire list.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ACL Summary</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SUMMARY</a:t>
            </a:r>
          </a:p>
        </p:txBody>
      </p:sp>
      <p:graphicFrame>
        <p:nvGraphicFramePr>
          <p:cNvPr id="4" name="Table 3"/>
          <p:cNvGraphicFramePr>
            <a:graphicFrameLocks noGrp="1"/>
          </p:cNvGraphicFramePr>
          <p:nvPr/>
        </p:nvGraphicFramePr>
        <p:xfrm>
          <a:off x="365760" y="1737360"/>
          <a:ext cx="11430000" cy="310896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3017520">
                  <a:extLst>
                    <a:ext uri="{9D8B030D-6E8A-4147-A177-3AD203B41FA5}">
                      <a16:colId xmlns:a16="http://schemas.microsoft.com/office/drawing/2014/main" val="20003"/>
                    </a:ext>
                  </a:extLst>
                </a:gridCol>
              </a:tblGrid>
              <a:tr h="777240">
                <a:tc>
                  <a:txBody>
                    <a:bodyPr/>
                    <a:lstStyle/>
                    <a:p>
                      <a:r>
                        <a:rPr sz="1300" b="1" i="0">
                          <a:solidFill>
                            <a:srgbClr val="FFFFFF"/>
                          </a:solidFill>
                          <a:latin typeface="Calibri"/>
                        </a:rPr>
                        <a:t>ACL Type</a:t>
                      </a:r>
                    </a:p>
                  </a:txBody>
                  <a:tcPr marL="73152" marR="73152" marT="27432" marB="27432" anchor="ctr">
                    <a:solidFill>
                      <a:srgbClr val="003054"/>
                    </a:solidFill>
                  </a:tcPr>
                </a:tc>
                <a:tc>
                  <a:txBody>
                    <a:bodyPr/>
                    <a:lstStyle/>
                    <a:p>
                      <a:r>
                        <a:rPr sz="1300" b="1" i="0">
                          <a:solidFill>
                            <a:srgbClr val="FFFFFF"/>
                          </a:solidFill>
                          <a:latin typeface="Calibri"/>
                        </a:rPr>
                        <a:t>Filters On</a:t>
                      </a:r>
                    </a:p>
                  </a:txBody>
                  <a:tcPr marL="73152" marR="73152" marT="27432" marB="27432" anchor="ctr">
                    <a:solidFill>
                      <a:srgbClr val="003054"/>
                    </a:solidFill>
                  </a:tcPr>
                </a:tc>
                <a:tc>
                  <a:txBody>
                    <a:bodyPr/>
                    <a:lstStyle/>
                    <a:p>
                      <a:r>
                        <a:rPr sz="1300" b="1" i="0">
                          <a:solidFill>
                            <a:srgbClr val="FFFFFF"/>
                          </a:solidFill>
                          <a:latin typeface="Calibri"/>
                        </a:rPr>
                        <a:t>Number Range</a:t>
                      </a:r>
                    </a:p>
                  </a:txBody>
                  <a:tcPr marL="73152" marR="73152" marT="27432" marB="27432" anchor="ctr">
                    <a:solidFill>
                      <a:srgbClr val="003054"/>
                    </a:solidFill>
                  </a:tcPr>
                </a:tc>
                <a:tc>
                  <a:txBody>
                    <a:bodyPr/>
                    <a:lstStyle/>
                    <a:p>
                      <a:r>
                        <a:rPr sz="1300" b="1" i="0">
                          <a:solidFill>
                            <a:srgbClr val="FFFFFF"/>
                          </a:solidFill>
                          <a:latin typeface="Calibri"/>
                        </a:rPr>
                        <a:t>Best Placement</a:t>
                      </a:r>
                    </a:p>
                  </a:txBody>
                  <a:tcPr marL="73152" marR="73152" marT="27432" marB="27432" anchor="ctr">
                    <a:solidFill>
                      <a:srgbClr val="003054"/>
                    </a:solidFill>
                  </a:tcPr>
                </a:tc>
                <a:extLst>
                  <a:ext uri="{0D108BD9-81ED-4DB2-BD59-A6C34878D82A}">
                    <a16:rowId xmlns:a16="http://schemas.microsoft.com/office/drawing/2014/main" val="10000"/>
                  </a:ext>
                </a:extLst>
              </a:tr>
              <a:tr h="777240">
                <a:tc>
                  <a:txBody>
                    <a:bodyPr/>
                    <a:lstStyle/>
                    <a:p>
                      <a:r>
                        <a:rPr sz="1300" b="0" i="0">
                          <a:solidFill>
                            <a:srgbClr val="222A33"/>
                          </a:solidFill>
                          <a:latin typeface="Calibri"/>
                        </a:rPr>
                        <a:t>Standard</a:t>
                      </a:r>
                    </a:p>
                  </a:txBody>
                  <a:tcPr marL="73152" marR="73152" marT="27432" marB="27432" anchor="ctr">
                    <a:solidFill>
                      <a:srgbClr val="FFFFFF"/>
                    </a:solidFill>
                  </a:tcPr>
                </a:tc>
                <a:tc>
                  <a:txBody>
                    <a:bodyPr/>
                    <a:lstStyle/>
                    <a:p>
                      <a:r>
                        <a:rPr sz="1300" b="0" i="0">
                          <a:solidFill>
                            <a:srgbClr val="222A33"/>
                          </a:solidFill>
                          <a:latin typeface="Calibri"/>
                        </a:rPr>
                        <a:t>Source IP address only</a:t>
                      </a:r>
                    </a:p>
                  </a:txBody>
                  <a:tcPr marL="73152" marR="73152" marT="27432" marB="27432" anchor="ctr">
                    <a:solidFill>
                      <a:srgbClr val="FFFFFF"/>
                    </a:solidFill>
                  </a:tcPr>
                </a:tc>
                <a:tc>
                  <a:txBody>
                    <a:bodyPr/>
                    <a:lstStyle/>
                    <a:p>
                      <a:r>
                        <a:rPr sz="1300" b="0" i="0">
                          <a:solidFill>
                            <a:srgbClr val="222A33"/>
                          </a:solidFill>
                          <a:latin typeface="Calibri"/>
                        </a:rPr>
                        <a:t>1-99, 1300-1999</a:t>
                      </a:r>
                    </a:p>
                  </a:txBody>
                  <a:tcPr marL="73152" marR="73152" marT="27432" marB="27432" anchor="ctr">
                    <a:solidFill>
                      <a:srgbClr val="FFFFFF"/>
                    </a:solidFill>
                  </a:tcPr>
                </a:tc>
                <a:tc>
                  <a:txBody>
                    <a:bodyPr/>
                    <a:lstStyle/>
                    <a:p>
                      <a:r>
                        <a:rPr sz="1300" b="0" i="0">
                          <a:solidFill>
                            <a:srgbClr val="222A33"/>
                          </a:solidFill>
                          <a:latin typeface="Calibri"/>
                        </a:rPr>
                        <a:t>Close to the destination</a:t>
                      </a:r>
                    </a:p>
                  </a:txBody>
                  <a:tcPr marL="73152" marR="73152" marT="27432" marB="27432" anchor="ctr">
                    <a:solidFill>
                      <a:srgbClr val="FFFFFF"/>
                    </a:solidFill>
                  </a:tcPr>
                </a:tc>
                <a:extLst>
                  <a:ext uri="{0D108BD9-81ED-4DB2-BD59-A6C34878D82A}">
                    <a16:rowId xmlns:a16="http://schemas.microsoft.com/office/drawing/2014/main" val="10001"/>
                  </a:ext>
                </a:extLst>
              </a:tr>
              <a:tr h="777240">
                <a:tc>
                  <a:txBody>
                    <a:bodyPr/>
                    <a:lstStyle/>
                    <a:p>
                      <a:r>
                        <a:rPr sz="1300" b="0" i="0">
                          <a:solidFill>
                            <a:srgbClr val="222A33"/>
                          </a:solidFill>
                          <a:latin typeface="Calibri"/>
                        </a:rPr>
                        <a:t>Extended</a:t>
                      </a:r>
                    </a:p>
                  </a:txBody>
                  <a:tcPr marL="73152" marR="73152" marT="27432" marB="27432" anchor="ctr">
                    <a:solidFill>
                      <a:srgbClr val="F2F4F7"/>
                    </a:solidFill>
                  </a:tcPr>
                </a:tc>
                <a:tc>
                  <a:txBody>
                    <a:bodyPr/>
                    <a:lstStyle/>
                    <a:p>
                      <a:r>
                        <a:rPr sz="1300" b="0" i="0">
                          <a:solidFill>
                            <a:srgbClr val="222A33"/>
                          </a:solidFill>
                          <a:latin typeface="Calibri"/>
                        </a:rPr>
                        <a:t>Source/destination IP, protocol, port</a:t>
                      </a:r>
                    </a:p>
                  </a:txBody>
                  <a:tcPr marL="73152" marR="73152" marT="27432" marB="27432" anchor="ctr">
                    <a:solidFill>
                      <a:srgbClr val="F2F4F7"/>
                    </a:solidFill>
                  </a:tcPr>
                </a:tc>
                <a:tc>
                  <a:txBody>
                    <a:bodyPr/>
                    <a:lstStyle/>
                    <a:p>
                      <a:r>
                        <a:rPr sz="1300" b="0" i="0">
                          <a:solidFill>
                            <a:srgbClr val="222A33"/>
                          </a:solidFill>
                          <a:latin typeface="Calibri"/>
                        </a:rPr>
                        <a:t>100-199, 2000-2699</a:t>
                      </a:r>
                    </a:p>
                  </a:txBody>
                  <a:tcPr marL="73152" marR="73152" marT="27432" marB="27432" anchor="ctr">
                    <a:solidFill>
                      <a:srgbClr val="F2F4F7"/>
                    </a:solidFill>
                  </a:tcPr>
                </a:tc>
                <a:tc>
                  <a:txBody>
                    <a:bodyPr/>
                    <a:lstStyle/>
                    <a:p>
                      <a:r>
                        <a:rPr sz="1300" b="0" i="0">
                          <a:solidFill>
                            <a:srgbClr val="222A33"/>
                          </a:solidFill>
                          <a:latin typeface="Calibri"/>
                        </a:rPr>
                        <a:t>Close to the source</a:t>
                      </a:r>
                    </a:p>
                  </a:txBody>
                  <a:tcPr marL="73152" marR="73152" marT="27432" marB="27432" anchor="ctr">
                    <a:solidFill>
                      <a:srgbClr val="F2F4F7"/>
                    </a:solidFill>
                  </a:tcPr>
                </a:tc>
                <a:extLst>
                  <a:ext uri="{0D108BD9-81ED-4DB2-BD59-A6C34878D82A}">
                    <a16:rowId xmlns:a16="http://schemas.microsoft.com/office/drawing/2014/main" val="10002"/>
                  </a:ext>
                </a:extLst>
              </a:tr>
              <a:tr h="777240">
                <a:tc>
                  <a:txBody>
                    <a:bodyPr/>
                    <a:lstStyle/>
                    <a:p>
                      <a:r>
                        <a:rPr sz="1300" b="0" i="0">
                          <a:solidFill>
                            <a:srgbClr val="222A33"/>
                          </a:solidFill>
                          <a:latin typeface="Calibri"/>
                        </a:rPr>
                        <a:t>Named</a:t>
                      </a:r>
                    </a:p>
                  </a:txBody>
                  <a:tcPr marL="73152" marR="73152" marT="27432" marB="27432" anchor="ctr">
                    <a:solidFill>
                      <a:srgbClr val="FFFFFF"/>
                    </a:solidFill>
                  </a:tcPr>
                </a:tc>
                <a:tc>
                  <a:txBody>
                    <a:bodyPr/>
                    <a:lstStyle/>
                    <a:p>
                      <a:r>
                        <a:rPr sz="1300" b="0" i="0">
                          <a:solidFill>
                            <a:srgbClr val="222A33"/>
                          </a:solidFill>
                          <a:latin typeface="Calibri"/>
                        </a:rPr>
                        <a:t>Same as Standard or Extended underneath</a:t>
                      </a:r>
                    </a:p>
                  </a:txBody>
                  <a:tcPr marL="73152" marR="73152" marT="27432" marB="27432" anchor="ctr">
                    <a:solidFill>
                      <a:srgbClr val="FFFFFF"/>
                    </a:solidFill>
                  </a:tcPr>
                </a:tc>
                <a:tc>
                  <a:txBody>
                    <a:bodyPr/>
                    <a:lstStyle/>
                    <a:p>
                      <a:r>
                        <a:rPr sz="1300" b="0" i="0">
                          <a:solidFill>
                            <a:srgbClr val="222A33"/>
                          </a:solidFill>
                          <a:latin typeface="Calibri"/>
                        </a:rPr>
                        <a:t>N/A, identified by name</a:t>
                      </a:r>
                    </a:p>
                  </a:txBody>
                  <a:tcPr marL="73152" marR="73152" marT="27432" marB="27432" anchor="ctr">
                    <a:solidFill>
                      <a:srgbClr val="FFFFFF"/>
                    </a:solidFill>
                  </a:tcPr>
                </a:tc>
                <a:tc>
                  <a:txBody>
                    <a:bodyPr/>
                    <a:lstStyle/>
                    <a:p>
                      <a:r>
                        <a:rPr sz="1300" b="0" i="0">
                          <a:solidFill>
                            <a:srgbClr val="222A33"/>
                          </a:solidFill>
                          <a:latin typeface="Calibri"/>
                        </a:rPr>
                        <a:t>Same as its underlying type</a:t>
                      </a:r>
                    </a:p>
                  </a:txBody>
                  <a:tcPr marL="73152" marR="73152" marT="27432" marB="27432" anchor="ct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i="0">
                <a:solidFill>
                  <a:srgbClr val="FFFFFF"/>
                </a:solidFill>
                <a:latin typeface="Cambria"/>
              </a:rPr>
              <a:t>Summary</a:t>
            </a:r>
          </a:p>
        </p:txBody>
      </p:sp>
      <p:sp>
        <p:nvSpPr>
          <p:cNvPr id="3" name="TextBox 2"/>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450" b="0" i="0">
                <a:solidFill>
                  <a:srgbClr val="222A33"/>
                </a:solidFill>
                <a:latin typeface="Calibri"/>
              </a:rPr>
              <a:t>A DMZ exists to contain damage: if a public-facing server is compromised, the internal network still isn't directly reachable from there.</a:t>
            </a:r>
          </a:p>
          <a:p>
            <a:pPr marL="201168" indent="-201168">
              <a:spcAft>
                <a:spcPts val="1100"/>
              </a:spcAft>
              <a:buFont typeface="Arial"/>
              <a:buChar char="–"/>
            </a:pPr>
            <a:r>
              <a:rPr sz="1450" b="0" i="0">
                <a:solidFill>
                  <a:srgbClr val="222A33"/>
                </a:solidFill>
                <a:latin typeface="Calibri"/>
              </a:rPr>
              <a:t>Zone-Based Firewall is a way of organising policy, not a new inspection technology. Any firewall type from Deck A can sit underneath a ZBF configuration.</a:t>
            </a:r>
          </a:p>
          <a:p>
            <a:pPr marL="201168" indent="-201168">
              <a:spcAft>
                <a:spcPts val="1100"/>
              </a:spcAft>
              <a:buFont typeface="Arial"/>
              <a:buChar char="–"/>
            </a:pPr>
            <a:r>
              <a:rPr sz="1450" b="0" i="0">
                <a:solidFill>
                  <a:srgbClr val="222A33"/>
                </a:solidFill>
                <a:latin typeface="Calibri"/>
              </a:rPr>
              <a:t>All four placement architectures trade the same two things against each other: cost and management complexity versus depth of defence, whether that's one firewall or two, or where exactly the router sits relative to them.</a:t>
            </a:r>
          </a:p>
          <a:p>
            <a:pPr marL="201168" indent="-201168">
              <a:spcAft>
                <a:spcPts val="1100"/>
              </a:spcAft>
              <a:buFont typeface="Arial"/>
              <a:buChar char="–"/>
            </a:pPr>
            <a:r>
              <a:rPr sz="1450" b="0" i="0">
                <a:solidFill>
                  <a:srgbClr val="222A33"/>
                </a:solidFill>
                <a:latin typeface="Calibri"/>
              </a:rPr>
              <a:t>Standard ACLs filter on source address alone and belong close to the destination. Extended ACLs can match precisely and belong close to the source. Named ACLs are either of those, just easier to read and maintain.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i="0">
                <a:solidFill>
                  <a:srgbClr val="FFFFFF"/>
                </a:solidFill>
                <a:latin typeface="Cambria"/>
              </a:rPr>
              <a:t>This Week's Lab &amp; Tutorial</a:t>
            </a:r>
          </a:p>
        </p:txBody>
      </p:sp>
      <p:sp>
        <p:nvSpPr>
          <p:cNvPr id="3" name="TextBox 2"/>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Lab: hands-on Standard, Extended, and Named ACL configuration in Packet Tracer, including verifying placement and confirming the implicit deny behaves as expected.</a:t>
            </a:r>
          </a:p>
          <a:p>
            <a:pPr marL="201168" indent="-201168">
              <a:spcAft>
                <a:spcPts val="1100"/>
              </a:spcAft>
              <a:buFont typeface="Arial"/>
              <a:buChar char="–"/>
            </a:pPr>
            <a:r>
              <a:rPr sz="1600" b="0" i="0" dirty="0">
                <a:solidFill>
                  <a:srgbClr val="222A33"/>
                </a:solidFill>
                <a:latin typeface="Calibri"/>
              </a:rPr>
              <a:t>Tutorial worksheet: study-notes-style questions covering the DMZ, Zone-Based Firewall, the four placement architectures, and ACL configuration and placement. Use it to prep for the mid-semester test.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i="0">
                <a:solidFill>
                  <a:srgbClr val="FFFFFF"/>
                </a:solidFill>
                <a:latin typeface="Cambria"/>
              </a:rPr>
              <a:t>References</a:t>
            </a:r>
          </a:p>
        </p:txBody>
      </p:sp>
      <p:sp>
        <p:nvSpPr>
          <p:cNvPr id="3" name="TextBox 2"/>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Santos &amp; Stuppi, CCNA Security 210-260 Official Cert Guide, 1st Ed., Cisco Press.</a:t>
            </a:r>
          </a:p>
          <a:p>
            <a:pPr marL="201168" indent="-201168">
              <a:spcAft>
                <a:spcPts val="1100"/>
              </a:spcAft>
              <a:buFont typeface="Arial"/>
              <a:buChar char="–"/>
            </a:pPr>
            <a:r>
              <a:rPr sz="1600" b="0" i="0">
                <a:solidFill>
                  <a:srgbClr val="222A33"/>
                </a:solidFill>
                <a:latin typeface="Calibri"/>
              </a:rPr>
              <a:t>Kaufman, Perlman, Speciner &amp; Perlner, Network Security: Private Communication in a Public World, 3rd Ed., Prentice Hall.</a:t>
            </a:r>
          </a:p>
          <a:p>
            <a:pPr marL="201168" indent="-201168">
              <a:spcAft>
                <a:spcPts val="1100"/>
              </a:spcAft>
              <a:buFont typeface="Arial"/>
              <a:buChar char="–"/>
            </a:pPr>
            <a:r>
              <a:rPr sz="1600" b="0" i="0">
                <a:solidFill>
                  <a:srgbClr val="222A33"/>
                </a:solidFill>
                <a:latin typeface="Calibri"/>
              </a:rPr>
              <a:t>Cisco Networking Academy, CCNA Security curriculum (Firewall placement and ACL chapters).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1337832b-e06e-4e87-85f5-ecfde68f9c8e}" enabled="1" method="Standard" siteId="{44e3cf94-19c9-4e32-96c3-14f5bf01391a}" contentBits="1" removed="0"/>
</clbl:labelList>
</file>

<file path=docProps/app.xml><?xml version="1.0" encoding="utf-8"?>
<Properties xmlns="http://schemas.openxmlformats.org/officeDocument/2006/extended-properties" xmlns:vt="http://schemas.openxmlformats.org/officeDocument/2006/docPropsVTypes">
  <TotalTime>549</TotalTime>
  <Words>2726</Words>
  <Application>Microsoft Office PowerPoint</Application>
  <PresentationFormat>Widescreen</PresentationFormat>
  <Paragraphs>232</Paragraphs>
  <Slides>28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Aptos</vt:lpstr>
      <vt:lpstr>Aptos Display</vt:lpstr>
      <vt:lpstr>Arial</vt:lpstr>
      <vt:lpstr>Calibri</vt:lpstr>
      <vt:lpstr>Cambria</vt:lpstr>
      <vt:lpstr>Consolas</vt:lpstr>
      <vt:lpstr>Office Theme</vt:lpstr>
      <vt:lpstr>PowerPoint Presentation</vt:lpstr>
      <vt:lpstr>Today's Agenda</vt:lpstr>
      <vt:lpstr>Learning Outcomes for Today</vt:lpstr>
      <vt:lpstr>The DMZ and the Zone-Based Model</vt:lpstr>
      <vt:lpstr>What Is a DMZ?</vt:lpstr>
      <vt:lpstr>Zone-Based Firewall: A Configuration Model, Not a New Technology</vt:lpstr>
      <vt:lpstr>How DMZ and ZBF Fit Together</vt:lpstr>
      <vt:lpstr>Four Placement Architectures</vt:lpstr>
      <vt:lpstr>Architecture 1: Single Firewall Behind the Border Router</vt:lpstr>
      <vt:lpstr>Architecture 2: Single Firewall In Front of the Border Router</vt:lpstr>
      <vt:lpstr>Architecture 3: Dual Firewall, Router Before Both (Screened Subnet)</vt:lpstr>
      <vt:lpstr>Architecture 4: Dual Firewall, Router Between the Two</vt:lpstr>
      <vt:lpstr>Architecture Comparison</vt:lpstr>
      <vt:lpstr>Access Control Lists</vt:lpstr>
      <vt:lpstr>ACL Fundamentals</vt:lpstr>
      <vt:lpstr>Standard ACLs</vt:lpstr>
      <vt:lpstr>Extended ACLs</vt:lpstr>
      <vt:lpstr>Named ACLs</vt:lpstr>
      <vt:lpstr>Standard ACL: Command Format in Detail</vt:lpstr>
      <vt:lpstr>Extended ACL: Command Format in Detail</vt:lpstr>
      <vt:lpstr>Named ACL: Command Format in Detail</vt:lpstr>
      <vt:lpstr>ACL Placement Rules</vt:lpstr>
      <vt:lpstr>Worked Example: Extended ACL</vt:lpstr>
      <vt:lpstr>Worked Example: Named ACL (Same Policy, Named Style)</vt:lpstr>
      <vt:lpstr>ACL Summary</vt:lpstr>
      <vt:lpstr>Summary</vt:lpstr>
      <vt:lpstr>This Week's Lab &amp; Tutorial</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Chathurangika Kahandawaarachchi</dc:creator>
  <cp:lastModifiedBy>Harinda Fernando</cp:lastModifiedBy>
  <cp:revision>202</cp:revision>
  <dcterms:created xsi:type="dcterms:W3CDTF">2026-02-25T14:32:17Z</dcterms:created>
  <dcterms:modified xsi:type="dcterms:W3CDTF">2026-09-17T05:03:47Z</dcterms:modified>
</cp:coreProperties>
</file>