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7"/>
    <p:sldId id="275" r:id="rId6"/>
    <p:sldId id="276" r:id="rId5"/>
    <p:sldId id="277" r:id="rId4"/>
    <p:sldId id="278" r:id="rId3"/>
    <p:sldId id="279" r:id="rId2"/>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70" d="100"/>
          <a:sy n="70" d="100"/>
        </p:scale>
        <p:origin x="5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9.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4/22/2026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4/22/2026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4/22/2026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4/22/2026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4/22/2026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4/22/2026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4/22/2026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4/22/2026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Firewalls and IDS/IPS</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7</a:t>
            </a:r>
          </a:p>
          <a:p>
            <a:r>
              <a:rPr sz="1500" b="0" i="1">
                <a:solidFill>
                  <a:srgbClr val="FFFFFF"/>
                </a:solidFill>
                <a:latin typeface="Calibri"/>
              </a:rPr>
              <a:t>What a firewall actually is, how it evolved, and the seven types you'll encounter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000"/>
              </a:spcAft>
              <a:buFont typeface="Arial"/>
              <a:buChar char="–"/>
            </a:pPr>
            <a:r>
              <a:rPr sz="1600" b="0" i="0">
                <a:solidFill>
                  <a:srgbClr val="222A33"/>
                </a:solidFill>
                <a:latin typeface="Calibri"/>
              </a:rPr>
              <a:t>What a firewall is, and how it compares to IDS/IPS</a:t>
            </a:r>
          </a:p>
          <a:p>
            <a:pPr marL="201168" indent="-201168">
              <a:spcAft>
                <a:spcPts val="1000"/>
              </a:spcAft>
              <a:buFont typeface="Arial"/>
              <a:buChar char="–"/>
            </a:pPr>
            <a:r>
              <a:rPr sz="1600" b="0" i="0">
                <a:solidFill>
                  <a:srgbClr val="222A33"/>
                </a:solidFill>
                <a:latin typeface="Calibri"/>
              </a:rPr>
              <a:t>Software versus hardware firewalls</a:t>
            </a:r>
          </a:p>
          <a:p>
            <a:pPr marL="201168" indent="-201168">
              <a:spcAft>
                <a:spcPts val="1000"/>
              </a:spcAft>
              <a:buFont typeface="Arial"/>
              <a:buChar char="–"/>
            </a:pPr>
            <a:r>
              <a:rPr sz="1600" b="0" i="0">
                <a:solidFill>
                  <a:srgbClr val="222A33"/>
                </a:solidFill>
                <a:latin typeface="Calibri"/>
              </a:rPr>
              <a:t>A brief history of firewalls</a:t>
            </a:r>
          </a:p>
          <a:p>
            <a:pPr marL="201168" indent="-201168">
              <a:spcAft>
                <a:spcPts val="1000"/>
              </a:spcAft>
              <a:buFont typeface="Arial"/>
              <a:buChar char="–"/>
            </a:pPr>
            <a:r>
              <a:rPr sz="1600" b="0" i="0">
                <a:solidFill>
                  <a:srgbClr val="222A33"/>
                </a:solidFill>
                <a:latin typeface="Calibri"/>
              </a:rPr>
              <a:t>Stateless versus stateful inspection</a:t>
            </a:r>
          </a:p>
          <a:p>
            <a:pPr marL="201168" indent="-201168">
              <a:spcAft>
                <a:spcPts val="1000"/>
              </a:spcAft>
              <a:buFont typeface="Arial"/>
              <a:buChar char="–"/>
            </a:pPr>
            <a:r>
              <a:rPr sz="1600" b="0" i="0">
                <a:solidFill>
                  <a:srgbClr val="222A33"/>
                </a:solidFill>
                <a:latin typeface="Calibri"/>
              </a:rPr>
              <a:t>Seven firewall types, in the order they evolved, each with mechanism, trade-offs, and use cases</a:t>
            </a:r>
          </a:p>
          <a:p>
            <a:pPr marL="201168" indent="-201168">
              <a:spcAft>
                <a:spcPts val="1000"/>
              </a:spcAft>
              <a:buFont typeface="Arial"/>
              <a:buChar char="–"/>
            </a:pPr>
            <a:r>
              <a:rPr sz="1600" b="0" i="0">
                <a:solidFill>
                  <a:srgbClr val="222A33"/>
                </a:solidFill>
                <a:latin typeface="Calibri"/>
              </a:rPr>
              <a:t>The evolution of firewalls, revisited analytically</a:t>
            </a:r>
          </a:p>
          <a:p>
            <a:pPr marL="201168" indent="-201168">
              <a:spcAft>
                <a:spcPts val="1000"/>
              </a:spcAft>
              <a:buFont typeface="Arial"/>
              <a:buChar char="–"/>
            </a:pPr>
            <a:r>
              <a:rPr sz="1600" b="0" i="0">
                <a:solidFill>
                  <a:srgbClr val="222A33"/>
                </a:solidFill>
                <a:latin typeface="Calibri"/>
              </a:rPr>
              <a:t>A full comparison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LO3</a:t>
            </a:r>
          </a:p>
          <a:p>
            <a:pPr marL="201168" indent="-201168">
              <a:spcAft>
                <a:spcPts val="1600"/>
              </a:spcAft>
              <a:buFont typeface="Arial"/>
              <a:buChar char="–"/>
            </a:pPr>
            <a:r>
              <a:rPr sz="1700" b="0" i="0">
                <a:solidFill>
                  <a:srgbClr val="222A33"/>
                </a:solidFill>
                <a:latin typeface="Calibri"/>
              </a:rPr>
              <a:t>Analyse security requirements and recommend appropriate technologies.</a:t>
            </a:r>
          </a:p>
          <a:p>
            <a:pPr marL="0" indent="0">
              <a:spcAft>
                <a:spcPts val="400"/>
              </a:spcAft>
              <a:buNone/>
            </a:pPr>
            <a:r>
              <a:rPr sz="1700" b="1" i="0">
                <a:solidFill>
                  <a:srgbClr val="003054"/>
                </a:solidFill>
                <a:latin typeface="Calibri"/>
              </a:rPr>
              <a:t>LO4</a:t>
            </a:r>
          </a:p>
          <a:p>
            <a:pPr marL="201168" indent="-201168">
              <a:spcAft>
                <a:spcPts val="1600"/>
              </a:spcAft>
              <a:buFont typeface="Arial"/>
              <a:buChar char="–"/>
            </a:pPr>
            <a:r>
              <a:rPr sz="1700" b="0" i="0">
                <a:solidFill>
                  <a:srgbClr val="222A33"/>
                </a:solidFill>
                <a:latin typeface="Calibri"/>
              </a:rPr>
              <a:t>Evaluate different security technologies, compare them, and identify appropriate use cases.</a:t>
            </a:r>
          </a:p>
          <a:p>
            <a:pPr marL="201168" indent="-201168">
              <a:spcAft>
                <a:spcPts val="800"/>
              </a:spcAft>
              <a:buFont typeface="Arial"/>
              <a:buChar char="–"/>
            </a:pPr>
            <a:r>
              <a:rPr sz="1500" b="0" i="1">
                <a:solidFill>
                  <a:srgbClr val="6B7682"/>
                </a:solidFill>
                <a:latin typeface="Calibri"/>
              </a:rPr>
              <a:t>By the end of this session you should be able to name, distinguish, and recommend a firewall type for a given scenario, and explain why it evolved the way it did.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Foundational Concepts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a firewall is, and what it deliberately is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What Is a Firewall?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 firewall is a network security device or piece of software that monitors and controls incoming and outgoing traffic based on a predetermined set of rules, acting as a barrier between a trusted network and an untrusted one.</a:t>
            </a:r>
          </a:p>
          <a:p>
            <a:pPr marL="201168" indent="-201168">
              <a:spcAft>
                <a:spcPts val="1100"/>
              </a:spcAft>
              <a:buFont typeface="Arial"/>
              <a:buChar char="–"/>
            </a:pPr>
            <a:r>
              <a:rPr sz="1600" b="0" i="0">
                <a:solidFill>
                  <a:srgbClr val="222A33"/>
                </a:solidFill>
                <a:latin typeface="Calibri"/>
              </a:rPr>
              <a:t>Its core function is fundamentally binary per rule: allow or deny. Whether that decision is based on a simple port number or deep content inspection, every firewall type this week ultimately reduces to that same choice.</a:t>
            </a:r>
          </a:p>
          <a:p>
            <a:pPr marL="201168" indent="-201168">
              <a:spcAft>
                <a:spcPts val="1100"/>
              </a:spcAft>
              <a:buFont typeface="Arial"/>
              <a:buChar char="–"/>
            </a:pPr>
            <a:r>
              <a:rPr sz="1600" b="0" i="0">
                <a:solidFill>
                  <a:srgbClr val="222A33"/>
                </a:solidFill>
                <a:latin typeface="Calibri"/>
              </a:rPr>
              <a:t>A firewall enforces a policy. It doesn't learn or adapt on its own. It does exactly what its rule set tells it to do, which is precisely why the rule set itself matters so much.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What Is IDS/IPS? (A Brief Introduction)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An Intrusion Detection System (IDS) monitors network or system activity for suspicious behaviour or known attack signatures, and generates an alert when it finds something. Critically, an IDS does not block traffic itself.</a:t>
            </a:r>
          </a:p>
          <a:p>
            <a:pPr marL="201168" indent="-201168">
              <a:spcAft>
                <a:spcPts val="1100"/>
              </a:spcAft>
              <a:buFont typeface="Arial"/>
              <a:buChar char="–"/>
            </a:pPr>
            <a:r>
              <a:rPr sz="1600" b="0" i="0">
                <a:solidFill>
                  <a:srgbClr val="222A33"/>
                </a:solidFill>
                <a:latin typeface="Calibri"/>
              </a:rPr>
              <a:t>An Intrusion Prevention System (IPS) does everything an IDS does, but sits inline and can actively block or drop malicious traffic in real time, much like a firewall does, except its decision is based on behavioural or signature analysis rather than a simple allow/deny rule.</a:t>
            </a:r>
          </a:p>
          <a:p>
            <a:pPr marL="201168" indent="-201168">
              <a:spcAft>
                <a:spcPts val="1100"/>
              </a:spcAft>
              <a:buFont typeface="Arial"/>
              <a:buChar char="–"/>
            </a:pPr>
            <a:r>
              <a:rPr sz="1600" b="0" i="0">
                <a:solidFill>
                  <a:srgbClr val="222A33"/>
                </a:solidFill>
                <a:latin typeface="Calibri"/>
              </a:rPr>
              <a:t>This is intentionally a brief introduction. IDS/IPS gets its own full treatment, including detection methods and placement, in a later week. For now, you only need enough to clearly distinguish it from a firewall.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Firewalls vs. IDS/IPS: Similarities and Differences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DEFINITIONS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Similarities: both are network security controls, both can be deployed inline, both rely on a rule or signature set to make decisions, and both are components of a layered defence rather than a complete solution on their own.</a:t>
            </a:r>
          </a:p>
          <a:p>
            <a:pPr marL="201168" indent="-201168">
              <a:spcAft>
                <a:spcPts val="1100"/>
              </a:spcAft>
              <a:buFont typeface="Arial"/>
              <a:buChar char="–"/>
            </a:pPr>
            <a:r>
              <a:rPr sz="1600" b="0" i="0">
                <a:solidFill>
                  <a:srgbClr val="222A33"/>
                </a:solidFill>
                <a:latin typeface="Calibri"/>
              </a:rPr>
              <a:t>A firewall is primarily preventive, making decisions from explicit allow/deny rules (source and destination address, port, protocol, and for advanced types, application or content). It generally isn't looking for attack patterns, just policy compliance.</a:t>
            </a:r>
          </a:p>
          <a:p>
            <a:pPr marL="201168" indent="-201168">
              <a:spcAft>
                <a:spcPts val="1100"/>
              </a:spcAft>
              <a:buFont typeface="Arial"/>
              <a:buChar char="–"/>
            </a:pPr>
            <a:r>
              <a:rPr sz="1600" b="0" i="0">
                <a:solidFill>
                  <a:srgbClr val="222A33"/>
                </a:solidFill>
                <a:latin typeface="Calibri"/>
              </a:rPr>
              <a:t>An IDS is purely detective. It analyses traffic for attack signatures or anomalies and generates alerts, with no ability to block anything itself.</a:t>
            </a:r>
          </a:p>
          <a:p>
            <a:pPr marL="201168" indent="-201168">
              <a:spcAft>
                <a:spcPts val="1100"/>
              </a:spcAft>
              <a:buFont typeface="Arial"/>
              <a:buChar char="–"/>
            </a:pPr>
            <a:r>
              <a:rPr sz="1600" b="0" i="0">
                <a:solidFill>
                  <a:srgbClr val="222A33"/>
                </a:solidFill>
                <a:latin typeface="Calibri"/>
              </a:rPr>
              <a:t>An IPS combines an IDS's detection method with a firewall's blocking action: inline detection plus active response. A simple way to remember it: a firewall is a locked door checking IDs against a guest list, an IDS is a camera that notices suspicious behaviour and alerts a guard, and an IPS is a guard who can also step 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Software vs. Hardware Firewalls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DEPLOYMENT FORM</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 hardware firewall is a dedicated physical appliance deployed at the network perimeter, protecting an entire network segment at once. It typically offers high throughput (often via dedicated processing hardware), doesn't consume any host's resources, and centralises policy in one place. The trade-off is higher upfront cost, and it generally can't see or control traffic happening entirely within the network it protects.</a:t>
            </a:r>
          </a:p>
          <a:p>
            <a:pPr marL="201168" indent="-201168">
              <a:spcAft>
                <a:spcPts val="1100"/>
              </a:spcAft>
              <a:buFont typeface="Arial"/>
              <a:buChar char="–"/>
            </a:pPr>
            <a:r>
              <a:rPr sz="1600" b="0" i="0">
                <a:solidFill>
                  <a:srgbClr val="222A33"/>
                </a:solidFill>
                <a:latin typeface="Calibri"/>
              </a:rPr>
              <a:t>A software firewall runs as an application or service on an individual host, such as a built-in OS firewall or a virtualised instance. It offers granular, per-host control and is cheap or free to deploy widely, but it consumes that host's own CPU and memory, and can be disabled or bypassed if the host itself is compromised.</a:t>
            </a:r>
          </a:p>
          <a:p>
            <a:pPr marL="201168" indent="-201168">
              <a:spcAft>
                <a:spcPts val="1100"/>
              </a:spcAft>
              <a:buFont typeface="Arial"/>
              <a:buChar char="–"/>
            </a:pPr>
            <a:r>
              <a:rPr sz="1600" b="0" i="0">
                <a:solidFill>
                  <a:srgbClr val="222A33"/>
                </a:solidFill>
                <a:latin typeface="Calibri"/>
              </a:rPr>
              <a:t>In practice, real networks use both together: a hardware firewall at the perimeter plus software firewalls on individual endpoints. This is the same layered-defence principle that has run through every week of this module.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 Brief History of Firewalls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HISTORY</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Late 1980s: the first packet filtering firewalls appear, examining only IP addresses, ports, and protocol in each packet's header, with no awareness of connection state at all.</a:t>
            </a:r>
          </a:p>
          <a:p>
            <a:pPr marL="201168" indent="-201168">
              <a:spcAft>
                <a:spcPts val="1100"/>
              </a:spcAft>
              <a:buFont typeface="Arial"/>
              <a:buChar char="–"/>
            </a:pPr>
            <a:r>
              <a:rPr sz="1600" b="0" i="0">
                <a:solidFill>
                  <a:srgbClr val="222A33"/>
                </a:solidFill>
                <a:latin typeface="Calibri"/>
              </a:rPr>
              <a:t>1994: Check Point introduces stateful inspection with FireWall-1, a major leap that tracks the state of active connections rather than judging every packet in total isolation.</a:t>
            </a:r>
          </a:p>
          <a:p>
            <a:pPr marL="201168" indent="-201168">
              <a:spcAft>
                <a:spcPts val="1100"/>
              </a:spcAft>
              <a:buFont typeface="Arial"/>
              <a:buChar char="–"/>
            </a:pPr>
            <a:r>
              <a:rPr sz="1600" b="0" i="0">
                <a:solidFill>
                  <a:srgbClr val="222A33"/>
                </a:solidFill>
                <a:latin typeface="Calibri"/>
              </a:rPr>
              <a:t>Through the mid-to-late 1990s, circuit-level gateways and application-layer proxy firewalls develop in parallel, each trying to see further into a connection than stateful inspection alone could.</a:t>
            </a:r>
          </a:p>
          <a:p>
            <a:pPr marL="201168" indent="-201168">
              <a:spcAft>
                <a:spcPts val="1100"/>
              </a:spcAft>
              <a:buFont typeface="Arial"/>
              <a:buChar char="–"/>
            </a:pPr>
            <a:r>
              <a:rPr sz="1600" b="0" i="0">
                <a:solidFill>
                  <a:srgbClr val="222A33"/>
                </a:solidFill>
                <a:latin typeface="Calibri"/>
              </a:rPr>
              <a:t>Through the 2000s, Unified Threat Management (UTM) appliances emerge, bundling firewall, antivirus, IDS/IPS, and content filtering into a single box.</a:t>
            </a:r>
          </a:p>
          <a:p>
            <a:pPr marL="201168" indent="-201168">
              <a:spcAft>
                <a:spcPts val="1100"/>
              </a:spcAft>
              <a:buFont typeface="Arial"/>
              <a:buChar char="–"/>
            </a:pPr>
            <a:r>
              <a:rPr sz="1600" b="0" i="0">
                <a:solidFill>
                  <a:srgbClr val="222A33"/>
                </a:solidFill>
                <a:latin typeface="Calibri"/>
              </a:rPr>
              <a:t>From roughly 2007 to 2010 onward, Next-Generation Firewalls (NGFW) emerge, credited significantly to Palo Alto Networks, offering deep packet inspection, application awareness, and integrated intrusion prevention in one tightly-built system, alongside the parallel rise of Web Application Firewalls (WAF) as a web-specific specialisation.</a:t>
            </a:r>
          </a:p>
          <a:p>
            <a:pPr marL="201168" indent="-201168">
              <a:spcAft>
                <a:spcPts val="1100"/>
              </a:spcAft>
              <a:buFont typeface="Arial"/>
              <a:buChar char="–"/>
            </a:pPr>
            <a:r>
              <a:rPr sz="1600" b="0" i="0">
                <a:solidFill>
                  <a:srgbClr val="222A33"/>
                </a:solidFill>
                <a:latin typeface="Calibri"/>
              </a:rPr>
              <a:t>This is purely the timeline for now. Once you've seen all seven types in detail, we'll come back and analyse why each generation actually emerged.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Stateless vs. Stateful Inspection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CORE CONCEPT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Stateless inspection evaluates every packet entirely on its own, checking only that packet's own header fields against a static rule list. It has no memory of any packet that came before it.</a:t>
            </a:r>
          </a:p>
          <a:p>
            <a:pPr marL="201168" indent="-201168">
              <a:spcAft>
                <a:spcPts val="1100"/>
              </a:spcAft>
              <a:buFont typeface="Arial"/>
              <a:buChar char="–"/>
            </a:pPr>
            <a:r>
              <a:rPr sz="1600" b="0" i="0">
                <a:solidFill>
                  <a:srgbClr val="222A33"/>
                </a:solidFill>
                <a:latin typeface="Calibri"/>
              </a:rPr>
              <a:t>This means a stateless firewall cannot tell the difference between a legitimate reply to a connection your own network initiated, and an unsolicited or spoofed packet crafted to look the same. Recall Week 6: this is exactly the kind of blind spot several TCP attacks exploit.</a:t>
            </a:r>
          </a:p>
          <a:p>
            <a:pPr marL="201168" indent="-201168">
              <a:spcAft>
                <a:spcPts val="1100"/>
              </a:spcAft>
              <a:buFont typeface="Arial"/>
              <a:buChar char="–"/>
            </a:pPr>
            <a:r>
              <a:rPr sz="1600" b="0" i="0">
                <a:solidFill>
                  <a:srgbClr val="222A33"/>
                </a:solidFill>
                <a:latin typeface="Calibri"/>
              </a:rPr>
              <a:t>Stateful inspection maintains a state table tracking every active connection: source and destination address and port, protocol, and connection stage. Once a connection is legitimately established, return traffic for it is automatically permitted, without needing a separate explicit rule for the reply direction.</a:t>
            </a:r>
          </a:p>
          <a:p>
            <a:pPr marL="201168" indent="-201168">
              <a:spcAft>
                <a:spcPts val="1100"/>
              </a:spcAft>
              <a:buFont typeface="Arial"/>
              <a:buChar char="–"/>
            </a:pPr>
            <a:r>
              <a:rPr sz="1600" b="0" i="0">
                <a:solidFill>
                  <a:srgbClr val="222A33"/>
                </a:solidFill>
                <a:latin typeface="Calibri"/>
              </a:rPr>
              <a:t>This single distinction, whether a firewall remembers anything about the conversation it's part of, is the deciding factor behind several of the types you're about to see. Keep it in mind as we go through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Seven Firewall Types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In the order they historically evolved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Seven Types at a Glance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OVERVIEW</a:t>
            </a:r>
          </a:p>
        </p:txBody>
      </p:sp>
      <p:graphicFrame>
        <p:nvGraphicFramePr>
          <p:cNvPr id="4" name="Table 3"/>
          <p:cNvGraphicFramePr>
            <a:graphicFrameLocks noGrp="1"/>
          </p:cNvGraphicFramePr>
          <p:nvPr/>
        </p:nvGraphicFramePr>
        <p:xfrm>
          <a:off x="365760" y="1737360"/>
          <a:ext cx="11430000" cy="4206240"/>
        </p:xfrm>
        <a:graphic>
          <a:graphicData uri="http://schemas.openxmlformats.org/drawingml/2006/table">
            <a:tbl>
              <a:tblPr firstRow="1" bandRow="1">
                <a:tableStyleId>{5C22544A-7EE6-4342-B048-85BDC9FD1C3A}</a:tableStyleId>
              </a:tblPr>
              <a:tblGrid>
                <a:gridCol w="3840480"/>
                <a:gridCol w="4023360"/>
                <a:gridCol w="3566160"/>
              </a:tblGrid>
              <a:tr h="525780">
                <a:tc>
                  <a:txBody>
                    <a:bodyPr wrap="square"/>
                    <a:lstStyle/>
                    <a:p>
                      <a:r>
                        <a:rPr sz="1300" b="1" i="0">
                          <a:solidFill>
                            <a:srgbClr val="FFFFFF"/>
                          </a:solidFill>
                          <a:latin typeface="Calibri"/>
                        </a:rPr>
                        <a:t>Type</a:t>
                      </a:r>
                    </a:p>
                  </a:txBody>
                  <a:tcPr marL="73152" marR="73152" marT="27432" marB="27432" anchor="ctr">
                    <a:solidFill>
                      <a:srgbClr val="003054"/>
                    </a:solidFill>
                  </a:tcPr>
                </a:tc>
                <a:tc>
                  <a:txBody>
                    <a:bodyPr wrap="square"/>
                    <a:lstStyle/>
                    <a:p>
                      <a:r>
                        <a:rPr sz="1300" b="1" i="0">
                          <a:solidFill>
                            <a:srgbClr val="FFFFFF"/>
                          </a:solidFill>
                          <a:latin typeface="Calibri"/>
                        </a:rPr>
                        <a:t>OSI Layer</a:t>
                      </a:r>
                    </a:p>
                  </a:txBody>
                  <a:tcPr marL="73152" marR="73152" marT="27432" marB="27432" anchor="ctr">
                    <a:solidFill>
                      <a:srgbClr val="003054"/>
                    </a:solidFill>
                  </a:tcPr>
                </a:tc>
                <a:tc>
                  <a:txBody>
                    <a:bodyPr wrap="square"/>
                    <a:lstStyle/>
                    <a:p>
                      <a:r>
                        <a:rPr sz="1300" b="1" i="0">
                          <a:solidFill>
                            <a:srgbClr val="FFFFFF"/>
                          </a:solidFill>
                          <a:latin typeface="Calibri"/>
                        </a:rPr>
                        <a:t>State Awareness</a:t>
                      </a:r>
                    </a:p>
                  </a:txBody>
                  <a:tcPr marL="73152" marR="73152" marT="27432" marB="27432" anchor="ctr">
                    <a:solidFill>
                      <a:srgbClr val="003054"/>
                    </a:solidFill>
                  </a:tcPr>
                </a:tc>
              </a:tr>
              <a:tr h="525780">
                <a:tc>
                  <a:txBody>
                    <a:bodyPr wrap="square"/>
                    <a:lstStyle/>
                    <a:p>
                      <a:r>
                        <a:rPr sz="1300" b="0" i="0">
                          <a:solidFill>
                            <a:srgbClr val="222A33"/>
                          </a:solidFill>
                          <a:latin typeface="Calibri"/>
                        </a:rPr>
                        <a:t>Packet Filtering</a:t>
                      </a:r>
                    </a:p>
                  </a:txBody>
                  <a:tcPr marL="73152" marR="73152" marT="27432" marB="27432" anchor="ctr">
                    <a:solidFill>
                      <a:srgbClr val="FFFFFF"/>
                    </a:solidFill>
                  </a:tcPr>
                </a:tc>
                <a:tc>
                  <a:txBody>
                    <a:bodyPr wrap="square"/>
                    <a:lstStyle/>
                    <a:p>
                      <a:r>
                        <a:rPr sz="1300" b="0" i="0">
                          <a:solidFill>
                            <a:srgbClr val="222A33"/>
                          </a:solidFill>
                          <a:latin typeface="Calibri"/>
                        </a:rPr>
                        <a:t>Network / Transport (L3/L4)</a:t>
                      </a:r>
                    </a:p>
                  </a:txBody>
                  <a:tcPr marL="73152" marR="73152" marT="27432" marB="27432" anchor="ctr">
                    <a:solidFill>
                      <a:srgbClr val="FFFFFF"/>
                    </a:solidFill>
                  </a:tcPr>
                </a:tc>
                <a:tc>
                  <a:txBody>
                    <a:bodyPr wrap="square"/>
                    <a:lstStyle/>
                    <a:p>
                      <a:r>
                        <a:rPr sz="1300" b="0" i="0">
                          <a:solidFill>
                            <a:srgbClr val="222A33"/>
                          </a:solidFill>
                          <a:latin typeface="Calibri"/>
                        </a:rPr>
                        <a:t>Stateless</a:t>
                      </a:r>
                    </a:p>
                  </a:txBody>
                  <a:tcPr marL="73152" marR="73152" marT="27432" marB="27432" anchor="ctr">
                    <a:solidFill>
                      <a:srgbClr val="FFFFFF"/>
                    </a:solidFill>
                  </a:tcPr>
                </a:tc>
              </a:tr>
              <a:tr h="525780">
                <a:tc>
                  <a:txBody>
                    <a:bodyPr wrap="square"/>
                    <a:lstStyle/>
                    <a:p>
                      <a:r>
                        <a:rPr sz="1300" b="0" i="0">
                          <a:solidFill>
                            <a:srgbClr val="222A33"/>
                          </a:solidFill>
                          <a:latin typeface="Calibri"/>
                        </a:rPr>
                        <a:t>Stateful Inspection</a:t>
                      </a:r>
                    </a:p>
                  </a:txBody>
                  <a:tcPr marL="73152" marR="73152" marT="27432" marB="27432" anchor="ctr">
                    <a:solidFill>
                      <a:srgbClr val="F2F4F7"/>
                    </a:solidFill>
                  </a:tcPr>
                </a:tc>
                <a:tc>
                  <a:txBody>
                    <a:bodyPr wrap="square"/>
                    <a:lstStyle/>
                    <a:p>
                      <a:r>
                        <a:rPr sz="1300" b="0" i="0">
                          <a:solidFill>
                            <a:srgbClr val="222A33"/>
                          </a:solidFill>
                          <a:latin typeface="Calibri"/>
                        </a:rPr>
                        <a:t>Network / Transport (L3/L4)</a:t>
                      </a:r>
                    </a:p>
                  </a:txBody>
                  <a:tcPr marL="73152" marR="73152" marT="27432" marB="27432" anchor="ctr">
                    <a:solidFill>
                      <a:srgbClr val="F2F4F7"/>
                    </a:solidFill>
                  </a:tcPr>
                </a:tc>
                <a:tc>
                  <a:txBody>
                    <a:bodyPr wrap="square"/>
                    <a:lstStyle/>
                    <a:p>
                      <a:r>
                        <a:rPr sz="1300" b="0" i="0">
                          <a:solidFill>
                            <a:srgbClr val="222A33"/>
                          </a:solidFill>
                          <a:latin typeface="Calibri"/>
                        </a:rPr>
                        <a:t>Stateful</a:t>
                      </a:r>
                    </a:p>
                  </a:txBody>
                  <a:tcPr marL="73152" marR="73152" marT="27432" marB="27432" anchor="ctr">
                    <a:solidFill>
                      <a:srgbClr val="F2F4F7"/>
                    </a:solidFill>
                  </a:tcPr>
                </a:tc>
              </a:tr>
              <a:tr h="525780">
                <a:tc>
                  <a:txBody>
                    <a:bodyPr wrap="square"/>
                    <a:lstStyle/>
                    <a:p>
                      <a:r>
                        <a:rPr sz="1300" b="0" i="0">
                          <a:solidFill>
                            <a:srgbClr val="222A33"/>
                          </a:solidFill>
                          <a:latin typeface="Calibri"/>
                        </a:rPr>
                        <a:t>Circuit-Level Gateway</a:t>
                      </a:r>
                    </a:p>
                  </a:txBody>
                  <a:tcPr marL="73152" marR="73152" marT="27432" marB="27432" anchor="ctr">
                    <a:solidFill>
                      <a:srgbClr val="FFFFFF"/>
                    </a:solidFill>
                  </a:tcPr>
                </a:tc>
                <a:tc>
                  <a:txBody>
                    <a:bodyPr wrap="square"/>
                    <a:lstStyle/>
                    <a:p>
                      <a:r>
                        <a:rPr sz="1300" b="0" i="0">
                          <a:solidFill>
                            <a:srgbClr val="222A33"/>
                          </a:solidFill>
                          <a:latin typeface="Calibri"/>
                        </a:rPr>
                        <a:t>Session (L5)</a:t>
                      </a:r>
                    </a:p>
                  </a:txBody>
                  <a:tcPr marL="73152" marR="73152" marT="27432" marB="27432" anchor="ctr">
                    <a:solidFill>
                      <a:srgbClr val="FFFFFF"/>
                    </a:solidFill>
                  </a:tcPr>
                </a:tc>
                <a:tc>
                  <a:txBody>
                    <a:bodyPr wrap="square"/>
                    <a:lstStyle/>
                    <a:p>
                      <a:r>
                        <a:rPr sz="1300" b="0" i="0">
                          <a:solidFill>
                            <a:srgbClr val="222A33"/>
                          </a:solidFill>
                          <a:latin typeface="Calibri"/>
                        </a:rPr>
                        <a:t>Stateful (session only)</a:t>
                      </a:r>
                    </a:p>
                  </a:txBody>
                  <a:tcPr marL="73152" marR="73152" marT="27432" marB="27432" anchor="ctr">
                    <a:solidFill>
                      <a:srgbClr val="FFFFFF"/>
                    </a:solidFill>
                  </a:tcPr>
                </a:tc>
              </a:tr>
              <a:tr h="525780">
                <a:tc>
                  <a:txBody>
                    <a:bodyPr wrap="square"/>
                    <a:lstStyle/>
                    <a:p>
                      <a:r>
                        <a:rPr sz="1300" b="0" i="0">
                          <a:solidFill>
                            <a:srgbClr val="222A33"/>
                          </a:solidFill>
                          <a:latin typeface="Calibri"/>
                        </a:rPr>
                        <a:t>Application-Layer / Proxy</a:t>
                      </a:r>
                    </a:p>
                  </a:txBody>
                  <a:tcPr marL="73152" marR="73152" marT="27432" marB="27432" anchor="ctr">
                    <a:solidFill>
                      <a:srgbClr val="F2F4F7"/>
                    </a:solidFill>
                  </a:tcPr>
                </a:tc>
                <a:tc>
                  <a:txBody>
                    <a:bodyPr wrap="square"/>
                    <a:lstStyle/>
                    <a:p>
                      <a:r>
                        <a:rPr sz="1300" b="0" i="0">
                          <a:solidFill>
                            <a:srgbClr val="222A33"/>
                          </a:solidFill>
                          <a:latin typeface="Calibri"/>
                        </a:rPr>
                        <a:t>Application (L7)</a:t>
                      </a:r>
                    </a:p>
                  </a:txBody>
                  <a:tcPr marL="73152" marR="73152" marT="27432" marB="27432" anchor="ctr">
                    <a:solidFill>
                      <a:srgbClr val="F2F4F7"/>
                    </a:solidFill>
                  </a:tcPr>
                </a:tc>
                <a:tc>
                  <a:txBody>
                    <a:bodyPr wrap="square"/>
                    <a:lstStyle/>
                    <a:p>
                      <a:r>
                        <a:rPr sz="1300" b="0" i="0">
                          <a:solidFill>
                            <a:srgbClr val="222A33"/>
                          </a:solidFill>
                          <a:latin typeface="Calibri"/>
                        </a:rPr>
                        <a:t>Stateful, protocol-aware</a:t>
                      </a:r>
                    </a:p>
                  </a:txBody>
                  <a:tcPr marL="73152" marR="73152" marT="27432" marB="27432" anchor="ctr">
                    <a:solidFill>
                      <a:srgbClr val="F2F4F7"/>
                    </a:solidFill>
                  </a:tcPr>
                </a:tc>
              </a:tr>
              <a:tr h="525780">
                <a:tc>
                  <a:txBody>
                    <a:bodyPr wrap="square"/>
                    <a:lstStyle/>
                    <a:p>
                      <a:r>
                        <a:rPr sz="1300" b="0" i="0">
                          <a:solidFill>
                            <a:srgbClr val="222A33"/>
                          </a:solidFill>
                          <a:latin typeface="Calibri"/>
                        </a:rPr>
                        <a:t>Next-Generation Firewall (NGFW)</a:t>
                      </a:r>
                    </a:p>
                  </a:txBody>
                  <a:tcPr marL="73152" marR="73152" marT="27432" marB="27432" anchor="ctr">
                    <a:solidFill>
                      <a:srgbClr val="FFFFFF"/>
                    </a:solidFill>
                  </a:tcPr>
                </a:tc>
                <a:tc>
                  <a:txBody>
                    <a:bodyPr wrap="square"/>
                    <a:lstStyle/>
                    <a:p>
                      <a:r>
                        <a:rPr sz="1300" b="0" i="0">
                          <a:solidFill>
                            <a:srgbClr val="222A33"/>
                          </a:solidFill>
                          <a:latin typeface="Calibri"/>
                        </a:rPr>
                        <a:t>L3 through L7, integrated</a:t>
                      </a:r>
                    </a:p>
                  </a:txBody>
                  <a:tcPr marL="73152" marR="73152" marT="27432" marB="27432" anchor="ctr">
                    <a:solidFill>
                      <a:srgbClr val="FFFFFF"/>
                    </a:solidFill>
                  </a:tcPr>
                </a:tc>
                <a:tc>
                  <a:txBody>
                    <a:bodyPr wrap="square"/>
                    <a:lstStyle/>
                    <a:p>
                      <a:r>
                        <a:rPr sz="1300" b="0" i="0">
                          <a:solidFill>
                            <a:srgbClr val="222A33"/>
                          </a:solidFill>
                          <a:latin typeface="Calibri"/>
                        </a:rPr>
                        <a:t>Stateful, application-aware, deep inspection</a:t>
                      </a:r>
                    </a:p>
                  </a:txBody>
                  <a:tcPr marL="73152" marR="73152" marT="27432" marB="27432" anchor="ctr">
                    <a:solidFill>
                      <a:srgbClr val="FFFFFF"/>
                    </a:solidFill>
                  </a:tcPr>
                </a:tc>
              </a:tr>
              <a:tr h="525780">
                <a:tc>
                  <a:txBody>
                    <a:bodyPr wrap="square"/>
                    <a:lstStyle/>
                    <a:p>
                      <a:r>
                        <a:rPr sz="1300" b="0" i="0">
                          <a:solidFill>
                            <a:srgbClr val="222A33"/>
                          </a:solidFill>
                          <a:latin typeface="Calibri"/>
                        </a:rPr>
                        <a:t>Web Application Firewall (WAF)</a:t>
                      </a:r>
                    </a:p>
                  </a:txBody>
                  <a:tcPr marL="73152" marR="73152" marT="27432" marB="27432" anchor="ctr">
                    <a:solidFill>
                      <a:srgbClr val="F2F4F7"/>
                    </a:solidFill>
                  </a:tcPr>
                </a:tc>
                <a:tc>
                  <a:txBody>
                    <a:bodyPr wrap="square"/>
                    <a:lstStyle/>
                    <a:p>
                      <a:r>
                        <a:rPr sz="1300" b="0" i="0">
                          <a:solidFill>
                            <a:srgbClr val="222A33"/>
                          </a:solidFill>
                          <a:latin typeface="Calibri"/>
                        </a:rPr>
                        <a:t>Application (L7), web-specific</a:t>
                      </a:r>
                    </a:p>
                  </a:txBody>
                  <a:tcPr marL="73152" marR="73152" marT="27432" marB="27432" anchor="ctr">
                    <a:solidFill>
                      <a:srgbClr val="F2F4F7"/>
                    </a:solidFill>
                  </a:tcPr>
                </a:tc>
                <a:tc>
                  <a:txBody>
                    <a:bodyPr wrap="square"/>
                    <a:lstStyle/>
                    <a:p>
                      <a:r>
                        <a:rPr sz="1300" b="0" i="0">
                          <a:solidFill>
                            <a:srgbClr val="222A33"/>
                          </a:solidFill>
                          <a:latin typeface="Calibri"/>
                        </a:rPr>
                        <a:t>Stateful, web-attack-pattern-aware</a:t>
                      </a:r>
                    </a:p>
                  </a:txBody>
                  <a:tcPr marL="73152" marR="73152" marT="27432" marB="27432" anchor="ctr">
                    <a:solidFill>
                      <a:srgbClr val="F2F4F7"/>
                    </a:solidFill>
                  </a:tcPr>
                </a:tc>
              </a:tr>
              <a:tr h="525780">
                <a:tc>
                  <a:txBody>
                    <a:bodyPr wrap="square"/>
                    <a:lstStyle/>
                    <a:p>
                      <a:r>
                        <a:rPr sz="1300" b="0" i="0">
                          <a:solidFill>
                            <a:srgbClr val="222A33"/>
                          </a:solidFill>
                          <a:latin typeface="Calibri"/>
                        </a:rPr>
                        <a:t>Unified Threat Management (UTM)</a:t>
                      </a:r>
                    </a:p>
                  </a:txBody>
                  <a:tcPr marL="73152" marR="73152" marT="27432" marB="27432" anchor="ctr">
                    <a:solidFill>
                      <a:srgbClr val="FFFFFF"/>
                    </a:solidFill>
                  </a:tcPr>
                </a:tc>
                <a:tc>
                  <a:txBody>
                    <a:bodyPr wrap="square"/>
                    <a:lstStyle/>
                    <a:p>
                      <a:r>
                        <a:rPr sz="1300" b="0" i="0">
                          <a:solidFill>
                            <a:srgbClr val="222A33"/>
                          </a:solidFill>
                          <a:latin typeface="Calibri"/>
                        </a:rPr>
                        <a:t>L3 through L7, bundled modules</a:t>
                      </a:r>
                    </a:p>
                  </a:txBody>
                  <a:tcPr marL="73152" marR="73152" marT="27432" marB="27432" anchor="ctr">
                    <a:solidFill>
                      <a:srgbClr val="FFFFFF"/>
                    </a:solidFill>
                  </a:tcPr>
                </a:tc>
                <a:tc>
                  <a:txBody>
                    <a:bodyPr wrap="square"/>
                    <a:lstStyle/>
                    <a:p>
                      <a:r>
                        <a:rPr sz="1300" b="0" i="0">
                          <a:solidFill>
                            <a:srgbClr val="222A33"/>
                          </a:solidFill>
                          <a:latin typeface="Calibri"/>
                        </a:rPr>
                        <a:t>Stateful, multiple bundled functions</a:t>
                      </a:r>
                    </a:p>
                  </a:txBody>
                  <a:tcPr marL="73152" marR="73152" marT="27432" marB="2743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Packet Filtering Firewall: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1</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Operates at the Network and Transport layers, examining each packet's header entirely in isolation: source and destination IP address, source and destination port, and protocol.</a:t>
            </a:r>
          </a:p>
          <a:p>
            <a:pPr marL="201168" indent="-201168">
              <a:spcAft>
                <a:spcPts val="1100"/>
              </a:spcAft>
              <a:buFont typeface="Arial"/>
              <a:buChar char="–"/>
            </a:pPr>
            <a:r>
              <a:rPr sz="1600" b="0" i="0">
                <a:solidFill>
                  <a:srgbClr val="222A33"/>
                </a:solidFill>
                <a:latin typeface="Calibri"/>
              </a:rPr>
              <a:t>Compares each packet against a static Access Control List processed top to bottom, stopping at the first matching rule.</a:t>
            </a:r>
          </a:p>
          <a:p>
            <a:pPr marL="201168" indent="-201168">
              <a:spcAft>
                <a:spcPts val="1100"/>
              </a:spcAft>
              <a:buFont typeface="Arial"/>
              <a:buChar char="–"/>
            </a:pPr>
            <a:r>
              <a:rPr sz="1600" b="0" i="0">
                <a:solidFill>
                  <a:srgbClr val="222A33"/>
                </a:solidFill>
                <a:latin typeface="Calibri"/>
              </a:rPr>
              <a:t>Stateless: it has no awareness of whether an incoming packet is genuinely part of an existing, legitimate conversation.</a:t>
            </a:r>
          </a:p>
          <a:p>
            <a:pPr marL="201168" indent="-201168">
              <a:spcAft>
                <a:spcPts val="1100"/>
              </a:spcAft>
              <a:buFont typeface="Arial"/>
              <a:buChar char="–"/>
            </a:pPr>
            <a:r>
              <a:rPr sz="1600" b="0" i="0">
                <a:solidFill>
                  <a:srgbClr val="222A33"/>
                </a:solidFill>
                <a:latin typeface="Calibri"/>
              </a:rPr>
              <a:t>Because it never inspects payload content, only headers, it is the fastest and lowest-overhead type covered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Packet Filtering Firewall: Advantages and Disadvantages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1</a:t>
            </a:r>
          </a:p>
        </p:txBody>
      </p:sp>
      <p:sp>
        <p:nvSpPr>
          <p:cNvPr id="4" name="TextBox 3"/>
          <p:cNvSpPr txBox="1"/>
          <p:nvPr/>
        </p:nvSpPr>
        <p:spPr>
          <a:xfrm>
            <a:off x="731520" y="1828800"/>
            <a:ext cx="5257800" cy="457200"/>
          </a:xfrm>
          <a:prstGeom prst="rect">
            <a:avLst/>
          </a:prstGeom>
          <a:noFill/>
        </p:spPr>
        <p:txBody>
          <a:bodyPr wrap="square">
            <a:spAutoFit/>
          </a:bodyPr>
          <a:lstStyle/>
          <a:p>
            <a:r>
              <a:rPr sz="1800" b="1" i="0">
                <a:solidFill>
                  <a:srgbClr val="196B24"/>
                </a:solidFill>
                <a:latin typeface="Calibri"/>
              </a:rPr>
              <a:t>Advantages</a:t>
            </a:r>
          </a:p>
        </p:txBody>
      </p:sp>
      <p:sp>
        <p:nvSpPr>
          <p:cNvPr id="5" name="TextBox 4"/>
          <p:cNvSpPr txBox="1"/>
          <p:nvPr/>
        </p:nvSpPr>
        <p:spPr>
          <a:xfrm>
            <a:off x="731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Very fast, with minimal processing overhead</a:t>
            </a:r>
          </a:p>
          <a:p>
            <a:pPr marL="201168" indent="-201168">
              <a:spcAft>
                <a:spcPts val="1000"/>
              </a:spcAft>
              <a:buFont typeface="Arial"/>
              <a:buChar char="–"/>
            </a:pPr>
            <a:r>
              <a:rPr sz="1500" b="0" i="0">
                <a:solidFill>
                  <a:srgbClr val="222A33"/>
                </a:solidFill>
                <a:latin typeface="Calibri"/>
              </a:rPr>
              <a:t>Simple to understand and configure for basic policies</a:t>
            </a:r>
          </a:p>
          <a:p>
            <a:pPr marL="201168" indent="-201168">
              <a:spcAft>
                <a:spcPts val="1000"/>
              </a:spcAft>
              <a:buFont typeface="Arial"/>
              <a:buChar char="–"/>
            </a:pPr>
            <a:r>
              <a:rPr sz="1500" b="0" i="0">
                <a:solidFill>
                  <a:srgbClr val="222A33"/>
                </a:solidFill>
                <a:latin typeface="Calibri"/>
              </a:rPr>
              <a:t>Inexpensive</a:t>
            </a:r>
          </a:p>
          <a:p>
            <a:pPr marL="201168" indent="-201168">
              <a:spcAft>
                <a:spcPts val="1000"/>
              </a:spcAft>
              <a:buFont typeface="Arial"/>
              <a:buChar char="–"/>
            </a:pPr>
            <a:r>
              <a:rPr sz="1500" b="0" i="0">
                <a:solidFill>
                  <a:srgbClr val="222A33"/>
                </a:solidFill>
                <a:latin typeface="Calibri"/>
              </a:rPr>
              <a:t>Effective as a first line of defence directly on a router</a:t>
            </a:r>
          </a:p>
        </p:txBody>
      </p:sp>
      <p:sp>
        <p:nvSpPr>
          <p:cNvPr id="6" name="TextBox 5"/>
          <p:cNvSpPr txBox="1"/>
          <p:nvPr/>
        </p:nvSpPr>
        <p:spPr>
          <a:xfrm>
            <a:off x="6446520" y="1828800"/>
            <a:ext cx="5257800" cy="457200"/>
          </a:xfrm>
          <a:prstGeom prst="rect">
            <a:avLst/>
          </a:prstGeom>
          <a:noFill/>
        </p:spPr>
        <p:txBody>
          <a:bodyPr wrap="square">
            <a:spAutoFit/>
          </a:bodyPr>
          <a:lstStyle/>
          <a:p>
            <a:r>
              <a:rPr sz="1800" b="1" i="0">
                <a:solidFill>
                  <a:srgbClr val="C0392B"/>
                </a:solidFill>
                <a:latin typeface="Calibri"/>
              </a:rPr>
              <a:t>Disadvantages</a:t>
            </a:r>
          </a:p>
        </p:txBody>
      </p:sp>
      <p:sp>
        <p:nvSpPr>
          <p:cNvPr id="7" name="TextBox 6"/>
          <p:cNvSpPr txBox="1"/>
          <p:nvPr/>
        </p:nvSpPr>
        <p:spPr>
          <a:xfrm>
            <a:off x="6446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No awareness of connection state</a:t>
            </a:r>
          </a:p>
          <a:p>
            <a:pPr marL="201168" indent="-201168">
              <a:spcAft>
                <a:spcPts val="1000"/>
              </a:spcAft>
              <a:buFont typeface="Arial"/>
              <a:buChar char="–"/>
            </a:pPr>
            <a:r>
              <a:rPr sz="1500" b="0" i="0">
                <a:solidFill>
                  <a:srgbClr val="222A33"/>
                </a:solidFill>
                <a:latin typeface="Calibri"/>
              </a:rPr>
              <a:t>Cannot inspect payload content, so application-layer attacks pass through</a:t>
            </a:r>
          </a:p>
          <a:p>
            <a:pPr marL="201168" indent="-201168">
              <a:spcAft>
                <a:spcPts val="1000"/>
              </a:spcAft>
              <a:buFont typeface="Arial"/>
              <a:buChar char="–"/>
            </a:pPr>
            <a:r>
              <a:rPr sz="1500" b="0" i="0">
                <a:solidFill>
                  <a:srgbClr val="222A33"/>
                </a:solidFill>
                <a:latin typeface="Calibri"/>
              </a:rPr>
              <a:t>Rule sets can grow complex and hard to maintain at scale</a:t>
            </a:r>
          </a:p>
          <a:p>
            <a:pPr marL="201168" indent="-201168">
              <a:spcAft>
                <a:spcPts val="1000"/>
              </a:spcAft>
              <a:buFont typeface="Arial"/>
              <a:buChar char="–"/>
            </a:pPr>
            <a:r>
              <a:rPr sz="1500" b="0" i="0">
                <a:solidFill>
                  <a:srgbClr val="222A33"/>
                </a:solidFill>
                <a:latin typeface="Calibri"/>
              </a:rPr>
              <a:t>Fragmented packets can evade filtering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Packet Filtering Firewall: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1</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Router-based Access Control Lists, exactly what you'll configure hands-on in this week's lab.</a:t>
            </a:r>
          </a:p>
          <a:p>
            <a:pPr marL="201168" indent="-201168">
              <a:spcAft>
                <a:spcPts val="1100"/>
              </a:spcAft>
              <a:buFont typeface="Arial"/>
              <a:buChar char="–"/>
            </a:pPr>
            <a:r>
              <a:rPr sz="1600" b="0" i="0">
                <a:solidFill>
                  <a:srgbClr val="222A33"/>
                </a:solidFill>
                <a:latin typeface="Calibri"/>
              </a:rPr>
              <a:t>First-line perimeter filtering for straightforward protocol and port-based blocking.</a:t>
            </a:r>
          </a:p>
          <a:p>
            <a:pPr marL="201168" indent="-201168">
              <a:spcAft>
                <a:spcPts val="1100"/>
              </a:spcAft>
              <a:buFont typeface="Arial"/>
              <a:buChar char="–"/>
            </a:pPr>
            <a:r>
              <a:rPr sz="1600" b="0" i="0">
                <a:solidFill>
                  <a:srgbClr val="222A33"/>
                </a:solidFill>
                <a:latin typeface="Calibri"/>
              </a:rPr>
              <a:t>High-throughput environments where raw speed matters more than deep inspection.</a:t>
            </a:r>
          </a:p>
          <a:p>
            <a:pPr marL="201168" indent="-201168">
              <a:spcAft>
                <a:spcPts val="1100"/>
              </a:spcAft>
              <a:buFont typeface="Arial"/>
              <a:buChar char="–"/>
            </a:pPr>
            <a:r>
              <a:rPr sz="1600" b="0" i="0">
                <a:solidFill>
                  <a:srgbClr val="222A33"/>
                </a:solidFill>
                <a:latin typeface="Calibri"/>
              </a:rPr>
              <a:t>Small networks and home routers, where simplicity is the priority.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Stateful Inspection Firewall: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2</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Operates at the same layers as packet filtering, but maintains a state table tracking every active connection: addresses, ports, protocol, and TCP sequence and flag information.</a:t>
            </a:r>
          </a:p>
          <a:p>
            <a:pPr marL="201168" indent="-201168">
              <a:spcAft>
                <a:spcPts val="1100"/>
              </a:spcAft>
              <a:buFont typeface="Arial"/>
              <a:buChar char="–"/>
            </a:pPr>
            <a:r>
              <a:rPr sz="1600" b="0" i="0">
                <a:solidFill>
                  <a:srgbClr val="222A33"/>
                </a:solidFill>
                <a:latin typeface="Calibri"/>
              </a:rPr>
              <a:t>New connection attempts are evaluated against the rule set, but return traffic belonging to an already-established, legitimate connection is automatically permitted without a separate rule.</a:t>
            </a:r>
          </a:p>
          <a:p>
            <a:pPr marL="201168" indent="-201168">
              <a:spcAft>
                <a:spcPts val="1100"/>
              </a:spcAft>
              <a:buFont typeface="Arial"/>
              <a:buChar char="–"/>
            </a:pPr>
            <a:r>
              <a:rPr sz="1600" b="0" i="0">
                <a:solidFill>
                  <a:srgbClr val="222A33"/>
                </a:solidFill>
                <a:latin typeface="Calibri"/>
              </a:rPr>
              <a:t>Can detect out-of-state anomalies, for example a packet claiming to belong to a TCP session that was never properly established, directly relevant to Week 6's hijacking and RST injection discussion.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Stateful Inspection Firewall: Advantages and Disadvantages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2</a:t>
            </a:r>
          </a:p>
        </p:txBody>
      </p:sp>
      <p:sp>
        <p:nvSpPr>
          <p:cNvPr id="4" name="TextBox 3"/>
          <p:cNvSpPr txBox="1"/>
          <p:nvPr/>
        </p:nvSpPr>
        <p:spPr>
          <a:xfrm>
            <a:off x="731520" y="1828800"/>
            <a:ext cx="5257800" cy="457200"/>
          </a:xfrm>
          <a:prstGeom prst="rect">
            <a:avLst/>
          </a:prstGeom>
          <a:noFill/>
        </p:spPr>
        <p:txBody>
          <a:bodyPr wrap="square">
            <a:spAutoFit/>
          </a:bodyPr>
          <a:lstStyle/>
          <a:p>
            <a:r>
              <a:rPr sz="1800" b="1" i="0">
                <a:solidFill>
                  <a:srgbClr val="196B24"/>
                </a:solidFill>
                <a:latin typeface="Calibri"/>
              </a:rPr>
              <a:t>Advantages</a:t>
            </a:r>
          </a:p>
        </p:txBody>
      </p:sp>
      <p:sp>
        <p:nvSpPr>
          <p:cNvPr id="5" name="TextBox 4"/>
          <p:cNvSpPr txBox="1"/>
          <p:nvPr/>
        </p:nvSpPr>
        <p:spPr>
          <a:xfrm>
            <a:off x="731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Substantially stronger security than pure packet filtering, since decisions have context</a:t>
            </a:r>
          </a:p>
          <a:p>
            <a:pPr marL="201168" indent="-201168">
              <a:spcAft>
                <a:spcPts val="1000"/>
              </a:spcAft>
              <a:buFont typeface="Arial"/>
              <a:buChar char="–"/>
            </a:pPr>
            <a:r>
              <a:rPr sz="1500" b="0" i="0">
                <a:solidFill>
                  <a:srgbClr val="222A33"/>
                </a:solidFill>
                <a:latin typeface="Calibri"/>
              </a:rPr>
              <a:t>Simpler rule sets, since only the initiating direction needs an explicit rule</a:t>
            </a:r>
          </a:p>
          <a:p>
            <a:pPr marL="201168" indent="-201168">
              <a:spcAft>
                <a:spcPts val="1000"/>
              </a:spcAft>
              <a:buFont typeface="Arial"/>
              <a:buChar char="–"/>
            </a:pPr>
            <a:r>
              <a:rPr sz="1500" b="0" i="0">
                <a:solidFill>
                  <a:srgbClr val="222A33"/>
                </a:solidFill>
                <a:latin typeface="Calibri"/>
              </a:rPr>
              <a:t>Better resistance to several spoofing and scanning techniques</a:t>
            </a:r>
          </a:p>
        </p:txBody>
      </p:sp>
      <p:sp>
        <p:nvSpPr>
          <p:cNvPr id="6" name="TextBox 5"/>
          <p:cNvSpPr txBox="1"/>
          <p:nvPr/>
        </p:nvSpPr>
        <p:spPr>
          <a:xfrm>
            <a:off x="6446520" y="1828800"/>
            <a:ext cx="5257800" cy="457200"/>
          </a:xfrm>
          <a:prstGeom prst="rect">
            <a:avLst/>
          </a:prstGeom>
          <a:noFill/>
        </p:spPr>
        <p:txBody>
          <a:bodyPr wrap="square">
            <a:spAutoFit/>
          </a:bodyPr>
          <a:lstStyle/>
          <a:p>
            <a:r>
              <a:rPr sz="1800" b="1" i="0">
                <a:solidFill>
                  <a:srgbClr val="C0392B"/>
                </a:solidFill>
                <a:latin typeface="Calibri"/>
              </a:rPr>
              <a:t>Disadvantages</a:t>
            </a:r>
          </a:p>
        </p:txBody>
      </p:sp>
      <p:sp>
        <p:nvSpPr>
          <p:cNvPr id="7" name="TextBox 6"/>
          <p:cNvSpPr txBox="1"/>
          <p:nvPr/>
        </p:nvSpPr>
        <p:spPr>
          <a:xfrm>
            <a:off x="6446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More resource-intensive, since the state table must be maintained in memory</a:t>
            </a:r>
          </a:p>
          <a:p>
            <a:pPr marL="201168" indent="-201168">
              <a:spcAft>
                <a:spcPts val="1000"/>
              </a:spcAft>
              <a:buFont typeface="Arial"/>
              <a:buChar char="–"/>
            </a:pPr>
            <a:r>
              <a:rPr sz="1500" b="0" i="0">
                <a:solidFill>
                  <a:srgbClr val="222A33"/>
                </a:solidFill>
                <a:latin typeface="Calibri"/>
              </a:rPr>
              <a:t>The state table itself can be exhausted by a flood of half-open connections (SYN flood)</a:t>
            </a:r>
          </a:p>
          <a:p>
            <a:pPr marL="201168" indent="-201168">
              <a:spcAft>
                <a:spcPts val="1000"/>
              </a:spcAft>
              <a:buFont typeface="Arial"/>
              <a:buChar char="–"/>
            </a:pPr>
            <a:r>
              <a:rPr sz="1500" b="0" i="0">
                <a:solidFill>
                  <a:srgbClr val="222A33"/>
                </a:solidFill>
                <a:latin typeface="Calibri"/>
              </a:rPr>
              <a:t>Still generally cannot inspect encrypted payload content</a:t>
            </a:r>
          </a:p>
          <a:p>
            <a:pPr marL="201168" indent="-201168">
              <a:spcAft>
                <a:spcPts val="1000"/>
              </a:spcAft>
              <a:buFont typeface="Arial"/>
              <a:buChar char="–"/>
            </a:pPr>
            <a:r>
              <a:rPr sz="1500" b="0" i="0">
                <a:solidFill>
                  <a:srgbClr val="222A33"/>
                </a:solidFill>
                <a:latin typeface="Calibri"/>
              </a:rPr>
              <a:t>More complex to troubleshoot than simple packet filtering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Stateful Inspection Firewall: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2</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The default assumption behind most modern commercial firewall appliances.</a:t>
            </a:r>
          </a:p>
          <a:p>
            <a:pPr marL="201168" indent="-201168">
              <a:spcAft>
                <a:spcPts val="1100"/>
              </a:spcAft>
              <a:buFont typeface="Arial"/>
              <a:buChar char="–"/>
            </a:pPr>
            <a:r>
              <a:rPr sz="1600" b="0" i="0">
                <a:solidFill>
                  <a:srgbClr val="222A33"/>
                </a:solidFill>
                <a:latin typeface="Calibri"/>
              </a:rPr>
              <a:t>Standard enterprise perimeter firewalls, where solid protection is needed without the overhead of full application-layer inspection.</a:t>
            </a:r>
          </a:p>
          <a:p>
            <a:pPr marL="201168" indent="-201168">
              <a:spcAft>
                <a:spcPts val="1100"/>
              </a:spcAft>
              <a:buFont typeface="Arial"/>
              <a:buChar char="–"/>
            </a:pPr>
            <a:r>
              <a:rPr sz="1600" b="0" i="0">
                <a:solidFill>
                  <a:srgbClr val="222A33"/>
                </a:solidFill>
                <a:latin typeface="Calibri"/>
              </a:rPr>
              <a:t>Any environment needing genuine context-aware filtering without paying for NGFW-level capability.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Circuit-Level Gateway: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3</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Operates at the Session layer, verifying that a TCP handshake and session setup is legitimate, for example monitoring the SYN, SYN-ACK, and ACK sequence, before allowing the session to proceed.</a:t>
            </a:r>
          </a:p>
          <a:p>
            <a:pPr marL="201168" indent="-201168">
              <a:spcAft>
                <a:spcPts val="1100"/>
              </a:spcAft>
              <a:buFont typeface="Arial"/>
              <a:buChar char="–"/>
            </a:pPr>
            <a:r>
              <a:rPr sz="1600" b="0" i="0">
                <a:solidFill>
                  <a:srgbClr val="222A33"/>
                </a:solidFill>
                <a:latin typeface="Calibri"/>
              </a:rPr>
              <a:t>Once a session is validated, it does not inspect the actual payload content at all. It checks that the session was formed correctly, not what flows through it afterward.</a:t>
            </a:r>
          </a:p>
          <a:p>
            <a:pPr marL="201168" indent="-201168">
              <a:spcAft>
                <a:spcPts val="1100"/>
              </a:spcAft>
              <a:buFont typeface="Arial"/>
              <a:buChar char="–"/>
            </a:pPr>
            <a:r>
              <a:rPr sz="1600" b="0" i="0">
                <a:solidFill>
                  <a:srgbClr val="222A33"/>
                </a:solidFill>
                <a:latin typeface="Calibri"/>
              </a:rPr>
              <a:t>SOCKS proxy is a classic real-world implementation of this approach.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Circuit-Level Gateway: Advantages and Disadvantages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3</a:t>
            </a:r>
          </a:p>
        </p:txBody>
      </p:sp>
      <p:sp>
        <p:nvSpPr>
          <p:cNvPr id="4" name="TextBox 3"/>
          <p:cNvSpPr txBox="1"/>
          <p:nvPr/>
        </p:nvSpPr>
        <p:spPr>
          <a:xfrm>
            <a:off x="731520" y="1828800"/>
            <a:ext cx="5257800" cy="457200"/>
          </a:xfrm>
          <a:prstGeom prst="rect">
            <a:avLst/>
          </a:prstGeom>
          <a:noFill/>
        </p:spPr>
        <p:txBody>
          <a:bodyPr wrap="square">
            <a:spAutoFit/>
          </a:bodyPr>
          <a:lstStyle/>
          <a:p>
            <a:r>
              <a:rPr sz="1800" b="1" i="0">
                <a:solidFill>
                  <a:srgbClr val="196B24"/>
                </a:solidFill>
                <a:latin typeface="Calibri"/>
              </a:rPr>
              <a:t>Advantages</a:t>
            </a:r>
          </a:p>
        </p:txBody>
      </p:sp>
      <p:sp>
        <p:nvSpPr>
          <p:cNvPr id="5" name="TextBox 4"/>
          <p:cNvSpPr txBox="1"/>
          <p:nvPr/>
        </p:nvSpPr>
        <p:spPr>
          <a:xfrm>
            <a:off x="731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Lower overhead than full application-layer inspection</a:t>
            </a:r>
          </a:p>
          <a:p>
            <a:pPr marL="201168" indent="-201168">
              <a:spcAft>
                <a:spcPts val="1000"/>
              </a:spcAft>
              <a:buFont typeface="Arial"/>
              <a:buChar char="–"/>
            </a:pPr>
            <a:r>
              <a:rPr sz="1500" b="0" i="0">
                <a:solidFill>
                  <a:srgbClr val="222A33"/>
                </a:solidFill>
                <a:latin typeface="Calibri"/>
              </a:rPr>
              <a:t>Hides internal network addressing from the outside</a:t>
            </a:r>
          </a:p>
          <a:p>
            <a:pPr marL="201168" indent="-201168">
              <a:spcAft>
                <a:spcPts val="1000"/>
              </a:spcAft>
              <a:buFont typeface="Arial"/>
              <a:buChar char="–"/>
            </a:pPr>
            <a:r>
              <a:rPr sz="1500" b="0" i="0">
                <a:solidFill>
                  <a:srgbClr val="222A33"/>
                </a:solidFill>
                <a:latin typeface="Calibri"/>
              </a:rPr>
              <a:t>Relatively fast once a session is validated</a:t>
            </a:r>
          </a:p>
        </p:txBody>
      </p:sp>
      <p:sp>
        <p:nvSpPr>
          <p:cNvPr id="6" name="TextBox 5"/>
          <p:cNvSpPr txBox="1"/>
          <p:nvPr/>
        </p:nvSpPr>
        <p:spPr>
          <a:xfrm>
            <a:off x="6446520" y="1828800"/>
            <a:ext cx="5257800" cy="457200"/>
          </a:xfrm>
          <a:prstGeom prst="rect">
            <a:avLst/>
          </a:prstGeom>
          <a:noFill/>
        </p:spPr>
        <p:txBody>
          <a:bodyPr wrap="square">
            <a:spAutoFit/>
          </a:bodyPr>
          <a:lstStyle/>
          <a:p>
            <a:r>
              <a:rPr sz="1800" b="1" i="0">
                <a:solidFill>
                  <a:srgbClr val="C0392B"/>
                </a:solidFill>
                <a:latin typeface="Calibri"/>
              </a:rPr>
              <a:t>Disadvantages</a:t>
            </a:r>
          </a:p>
        </p:txBody>
      </p:sp>
      <p:sp>
        <p:nvSpPr>
          <p:cNvPr id="7" name="TextBox 6"/>
          <p:cNvSpPr txBox="1"/>
          <p:nvPr/>
        </p:nvSpPr>
        <p:spPr>
          <a:xfrm>
            <a:off x="6446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No content-level filtering at all after the handshake</a:t>
            </a:r>
          </a:p>
          <a:p>
            <a:pPr marL="201168" indent="-201168">
              <a:spcAft>
                <a:spcPts val="1000"/>
              </a:spcAft>
              <a:buFont typeface="Arial"/>
              <a:buChar char="–"/>
            </a:pPr>
            <a:r>
              <a:rPr sz="1500" b="0" i="0">
                <a:solidFill>
                  <a:srgbClr val="222A33"/>
                </a:solidFill>
                <a:latin typeface="Calibri"/>
              </a:rPr>
              <a:t>Malicious payload inside an already-validated session passes through undetected</a:t>
            </a:r>
          </a:p>
          <a:p>
            <a:pPr marL="201168" indent="-201168">
              <a:spcAft>
                <a:spcPts val="1000"/>
              </a:spcAft>
              <a:buFont typeface="Arial"/>
              <a:buChar char="–"/>
            </a:pPr>
            <a:r>
              <a:rPr sz="1500" b="0" i="0">
                <a:solidFill>
                  <a:srgbClr val="222A33"/>
                </a:solidFill>
                <a:latin typeface="Calibri"/>
              </a:rPr>
              <a:t>Limited standalone use today, largely absorbed into later firewall generations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Circuit-Level Gateway: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3</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Historically used in early combined proxy-firewall products.</a:t>
            </a:r>
          </a:p>
          <a:p>
            <a:pPr marL="201168" indent="-201168">
              <a:spcAft>
                <a:spcPts val="1100"/>
              </a:spcAft>
              <a:buFont typeface="Arial"/>
              <a:buChar char="–"/>
            </a:pPr>
            <a:r>
              <a:rPr sz="1600" b="0" i="0">
                <a:solidFill>
                  <a:srgbClr val="222A33"/>
                </a:solidFill>
                <a:latin typeface="Calibri"/>
              </a:rPr>
              <a:t>SOCKS-based application proxying specifically.</a:t>
            </a:r>
          </a:p>
          <a:p>
            <a:pPr marL="201168" indent="-201168">
              <a:spcAft>
                <a:spcPts val="1100"/>
              </a:spcAft>
              <a:buFont typeface="Arial"/>
              <a:buChar char="–"/>
            </a:pPr>
            <a:r>
              <a:rPr sz="1600" b="0" i="0">
                <a:solidFill>
                  <a:srgbClr val="222A33"/>
                </a:solidFill>
                <a:latin typeface="Calibri"/>
              </a:rPr>
              <a:t>Scenarios needing to hide internal network topology from external parties while keeping overhead low.</a:t>
            </a:r>
          </a:p>
          <a:p>
            <a:pPr marL="201168" indent="-201168">
              <a:spcAft>
                <a:spcPts val="1100"/>
              </a:spcAft>
              <a:buFont typeface="Arial"/>
              <a:buChar char="–"/>
            </a:pPr>
            <a:r>
              <a:rPr sz="1600" b="0" i="0">
                <a:solidFill>
                  <a:srgbClr val="222A33"/>
                </a:solidFill>
                <a:latin typeface="Calibri"/>
              </a:rPr>
              <a:t>Rarely deployed as a sole, standalone firewall today. More of a conceptual building block whose ideas live on inside later firewall generations.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Application-Layer (Proxy) Firewall: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4</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Operates at the Application layer, acting as a genuine intermediary: the client never connects directly to the destination. The firewall terminates the client's connection, inspects the request in full application-protocol detail, then opens a separate connection to the real destination on the client's behalf.</a:t>
            </a:r>
          </a:p>
          <a:p>
            <a:pPr marL="201168" indent="-201168">
              <a:spcAft>
                <a:spcPts val="1100"/>
              </a:spcAft>
              <a:buFont typeface="Arial"/>
              <a:buChar char="–"/>
            </a:pPr>
            <a:r>
              <a:rPr sz="1600" b="0" i="0">
                <a:solidFill>
                  <a:srgbClr val="222A33"/>
                </a:solidFill>
                <a:latin typeface="Calibri"/>
              </a:rPr>
              <a:t>Because it fully understands the specific application protocol involved, for example HTTP methods or FTP commands, it can enforce very granular rules and even strip malicious content from a response before forwarding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Application-Layer (Proxy) Firewall: Advantages and Disadvantages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4</a:t>
            </a:r>
          </a:p>
        </p:txBody>
      </p:sp>
      <p:sp>
        <p:nvSpPr>
          <p:cNvPr id="4" name="TextBox 3"/>
          <p:cNvSpPr txBox="1"/>
          <p:nvPr/>
        </p:nvSpPr>
        <p:spPr>
          <a:xfrm>
            <a:off x="731520" y="1828800"/>
            <a:ext cx="5257800" cy="457200"/>
          </a:xfrm>
          <a:prstGeom prst="rect">
            <a:avLst/>
          </a:prstGeom>
          <a:noFill/>
        </p:spPr>
        <p:txBody>
          <a:bodyPr wrap="square">
            <a:spAutoFit/>
          </a:bodyPr>
          <a:lstStyle/>
          <a:p>
            <a:r>
              <a:rPr sz="1800" b="1" i="0">
                <a:solidFill>
                  <a:srgbClr val="196B24"/>
                </a:solidFill>
                <a:latin typeface="Calibri"/>
              </a:rPr>
              <a:t>Advantages</a:t>
            </a:r>
          </a:p>
        </p:txBody>
      </p:sp>
      <p:sp>
        <p:nvSpPr>
          <p:cNvPr id="5" name="TextBox 4"/>
          <p:cNvSpPr txBox="1"/>
          <p:nvPr/>
        </p:nvSpPr>
        <p:spPr>
          <a:xfrm>
            <a:off x="731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Deepest inspection and control among the classic types</a:t>
            </a:r>
          </a:p>
          <a:p>
            <a:pPr marL="201168" indent="-201168">
              <a:spcAft>
                <a:spcPts val="1000"/>
              </a:spcAft>
              <a:buFont typeface="Arial"/>
              <a:buChar char="–"/>
            </a:pPr>
            <a:r>
              <a:rPr sz="1500" b="0" i="0">
                <a:solidFill>
                  <a:srgbClr val="222A33"/>
                </a:solidFill>
                <a:latin typeface="Calibri"/>
              </a:rPr>
              <a:t>Strong anonymisation, client's real address never exposed</a:t>
            </a:r>
          </a:p>
          <a:p>
            <a:pPr marL="201168" indent="-201168">
              <a:spcAft>
                <a:spcPts val="1000"/>
              </a:spcAft>
              <a:buFont typeface="Arial"/>
              <a:buChar char="–"/>
            </a:pPr>
            <a:r>
              <a:rPr sz="1500" b="0" i="0">
                <a:solidFill>
                  <a:srgbClr val="222A33"/>
                </a:solidFill>
                <a:latin typeface="Calibri"/>
              </a:rPr>
              <a:t>Can actively sanitise malicious content, not just block it</a:t>
            </a:r>
          </a:p>
        </p:txBody>
      </p:sp>
      <p:sp>
        <p:nvSpPr>
          <p:cNvPr id="6" name="TextBox 5"/>
          <p:cNvSpPr txBox="1"/>
          <p:nvPr/>
        </p:nvSpPr>
        <p:spPr>
          <a:xfrm>
            <a:off x="6446520" y="1828800"/>
            <a:ext cx="5257800" cy="457200"/>
          </a:xfrm>
          <a:prstGeom prst="rect">
            <a:avLst/>
          </a:prstGeom>
          <a:noFill/>
        </p:spPr>
        <p:txBody>
          <a:bodyPr wrap="square">
            <a:spAutoFit/>
          </a:bodyPr>
          <a:lstStyle/>
          <a:p>
            <a:r>
              <a:rPr sz="1800" b="1" i="0">
                <a:solidFill>
                  <a:srgbClr val="C0392B"/>
                </a:solidFill>
                <a:latin typeface="Calibri"/>
              </a:rPr>
              <a:t>Disadvantages</a:t>
            </a:r>
          </a:p>
        </p:txBody>
      </p:sp>
      <p:sp>
        <p:nvSpPr>
          <p:cNvPr id="7" name="TextBox 6"/>
          <p:cNvSpPr txBox="1"/>
          <p:nvPr/>
        </p:nvSpPr>
        <p:spPr>
          <a:xfrm>
            <a:off x="6446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Highest performance overhead of the classic types</a:t>
            </a:r>
          </a:p>
          <a:p>
            <a:pPr marL="201168" indent="-201168">
              <a:spcAft>
                <a:spcPts val="1000"/>
              </a:spcAft>
              <a:buFont typeface="Arial"/>
              <a:buChar char="–"/>
            </a:pPr>
            <a:r>
              <a:rPr sz="1500" b="0" i="0">
                <a:solidFill>
                  <a:srgbClr val="222A33"/>
                </a:solidFill>
                <a:latin typeface="Calibri"/>
              </a:rPr>
              <a:t>Needs a dedicated proxy module for every application protocol</a:t>
            </a:r>
          </a:p>
          <a:p>
            <a:pPr marL="201168" indent="-201168">
              <a:spcAft>
                <a:spcPts val="1000"/>
              </a:spcAft>
              <a:buFont typeface="Arial"/>
              <a:buChar char="–"/>
            </a:pPr>
            <a:r>
              <a:rPr sz="1500" b="0" i="0">
                <a:solidFill>
                  <a:srgbClr val="222A33"/>
                </a:solidFill>
                <a:latin typeface="Calibri"/>
              </a:rPr>
              <a:t>Can become a bottleneck or single point of failure under heavy load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Application-Layer (Proxy) Firewall: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4</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Environments requiring very strict content control, such as corporate web or email proxies filtering specific content types.</a:t>
            </a:r>
          </a:p>
          <a:p>
            <a:pPr marL="201168" indent="-201168">
              <a:spcAft>
                <a:spcPts val="1100"/>
              </a:spcAft>
              <a:buFont typeface="Arial"/>
              <a:buChar char="–"/>
            </a:pPr>
            <a:r>
              <a:rPr sz="1600" b="0" i="0">
                <a:solidFill>
                  <a:srgbClr val="222A33"/>
                </a:solidFill>
                <a:latin typeface="Calibri"/>
              </a:rPr>
              <a:t>Situations needing strong anonymisation of internal client identities.</a:t>
            </a:r>
          </a:p>
          <a:p>
            <a:pPr marL="201168" indent="-201168">
              <a:spcAft>
                <a:spcPts val="1100"/>
              </a:spcAft>
              <a:buFont typeface="Arial"/>
              <a:buChar char="–"/>
            </a:pPr>
            <a:r>
              <a:rPr sz="1600" b="0" i="0">
                <a:solidFill>
                  <a:srgbClr val="222A33"/>
                </a:solidFill>
                <a:latin typeface="Calibri"/>
              </a:rPr>
              <a:t>Legacy enterprise proxy deployments, such as Squid-based web proxies.</a:t>
            </a:r>
          </a:p>
          <a:p>
            <a:pPr marL="201168" indent="-201168">
              <a:spcAft>
                <a:spcPts val="1100"/>
              </a:spcAft>
              <a:buFont typeface="Arial"/>
              <a:buChar char="–"/>
            </a:pPr>
            <a:r>
              <a:rPr sz="1600" b="0" i="0">
                <a:solidFill>
                  <a:srgbClr val="222A33"/>
                </a:solidFill>
                <a:latin typeface="Calibri"/>
              </a:rPr>
              <a:t>The direct conceptual foundation behind modern WAFs, which apply the same deep-inspection principle specifically to web traffic.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Next-Generation Firewall (NGFW):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5</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Integrates traditional stateful inspection with deep packet inspection, application awareness (identifying traffic by the actual application in use, not just by port number), integrated intrusion prevention, and often user-identity-based policy tied to specific users or groups rather than just IP addresses.</a:t>
            </a:r>
          </a:p>
          <a:p>
            <a:pPr marL="201168" indent="-201168">
              <a:spcAft>
                <a:spcPts val="1100"/>
              </a:spcAft>
              <a:buFont typeface="Arial"/>
              <a:buChar char="–"/>
            </a:pPr>
            <a:r>
              <a:rPr sz="1600" b="0" i="0">
                <a:solidFill>
                  <a:srgbClr val="222A33"/>
                </a:solidFill>
                <a:latin typeface="Calibri"/>
              </a:rPr>
              <a:t>Built as a single-pass, tightly integrated architecture from the ground up, in deliberate contrast to UTM's bundled-separate-modules approach, covered shortly.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Next-Generation Firewall (NGFW): Advantages and Disadvantages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5</a:t>
            </a:r>
          </a:p>
        </p:txBody>
      </p:sp>
      <p:sp>
        <p:nvSpPr>
          <p:cNvPr id="4" name="TextBox 3"/>
          <p:cNvSpPr txBox="1"/>
          <p:nvPr/>
        </p:nvSpPr>
        <p:spPr>
          <a:xfrm>
            <a:off x="731520" y="1828800"/>
            <a:ext cx="5257800" cy="457200"/>
          </a:xfrm>
          <a:prstGeom prst="rect">
            <a:avLst/>
          </a:prstGeom>
          <a:noFill/>
        </p:spPr>
        <p:txBody>
          <a:bodyPr wrap="square">
            <a:spAutoFit/>
          </a:bodyPr>
          <a:lstStyle/>
          <a:p>
            <a:r>
              <a:rPr sz="1800" b="1" i="0">
                <a:solidFill>
                  <a:srgbClr val="196B24"/>
                </a:solidFill>
                <a:latin typeface="Calibri"/>
              </a:rPr>
              <a:t>Advantages</a:t>
            </a:r>
          </a:p>
        </p:txBody>
      </p:sp>
      <p:sp>
        <p:nvSpPr>
          <p:cNvPr id="5" name="TextBox 4"/>
          <p:cNvSpPr txBox="1"/>
          <p:nvPr/>
        </p:nvSpPr>
        <p:spPr>
          <a:xfrm>
            <a:off x="731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Comprehensive, modern protection combining many functions in one system</a:t>
            </a:r>
          </a:p>
          <a:p>
            <a:pPr marL="201168" indent="-201168">
              <a:spcAft>
                <a:spcPts val="1000"/>
              </a:spcAft>
              <a:buFont typeface="Arial"/>
              <a:buChar char="–"/>
            </a:pPr>
            <a:r>
              <a:rPr sz="1500" b="0" i="0">
                <a:solidFill>
                  <a:srgbClr val="222A33"/>
                </a:solidFill>
                <a:latin typeface="Calibri"/>
              </a:rPr>
              <a:t>Application-level visibility gives far more precise policy than port or protocol alone</a:t>
            </a:r>
          </a:p>
          <a:p>
            <a:pPr marL="201168" indent="-201168">
              <a:spcAft>
                <a:spcPts val="1000"/>
              </a:spcAft>
              <a:buFont typeface="Arial"/>
              <a:buChar char="–"/>
            </a:pPr>
            <a:r>
              <a:rPr sz="1500" b="0" i="0">
                <a:solidFill>
                  <a:srgbClr val="222A33"/>
                </a:solidFill>
                <a:latin typeface="Calibri"/>
              </a:rPr>
              <a:t>Often able to decrypt and inspect SSL/TLS traffic</a:t>
            </a:r>
          </a:p>
          <a:p>
            <a:pPr marL="201168" indent="-201168">
              <a:spcAft>
                <a:spcPts val="1000"/>
              </a:spcAft>
              <a:buFont typeface="Arial"/>
              <a:buChar char="–"/>
            </a:pPr>
            <a:r>
              <a:rPr sz="1500" b="0" i="0">
                <a:solidFill>
                  <a:srgbClr val="222A33"/>
                </a:solidFill>
                <a:latin typeface="Calibri"/>
              </a:rPr>
              <a:t>Strong fit against sophisticated, multi-vector modern attacks</a:t>
            </a:r>
          </a:p>
        </p:txBody>
      </p:sp>
      <p:sp>
        <p:nvSpPr>
          <p:cNvPr id="6" name="TextBox 5"/>
          <p:cNvSpPr txBox="1"/>
          <p:nvPr/>
        </p:nvSpPr>
        <p:spPr>
          <a:xfrm>
            <a:off x="6446520" y="1828800"/>
            <a:ext cx="5257800" cy="457200"/>
          </a:xfrm>
          <a:prstGeom prst="rect">
            <a:avLst/>
          </a:prstGeom>
          <a:noFill/>
        </p:spPr>
        <p:txBody>
          <a:bodyPr wrap="square">
            <a:spAutoFit/>
          </a:bodyPr>
          <a:lstStyle/>
          <a:p>
            <a:r>
              <a:rPr sz="1800" b="1" i="0">
                <a:solidFill>
                  <a:srgbClr val="C0392B"/>
                </a:solidFill>
                <a:latin typeface="Calibri"/>
              </a:rPr>
              <a:t>Disadvantages</a:t>
            </a:r>
          </a:p>
        </p:txBody>
      </p:sp>
      <p:sp>
        <p:nvSpPr>
          <p:cNvPr id="7" name="TextBox 6"/>
          <p:cNvSpPr txBox="1"/>
          <p:nvPr/>
        </p:nvSpPr>
        <p:spPr>
          <a:xfrm>
            <a:off x="6446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Significantly more expensive than earlier generations</a:t>
            </a:r>
          </a:p>
          <a:p>
            <a:pPr marL="201168" indent="-201168">
              <a:spcAft>
                <a:spcPts val="1000"/>
              </a:spcAft>
              <a:buFont typeface="Arial"/>
              <a:buChar char="–"/>
            </a:pPr>
            <a:r>
              <a:rPr sz="1500" b="0" i="0">
                <a:solidFill>
                  <a:srgbClr val="222A33"/>
                </a:solidFill>
                <a:latin typeface="Calibri"/>
              </a:rPr>
              <a:t>Higher configuration and management complexity</a:t>
            </a:r>
          </a:p>
          <a:p>
            <a:pPr marL="201168" indent="-201168">
              <a:spcAft>
                <a:spcPts val="1000"/>
              </a:spcAft>
              <a:buFont typeface="Arial"/>
              <a:buChar char="–"/>
            </a:pPr>
            <a:r>
              <a:rPr sz="1500" b="0" i="0">
                <a:solidFill>
                  <a:srgbClr val="222A33"/>
                </a:solidFill>
                <a:latin typeface="Calibri"/>
              </a:rPr>
              <a:t>Deep inspection, especially SSL decryption, can impact throughput</a:t>
            </a:r>
          </a:p>
          <a:p>
            <a:pPr marL="201168" indent="-201168">
              <a:spcAft>
                <a:spcPts val="1000"/>
              </a:spcAft>
              <a:buFont typeface="Arial"/>
              <a:buChar char="–"/>
            </a:pPr>
            <a:r>
              <a:rPr sz="1500" b="0" i="0">
                <a:solidFill>
                  <a:srgbClr val="222A33"/>
                </a:solidFill>
                <a:latin typeface="Calibri"/>
              </a:rPr>
              <a:t>Carries a large amount of security responsibility in one place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Next-Generation Firewall (NGFW):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5</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Modern enterprise perimeter security, effectively the current default standard.</a:t>
            </a:r>
          </a:p>
          <a:p>
            <a:pPr marL="201168" indent="-201168">
              <a:spcAft>
                <a:spcPts val="1100"/>
              </a:spcAft>
              <a:buFont typeface="Arial"/>
              <a:buChar char="–"/>
            </a:pPr>
            <a:r>
              <a:rPr sz="1600" b="0" i="0">
                <a:solidFill>
                  <a:srgbClr val="222A33"/>
                </a:solidFill>
                <a:latin typeface="Calibri"/>
              </a:rPr>
              <a:t>Organisations needing application-aware policy, such as allowing general web browsing while blocking specific risky applications regardless of the port they use.</a:t>
            </a:r>
          </a:p>
          <a:p>
            <a:pPr marL="201168" indent="-201168">
              <a:spcAft>
                <a:spcPts val="1100"/>
              </a:spcAft>
              <a:buFont typeface="Arial"/>
              <a:buChar char="–"/>
            </a:pPr>
            <a:r>
              <a:rPr sz="1600" b="0" i="0">
                <a:solidFill>
                  <a:srgbClr val="222A33"/>
                </a:solidFill>
                <a:latin typeface="Calibri"/>
              </a:rPr>
              <a:t>Environments with significant encrypted traffic needing genuine SSL inspection capability.</a:t>
            </a:r>
          </a:p>
          <a:p>
            <a:pPr marL="201168" indent="-201168">
              <a:spcAft>
                <a:spcPts val="1100"/>
              </a:spcAft>
              <a:buFont typeface="Arial"/>
              <a:buChar char="–"/>
            </a:pPr>
            <a:r>
              <a:rPr sz="1600" b="0" i="0">
                <a:solidFill>
                  <a:srgbClr val="222A33"/>
                </a:solidFill>
                <a:latin typeface="Calibri"/>
              </a:rPr>
              <a:t>Any organisation wanting one consolidated, tightly integrated security platform rather than several separate products.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Web Application Firewall (WAF):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6</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Operates at the Application layer, but specialised specifically for HTTP and HTTPS web traffic rather than general-purpose like an NGFW.</a:t>
            </a:r>
          </a:p>
          <a:p>
            <a:pPr marL="201168" indent="-201168">
              <a:spcAft>
                <a:spcPts val="1100"/>
              </a:spcAft>
              <a:buFont typeface="Arial"/>
              <a:buChar char="–"/>
            </a:pPr>
            <a:r>
              <a:rPr sz="1600" b="0" i="0">
                <a:solidFill>
                  <a:srgbClr val="222A33"/>
                </a:solidFill>
                <a:latin typeface="Calibri"/>
              </a:rPr>
              <a:t>Sits in front of web applications and servers, inspecting requests and responses specifically for web-application attack patterns: SQL injection, cross-site scripting, cross-site request forgery, and other OWASP Top 10-style threats.</a:t>
            </a:r>
          </a:p>
          <a:p>
            <a:pPr marL="201168" indent="-201168">
              <a:spcAft>
                <a:spcPts val="1100"/>
              </a:spcAft>
              <a:buFont typeface="Arial"/>
              <a:buChar char="–"/>
            </a:pPr>
            <a:r>
              <a:rPr sz="1600" b="0" i="0">
                <a:solidFill>
                  <a:srgbClr val="222A33"/>
                </a:solidFill>
                <a:latin typeface="Calibri"/>
              </a:rPr>
              <a:t>Can use signature-based detection (matching known attack patterns), a positive security model (allowing only known-good request patterns and denying everything else), or both together.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Web Application Firewall (WAF): Advantages and Disadvantages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6</a:t>
            </a:r>
          </a:p>
        </p:txBody>
      </p:sp>
      <p:sp>
        <p:nvSpPr>
          <p:cNvPr id="4" name="TextBox 3"/>
          <p:cNvSpPr txBox="1"/>
          <p:nvPr/>
        </p:nvSpPr>
        <p:spPr>
          <a:xfrm>
            <a:off x="731520" y="1828800"/>
            <a:ext cx="5257800" cy="457200"/>
          </a:xfrm>
          <a:prstGeom prst="rect">
            <a:avLst/>
          </a:prstGeom>
          <a:noFill/>
        </p:spPr>
        <p:txBody>
          <a:bodyPr wrap="square">
            <a:spAutoFit/>
          </a:bodyPr>
          <a:lstStyle/>
          <a:p>
            <a:r>
              <a:rPr sz="1800" b="1" i="0">
                <a:solidFill>
                  <a:srgbClr val="196B24"/>
                </a:solidFill>
                <a:latin typeface="Calibri"/>
              </a:rPr>
              <a:t>Advantages</a:t>
            </a:r>
          </a:p>
        </p:txBody>
      </p:sp>
      <p:sp>
        <p:nvSpPr>
          <p:cNvPr id="5" name="TextBox 4"/>
          <p:cNvSpPr txBox="1"/>
          <p:nvPr/>
        </p:nvSpPr>
        <p:spPr>
          <a:xfrm>
            <a:off x="731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Highly specialised, effective against web-application-specific attacks an NGFW typically wouldn't catch</a:t>
            </a:r>
          </a:p>
          <a:p>
            <a:pPr marL="201168" indent="-201168">
              <a:spcAft>
                <a:spcPts val="1000"/>
              </a:spcAft>
              <a:buFont typeface="Arial"/>
              <a:buChar char="–"/>
            </a:pPr>
            <a:r>
              <a:rPr sz="1500" b="0" i="0">
                <a:solidFill>
                  <a:srgbClr val="222A33"/>
                </a:solidFill>
                <a:latin typeface="Calibri"/>
              </a:rPr>
              <a:t>Can be deployed close to the application, including as a reverse proxy or cloud-based service</a:t>
            </a:r>
          </a:p>
        </p:txBody>
      </p:sp>
      <p:sp>
        <p:nvSpPr>
          <p:cNvPr id="6" name="TextBox 5"/>
          <p:cNvSpPr txBox="1"/>
          <p:nvPr/>
        </p:nvSpPr>
        <p:spPr>
          <a:xfrm>
            <a:off x="6446520" y="1828800"/>
            <a:ext cx="5257800" cy="457200"/>
          </a:xfrm>
          <a:prstGeom prst="rect">
            <a:avLst/>
          </a:prstGeom>
          <a:noFill/>
        </p:spPr>
        <p:txBody>
          <a:bodyPr wrap="square">
            <a:spAutoFit/>
          </a:bodyPr>
          <a:lstStyle/>
          <a:p>
            <a:r>
              <a:rPr sz="1800" b="1" i="0">
                <a:solidFill>
                  <a:srgbClr val="C0392B"/>
                </a:solidFill>
                <a:latin typeface="Calibri"/>
              </a:rPr>
              <a:t>Disadvantages</a:t>
            </a:r>
          </a:p>
        </p:txBody>
      </p:sp>
      <p:sp>
        <p:nvSpPr>
          <p:cNvPr id="7" name="TextBox 6"/>
          <p:cNvSpPr txBox="1"/>
          <p:nvPr/>
        </p:nvSpPr>
        <p:spPr>
          <a:xfrm>
            <a:off x="6446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Narrow scope, protects web applications only</a:t>
            </a:r>
          </a:p>
          <a:p>
            <a:pPr marL="201168" indent="-201168">
              <a:spcAft>
                <a:spcPts val="1000"/>
              </a:spcAft>
              <a:buFont typeface="Arial"/>
              <a:buChar char="–"/>
            </a:pPr>
            <a:r>
              <a:rPr sz="1500" b="0" i="0">
                <a:solidFill>
                  <a:srgbClr val="222A33"/>
                </a:solidFill>
                <a:latin typeface="Calibri"/>
              </a:rPr>
              <a:t>Needs to be paired with a broader firewall for general network protection</a:t>
            </a:r>
          </a:p>
          <a:p>
            <a:pPr marL="201168" indent="-201168">
              <a:spcAft>
                <a:spcPts val="1000"/>
              </a:spcAft>
              <a:buFont typeface="Arial"/>
              <a:buChar char="–"/>
            </a:pPr>
            <a:r>
              <a:rPr sz="1500" b="0" i="0">
                <a:solidFill>
                  <a:srgbClr val="222A33"/>
                </a:solidFill>
                <a:latin typeface="Calibri"/>
              </a:rPr>
              <a:t>Rule tuning can be difficult, with real risk of false positives or false negatives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Web Application Firewall (WAF):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6</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Any organisation running public-facing web applications, such as e-commerce platforms or customer portals, exactly the kind of system referenced throughout this module's Layer 3 and Layer 4 scenarios.</a:t>
            </a:r>
          </a:p>
          <a:p>
            <a:pPr marL="201168" indent="-201168">
              <a:spcAft>
                <a:spcPts val="1100"/>
              </a:spcAft>
              <a:buFont typeface="Arial"/>
              <a:buChar char="–"/>
            </a:pPr>
            <a:r>
              <a:rPr sz="1600" b="0" i="0">
                <a:solidFill>
                  <a:srgbClr val="222A33"/>
                </a:solidFill>
                <a:latin typeface="Calibri"/>
              </a:rPr>
              <a:t>Compliance-driven environments. PCI-DSS, for example, commonly expects WAF protection for payment-processing web applications.</a:t>
            </a:r>
          </a:p>
          <a:p>
            <a:pPr marL="201168" indent="-201168">
              <a:spcAft>
                <a:spcPts val="1100"/>
              </a:spcAft>
              <a:buFont typeface="Arial"/>
              <a:buChar char="–"/>
            </a:pPr>
            <a:r>
              <a:rPr sz="1600" b="0" i="0">
                <a:solidFill>
                  <a:srgbClr val="222A33"/>
                </a:solidFill>
                <a:latin typeface="Calibri"/>
              </a:rPr>
              <a:t>Cloud-hosted applications, where a cloud-based WAF service is a common and easily deployed addition.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Unified Threat Management (UTM): Mechanism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7</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 single hardware or virtual appliance that bundles multiple distinct security functions together: firewall, antivirus, IDS/IPS, content and URL filtering, VPN, and often spam filtering.</a:t>
            </a:r>
          </a:p>
          <a:p>
            <a:pPr marL="201168" indent="-201168">
              <a:spcAft>
                <a:spcPts val="1100"/>
              </a:spcAft>
              <a:buFont typeface="Arial"/>
              <a:buChar char="–"/>
            </a:pPr>
            <a:r>
              <a:rPr sz="1600" b="0" i="0">
                <a:solidFill>
                  <a:srgbClr val="222A33"/>
                </a:solidFill>
                <a:latin typeface="Calibri"/>
              </a:rPr>
              <a:t>The key distinction from NGFW: UTM typically runs these as separate, largely independent modules within one box, a management and deployment convenience, whereas NGFW is built from the ground up around one tightly integrated inspection engine.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Unified Threat Management (UTM): Advantages and Disadvantages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7</a:t>
            </a:r>
          </a:p>
        </p:txBody>
      </p:sp>
      <p:sp>
        <p:nvSpPr>
          <p:cNvPr id="4" name="TextBox 3"/>
          <p:cNvSpPr txBox="1"/>
          <p:nvPr/>
        </p:nvSpPr>
        <p:spPr>
          <a:xfrm>
            <a:off x="731520" y="1828800"/>
            <a:ext cx="5257800" cy="457200"/>
          </a:xfrm>
          <a:prstGeom prst="rect">
            <a:avLst/>
          </a:prstGeom>
          <a:noFill/>
        </p:spPr>
        <p:txBody>
          <a:bodyPr wrap="square">
            <a:spAutoFit/>
          </a:bodyPr>
          <a:lstStyle/>
          <a:p>
            <a:r>
              <a:rPr sz="1800" b="1" i="0">
                <a:solidFill>
                  <a:srgbClr val="196B24"/>
                </a:solidFill>
                <a:latin typeface="Calibri"/>
              </a:rPr>
              <a:t>Advantages</a:t>
            </a:r>
          </a:p>
        </p:txBody>
      </p:sp>
      <p:sp>
        <p:nvSpPr>
          <p:cNvPr id="5" name="TextBox 4"/>
          <p:cNvSpPr txBox="1"/>
          <p:nvPr/>
        </p:nvSpPr>
        <p:spPr>
          <a:xfrm>
            <a:off x="731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Simplifies management, a single appliance, vendor, and interface</a:t>
            </a:r>
          </a:p>
          <a:p>
            <a:pPr marL="201168" indent="-201168">
              <a:spcAft>
                <a:spcPts val="1000"/>
              </a:spcAft>
              <a:buFont typeface="Arial"/>
              <a:buChar char="–"/>
            </a:pPr>
            <a:r>
              <a:rPr sz="1500" b="0" i="0">
                <a:solidFill>
                  <a:srgbClr val="222A33"/>
                </a:solidFill>
                <a:latin typeface="Calibri"/>
              </a:rPr>
              <a:t>More cost-effective than buying and integrating multiple standalone products</a:t>
            </a:r>
          </a:p>
          <a:p>
            <a:pPr marL="201168" indent="-201168">
              <a:spcAft>
                <a:spcPts val="1000"/>
              </a:spcAft>
              <a:buFont typeface="Arial"/>
              <a:buChar char="–"/>
            </a:pPr>
            <a:r>
              <a:rPr sz="1500" b="0" i="0">
                <a:solidFill>
                  <a:srgbClr val="222A33"/>
                </a:solidFill>
                <a:latin typeface="Calibri"/>
              </a:rPr>
              <a:t>Easier initial deployment, particularly for smaller organisations</a:t>
            </a:r>
          </a:p>
        </p:txBody>
      </p:sp>
      <p:sp>
        <p:nvSpPr>
          <p:cNvPr id="6" name="TextBox 5"/>
          <p:cNvSpPr txBox="1"/>
          <p:nvPr/>
        </p:nvSpPr>
        <p:spPr>
          <a:xfrm>
            <a:off x="6446520" y="1828800"/>
            <a:ext cx="5257800" cy="457200"/>
          </a:xfrm>
          <a:prstGeom prst="rect">
            <a:avLst/>
          </a:prstGeom>
          <a:noFill/>
        </p:spPr>
        <p:txBody>
          <a:bodyPr wrap="square">
            <a:spAutoFit/>
          </a:bodyPr>
          <a:lstStyle/>
          <a:p>
            <a:r>
              <a:rPr sz="1800" b="1" i="0">
                <a:solidFill>
                  <a:srgbClr val="C0392B"/>
                </a:solidFill>
                <a:latin typeface="Calibri"/>
              </a:rPr>
              <a:t>Disadvantages</a:t>
            </a:r>
          </a:p>
        </p:txBody>
      </p:sp>
      <p:sp>
        <p:nvSpPr>
          <p:cNvPr id="7" name="TextBox 6"/>
          <p:cNvSpPr txBox="1"/>
          <p:nvPr/>
        </p:nvSpPr>
        <p:spPr>
          <a:xfrm>
            <a:off x="6446520" y="2331720"/>
            <a:ext cx="5257800" cy="3611880"/>
          </a:xfrm>
          <a:prstGeom prst="rect">
            <a:avLst/>
          </a:prstGeom>
          <a:noFill/>
        </p:spPr>
        <p:txBody>
          <a:bodyPr wrap="square">
            <a:spAutoFit/>
          </a:bodyPr>
          <a:lstStyle/>
          <a:p>
            <a:pPr marL="201168" indent="-201168">
              <a:spcAft>
                <a:spcPts val="1000"/>
              </a:spcAft>
              <a:buFont typeface="Arial"/>
              <a:buChar char="–"/>
            </a:pPr>
            <a:r>
              <a:rPr sz="1500" b="0" i="0">
                <a:solidFill>
                  <a:srgbClr val="222A33"/>
                </a:solidFill>
                <a:latin typeface="Calibri"/>
              </a:rPr>
              <a:t>Can create a performance bottleneck under heavy load</a:t>
            </a:r>
          </a:p>
          <a:p>
            <a:pPr marL="201168" indent="-201168">
              <a:spcAft>
                <a:spcPts val="1000"/>
              </a:spcAft>
              <a:buFont typeface="Arial"/>
              <a:buChar char="–"/>
            </a:pPr>
            <a:r>
              <a:rPr sz="1500" b="0" i="0">
                <a:solidFill>
                  <a:srgbClr val="222A33"/>
                </a:solidFill>
                <a:latin typeface="Calibri"/>
              </a:rPr>
              <a:t>Single point of failure for many security functions at once</a:t>
            </a:r>
          </a:p>
          <a:p>
            <a:pPr marL="201168" indent="-201168">
              <a:spcAft>
                <a:spcPts val="1000"/>
              </a:spcAft>
              <a:buFont typeface="Arial"/>
              <a:buChar char="–"/>
            </a:pPr>
            <a:r>
              <a:rPr sz="1500" b="0" i="0">
                <a:solidFill>
                  <a:srgbClr val="222A33"/>
                </a:solidFill>
                <a:latin typeface="Calibri"/>
              </a:rPr>
              <a:t>May not match the depth of best-of-breed standalone products</a:t>
            </a:r>
          </a:p>
          <a:p>
            <a:pPr marL="201168" indent="-201168">
              <a:spcAft>
                <a:spcPts val="1000"/>
              </a:spcAft>
              <a:buFont typeface="Arial"/>
              <a:buChar char="–"/>
            </a:pPr>
            <a:r>
              <a:rPr sz="1500" b="0" i="0">
                <a:solidFill>
                  <a:srgbClr val="222A33"/>
                </a:solidFill>
                <a:latin typeface="Calibri"/>
              </a:rPr>
              <a:t>Scaling can be harder than with more modular architectures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Unified Threat Management (UTM):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TYPE 7</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Small and medium-sized businesses wanting comprehensive security without managing many separate vendors and products.</a:t>
            </a:r>
          </a:p>
          <a:p>
            <a:pPr marL="201168" indent="-201168">
              <a:spcAft>
                <a:spcPts val="1100"/>
              </a:spcAft>
              <a:buFont typeface="Arial"/>
              <a:buChar char="–"/>
            </a:pPr>
            <a:r>
              <a:rPr sz="1600" b="0" i="0">
                <a:solidFill>
                  <a:srgbClr val="222A33"/>
                </a:solidFill>
                <a:latin typeface="Calibri"/>
              </a:rPr>
              <a:t>Branch office deployments, where simplicity of management matters more than maximum possible performance.</a:t>
            </a:r>
          </a:p>
          <a:p>
            <a:pPr marL="201168" indent="-201168">
              <a:spcAft>
                <a:spcPts val="1100"/>
              </a:spcAft>
              <a:buFont typeface="Arial"/>
              <a:buChar char="–"/>
            </a:pPr>
            <a:r>
              <a:rPr sz="1600" b="0" i="0">
                <a:solidFill>
                  <a:srgbClr val="222A33"/>
                </a:solidFill>
                <a:latin typeface="Calibri"/>
              </a:rPr>
              <a:t>Organisations with limited dedicated security staff, who benefit from one consolidated management interface rather than several.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Bringing It Together</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Why each generation emerged, and how it all compares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The Evolution of Firewalls, Revisited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ANALYSIS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450" b="0" i="0">
                <a:solidFill>
                  <a:srgbClr val="222A33"/>
                </a:solidFill>
                <a:latin typeface="Calibri"/>
              </a:rPr>
              <a:t>Packet filtering came first simply because early networks needed basic access control and processing power was limited. Simple header matching was what was feasible.</a:t>
            </a:r>
          </a:p>
          <a:p>
            <a:pPr marL="201168" indent="-201168">
              <a:spcAft>
                <a:spcPts val="1100"/>
              </a:spcAft>
              <a:buFont typeface="Arial"/>
              <a:buChar char="–"/>
            </a:pPr>
            <a:r>
              <a:rPr sz="1450" b="0" i="0">
                <a:solidFill>
                  <a:srgbClr val="222A33"/>
                </a:solidFill>
                <a:latin typeface="Calibri"/>
              </a:rPr>
              <a:t>Stateful inspection emerged specifically because packet filtering's lack of context created real, exploitable blind spots, such as being unable to distinguish legitimate return traffic from spoofed traffic. This was a genuine security improvement, not just a performance one.</a:t>
            </a:r>
          </a:p>
          <a:p>
            <a:pPr marL="201168" indent="-201168">
              <a:spcAft>
                <a:spcPts val="1100"/>
              </a:spcAft>
              <a:buFont typeface="Arial"/>
              <a:buChar char="–"/>
            </a:pPr>
            <a:r>
              <a:rPr sz="1450" b="0" i="0">
                <a:solidFill>
                  <a:srgbClr val="222A33"/>
                </a:solidFill>
                <a:latin typeface="Calibri"/>
              </a:rPr>
              <a:t>Circuit-level gateways and application-layer proxies developed in parallel as two different answers to the same next question: stateful inspection still can't see payload content, so how do you get real visibility into what's actually being sent? One chose lighter session-layer validation, the other chose heavier, full protocol-aware inspection.</a:t>
            </a:r>
          </a:p>
          <a:p>
            <a:pPr marL="201168" indent="-201168">
              <a:spcAft>
                <a:spcPts val="1100"/>
              </a:spcAft>
              <a:buFont typeface="Arial"/>
              <a:buChar char="–"/>
            </a:pPr>
            <a:r>
              <a:rPr sz="1450" b="0" i="0">
                <a:solidFill>
                  <a:srgbClr val="222A33"/>
                </a:solidFill>
                <a:latin typeface="Calibri"/>
              </a:rPr>
              <a:t>NGFW emerged once the earlier generations' limitations became genuine business problems at scale. Port-based rules stopped meaningfully reflecting real traffic once almost everything moved to port 443, so organisations needed application awareness, integrated prevention, and visibility into encrypted traffic all at once. NGFW's real innovation is tight integration of these, not any single new idea.</a:t>
            </a:r>
          </a:p>
          <a:p>
            <a:pPr marL="201168" indent="-201168">
              <a:spcAft>
                <a:spcPts val="1100"/>
              </a:spcAft>
              <a:buFont typeface="Arial"/>
              <a:buChar char="–"/>
            </a:pPr>
            <a:r>
              <a:rPr sz="1450" b="0" i="0">
                <a:solidFill>
                  <a:srgbClr val="222A33"/>
                </a:solidFill>
                <a:latin typeface="Calibri"/>
              </a:rPr>
              <a:t>WAF and UTM are two different responses to the same underlying pressure, more complexity and more specialised threats, but pulling in opposite directions: WAF goes deeper into one specific, high-value area, while UTM broadens outward, bundling many functions for organisations that need adequate protection across many fronts without managing many separate products.</a:t>
            </a:r>
          </a:p>
          <a:p>
            <a:pPr marL="201168" indent="-201168">
              <a:spcAft>
                <a:spcPts val="1100"/>
              </a:spcAft>
              <a:buFont typeface="Arial"/>
              <a:buChar char="–"/>
            </a:pPr>
            <a:r>
              <a:rPr sz="1450" b="0" i="0">
                <a:solidFill>
                  <a:srgbClr val="222A33"/>
                </a:solidFill>
                <a:latin typeface="Calibri"/>
              </a:rPr>
              <a:t>The overall arc, in one sentence: from matching a header, to tracking a connection, to understanding a protocol, to understanding an application and a user all at once, even inside encryption. Each step trades more processing cost for more context, and therefore stronger, more precise decisions.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Full Summary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graphicFrame>
        <p:nvGraphicFramePr>
          <p:cNvPr id="4" name="Table 3"/>
          <p:cNvGraphicFramePr>
            <a:graphicFrameLocks noGrp="1"/>
          </p:cNvGraphicFramePr>
          <p:nvPr/>
        </p:nvGraphicFramePr>
        <p:xfrm>
          <a:off x="320040" y="1691640"/>
          <a:ext cx="11521440" cy="4343400"/>
        </p:xfrm>
        <a:graphic>
          <a:graphicData uri="http://schemas.openxmlformats.org/drawingml/2006/table">
            <a:tbl>
              <a:tblPr firstRow="1" bandRow="1">
                <a:tableStyleId>{5C22544A-7EE6-4342-B048-85BDC9FD1C3A}</a:tableStyleId>
              </a:tblPr>
              <a:tblGrid>
                <a:gridCol w="2834640"/>
                <a:gridCol w="2926080"/>
                <a:gridCol w="5760720"/>
              </a:tblGrid>
              <a:tr h="542925">
                <a:tc>
                  <a:txBody>
                    <a:bodyPr wrap="square"/>
                    <a:lstStyle/>
                    <a:p>
                      <a:r>
                        <a:rPr sz="1300" b="1" i="0">
                          <a:solidFill>
                            <a:srgbClr val="FFFFFF"/>
                          </a:solidFill>
                          <a:latin typeface="Calibri"/>
                        </a:rPr>
                        <a:t>Type</a:t>
                      </a:r>
                    </a:p>
                  </a:txBody>
                  <a:tcPr marL="73152" marR="73152" marT="27432" marB="27432" anchor="ctr">
                    <a:solidFill>
                      <a:srgbClr val="003054"/>
                    </a:solidFill>
                  </a:tcPr>
                </a:tc>
                <a:tc>
                  <a:txBody>
                    <a:bodyPr wrap="square"/>
                    <a:lstStyle/>
                    <a:p>
                      <a:r>
                        <a:rPr sz="1300" b="1" i="0">
                          <a:solidFill>
                            <a:srgbClr val="FFFFFF"/>
                          </a:solidFill>
                          <a:latin typeface="Calibri"/>
                        </a:rPr>
                        <a:t>OSI Layer</a:t>
                      </a:r>
                    </a:p>
                  </a:txBody>
                  <a:tcPr marL="73152" marR="73152" marT="27432" marB="27432" anchor="ctr">
                    <a:solidFill>
                      <a:srgbClr val="003054"/>
                    </a:solidFill>
                  </a:tcPr>
                </a:tc>
                <a:tc>
                  <a:txBody>
                    <a:bodyPr wrap="square"/>
                    <a:lstStyle/>
                    <a:p>
                      <a:r>
                        <a:rPr sz="1300" b="1" i="0">
                          <a:solidFill>
                            <a:srgbClr val="FFFFFF"/>
                          </a:solidFill>
                          <a:latin typeface="Calibri"/>
                        </a:rPr>
                        <a:t>Typical Use Case</a:t>
                      </a:r>
                    </a:p>
                  </a:txBody>
                  <a:tcPr marL="73152" marR="73152" marT="27432" marB="27432" anchor="ctr">
                    <a:solidFill>
                      <a:srgbClr val="003054"/>
                    </a:solidFill>
                  </a:tcPr>
                </a:tc>
              </a:tr>
              <a:tr h="542925">
                <a:tc>
                  <a:txBody>
                    <a:bodyPr wrap="square"/>
                    <a:lstStyle/>
                    <a:p>
                      <a:r>
                        <a:rPr sz="1250" b="0" i="0">
                          <a:solidFill>
                            <a:srgbClr val="222A33"/>
                          </a:solidFill>
                          <a:latin typeface="Calibri"/>
                        </a:rPr>
                        <a:t>Packet Filtering</a:t>
                      </a:r>
                    </a:p>
                  </a:txBody>
                  <a:tcPr marL="73152" marR="73152" marT="27432" marB="27432" anchor="ctr">
                    <a:solidFill>
                      <a:srgbClr val="FFFFFF"/>
                    </a:solidFill>
                  </a:tcPr>
                </a:tc>
                <a:tc>
                  <a:txBody>
                    <a:bodyPr wrap="square"/>
                    <a:lstStyle/>
                    <a:p>
                      <a:r>
                        <a:rPr sz="1250" b="0" i="0">
                          <a:solidFill>
                            <a:srgbClr val="222A33"/>
                          </a:solidFill>
                          <a:latin typeface="Calibri"/>
                        </a:rPr>
                        <a:t>L3/L4, stateless</a:t>
                      </a:r>
                    </a:p>
                  </a:txBody>
                  <a:tcPr marL="73152" marR="73152" marT="27432" marB="27432" anchor="ctr">
                    <a:solidFill>
                      <a:srgbClr val="FFFFFF"/>
                    </a:solidFill>
                  </a:tcPr>
                </a:tc>
                <a:tc>
                  <a:txBody>
                    <a:bodyPr wrap="square"/>
                    <a:lstStyle/>
                    <a:p>
                      <a:r>
                        <a:rPr sz="1250" b="0" i="0">
                          <a:solidFill>
                            <a:srgbClr val="222A33"/>
                          </a:solidFill>
                          <a:latin typeface="Calibri"/>
                        </a:rPr>
                        <a:t>Basic perimeter or router ACL filtering</a:t>
                      </a:r>
                    </a:p>
                  </a:txBody>
                  <a:tcPr marL="73152" marR="73152" marT="27432" marB="27432" anchor="ctr">
                    <a:solidFill>
                      <a:srgbClr val="FFFFFF"/>
                    </a:solidFill>
                  </a:tcPr>
                </a:tc>
              </a:tr>
              <a:tr h="542925">
                <a:tc>
                  <a:txBody>
                    <a:bodyPr wrap="square"/>
                    <a:lstStyle/>
                    <a:p>
                      <a:r>
                        <a:rPr sz="1250" b="0" i="0">
                          <a:solidFill>
                            <a:srgbClr val="222A33"/>
                          </a:solidFill>
                          <a:latin typeface="Calibri"/>
                        </a:rPr>
                        <a:t>Stateful Inspection</a:t>
                      </a:r>
                    </a:p>
                  </a:txBody>
                  <a:tcPr marL="73152" marR="73152" marT="27432" marB="27432" anchor="ctr">
                    <a:solidFill>
                      <a:srgbClr val="F2F4F7"/>
                    </a:solidFill>
                  </a:tcPr>
                </a:tc>
                <a:tc>
                  <a:txBody>
                    <a:bodyPr wrap="square"/>
                    <a:lstStyle/>
                    <a:p>
                      <a:r>
                        <a:rPr sz="1250" b="0" i="0">
                          <a:solidFill>
                            <a:srgbClr val="222A33"/>
                          </a:solidFill>
                          <a:latin typeface="Calibri"/>
                        </a:rPr>
                        <a:t>L3/L4, stateful</a:t>
                      </a:r>
                    </a:p>
                  </a:txBody>
                  <a:tcPr marL="73152" marR="73152" marT="27432" marB="27432" anchor="ctr">
                    <a:solidFill>
                      <a:srgbClr val="F2F4F7"/>
                    </a:solidFill>
                  </a:tcPr>
                </a:tc>
                <a:tc>
                  <a:txBody>
                    <a:bodyPr wrap="square"/>
                    <a:lstStyle/>
                    <a:p>
                      <a:r>
                        <a:rPr sz="1250" b="0" i="0">
                          <a:solidFill>
                            <a:srgbClr val="222A33"/>
                          </a:solidFill>
                          <a:latin typeface="Calibri"/>
                        </a:rPr>
                        <a:t>Standard enterprise perimeter firewall</a:t>
                      </a:r>
                    </a:p>
                  </a:txBody>
                  <a:tcPr marL="73152" marR="73152" marT="27432" marB="27432" anchor="ctr">
                    <a:solidFill>
                      <a:srgbClr val="F2F4F7"/>
                    </a:solidFill>
                  </a:tcPr>
                </a:tc>
              </a:tr>
              <a:tr h="542925">
                <a:tc>
                  <a:txBody>
                    <a:bodyPr wrap="square"/>
                    <a:lstStyle/>
                    <a:p>
                      <a:r>
                        <a:rPr sz="1250" b="0" i="0">
                          <a:solidFill>
                            <a:srgbClr val="222A33"/>
                          </a:solidFill>
                          <a:latin typeface="Calibri"/>
                        </a:rPr>
                        <a:t>Circuit-Level Gateway</a:t>
                      </a:r>
                    </a:p>
                  </a:txBody>
                  <a:tcPr marL="73152" marR="73152" marT="27432" marB="27432" anchor="ctr">
                    <a:solidFill>
                      <a:srgbClr val="FFFFFF"/>
                    </a:solidFill>
                  </a:tcPr>
                </a:tc>
                <a:tc>
                  <a:txBody>
                    <a:bodyPr wrap="square"/>
                    <a:lstStyle/>
                    <a:p>
                      <a:r>
                        <a:rPr sz="1250" b="0" i="0">
                          <a:solidFill>
                            <a:srgbClr val="222A33"/>
                          </a:solidFill>
                          <a:latin typeface="Calibri"/>
                        </a:rPr>
                        <a:t>L5 (Session)</a:t>
                      </a:r>
                    </a:p>
                  </a:txBody>
                  <a:tcPr marL="73152" marR="73152" marT="27432" marB="27432" anchor="ctr">
                    <a:solidFill>
                      <a:srgbClr val="FFFFFF"/>
                    </a:solidFill>
                  </a:tcPr>
                </a:tc>
                <a:tc>
                  <a:txBody>
                    <a:bodyPr wrap="square"/>
                    <a:lstStyle/>
                    <a:p>
                      <a:r>
                        <a:rPr sz="1250" b="0" i="0">
                          <a:solidFill>
                            <a:srgbClr val="222A33"/>
                          </a:solidFill>
                          <a:latin typeface="Calibri"/>
                        </a:rPr>
                        <a:t>Session legitimacy checking, internal address hiding</a:t>
                      </a:r>
                    </a:p>
                  </a:txBody>
                  <a:tcPr marL="73152" marR="73152" marT="27432" marB="27432" anchor="ctr">
                    <a:solidFill>
                      <a:srgbClr val="FFFFFF"/>
                    </a:solidFill>
                  </a:tcPr>
                </a:tc>
              </a:tr>
              <a:tr h="542925">
                <a:tc>
                  <a:txBody>
                    <a:bodyPr wrap="square"/>
                    <a:lstStyle/>
                    <a:p>
                      <a:r>
                        <a:rPr sz="1250" b="0" i="0">
                          <a:solidFill>
                            <a:srgbClr val="222A33"/>
                          </a:solidFill>
                          <a:latin typeface="Calibri"/>
                        </a:rPr>
                        <a:t>Application-Layer / Proxy</a:t>
                      </a:r>
                    </a:p>
                  </a:txBody>
                  <a:tcPr marL="73152" marR="73152" marT="27432" marB="27432" anchor="ctr">
                    <a:solidFill>
                      <a:srgbClr val="F2F4F7"/>
                    </a:solidFill>
                  </a:tcPr>
                </a:tc>
                <a:tc>
                  <a:txBody>
                    <a:bodyPr wrap="square"/>
                    <a:lstStyle/>
                    <a:p>
                      <a:r>
                        <a:rPr sz="1250" b="0" i="0">
                          <a:solidFill>
                            <a:srgbClr val="222A33"/>
                          </a:solidFill>
                          <a:latin typeface="Calibri"/>
                        </a:rPr>
                        <a:t>L7</a:t>
                      </a:r>
                    </a:p>
                  </a:txBody>
                  <a:tcPr marL="73152" marR="73152" marT="27432" marB="27432" anchor="ctr">
                    <a:solidFill>
                      <a:srgbClr val="F2F4F7"/>
                    </a:solidFill>
                  </a:tcPr>
                </a:tc>
                <a:tc>
                  <a:txBody>
                    <a:bodyPr wrap="square"/>
                    <a:lstStyle/>
                    <a:p>
                      <a:r>
                        <a:rPr sz="1250" b="0" i="0">
                          <a:solidFill>
                            <a:srgbClr val="222A33"/>
                          </a:solidFill>
                          <a:latin typeface="Calibri"/>
                        </a:rPr>
                        <a:t>Deep content control, strong anonymisation</a:t>
                      </a:r>
                    </a:p>
                  </a:txBody>
                  <a:tcPr marL="73152" marR="73152" marT="27432" marB="27432" anchor="ctr">
                    <a:solidFill>
                      <a:srgbClr val="F2F4F7"/>
                    </a:solidFill>
                  </a:tcPr>
                </a:tc>
              </a:tr>
              <a:tr h="542925">
                <a:tc>
                  <a:txBody>
                    <a:bodyPr wrap="square"/>
                    <a:lstStyle/>
                    <a:p>
                      <a:r>
                        <a:rPr sz="1250" b="0" i="0">
                          <a:solidFill>
                            <a:srgbClr val="222A33"/>
                          </a:solidFill>
                          <a:latin typeface="Calibri"/>
                        </a:rPr>
                        <a:t>NGFW</a:t>
                      </a:r>
                    </a:p>
                  </a:txBody>
                  <a:tcPr marL="73152" marR="73152" marT="27432" marB="27432" anchor="ctr">
                    <a:solidFill>
                      <a:srgbClr val="FFFFFF"/>
                    </a:solidFill>
                  </a:tcPr>
                </a:tc>
                <a:tc>
                  <a:txBody>
                    <a:bodyPr wrap="square"/>
                    <a:lstStyle/>
                    <a:p>
                      <a:r>
                        <a:rPr sz="1250" b="0" i="0">
                          <a:solidFill>
                            <a:srgbClr val="222A33"/>
                          </a:solidFill>
                          <a:latin typeface="Calibri"/>
                        </a:rPr>
                        <a:t>L3 to L7, integrated</a:t>
                      </a:r>
                    </a:p>
                  </a:txBody>
                  <a:tcPr marL="73152" marR="73152" marT="27432" marB="27432" anchor="ctr">
                    <a:solidFill>
                      <a:srgbClr val="FFFFFF"/>
                    </a:solidFill>
                  </a:tcPr>
                </a:tc>
                <a:tc>
                  <a:txBody>
                    <a:bodyPr wrap="square"/>
                    <a:lstStyle/>
                    <a:p>
                      <a:r>
                        <a:rPr sz="1250" b="0" i="0">
                          <a:solidFill>
                            <a:srgbClr val="222A33"/>
                          </a:solidFill>
                          <a:latin typeface="Calibri"/>
                        </a:rPr>
                        <a:t>Modern enterprise perimeter, encrypted traffic inspection</a:t>
                      </a:r>
                    </a:p>
                  </a:txBody>
                  <a:tcPr marL="73152" marR="73152" marT="27432" marB="27432" anchor="ctr">
                    <a:solidFill>
                      <a:srgbClr val="FFFFFF"/>
                    </a:solidFill>
                  </a:tcPr>
                </a:tc>
              </a:tr>
              <a:tr h="542925">
                <a:tc>
                  <a:txBody>
                    <a:bodyPr wrap="square"/>
                    <a:lstStyle/>
                    <a:p>
                      <a:r>
                        <a:rPr sz="1250" b="0" i="0">
                          <a:solidFill>
                            <a:srgbClr val="222A33"/>
                          </a:solidFill>
                          <a:latin typeface="Calibri"/>
                        </a:rPr>
                        <a:t>WAF</a:t>
                      </a:r>
                    </a:p>
                  </a:txBody>
                  <a:tcPr marL="73152" marR="73152" marT="27432" marB="27432" anchor="ctr">
                    <a:solidFill>
                      <a:srgbClr val="F2F4F7"/>
                    </a:solidFill>
                  </a:tcPr>
                </a:tc>
                <a:tc>
                  <a:txBody>
                    <a:bodyPr wrap="square"/>
                    <a:lstStyle/>
                    <a:p>
                      <a:r>
                        <a:rPr sz="1250" b="0" i="0">
                          <a:solidFill>
                            <a:srgbClr val="222A33"/>
                          </a:solidFill>
                          <a:latin typeface="Calibri"/>
                        </a:rPr>
                        <a:t>L7, web-specific</a:t>
                      </a:r>
                    </a:p>
                  </a:txBody>
                  <a:tcPr marL="73152" marR="73152" marT="27432" marB="27432" anchor="ctr">
                    <a:solidFill>
                      <a:srgbClr val="F2F4F7"/>
                    </a:solidFill>
                  </a:tcPr>
                </a:tc>
                <a:tc>
                  <a:txBody>
                    <a:bodyPr wrap="square"/>
                    <a:lstStyle/>
                    <a:p>
                      <a:r>
                        <a:rPr sz="1250" b="0" i="0">
                          <a:solidFill>
                            <a:srgbClr val="222A33"/>
                          </a:solidFill>
                          <a:latin typeface="Calibri"/>
                        </a:rPr>
                        <a:t>Protecting public-facing web applications</a:t>
                      </a:r>
                    </a:p>
                  </a:txBody>
                  <a:tcPr marL="73152" marR="73152" marT="27432" marB="27432" anchor="ctr">
                    <a:solidFill>
                      <a:srgbClr val="F2F4F7"/>
                    </a:solidFill>
                  </a:tcPr>
                </a:tc>
              </a:tr>
              <a:tr h="542925">
                <a:tc>
                  <a:txBody>
                    <a:bodyPr wrap="square"/>
                    <a:lstStyle/>
                    <a:p>
                      <a:r>
                        <a:rPr sz="1250" b="0" i="0">
                          <a:solidFill>
                            <a:srgbClr val="222A33"/>
                          </a:solidFill>
                          <a:latin typeface="Calibri"/>
                        </a:rPr>
                        <a:t>UTM</a:t>
                      </a:r>
                    </a:p>
                  </a:txBody>
                  <a:tcPr marL="73152" marR="73152" marT="27432" marB="27432" anchor="ctr">
                    <a:solidFill>
                      <a:srgbClr val="FFFFFF"/>
                    </a:solidFill>
                  </a:tcPr>
                </a:tc>
                <a:tc>
                  <a:txBody>
                    <a:bodyPr wrap="square"/>
                    <a:lstStyle/>
                    <a:p>
                      <a:r>
                        <a:rPr sz="1250" b="0" i="0">
                          <a:solidFill>
                            <a:srgbClr val="222A33"/>
                          </a:solidFill>
                          <a:latin typeface="Calibri"/>
                        </a:rPr>
                        <a:t>L3 to L7, bundled modules</a:t>
                      </a:r>
                    </a:p>
                  </a:txBody>
                  <a:tcPr marL="73152" marR="73152" marT="27432" marB="27432" anchor="ctr">
                    <a:solidFill>
                      <a:srgbClr val="FFFFFF"/>
                    </a:solidFill>
                  </a:tcPr>
                </a:tc>
                <a:tc>
                  <a:txBody>
                    <a:bodyPr wrap="square"/>
                    <a:lstStyle/>
                    <a:p>
                      <a:r>
                        <a:rPr sz="1250" b="0" i="0">
                          <a:solidFill>
                            <a:srgbClr val="222A33"/>
                          </a:solidFill>
                          <a:latin typeface="Calibri"/>
                        </a:rPr>
                        <a:t>SMB or branch-office all-in-one security</a:t>
                      </a:r>
                    </a:p>
                  </a:txBody>
                  <a:tcPr marL="73152" marR="73152" marT="27432" marB="27432"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450" b="0" i="0">
                <a:solidFill>
                  <a:srgbClr val="222A33"/>
                </a:solidFill>
                <a:latin typeface="Calibri"/>
              </a:rPr>
              <a:t>A firewall enforces an allow/deny policy. An IDS only detects and alerts. An IPS detects and actively blocks, combining both roles.</a:t>
            </a:r>
          </a:p>
          <a:p>
            <a:pPr marL="201168" indent="-201168">
              <a:spcAft>
                <a:spcPts val="1100"/>
              </a:spcAft>
              <a:buFont typeface="Arial"/>
              <a:buChar char="–"/>
            </a:pPr>
            <a:r>
              <a:rPr sz="1450" b="0" i="0">
                <a:solidFill>
                  <a:srgbClr val="222A33"/>
                </a:solidFill>
                <a:latin typeface="Calibri"/>
              </a:rPr>
              <a:t>Whether a firewall remembers anything about the conversation it's part of, stateless versus stateful, is the single distinction that explains most of the differences between the types covered today.</a:t>
            </a:r>
          </a:p>
          <a:p>
            <a:pPr marL="201168" indent="-201168">
              <a:spcAft>
                <a:spcPts val="1100"/>
              </a:spcAft>
              <a:buFont typeface="Arial"/>
              <a:buChar char="–"/>
            </a:pPr>
            <a:r>
              <a:rPr sz="1450" b="0" i="0">
                <a:solidFill>
                  <a:srgbClr val="222A33"/>
                </a:solidFill>
                <a:latin typeface="Calibri"/>
              </a:rPr>
              <a:t>The seven types trace a clear arc: from inspecting a header, to tracking a connection, to understanding a protocol, to understanding an application and a user together, even inside encrypted traffic.</a:t>
            </a:r>
          </a:p>
          <a:p>
            <a:pPr marL="201168" indent="-201168">
              <a:spcAft>
                <a:spcPts val="1100"/>
              </a:spcAft>
              <a:buFont typeface="Arial"/>
              <a:buChar char="–"/>
            </a:pPr>
            <a:r>
              <a:rPr sz="1450" b="0" i="0">
                <a:solidFill>
                  <a:srgbClr val="222A33"/>
                </a:solidFill>
                <a:latin typeface="Calibri"/>
              </a:rPr>
              <a:t>WAF and UTM aren't simply newer than NGFW. They're specialised in opposite directions: WAF goes narrow and deep into web applications specifically, UTM goes broad across many bundled functions.</a:t>
            </a:r>
          </a:p>
          <a:p>
            <a:pPr marL="201168" indent="-201168">
              <a:spcAft>
                <a:spcPts val="1100"/>
              </a:spcAft>
              <a:buFont typeface="Arial"/>
              <a:buChar char="–"/>
            </a:pPr>
            <a:r>
              <a:rPr sz="1450" b="0" i="0">
                <a:solidFill>
                  <a:srgbClr val="222A33"/>
                </a:solidFill>
                <a:latin typeface="Calibri"/>
              </a:rPr>
              <a:t>Software and hardware firewalls aren't competing choices. Real networks layer both together, exactly like every other defence covered this module.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Deck B, coming next, covers where firewalls actually get placed in a network (including the DMZ and Zone-Based Firewall configuration model), followed by hands-on ACL configuration: Standard, Extended, and Named.</a:t>
            </a:r>
          </a:p>
          <a:p>
            <a:pPr marL="201168" indent="-201168">
              <a:spcAft>
                <a:spcPts val="1100"/>
              </a:spcAft>
              <a:buFont typeface="Arial"/>
              <a:buChar char="–"/>
            </a:pPr>
            <a:r>
              <a:rPr sz="1600" b="0" i="0">
                <a:solidFill>
                  <a:srgbClr val="222A33"/>
                </a:solidFill>
                <a:latin typeface="Calibri"/>
              </a:rPr>
              <a:t>Tutorial worksheet: study-notes-style questions covering firewall and IDS/IPS definitions, the seven types, and their evolution. Use it to prep for the mid-semester test.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Santos &amp; Stuppi, CCNA Security 210-260 Official Cert Guide, 1st Ed., Cisco Press.</a:t>
            </a:r>
          </a:p>
          <a:p>
            <a:pPr marL="201168" indent="-201168">
              <a:spcAft>
                <a:spcPts val="1100"/>
              </a:spcAft>
              <a:buFont typeface="Arial"/>
              <a:buChar char="–"/>
            </a:pPr>
            <a:r>
              <a:rPr sz="1600" b="0" i="0">
                <a:solidFill>
                  <a:srgbClr val="222A33"/>
                </a:solidFill>
                <a:latin typeface="Calibri"/>
              </a:rPr>
              <a:t>Kaufman, Perlman, Speciner &amp; Perlner, Network Security: Private Communication in a Public World, 3rd Ed., Prentice Hall.</a:t>
            </a:r>
          </a:p>
          <a:p>
            <a:pPr marL="201168" indent="-201168">
              <a:spcAft>
                <a:spcPts val="1100"/>
              </a:spcAft>
              <a:buFont typeface="Arial"/>
              <a:buChar char="–"/>
            </a:pPr>
            <a:r>
              <a:rPr sz="1600" b="0" i="0">
                <a:solidFill>
                  <a:srgbClr val="222A33"/>
                </a:solidFill>
                <a:latin typeface="Calibri"/>
              </a:rPr>
              <a:t>Cisco Networking Academy, CCNA Security curriculum (Firewall technologies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548</TotalTime>
  <Words>1115</Words>
  <Application>Microsoft Office PowerPoint</Application>
  <PresentationFormat>Widescreen</PresentationFormat>
  <Paragraphs>187</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Sri Lanka Institute of Information Technology Faculty of Computing</vt:lpstr>
      <vt:lpstr>PowerPoint Presentation</vt:lpstr>
      <vt:lpstr>Learning Outcomes</vt:lpstr>
      <vt:lpstr>Why Ethics Matter in Information Systems ? </vt:lpstr>
      <vt:lpstr>Ethics in Information Systems</vt:lpstr>
      <vt:lpstr>Ethical Concerns in Information Systems</vt:lpstr>
      <vt:lpstr>Surveillance</vt:lpstr>
      <vt:lpstr>Employee Monitoring</vt:lpstr>
      <vt:lpstr>Algorithmic Bias</vt:lpstr>
      <vt:lpstr>Privacy in Information Systems  </vt:lpstr>
      <vt:lpstr>3. Project Management Roles</vt:lpstr>
      <vt:lpstr>Privacy in Information Systems</vt:lpstr>
      <vt:lpstr>Regulations</vt:lpstr>
      <vt:lpstr>Regulations</vt:lpstr>
      <vt:lpstr>EU’s General Data Protection Regulation (GDPR)-1</vt:lpstr>
      <vt:lpstr>EU’s General Data Protection Regulation (GDPR) - 2</vt:lpstr>
      <vt:lpstr>PERSONAL DATA PROTECTION ACT (PDPA) Sri LANKA</vt:lpstr>
      <vt:lpstr>User Consent</vt:lpstr>
      <vt:lpstr>Digital Rights  </vt:lpstr>
      <vt:lpstr>Digital Rights</vt:lpstr>
      <vt:lpstr>Key Digital Rights</vt:lpstr>
      <vt:lpstr>Digital Responsibilities</vt:lpstr>
      <vt:lpstr>Summary</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Kavinga Yapa</cp:lastModifiedBy>
  <cp:revision>201</cp:revision>
  <dcterms:created xsi:type="dcterms:W3CDTF">2026-02-25T14:32:17Z</dcterms:created>
  <dcterms:modified xsi:type="dcterms:W3CDTF">2026-04-22T12:57:20Z</dcterms:modified>
</cp:coreProperties>
</file>