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9/27/2026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9/27/2026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9/27/2026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9/27/2026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9/27/2026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9/27/2026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9/27/2026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9/27/2026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Deploying and Configuring AAA</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10</a:t>
            </a:r>
          </a:p>
          <a:p>
            <a:r>
              <a:rPr sz="1500" b="0" i="1">
                <a:solidFill>
                  <a:srgbClr val="FFFFFF"/>
                </a:solidFill>
                <a:latin typeface="Calibri"/>
              </a:rPr>
              <a:t>Where the decision gets made, who makes it, and how to actually configure 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Local versus server-based (centralised) AAA</a:t>
            </a:r>
          </a:p>
          <a:p>
            <a:pPr marL="201168" indent="-201168">
              <a:spcAft>
                <a:spcPts val="1100"/>
              </a:spcAft>
              <a:buFont typeface="Arial"/>
              <a:buChar char="–"/>
            </a:pPr>
            <a:r>
              <a:rPr sz="1600" b="0" i="0">
                <a:solidFill>
                  <a:srgbClr val="222A33"/>
                </a:solidFill>
                <a:latin typeface="Calibri"/>
              </a:rPr>
              <a:t>Device administration AAA versus network access AAA, and why that distinction matters</a:t>
            </a:r>
          </a:p>
          <a:p>
            <a:pPr marL="201168" indent="-201168">
              <a:spcAft>
                <a:spcPts val="1100"/>
              </a:spcAft>
              <a:buFont typeface="Arial"/>
              <a:buChar char="–"/>
            </a:pPr>
            <a:r>
              <a:rPr sz="1600" b="0" i="0">
                <a:solidFill>
                  <a:srgbClr val="222A33"/>
                </a:solidFill>
                <a:latin typeface="Calibri"/>
              </a:rPr>
              <a:t>RADIUS versus TACACS+, in full technical detail</a:t>
            </a:r>
          </a:p>
          <a:p>
            <a:pPr marL="201168" indent="-201168">
              <a:spcAft>
                <a:spcPts val="1100"/>
              </a:spcAft>
              <a:buFont typeface="Arial"/>
              <a:buChar char="–"/>
            </a:pPr>
            <a:r>
              <a:rPr sz="1600" b="0" i="0">
                <a:solidFill>
                  <a:srgbClr val="222A33"/>
                </a:solidFill>
                <a:latin typeface="Calibri"/>
              </a:rPr>
              <a:t>AAA method lists, ordered fallback between AAA sources</a:t>
            </a:r>
          </a:p>
          <a:p>
            <a:pPr marL="201168" indent="-201168">
              <a:spcAft>
                <a:spcPts val="1100"/>
              </a:spcAft>
              <a:buFont typeface="Arial"/>
              <a:buChar char="–"/>
            </a:pPr>
            <a:r>
              <a:rPr sz="1600" b="0" i="0">
                <a:solidFill>
                  <a:srgbClr val="222A33"/>
                </a:solidFill>
                <a:latin typeface="Calibri"/>
              </a:rPr>
              <a:t>Configuring AAA on Cisco devices: concept alongside the actual command templates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LO3</a:t>
            </a:r>
          </a:p>
          <a:p>
            <a:pPr marL="201168" indent="-201168">
              <a:spcAft>
                <a:spcPts val="1600"/>
              </a:spcAft>
              <a:buFont typeface="Arial"/>
              <a:buChar char="–"/>
            </a:pPr>
            <a:r>
              <a:rPr sz="1700" b="0" i="0">
                <a:solidFill>
                  <a:srgbClr val="222A33"/>
                </a:solidFill>
                <a:latin typeface="Calibri"/>
              </a:rPr>
              <a:t>Analyse security requirements and recommend appropriate technologies.</a:t>
            </a:r>
          </a:p>
          <a:p>
            <a:pPr marL="0" indent="0">
              <a:spcAft>
                <a:spcPts val="400"/>
              </a:spcAft>
              <a:buNone/>
            </a:pPr>
            <a:r>
              <a:rPr sz="1700" b="1" i="0">
                <a:solidFill>
                  <a:srgbClr val="003054"/>
                </a:solidFill>
                <a:latin typeface="Calibri"/>
              </a:rPr>
              <a:t>LO4</a:t>
            </a:r>
          </a:p>
          <a:p>
            <a:pPr marL="201168" indent="-201168">
              <a:spcAft>
                <a:spcPts val="1600"/>
              </a:spcAft>
              <a:buFont typeface="Arial"/>
              <a:buChar char="–"/>
            </a:pPr>
            <a:r>
              <a:rPr sz="1700" b="0" i="0">
                <a:solidFill>
                  <a:srgbClr val="222A33"/>
                </a:solidFill>
                <a:latin typeface="Calibri"/>
              </a:rPr>
              <a:t>Evaluate different security technologies, compare them, and identify appropriate use cases.</a:t>
            </a:r>
          </a:p>
          <a:p>
            <a:pPr marL="0" indent="0">
              <a:spcAft>
                <a:spcPts val="400"/>
              </a:spcAft>
              <a:buNone/>
            </a:pPr>
            <a:r>
              <a:rPr sz="1700" b="1" i="0">
                <a:solidFill>
                  <a:srgbClr val="003054"/>
                </a:solidFill>
                <a:latin typeface="Calibri"/>
              </a:rPr>
              <a:t>LO5</a:t>
            </a:r>
          </a:p>
          <a:p>
            <a:pPr marL="201168" indent="-201168">
              <a:spcAft>
                <a:spcPts val="1600"/>
              </a:spcAft>
              <a:buFont typeface="Arial"/>
              <a:buChar char="–"/>
            </a:pPr>
            <a:r>
              <a:rPr sz="1700" b="0" i="0">
                <a:solidFill>
                  <a:srgbClr val="222A33"/>
                </a:solidFill>
                <a:latin typeface="Calibri"/>
              </a:rPr>
              <a:t>Configure security technologies to satisfy specific requirements.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Local vs. Server-Based AAA</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Where the decision actually gets made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Local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DEPLOYMENT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350" b="0" i="0">
                <a:solidFill>
                  <a:srgbClr val="222A33"/>
                </a:solidFill>
                <a:latin typeface="Calibri"/>
              </a:rPr>
              <a:t>Mechanism: each device, a router or switch, keeps its own username and password database and makes its own authentication decisions entirely independently.</a:t>
            </a:r>
          </a:p>
          <a:p>
            <a:pPr marL="201168" indent="-201168">
              <a:spcAft>
                <a:spcPts val="1100"/>
              </a:spcAft>
              <a:buFont typeface="Arial"/>
              <a:buChar char="–"/>
            </a:pPr>
            <a:r>
              <a:rPr sz="1350" b="0" i="0">
                <a:solidFill>
                  <a:srgbClr val="222A33"/>
                </a:solidFill>
                <a:latin typeface="Calibri"/>
              </a:rPr>
              <a:t>Example use case: a small office with two or three routers managed directly by one administrator, or a fallback method configured on every device in case a central server later becomes unreachable.</a:t>
            </a:r>
          </a:p>
          <a:p>
            <a:pPr marL="201168" indent="-201168">
              <a:spcAft>
                <a:spcPts val="1100"/>
              </a:spcAft>
              <a:buFont typeface="Arial"/>
              <a:buChar char="–"/>
            </a:pPr>
            <a:r>
              <a:rPr sz="1350" b="0" i="0">
                <a:solidFill>
                  <a:srgbClr val="222A33"/>
                </a:solidFill>
                <a:latin typeface="Calibri"/>
              </a:rPr>
              <a:t>Strengths: no external server or network dependency, so it works even if the rest of the network is completely down; simple to set up with no extra infrastructure; takes effect immediately, with nothing else that needs to be reachable first.</a:t>
            </a:r>
          </a:p>
          <a:p>
            <a:pPr marL="201168" indent="-201168">
              <a:spcAft>
                <a:spcPts val="1100"/>
              </a:spcAft>
              <a:buFont typeface="Arial"/>
              <a:buChar char="–"/>
            </a:pPr>
            <a:r>
              <a:rPr sz="1350" b="0" i="0">
                <a:solidFill>
                  <a:srgbClr val="222A33"/>
                </a:solidFill>
                <a:latin typeface="Calibri"/>
              </a:rPr>
              <a:t>Weaknesses: doesn't scale. With many devices, adding, removing, or updating a single user means logging into and changing every device individually, and each device's own logs stay separate rather than forming one consistent audit trail.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Server-Based (Centralised)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DEPLOYMENT</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300" b="0" i="0">
                <a:solidFill>
                  <a:srgbClr val="222A33"/>
                </a:solidFill>
                <a:latin typeface="Calibri"/>
              </a:rPr>
              <a:t>Mechanism: devices forward authentication and authorization requests to a dedicated AAA server, running RADIUS or TACACS+, which makes the decision and reports back.</a:t>
            </a:r>
          </a:p>
          <a:p>
            <a:pPr marL="201168" indent="-201168">
              <a:spcAft>
                <a:spcPts val="1100"/>
              </a:spcAft>
              <a:buFont typeface="Arial"/>
              <a:buChar char="–"/>
            </a:pPr>
            <a:r>
              <a:rPr sz="1300" b="0" i="0">
                <a:solidFill>
                  <a:srgbClr val="222A33"/>
                </a:solidFill>
                <a:latin typeface="Calibri"/>
              </a:rPr>
              <a:t>Example use case: a large enterprise with hundreds of routers, switches, and VPN concentrators all authenticating against one central TACACS+ server, or a university campus where every WiFi access point authenticates students and staff against one RADIUS server tied to the institution's directory.</a:t>
            </a:r>
          </a:p>
          <a:p>
            <a:pPr marL="201168" indent="-201168">
              <a:spcAft>
                <a:spcPts val="1100"/>
              </a:spcAft>
              <a:buFont typeface="Arial"/>
              <a:buChar char="–"/>
            </a:pPr>
            <a:r>
              <a:rPr sz="1300" b="0" i="0">
                <a:solidFill>
                  <a:srgbClr val="222A33"/>
                </a:solidFill>
                <a:latin typeface="Calibri"/>
              </a:rPr>
              <a:t>Strengths: one consistent user database and one place to manage accounts; one centralised audit log across the entire network; scales cleanly to large networks without per-device administrative overhead.</a:t>
            </a:r>
          </a:p>
          <a:p>
            <a:pPr marL="201168" indent="-201168">
              <a:spcAft>
                <a:spcPts val="1100"/>
              </a:spcAft>
              <a:buFont typeface="Arial"/>
              <a:buChar char="–"/>
            </a:pPr>
            <a:r>
              <a:rPr sz="1300" b="0" i="0">
                <a:solidFill>
                  <a:srgbClr val="222A33"/>
                </a:solidFill>
                <a:latin typeface="Calibri"/>
              </a:rPr>
              <a:t>Weaknesses: introduces a genuine new dependency, since an unreachable AAA server means devices can't authenticate anyone against it unless a fallback is configured; adds infrastructure cost and complexity; and becomes a single, high-value target, since compromising the AAA server could compromise authentication for the whole network.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Local vs. Server-Based: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DEPLOYMENT</a:t>
            </a:r>
          </a:p>
        </p:txBody>
      </p:sp>
      <p:graphicFrame>
        <p:nvGraphicFramePr>
          <p:cNvPr id="4" name="Table 3"/>
          <p:cNvGraphicFramePr>
            <a:graphicFrameLocks noGrp="1"/>
          </p:cNvGraphicFramePr>
          <p:nvPr/>
        </p:nvGraphicFramePr>
        <p:xfrm>
          <a:off x="365760" y="1737360"/>
          <a:ext cx="11430000" cy="32918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58368">
                <a:tc>
                  <a:txBody>
                    <a:bodyPr/>
                    <a:lstStyle/>
                    <a:p>
                      <a:r>
                        <a:rPr sz="1300" b="1" i="0">
                          <a:solidFill>
                            <a:srgbClr val="FFFFFF"/>
                          </a:solidFill>
                          <a:latin typeface="Calibri"/>
                        </a:rPr>
                        <a:t>Aspect</a:t>
                      </a:r>
                    </a:p>
                  </a:txBody>
                  <a:tcPr marL="73152" marR="73152" marT="27432" marB="27432" anchor="ctr">
                    <a:solidFill>
                      <a:srgbClr val="003054"/>
                    </a:solidFill>
                  </a:tcPr>
                </a:tc>
                <a:tc>
                  <a:txBody>
                    <a:bodyPr/>
                    <a:lstStyle/>
                    <a:p>
                      <a:r>
                        <a:rPr sz="1300" b="1" i="0">
                          <a:solidFill>
                            <a:srgbClr val="FFFFFF"/>
                          </a:solidFill>
                          <a:latin typeface="Calibri"/>
                        </a:rPr>
                        <a:t>Local AAA</a:t>
                      </a:r>
                    </a:p>
                  </a:txBody>
                  <a:tcPr marL="73152" marR="73152" marT="27432" marB="27432" anchor="ctr">
                    <a:solidFill>
                      <a:srgbClr val="003054"/>
                    </a:solidFill>
                  </a:tcPr>
                </a:tc>
                <a:tc>
                  <a:txBody>
                    <a:bodyPr/>
                    <a:lstStyle/>
                    <a:p>
                      <a:r>
                        <a:rPr sz="1300" b="1" i="0">
                          <a:solidFill>
                            <a:srgbClr val="FFFFFF"/>
                          </a:solidFill>
                          <a:latin typeface="Calibri"/>
                        </a:rPr>
                        <a:t>Server-Based AAA</a:t>
                      </a:r>
                    </a:p>
                  </a:txBody>
                  <a:tcPr marL="73152" marR="73152" marT="27432" marB="27432" anchor="ctr">
                    <a:solidFill>
                      <a:srgbClr val="003054"/>
                    </a:solidFill>
                  </a:tcPr>
                </a:tc>
                <a:extLst>
                  <a:ext uri="{0D108BD9-81ED-4DB2-BD59-A6C34878D82A}">
                    <a16:rowId xmlns:a16="http://schemas.microsoft.com/office/drawing/2014/main" val="10000"/>
                  </a:ext>
                </a:extLst>
              </a:tr>
              <a:tr h="658368">
                <a:tc>
                  <a:txBody>
                    <a:bodyPr/>
                    <a:lstStyle/>
                    <a:p>
                      <a:r>
                        <a:rPr sz="1350" b="0" i="0">
                          <a:solidFill>
                            <a:srgbClr val="222A33"/>
                          </a:solidFill>
                          <a:latin typeface="Calibri"/>
                        </a:rPr>
                        <a:t>Consistency</a:t>
                      </a:r>
                    </a:p>
                  </a:txBody>
                  <a:tcPr marL="73152" marR="73152" marT="27432" marB="27432" anchor="ctr">
                    <a:solidFill>
                      <a:srgbClr val="FFFFFF"/>
                    </a:solidFill>
                  </a:tcPr>
                </a:tc>
                <a:tc>
                  <a:txBody>
                    <a:bodyPr/>
                    <a:lstStyle/>
                    <a:p>
                      <a:r>
                        <a:rPr sz="1350" b="0" i="0">
                          <a:solidFill>
                            <a:srgbClr val="222A33"/>
                          </a:solidFill>
                          <a:latin typeface="Calibri"/>
                        </a:rPr>
                        <a:t>Managed per device, inconsistent at scale</a:t>
                      </a:r>
                    </a:p>
                  </a:txBody>
                  <a:tcPr marL="73152" marR="73152" marT="27432" marB="27432" anchor="ctr">
                    <a:solidFill>
                      <a:srgbClr val="FFFFFF"/>
                    </a:solidFill>
                  </a:tcPr>
                </a:tc>
                <a:tc>
                  <a:txBody>
                    <a:bodyPr/>
                    <a:lstStyle/>
                    <a:p>
                      <a:r>
                        <a:rPr sz="1350" b="0" i="0">
                          <a:solidFill>
                            <a:srgbClr val="222A33"/>
                          </a:solidFill>
                          <a:latin typeface="Calibri"/>
                        </a:rPr>
                        <a:t>One central database, consistent everywhere</a:t>
                      </a:r>
                    </a:p>
                  </a:txBody>
                  <a:tcPr marL="73152" marR="73152" marT="27432" marB="27432" anchor="ctr">
                    <a:solidFill>
                      <a:srgbClr val="FFFFFF"/>
                    </a:solidFill>
                  </a:tcPr>
                </a:tc>
                <a:extLst>
                  <a:ext uri="{0D108BD9-81ED-4DB2-BD59-A6C34878D82A}">
                    <a16:rowId xmlns:a16="http://schemas.microsoft.com/office/drawing/2014/main" val="10001"/>
                  </a:ext>
                </a:extLst>
              </a:tr>
              <a:tr h="658368">
                <a:tc>
                  <a:txBody>
                    <a:bodyPr/>
                    <a:lstStyle/>
                    <a:p>
                      <a:r>
                        <a:rPr sz="1350" b="0" i="0">
                          <a:solidFill>
                            <a:srgbClr val="222A33"/>
                          </a:solidFill>
                          <a:latin typeface="Calibri"/>
                        </a:rPr>
                        <a:t>Scalability</a:t>
                      </a:r>
                    </a:p>
                  </a:txBody>
                  <a:tcPr marL="73152" marR="73152" marT="27432" marB="27432" anchor="ctr">
                    <a:solidFill>
                      <a:srgbClr val="F2F4F7"/>
                    </a:solidFill>
                  </a:tcPr>
                </a:tc>
                <a:tc>
                  <a:txBody>
                    <a:bodyPr/>
                    <a:lstStyle/>
                    <a:p>
                      <a:r>
                        <a:rPr sz="1350" b="0" i="0">
                          <a:solidFill>
                            <a:srgbClr val="222A33"/>
                          </a:solidFill>
                          <a:latin typeface="Calibri"/>
                        </a:rPr>
                        <a:t>Poor, doesn't scale beyond a few devices</a:t>
                      </a:r>
                    </a:p>
                  </a:txBody>
                  <a:tcPr marL="73152" marR="73152" marT="27432" marB="27432" anchor="ctr">
                    <a:solidFill>
                      <a:srgbClr val="F2F4F7"/>
                    </a:solidFill>
                  </a:tcPr>
                </a:tc>
                <a:tc>
                  <a:txBody>
                    <a:bodyPr/>
                    <a:lstStyle/>
                    <a:p>
                      <a:r>
                        <a:rPr sz="1350" b="0" i="0">
                          <a:solidFill>
                            <a:srgbClr val="222A33"/>
                          </a:solidFill>
                          <a:latin typeface="Calibri"/>
                        </a:rPr>
                        <a:t>Strong, scales to large networks</a:t>
                      </a:r>
                    </a:p>
                  </a:txBody>
                  <a:tcPr marL="73152" marR="73152" marT="27432" marB="27432" anchor="ctr">
                    <a:solidFill>
                      <a:srgbClr val="F2F4F7"/>
                    </a:solidFill>
                  </a:tcPr>
                </a:tc>
                <a:extLst>
                  <a:ext uri="{0D108BD9-81ED-4DB2-BD59-A6C34878D82A}">
                    <a16:rowId xmlns:a16="http://schemas.microsoft.com/office/drawing/2014/main" val="10002"/>
                  </a:ext>
                </a:extLst>
              </a:tr>
              <a:tr h="658368">
                <a:tc>
                  <a:txBody>
                    <a:bodyPr/>
                    <a:lstStyle/>
                    <a:p>
                      <a:r>
                        <a:rPr sz="1350" b="0" i="0">
                          <a:solidFill>
                            <a:srgbClr val="222A33"/>
                          </a:solidFill>
                          <a:latin typeface="Calibri"/>
                        </a:rPr>
                        <a:t>Dependency</a:t>
                      </a:r>
                    </a:p>
                  </a:txBody>
                  <a:tcPr marL="73152" marR="73152" marT="27432" marB="27432" anchor="ctr">
                    <a:solidFill>
                      <a:srgbClr val="FFFFFF"/>
                    </a:solidFill>
                  </a:tcPr>
                </a:tc>
                <a:tc>
                  <a:txBody>
                    <a:bodyPr/>
                    <a:lstStyle/>
                    <a:p>
                      <a:r>
                        <a:rPr sz="1350" b="0" i="0">
                          <a:solidFill>
                            <a:srgbClr val="222A33"/>
                          </a:solidFill>
                          <a:latin typeface="Calibri"/>
                        </a:rPr>
                        <a:t>None, entirely self-contained</a:t>
                      </a:r>
                    </a:p>
                  </a:txBody>
                  <a:tcPr marL="73152" marR="73152" marT="27432" marB="27432" anchor="ctr">
                    <a:solidFill>
                      <a:srgbClr val="FFFFFF"/>
                    </a:solidFill>
                  </a:tcPr>
                </a:tc>
                <a:tc>
                  <a:txBody>
                    <a:bodyPr/>
                    <a:lstStyle/>
                    <a:p>
                      <a:r>
                        <a:rPr sz="1350" b="0" i="0">
                          <a:solidFill>
                            <a:srgbClr val="222A33"/>
                          </a:solidFill>
                          <a:latin typeface="Calibri"/>
                        </a:rPr>
                        <a:t>Depends on the AAA server being reachable</a:t>
                      </a:r>
                    </a:p>
                  </a:txBody>
                  <a:tcPr marL="73152" marR="73152" marT="27432" marB="27432" anchor="ctr">
                    <a:solidFill>
                      <a:srgbClr val="FFFFFF"/>
                    </a:solidFill>
                  </a:tcPr>
                </a:tc>
                <a:extLst>
                  <a:ext uri="{0D108BD9-81ED-4DB2-BD59-A6C34878D82A}">
                    <a16:rowId xmlns:a16="http://schemas.microsoft.com/office/drawing/2014/main" val="10003"/>
                  </a:ext>
                </a:extLst>
              </a:tr>
              <a:tr h="658368">
                <a:tc>
                  <a:txBody>
                    <a:bodyPr/>
                    <a:lstStyle/>
                    <a:p>
                      <a:r>
                        <a:rPr sz="1350" b="0" i="0">
                          <a:solidFill>
                            <a:srgbClr val="222A33"/>
                          </a:solidFill>
                          <a:latin typeface="Calibri"/>
                        </a:rPr>
                        <a:t>Typical use</a:t>
                      </a:r>
                    </a:p>
                  </a:txBody>
                  <a:tcPr marL="73152" marR="73152" marT="27432" marB="27432" anchor="ctr">
                    <a:solidFill>
                      <a:srgbClr val="F2F4F7"/>
                    </a:solidFill>
                  </a:tcPr>
                </a:tc>
                <a:tc>
                  <a:txBody>
                    <a:bodyPr/>
                    <a:lstStyle/>
                    <a:p>
                      <a:r>
                        <a:rPr sz="1350" b="0" i="0">
                          <a:solidFill>
                            <a:srgbClr val="222A33"/>
                          </a:solidFill>
                          <a:latin typeface="Calibri"/>
                        </a:rPr>
                        <a:t>Small networks, or as a fallback method</a:t>
                      </a:r>
                    </a:p>
                  </a:txBody>
                  <a:tcPr marL="73152" marR="73152" marT="27432" marB="27432" anchor="ctr">
                    <a:solidFill>
                      <a:srgbClr val="F2F4F7"/>
                    </a:solidFill>
                  </a:tcPr>
                </a:tc>
                <a:tc>
                  <a:txBody>
                    <a:bodyPr/>
                    <a:lstStyle/>
                    <a:p>
                      <a:r>
                        <a:rPr sz="1350" b="0" i="0">
                          <a:solidFill>
                            <a:srgbClr val="222A33"/>
                          </a:solidFill>
                          <a:latin typeface="Calibri"/>
                        </a:rPr>
                        <a:t>Enterprise networks</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Device Administration AAA vs. Network Access AAA</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is actually being protected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Device Administration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TWO KINDS OF ACCESS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Controls who can log into the network's own infrastructure devices, a router or switch's CLI, and once in, exactly which commands they're allowed to run.</a:t>
            </a:r>
          </a:p>
          <a:p>
            <a:pPr marL="201168" indent="-201168">
              <a:spcAft>
                <a:spcPts val="1100"/>
              </a:spcAft>
              <a:buFont typeface="Arial"/>
              <a:buChar char="–"/>
            </a:pPr>
            <a:r>
              <a:rPr sz="1600" b="0" i="0">
                <a:solidFill>
                  <a:srgbClr val="222A33"/>
                </a:solidFill>
                <a:latin typeface="Calibri"/>
              </a:rPr>
              <a:t>The stakes here are can this person reconfigure the network, and the natural granularity is per command.</a:t>
            </a:r>
          </a:p>
          <a:p>
            <a:pPr marL="201168" indent="-201168">
              <a:spcAft>
                <a:spcPts val="1100"/>
              </a:spcAft>
              <a:buFont typeface="Arial"/>
              <a:buChar char="–"/>
            </a:pPr>
            <a:r>
              <a:rPr sz="1600" b="0" i="0">
                <a:solidFill>
                  <a:srgbClr val="222A33"/>
                </a:solidFill>
                <a:latin typeface="Calibri"/>
              </a:rPr>
              <a:t>This is TACACS+'s traditional home ground, covered in detail shortly.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Network Access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TWO KINDS OF ACCESS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Controls who or what can get onto the network in the first place: </a:t>
            </a:r>
            <a:r>
              <a:rPr sz="1600" b="0" i="0" dirty="0" err="1">
                <a:solidFill>
                  <a:srgbClr val="222A33"/>
                </a:solidFill>
                <a:latin typeface="Calibri"/>
              </a:rPr>
              <a:t>WiFi</a:t>
            </a:r>
            <a:r>
              <a:rPr sz="1600" b="0" i="0" dirty="0">
                <a:solidFill>
                  <a:srgbClr val="222A33"/>
                </a:solidFill>
                <a:latin typeface="Calibri"/>
              </a:rPr>
              <a:t> association, a VPN connection (recall Week 9), or wired 802.1X port authentication.</a:t>
            </a:r>
          </a:p>
          <a:p>
            <a:pPr marL="201168" indent="-201168">
              <a:spcAft>
                <a:spcPts val="1100"/>
              </a:spcAft>
              <a:buFont typeface="Arial"/>
              <a:buChar char="–"/>
            </a:pPr>
            <a:r>
              <a:rPr sz="1600" b="0" i="0" dirty="0">
                <a:solidFill>
                  <a:srgbClr val="222A33"/>
                </a:solidFill>
                <a:latin typeface="Calibri"/>
              </a:rPr>
              <a:t>The stakes here are can this device or user reach the network at all. There's no equivalent of per-command granularity, since an end user connecting to </a:t>
            </a:r>
            <a:r>
              <a:rPr sz="1600" b="0" i="0" dirty="0" err="1">
                <a:solidFill>
                  <a:srgbClr val="222A33"/>
                </a:solidFill>
                <a:latin typeface="Calibri"/>
              </a:rPr>
              <a:t>WiFi</a:t>
            </a:r>
            <a:r>
              <a:rPr sz="1600" b="0" i="0" dirty="0">
                <a:solidFill>
                  <a:srgbClr val="222A33"/>
                </a:solidFill>
                <a:latin typeface="Calibri"/>
              </a:rPr>
              <a:t> isn't issuing router commands.</a:t>
            </a:r>
          </a:p>
          <a:p>
            <a:pPr marL="201168" indent="-201168">
              <a:spcAft>
                <a:spcPts val="1100"/>
              </a:spcAft>
              <a:buFont typeface="Arial"/>
              <a:buChar char="–"/>
            </a:pPr>
            <a:r>
              <a:rPr sz="1600" b="0" i="0" dirty="0">
                <a:solidFill>
                  <a:srgbClr val="222A33"/>
                </a:solidFill>
                <a:latin typeface="Calibri"/>
              </a:rPr>
              <a:t>This is RADIUS's traditional home ground, built for fast, high-volume, simultaneous connection handling rather than fine-grained command control.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Why This Distinction Actually Matters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TWO KINDS OF ACCESS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TACACS+'s full-packet encryption and its clean separation of all three AAA functions matches device administration's need for fine-grained, secure command control.</a:t>
            </a:r>
          </a:p>
          <a:p>
            <a:pPr marL="201168" indent="-201168">
              <a:spcAft>
                <a:spcPts val="1100"/>
              </a:spcAft>
              <a:buFont typeface="Arial"/>
              <a:buChar char="–"/>
            </a:pPr>
            <a:r>
              <a:rPr sz="1600" b="0" i="0" dirty="0">
                <a:solidFill>
                  <a:srgbClr val="222A33"/>
                </a:solidFill>
                <a:latin typeface="Calibri"/>
              </a:rPr>
              <a:t>RADIUS's lighter design, encrypting only the password, and bundling authentication with authorization matches network access's need for fast, high-volume connection handling.</a:t>
            </a:r>
          </a:p>
          <a:p>
            <a:pPr marL="201168" indent="-201168">
              <a:spcAft>
                <a:spcPts val="1100"/>
              </a:spcAft>
              <a:buFont typeface="Arial"/>
              <a:buChar char="–"/>
            </a:pPr>
            <a:r>
              <a:rPr sz="1600" b="0" i="0" dirty="0">
                <a:solidFill>
                  <a:srgbClr val="222A33"/>
                </a:solidFill>
                <a:latin typeface="Calibri"/>
              </a:rPr>
              <a:t>Neither protocol is simply better overall. Each is well suited to the specific stakes and scale of its own traditional use case, which is exactly why both still exist side by side today.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RADIUS vs. TACACS+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Two protocols, two different jobs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RADIUS: Mechanism and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RADIUS</a:t>
            </a:r>
          </a:p>
        </p:txBody>
      </p:sp>
      <p:sp>
        <p:nvSpPr>
          <p:cNvPr id="4" name="TextBox 3"/>
          <p:cNvSpPr txBox="1"/>
          <p:nvPr/>
        </p:nvSpPr>
        <p:spPr>
          <a:xfrm>
            <a:off x="731520" y="1828800"/>
            <a:ext cx="10698480" cy="2239074"/>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Remote Authentication Dial-In User Service. Despite the dated name, it's the dominant protocol for modern network access AAA.</a:t>
            </a:r>
          </a:p>
          <a:p>
            <a:pPr marL="201168" indent="-201168">
              <a:spcAft>
                <a:spcPts val="1100"/>
              </a:spcAft>
              <a:buFont typeface="Arial"/>
              <a:buChar char="–"/>
            </a:pPr>
            <a:r>
              <a:rPr sz="1600" b="0" i="0" dirty="0">
                <a:solidFill>
                  <a:srgbClr val="222A33"/>
                </a:solidFill>
                <a:latin typeface="Calibri"/>
              </a:rPr>
              <a:t>Transport: UDP, on ports 1812 for authentication and authorization and 1813 for accounting.</a:t>
            </a:r>
          </a:p>
          <a:p>
            <a:pPr marL="201168" indent="-201168">
              <a:spcAft>
                <a:spcPts val="1100"/>
              </a:spcAft>
              <a:buFont typeface="Arial"/>
              <a:buChar char="–"/>
            </a:pPr>
            <a:r>
              <a:rPr sz="1600" b="0" i="0" dirty="0">
                <a:solidFill>
                  <a:srgbClr val="222A33"/>
                </a:solidFill>
                <a:latin typeface="Calibri"/>
              </a:rPr>
              <a:t>Encrypts only the password field in the packet. The rest, including the username, travels unencrypted, and it bundles authentication and authorization into a single response rather than treating them as separate exchanges.</a:t>
            </a:r>
          </a:p>
          <a:p>
            <a:pPr marL="201168" indent="-201168">
              <a:spcAft>
                <a:spcPts val="1100"/>
              </a:spcAft>
              <a:buFont typeface="Arial"/>
              <a:buChar char="–"/>
            </a:pPr>
            <a:r>
              <a:rPr sz="1600" b="0" i="0" dirty="0">
                <a:solidFill>
                  <a:srgbClr val="222A33"/>
                </a:solidFill>
                <a:latin typeface="Calibri"/>
              </a:rPr>
              <a:t>Use cases: </a:t>
            </a:r>
            <a:r>
              <a:rPr sz="1600" b="0" i="0" dirty="0" err="1">
                <a:solidFill>
                  <a:srgbClr val="222A33"/>
                </a:solidFill>
                <a:latin typeface="Calibri"/>
              </a:rPr>
              <a:t>WiFi</a:t>
            </a:r>
            <a:r>
              <a:rPr sz="1600" b="0" i="0" dirty="0">
                <a:solidFill>
                  <a:srgbClr val="222A33"/>
                </a:solidFill>
                <a:latin typeface="Calibri"/>
              </a:rPr>
              <a:t> authentication via 802.1X, VPN remote access (recall Week 9), and its original historical role authenticating ISP dial-up and broadband customers, anywhere many simultaneous connections need fast, lightweight handling.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RADIUS: Strengths and Weaknesses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RADIUS</a:t>
            </a:r>
          </a:p>
        </p:txBody>
      </p:sp>
      <p:sp>
        <p:nvSpPr>
          <p:cNvPr id="4" name="TextBox 3"/>
          <p:cNvSpPr txBox="1"/>
          <p:nvPr/>
        </p:nvSpPr>
        <p:spPr>
          <a:xfrm>
            <a:off x="731520" y="1828800"/>
            <a:ext cx="10698480" cy="1710725"/>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Strengths: an open, multi-vendor standard (RFC 2865 and 2866) supported broadly across many manufacturers' equipment, not locked to one vendor. Lightweight and fast, since UDP and its combined authentication-authorization response suit high-volume, simultaneous connection handling well. Straightforward to deploy across a mixed-vendor environment.</a:t>
            </a:r>
          </a:p>
          <a:p>
            <a:pPr marL="201168" indent="-201168">
              <a:spcAft>
                <a:spcPts val="1100"/>
              </a:spcAft>
              <a:buFont typeface="Arial"/>
              <a:buChar char="–"/>
            </a:pPr>
            <a:r>
              <a:rPr sz="1600" b="0" i="0" dirty="0">
                <a:solidFill>
                  <a:srgbClr val="222A33"/>
                </a:solidFill>
                <a:latin typeface="Calibri"/>
              </a:rPr>
              <a:t>Weaknesses: only the password is encrypted, so usernames and other attributes cross the network in plain text, a genuine security gap compared to TACACS+. UDP itself gives no guaranteed delivery, unlike TCP. Bundling authentication and authorization together also means less flexibility to control each independently.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TACACS+: Mechanism and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TACACS+</a:t>
            </a:r>
          </a:p>
        </p:txBody>
      </p:sp>
      <p:sp>
        <p:nvSpPr>
          <p:cNvPr id="4" name="TextBox 3"/>
          <p:cNvSpPr txBox="1"/>
          <p:nvPr/>
        </p:nvSpPr>
        <p:spPr>
          <a:xfrm>
            <a:off x="731520" y="1828800"/>
            <a:ext cx="10698480" cy="1992853"/>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Terminal Access Controller Access-Control System Plus. Cisco's own protocol for device administration AAA.</a:t>
            </a:r>
          </a:p>
          <a:p>
            <a:pPr marL="201168" indent="-201168">
              <a:spcAft>
                <a:spcPts val="1100"/>
              </a:spcAft>
              <a:buFont typeface="Arial"/>
              <a:buChar char="–"/>
            </a:pPr>
            <a:r>
              <a:rPr sz="1600" b="0" i="0" dirty="0">
                <a:solidFill>
                  <a:srgbClr val="222A33"/>
                </a:solidFill>
                <a:latin typeface="Calibri"/>
              </a:rPr>
              <a:t>Transport: TCP, on port 49, giving reliable delivery that UDP doesn't guarantee.</a:t>
            </a:r>
          </a:p>
          <a:p>
            <a:pPr marL="201168" indent="-201168">
              <a:spcAft>
                <a:spcPts val="1100"/>
              </a:spcAft>
              <a:buFont typeface="Arial"/>
              <a:buChar char="–"/>
            </a:pPr>
            <a:r>
              <a:rPr sz="1600" b="0" i="0" dirty="0">
                <a:solidFill>
                  <a:srgbClr val="222A33"/>
                </a:solidFill>
                <a:latin typeface="Calibri"/>
              </a:rPr>
              <a:t>Encrypts the entire packet body, not just the password, and cleanly separates all three AAA functions into genuinely independent exchanges rather than bundling them.</a:t>
            </a:r>
          </a:p>
          <a:p>
            <a:pPr marL="201168" indent="-201168">
              <a:spcAft>
                <a:spcPts val="1100"/>
              </a:spcAft>
              <a:buFont typeface="Arial"/>
              <a:buChar char="–"/>
            </a:pPr>
            <a:r>
              <a:rPr sz="1600" b="0" i="0" dirty="0">
                <a:solidFill>
                  <a:srgbClr val="222A33"/>
                </a:solidFill>
                <a:latin typeface="Calibri"/>
              </a:rPr>
              <a:t>Use cases: administering Cisco routers and switches, controlling exactly which CLI commands a given administrator can run, and any enterprise environment needing a detailed, per-command audit trail for its own infrastructure.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TACACS+: Strengths and Weaknesses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TACACS+</a:t>
            </a:r>
          </a:p>
        </p:txBody>
      </p:sp>
      <p:sp>
        <p:nvSpPr>
          <p:cNvPr id="4" name="TextBox 3"/>
          <p:cNvSpPr txBox="1"/>
          <p:nvPr/>
        </p:nvSpPr>
        <p:spPr>
          <a:xfrm>
            <a:off x="731520" y="1828800"/>
            <a:ext cx="10698480" cy="1710725"/>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Strengths: full-packet encryption gives meaningfully stronger confidentiality than RADIUS. Genuinely separating authentication, authorization, and accounting allows fine-grained control over each independently, including command-level authorization. TCP provides reliable delivery.</a:t>
            </a:r>
          </a:p>
          <a:p>
            <a:pPr marL="201168" indent="-201168">
              <a:spcAft>
                <a:spcPts val="1100"/>
              </a:spcAft>
              <a:buFont typeface="Arial"/>
              <a:buChar char="–"/>
            </a:pPr>
            <a:r>
              <a:rPr sz="1600" b="0" i="0" dirty="0">
                <a:solidFill>
                  <a:srgbClr val="222A33"/>
                </a:solidFill>
                <a:latin typeface="Calibri"/>
              </a:rPr>
              <a:t>Weaknesses: Cisco-proprietary, so it isn't natively supported across other vendors' equipment the way RADIUS is. Carries heavier protocol overhead than RADIUS, since it encrypts the full packet and rides on TCP, making it less suited to very high-volume simultaneous-connection scenarios such as thousands of </a:t>
            </a:r>
            <a:r>
              <a:rPr sz="1600" b="0" i="0" dirty="0" err="1">
                <a:solidFill>
                  <a:srgbClr val="222A33"/>
                </a:solidFill>
                <a:latin typeface="Calibri"/>
              </a:rPr>
              <a:t>WiFi</a:t>
            </a:r>
            <a:r>
              <a:rPr sz="1600" b="0" i="0" dirty="0">
                <a:solidFill>
                  <a:srgbClr val="222A33"/>
                </a:solidFill>
                <a:latin typeface="Calibri"/>
              </a:rPr>
              <a:t> clients.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RADIUS vs. TACACS+: Full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COMPARISON</a:t>
            </a:r>
          </a:p>
        </p:txBody>
      </p:sp>
      <p:graphicFrame>
        <p:nvGraphicFramePr>
          <p:cNvPr id="4" name="Table 3"/>
          <p:cNvGraphicFramePr>
            <a:graphicFrameLocks noGrp="1"/>
          </p:cNvGraphicFramePr>
          <p:nvPr/>
        </p:nvGraphicFramePr>
        <p:xfrm>
          <a:off x="182880" y="1691640"/>
          <a:ext cx="11795760"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514350">
                <a:tc>
                  <a:txBody>
                    <a:bodyPr/>
                    <a:lstStyle/>
                    <a:p>
                      <a:r>
                        <a:rPr sz="1300" b="1" i="0">
                          <a:solidFill>
                            <a:srgbClr val="FFFFFF"/>
                          </a:solidFill>
                          <a:latin typeface="Calibri"/>
                        </a:rPr>
                        <a:t>Aspect</a:t>
                      </a:r>
                    </a:p>
                  </a:txBody>
                  <a:tcPr marL="73152" marR="73152" marT="27432" marB="27432" anchor="ctr">
                    <a:solidFill>
                      <a:srgbClr val="003054"/>
                    </a:solidFill>
                  </a:tcPr>
                </a:tc>
                <a:tc>
                  <a:txBody>
                    <a:bodyPr/>
                    <a:lstStyle/>
                    <a:p>
                      <a:r>
                        <a:rPr sz="1300" b="1" i="0">
                          <a:solidFill>
                            <a:srgbClr val="FFFFFF"/>
                          </a:solidFill>
                          <a:latin typeface="Calibri"/>
                        </a:rPr>
                        <a:t>RADIUS</a:t>
                      </a:r>
                    </a:p>
                  </a:txBody>
                  <a:tcPr marL="73152" marR="73152" marT="27432" marB="27432" anchor="ctr">
                    <a:solidFill>
                      <a:srgbClr val="003054"/>
                    </a:solidFill>
                  </a:tcPr>
                </a:tc>
                <a:tc>
                  <a:txBody>
                    <a:bodyPr/>
                    <a:lstStyle/>
                    <a:p>
                      <a:r>
                        <a:rPr sz="1300" b="1" i="0">
                          <a:solidFill>
                            <a:srgbClr val="FFFFFF"/>
                          </a:solidFill>
                          <a:latin typeface="Calibri"/>
                        </a:rPr>
                        <a:t>TACACS+</a:t>
                      </a:r>
                    </a:p>
                  </a:txBody>
                  <a:tcPr marL="73152" marR="73152" marT="27432" marB="27432" anchor="ctr">
                    <a:solidFill>
                      <a:srgbClr val="003054"/>
                    </a:solidFill>
                  </a:tcPr>
                </a:tc>
                <a:extLst>
                  <a:ext uri="{0D108BD9-81ED-4DB2-BD59-A6C34878D82A}">
                    <a16:rowId xmlns:a16="http://schemas.microsoft.com/office/drawing/2014/main" val="10000"/>
                  </a:ext>
                </a:extLst>
              </a:tr>
              <a:tr h="514350">
                <a:tc>
                  <a:txBody>
                    <a:bodyPr/>
                    <a:lstStyle/>
                    <a:p>
                      <a:r>
                        <a:rPr sz="1250" b="0" i="0">
                          <a:solidFill>
                            <a:srgbClr val="222A33"/>
                          </a:solidFill>
                          <a:latin typeface="Calibri"/>
                        </a:rPr>
                        <a:t>Transport</a:t>
                      </a:r>
                    </a:p>
                  </a:txBody>
                  <a:tcPr marL="73152" marR="73152" marT="27432" marB="27432" anchor="ctr">
                    <a:solidFill>
                      <a:srgbClr val="FFFFFF"/>
                    </a:solidFill>
                  </a:tcPr>
                </a:tc>
                <a:tc>
                  <a:txBody>
                    <a:bodyPr/>
                    <a:lstStyle/>
                    <a:p>
                      <a:r>
                        <a:rPr sz="1250" b="0" i="0">
                          <a:solidFill>
                            <a:srgbClr val="222A33"/>
                          </a:solidFill>
                          <a:latin typeface="Calibri"/>
                        </a:rPr>
                        <a:t>UDP</a:t>
                      </a:r>
                    </a:p>
                  </a:txBody>
                  <a:tcPr marL="73152" marR="73152" marT="27432" marB="27432" anchor="ctr">
                    <a:solidFill>
                      <a:srgbClr val="FFFFFF"/>
                    </a:solidFill>
                  </a:tcPr>
                </a:tc>
                <a:tc>
                  <a:txBody>
                    <a:bodyPr/>
                    <a:lstStyle/>
                    <a:p>
                      <a:r>
                        <a:rPr sz="1250" b="0" i="0">
                          <a:solidFill>
                            <a:srgbClr val="222A33"/>
                          </a:solidFill>
                          <a:latin typeface="Calibri"/>
                        </a:rPr>
                        <a:t>TCP</a:t>
                      </a:r>
                    </a:p>
                  </a:txBody>
                  <a:tcPr marL="73152" marR="73152" marT="27432" marB="27432" anchor="ctr">
                    <a:solidFill>
                      <a:srgbClr val="FFFFFF"/>
                    </a:solidFill>
                  </a:tcPr>
                </a:tc>
                <a:extLst>
                  <a:ext uri="{0D108BD9-81ED-4DB2-BD59-A6C34878D82A}">
                    <a16:rowId xmlns:a16="http://schemas.microsoft.com/office/drawing/2014/main" val="10001"/>
                  </a:ext>
                </a:extLst>
              </a:tr>
              <a:tr h="514350">
                <a:tc>
                  <a:txBody>
                    <a:bodyPr/>
                    <a:lstStyle/>
                    <a:p>
                      <a:r>
                        <a:rPr sz="1250" b="0" i="0">
                          <a:solidFill>
                            <a:srgbClr val="222A33"/>
                          </a:solidFill>
                          <a:latin typeface="Calibri"/>
                        </a:rPr>
                        <a:t>Reliability</a:t>
                      </a:r>
                    </a:p>
                  </a:txBody>
                  <a:tcPr marL="73152" marR="73152" marT="27432" marB="27432" anchor="ctr">
                    <a:solidFill>
                      <a:srgbClr val="F2F4F7"/>
                    </a:solidFill>
                  </a:tcPr>
                </a:tc>
                <a:tc>
                  <a:txBody>
                    <a:bodyPr/>
                    <a:lstStyle/>
                    <a:p>
                      <a:r>
                        <a:rPr sz="1250" b="0" i="0">
                          <a:solidFill>
                            <a:srgbClr val="222A33"/>
                          </a:solidFill>
                          <a:latin typeface="Calibri"/>
                        </a:rPr>
                        <a:t>No built-in retransmission</a:t>
                      </a:r>
                    </a:p>
                  </a:txBody>
                  <a:tcPr marL="73152" marR="73152" marT="27432" marB="27432" anchor="ctr">
                    <a:solidFill>
                      <a:srgbClr val="F2F4F7"/>
                    </a:solidFill>
                  </a:tcPr>
                </a:tc>
                <a:tc>
                  <a:txBody>
                    <a:bodyPr/>
                    <a:lstStyle/>
                    <a:p>
                      <a:r>
                        <a:rPr sz="1250" b="0" i="0">
                          <a:solidFill>
                            <a:srgbClr val="222A33"/>
                          </a:solidFill>
                          <a:latin typeface="Calibri"/>
                        </a:rPr>
                        <a:t>Reliable delivery via TCP</a:t>
                      </a:r>
                    </a:p>
                  </a:txBody>
                  <a:tcPr marL="73152" marR="73152" marT="27432" marB="27432" anchor="ctr">
                    <a:solidFill>
                      <a:srgbClr val="F2F4F7"/>
                    </a:solidFill>
                  </a:tcPr>
                </a:tc>
                <a:extLst>
                  <a:ext uri="{0D108BD9-81ED-4DB2-BD59-A6C34878D82A}">
                    <a16:rowId xmlns:a16="http://schemas.microsoft.com/office/drawing/2014/main" val="10002"/>
                  </a:ext>
                </a:extLst>
              </a:tr>
              <a:tr h="514350">
                <a:tc>
                  <a:txBody>
                    <a:bodyPr/>
                    <a:lstStyle/>
                    <a:p>
                      <a:r>
                        <a:rPr sz="1250" b="0" i="0">
                          <a:solidFill>
                            <a:srgbClr val="222A33"/>
                          </a:solidFill>
                          <a:latin typeface="Calibri"/>
                        </a:rPr>
                        <a:t>Encryption</a:t>
                      </a:r>
                    </a:p>
                  </a:txBody>
                  <a:tcPr marL="73152" marR="73152" marT="27432" marB="27432" anchor="ctr">
                    <a:solidFill>
                      <a:srgbClr val="FFFFFF"/>
                    </a:solidFill>
                  </a:tcPr>
                </a:tc>
                <a:tc>
                  <a:txBody>
                    <a:bodyPr/>
                    <a:lstStyle/>
                    <a:p>
                      <a:r>
                        <a:rPr sz="1250" b="0" i="0">
                          <a:solidFill>
                            <a:srgbClr val="222A33"/>
                          </a:solidFill>
                          <a:latin typeface="Calibri"/>
                        </a:rPr>
                        <a:t>Password only</a:t>
                      </a:r>
                    </a:p>
                  </a:txBody>
                  <a:tcPr marL="73152" marR="73152" marT="27432" marB="27432" anchor="ctr">
                    <a:solidFill>
                      <a:srgbClr val="FFFFFF"/>
                    </a:solidFill>
                  </a:tcPr>
                </a:tc>
                <a:tc>
                  <a:txBody>
                    <a:bodyPr/>
                    <a:lstStyle/>
                    <a:p>
                      <a:r>
                        <a:rPr sz="1250" b="0" i="0">
                          <a:solidFill>
                            <a:srgbClr val="222A33"/>
                          </a:solidFill>
                          <a:latin typeface="Calibri"/>
                        </a:rPr>
                        <a:t>Entire packet</a:t>
                      </a:r>
                    </a:p>
                  </a:txBody>
                  <a:tcPr marL="73152" marR="73152" marT="27432" marB="27432" anchor="ctr">
                    <a:solidFill>
                      <a:srgbClr val="FFFFFF"/>
                    </a:solidFill>
                  </a:tcPr>
                </a:tc>
                <a:extLst>
                  <a:ext uri="{0D108BD9-81ED-4DB2-BD59-A6C34878D82A}">
                    <a16:rowId xmlns:a16="http://schemas.microsoft.com/office/drawing/2014/main" val="10003"/>
                  </a:ext>
                </a:extLst>
              </a:tr>
              <a:tr h="514350">
                <a:tc>
                  <a:txBody>
                    <a:bodyPr/>
                    <a:lstStyle/>
                    <a:p>
                      <a:r>
                        <a:rPr sz="1250" b="0" i="0">
                          <a:solidFill>
                            <a:srgbClr val="222A33"/>
                          </a:solidFill>
                          <a:latin typeface="Calibri"/>
                        </a:rPr>
                        <a:t>AAA separation</a:t>
                      </a:r>
                    </a:p>
                  </a:txBody>
                  <a:tcPr marL="73152" marR="73152" marT="27432" marB="27432" anchor="ctr">
                    <a:solidFill>
                      <a:srgbClr val="F2F4F7"/>
                    </a:solidFill>
                  </a:tcPr>
                </a:tc>
                <a:tc>
                  <a:txBody>
                    <a:bodyPr/>
                    <a:lstStyle/>
                    <a:p>
                      <a:r>
                        <a:rPr sz="1250" b="0" i="0">
                          <a:solidFill>
                            <a:srgbClr val="222A33"/>
                          </a:solidFill>
                          <a:latin typeface="Calibri"/>
                        </a:rPr>
                        <a:t>Authentication and authorization combined</a:t>
                      </a:r>
                    </a:p>
                  </a:txBody>
                  <a:tcPr marL="73152" marR="73152" marT="27432" marB="27432" anchor="ctr">
                    <a:solidFill>
                      <a:srgbClr val="F2F4F7"/>
                    </a:solidFill>
                  </a:tcPr>
                </a:tc>
                <a:tc>
                  <a:txBody>
                    <a:bodyPr/>
                    <a:lstStyle/>
                    <a:p>
                      <a:r>
                        <a:rPr sz="1250" b="0" i="0">
                          <a:solidFill>
                            <a:srgbClr val="222A33"/>
                          </a:solidFill>
                          <a:latin typeface="Calibri"/>
                        </a:rPr>
                        <a:t>All three functions fully separate</a:t>
                      </a:r>
                    </a:p>
                  </a:txBody>
                  <a:tcPr marL="73152" marR="73152" marT="27432" marB="27432" anchor="ctr">
                    <a:solidFill>
                      <a:srgbClr val="F2F4F7"/>
                    </a:solidFill>
                  </a:tcPr>
                </a:tc>
                <a:extLst>
                  <a:ext uri="{0D108BD9-81ED-4DB2-BD59-A6C34878D82A}">
                    <a16:rowId xmlns:a16="http://schemas.microsoft.com/office/drawing/2014/main" val="10004"/>
                  </a:ext>
                </a:extLst>
              </a:tr>
              <a:tr h="514350">
                <a:tc>
                  <a:txBody>
                    <a:bodyPr/>
                    <a:lstStyle/>
                    <a:p>
                      <a:r>
                        <a:rPr sz="1250" b="0" i="0">
                          <a:solidFill>
                            <a:srgbClr val="222A33"/>
                          </a:solidFill>
                          <a:latin typeface="Calibri"/>
                        </a:rPr>
                        <a:t>Vendor support</a:t>
                      </a:r>
                    </a:p>
                  </a:txBody>
                  <a:tcPr marL="73152" marR="73152" marT="27432" marB="27432" anchor="ctr">
                    <a:solidFill>
                      <a:srgbClr val="FFFFFF"/>
                    </a:solidFill>
                  </a:tcPr>
                </a:tc>
                <a:tc>
                  <a:txBody>
                    <a:bodyPr/>
                    <a:lstStyle/>
                    <a:p>
                      <a:r>
                        <a:rPr sz="1250" b="0" i="0">
                          <a:solidFill>
                            <a:srgbClr val="222A33"/>
                          </a:solidFill>
                          <a:latin typeface="Calibri"/>
                        </a:rPr>
                        <a:t>Open, multi-vendor (RFC 2865/2866)</a:t>
                      </a:r>
                    </a:p>
                  </a:txBody>
                  <a:tcPr marL="73152" marR="73152" marT="27432" marB="27432" anchor="ctr">
                    <a:solidFill>
                      <a:srgbClr val="FFFFFF"/>
                    </a:solidFill>
                  </a:tcPr>
                </a:tc>
                <a:tc>
                  <a:txBody>
                    <a:bodyPr/>
                    <a:lstStyle/>
                    <a:p>
                      <a:r>
                        <a:rPr sz="1250" b="0" i="0">
                          <a:solidFill>
                            <a:srgbClr val="222A33"/>
                          </a:solidFill>
                          <a:latin typeface="Calibri"/>
                        </a:rPr>
                        <a:t>Cisco-proprietary</a:t>
                      </a:r>
                    </a:p>
                  </a:txBody>
                  <a:tcPr marL="73152" marR="73152" marT="27432" marB="27432" anchor="ctr">
                    <a:solidFill>
                      <a:srgbClr val="FFFFFF"/>
                    </a:solidFill>
                  </a:tcPr>
                </a:tc>
                <a:extLst>
                  <a:ext uri="{0D108BD9-81ED-4DB2-BD59-A6C34878D82A}">
                    <a16:rowId xmlns:a16="http://schemas.microsoft.com/office/drawing/2014/main" val="10005"/>
                  </a:ext>
                </a:extLst>
              </a:tr>
              <a:tr h="514350">
                <a:tc>
                  <a:txBody>
                    <a:bodyPr/>
                    <a:lstStyle/>
                    <a:p>
                      <a:r>
                        <a:rPr sz="1250" b="0" i="0">
                          <a:solidFill>
                            <a:srgbClr val="222A33"/>
                          </a:solidFill>
                          <a:latin typeface="Calibri"/>
                        </a:rPr>
                        <a:t>Overhead</a:t>
                      </a:r>
                    </a:p>
                  </a:txBody>
                  <a:tcPr marL="73152" marR="73152" marT="27432" marB="27432" anchor="ctr">
                    <a:solidFill>
                      <a:srgbClr val="F2F4F7"/>
                    </a:solidFill>
                  </a:tcPr>
                </a:tc>
                <a:tc>
                  <a:txBody>
                    <a:bodyPr/>
                    <a:lstStyle/>
                    <a:p>
                      <a:r>
                        <a:rPr sz="1250" b="0" i="0">
                          <a:solidFill>
                            <a:srgbClr val="222A33"/>
                          </a:solidFill>
                          <a:latin typeface="Calibri"/>
                        </a:rPr>
                        <a:t>Lower, suited to high connection volume</a:t>
                      </a:r>
                    </a:p>
                  </a:txBody>
                  <a:tcPr marL="73152" marR="73152" marT="27432" marB="27432" anchor="ctr">
                    <a:solidFill>
                      <a:srgbClr val="F2F4F7"/>
                    </a:solidFill>
                  </a:tcPr>
                </a:tc>
                <a:tc>
                  <a:txBody>
                    <a:bodyPr/>
                    <a:lstStyle/>
                    <a:p>
                      <a:r>
                        <a:rPr sz="1250" b="0" i="0">
                          <a:solidFill>
                            <a:srgbClr val="222A33"/>
                          </a:solidFill>
                          <a:latin typeface="Calibri"/>
                        </a:rPr>
                        <a:t>Higher, justified by finer administrative control</a:t>
                      </a:r>
                    </a:p>
                  </a:txBody>
                  <a:tcPr marL="73152" marR="73152" marT="27432" marB="27432" anchor="ctr">
                    <a:solidFill>
                      <a:srgbClr val="F2F4F7"/>
                    </a:solidFill>
                  </a:tcPr>
                </a:tc>
                <a:extLst>
                  <a:ext uri="{0D108BD9-81ED-4DB2-BD59-A6C34878D82A}">
                    <a16:rowId xmlns:a16="http://schemas.microsoft.com/office/drawing/2014/main" val="10006"/>
                  </a:ext>
                </a:extLst>
              </a:tr>
              <a:tr h="514350">
                <a:tc>
                  <a:txBody>
                    <a:bodyPr/>
                    <a:lstStyle/>
                    <a:p>
                      <a:r>
                        <a:rPr sz="1250" b="0" i="0">
                          <a:solidFill>
                            <a:srgbClr val="222A33"/>
                          </a:solidFill>
                          <a:latin typeface="Calibri"/>
                        </a:rPr>
                        <a:t>Typical use</a:t>
                      </a:r>
                    </a:p>
                  </a:txBody>
                  <a:tcPr marL="73152" marR="73152" marT="27432" marB="27432" anchor="ctr">
                    <a:solidFill>
                      <a:srgbClr val="FFFFFF"/>
                    </a:solidFill>
                  </a:tcPr>
                </a:tc>
                <a:tc>
                  <a:txBody>
                    <a:bodyPr/>
                    <a:lstStyle/>
                    <a:p>
                      <a:r>
                        <a:rPr sz="1250" b="0" i="0">
                          <a:solidFill>
                            <a:srgbClr val="222A33"/>
                          </a:solidFill>
                          <a:latin typeface="Calibri"/>
                        </a:rPr>
                        <a:t>Network access (WiFi, VPN)</a:t>
                      </a:r>
                    </a:p>
                  </a:txBody>
                  <a:tcPr marL="73152" marR="73152" marT="27432" marB="27432" anchor="ctr">
                    <a:solidFill>
                      <a:srgbClr val="FFFFFF"/>
                    </a:solidFill>
                  </a:tcPr>
                </a:tc>
                <a:tc>
                  <a:txBody>
                    <a:bodyPr/>
                    <a:lstStyle/>
                    <a:p>
                      <a:r>
                        <a:rPr sz="1250" b="0" i="0">
                          <a:solidFill>
                            <a:srgbClr val="222A33"/>
                          </a:solidFill>
                          <a:latin typeface="Calibri"/>
                        </a:rPr>
                        <a:t>Device administration (router/switch CLI)</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AAA Method Lists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happens when the first choice isn't available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What a Method List Actually 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METHOD LISTS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A method list defines an ordered sequence of AAA methods to try, one after another, until one of them succeeds or the whole list is exhausted.</a:t>
            </a:r>
          </a:p>
          <a:p>
            <a:pPr marL="201168" indent="-201168">
              <a:spcAft>
                <a:spcPts val="1100"/>
              </a:spcAft>
              <a:buFont typeface="Arial"/>
              <a:buChar char="–"/>
            </a:pPr>
            <a:r>
              <a:rPr sz="1600" b="0" i="0" dirty="0">
                <a:solidFill>
                  <a:srgbClr val="222A33"/>
                </a:solidFill>
                <a:latin typeface="Calibri"/>
              </a:rPr>
              <a:t>A typical example: try TACACS+ first, and if the TACACS+ server doesn't respond at all, fall back to the local username and password database.</a:t>
            </a:r>
          </a:p>
          <a:p>
            <a:pPr marL="201168" indent="-201168">
              <a:spcAft>
                <a:spcPts val="1100"/>
              </a:spcAft>
              <a:buFont typeface="Arial"/>
              <a:buChar char="–"/>
            </a:pPr>
            <a:r>
              <a:rPr sz="1600" b="0" i="0" dirty="0">
                <a:solidFill>
                  <a:srgbClr val="222A33"/>
                </a:solidFill>
                <a:latin typeface="Calibri"/>
              </a:rPr>
              <a:t>This directly solves server-based AAA's single point of failure from earlier. If the central server becomes unreachable, the device doesn't simply lock everyone out, it falls back to a still-functioning local option instead.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Same Logic as an ACL, Applied to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METHOD LISTS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Recall Week 7: an ACL is processed top to bottom, and the first matching statement wins, with everything below it never even evaluated for that packet.</a:t>
            </a:r>
          </a:p>
          <a:p>
            <a:pPr marL="201168" indent="-201168">
              <a:spcAft>
                <a:spcPts val="1100"/>
              </a:spcAft>
              <a:buFont typeface="Arial"/>
              <a:buChar char="–"/>
            </a:pPr>
            <a:r>
              <a:rPr sz="1600" b="0" i="0" dirty="0">
                <a:solidFill>
                  <a:srgbClr val="222A33"/>
                </a:solidFill>
                <a:latin typeface="Calibri"/>
              </a:rPr>
              <a:t>A method list works the same way. Each method is tried in the order it's listed, and the first one that actually produces a usable result, success or a definitive deny, is what gets applied.</a:t>
            </a:r>
          </a:p>
          <a:p>
            <a:pPr marL="201168" indent="-201168">
              <a:spcAft>
                <a:spcPts val="1100"/>
              </a:spcAft>
              <a:buFont typeface="Arial"/>
              <a:buChar char="–"/>
            </a:pPr>
            <a:r>
              <a:rPr sz="1600" b="0" i="0" dirty="0">
                <a:solidFill>
                  <a:srgbClr val="222A33"/>
                </a:solidFill>
                <a:latin typeface="Calibri"/>
              </a:rPr>
              <a:t>Fall-through to the next method only happens when a method is unavailable, such as the server not responding at all, not simply because it denied the request.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Configuring AAA on Cisco Devices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Concept alongside the actual command templates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Step 1, Enable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37360"/>
            <a:ext cx="10698480" cy="338554"/>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Before any AAA command works at all, AAA itself must be explicitly enabled on the device.</a:t>
            </a:r>
          </a:p>
        </p:txBody>
      </p:sp>
      <p:sp>
        <p:nvSpPr>
          <p:cNvPr id="5" name="Rounded Rectangle 4"/>
          <p:cNvSpPr/>
          <p:nvPr/>
        </p:nvSpPr>
        <p:spPr>
          <a:xfrm>
            <a:off x="548640" y="2468880"/>
            <a:ext cx="11064240" cy="603504"/>
          </a:xfrm>
          <a:prstGeom prst="roundRect">
            <a:avLst/>
          </a:prstGeom>
          <a:solidFill>
            <a:srgbClr val="F2F4F7"/>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600" b="0" i="0">
                <a:solidFill>
                  <a:srgbClr val="222A33"/>
                </a:solidFill>
                <a:latin typeface="Consolas"/>
              </a:rPr>
              <a:t>aaa new-model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Step 2, Local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37360"/>
            <a:ext cx="10698480" cy="338554"/>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Create a local user, then tell the device to authenticate logins against that local database.</a:t>
            </a:r>
          </a:p>
        </p:txBody>
      </p:sp>
      <p:sp>
        <p:nvSpPr>
          <p:cNvPr id="5" name="Rounded Rectangle 4"/>
          <p:cNvSpPr/>
          <p:nvPr/>
        </p:nvSpPr>
        <p:spPr>
          <a:xfrm>
            <a:off x="548640" y="2468880"/>
            <a:ext cx="11064240" cy="891538"/>
          </a:xfrm>
          <a:prstGeom prst="roundRect">
            <a:avLst/>
          </a:prstGeom>
          <a:solidFill>
            <a:srgbClr val="F2F4F7"/>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500" b="0" i="0">
                <a:solidFill>
                  <a:srgbClr val="222A33"/>
                </a:solidFill>
                <a:latin typeface="Consolas"/>
              </a:rPr>
              <a:t>username admin privilege 15 secret StrongPass123</a:t>
            </a:r>
          </a:p>
          <a:p>
            <a:pPr algn="l">
              <a:spcAft>
                <a:spcPts val="200"/>
              </a:spcAft>
            </a:pPr>
            <a:r>
              <a:rPr sz="1500" b="0" i="0">
                <a:solidFill>
                  <a:srgbClr val="222A33"/>
                </a:solidFill>
                <a:latin typeface="Consolas"/>
              </a:rPr>
              <a:t>aaa authentication login default local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Step 3, TACACS+ Server-Based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37360"/>
            <a:ext cx="10698480" cy="584775"/>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Define the TACACS+ server and its shared key, then build a method list that tries TACACS+ first and falls back to local if the server is unreachable.</a:t>
            </a:r>
          </a:p>
        </p:txBody>
      </p:sp>
      <p:sp>
        <p:nvSpPr>
          <p:cNvPr id="5" name="Rounded Rectangle 4"/>
          <p:cNvSpPr/>
          <p:nvPr/>
        </p:nvSpPr>
        <p:spPr>
          <a:xfrm>
            <a:off x="548640" y="2606040"/>
            <a:ext cx="11064240" cy="1940808"/>
          </a:xfrm>
          <a:prstGeom prst="roundRect">
            <a:avLst/>
          </a:prstGeom>
          <a:solidFill>
            <a:srgbClr val="F2F4F7"/>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450" b="0" i="0" dirty="0" err="1">
                <a:solidFill>
                  <a:srgbClr val="222A33"/>
                </a:solidFill>
                <a:latin typeface="Consolas"/>
              </a:rPr>
              <a:t>tacacs</a:t>
            </a:r>
            <a:r>
              <a:rPr sz="1450" b="0" i="0" dirty="0">
                <a:solidFill>
                  <a:srgbClr val="222A33"/>
                </a:solidFill>
                <a:latin typeface="Consolas"/>
              </a:rPr>
              <a:t> server TACACS-SERVER1</a:t>
            </a:r>
          </a:p>
          <a:p>
            <a:pPr algn="l">
              <a:spcAft>
                <a:spcPts val="200"/>
              </a:spcAft>
            </a:pPr>
            <a:r>
              <a:rPr sz="1450" b="0" i="0" dirty="0">
                <a:solidFill>
                  <a:srgbClr val="222A33"/>
                </a:solidFill>
                <a:latin typeface="Consolas"/>
              </a:rPr>
              <a:t> address ipv4 192.168.1.100</a:t>
            </a:r>
          </a:p>
          <a:p>
            <a:pPr algn="l">
              <a:spcAft>
                <a:spcPts val="200"/>
              </a:spcAft>
            </a:pPr>
            <a:r>
              <a:rPr sz="1450" b="0" i="0" dirty="0">
                <a:solidFill>
                  <a:srgbClr val="222A33"/>
                </a:solidFill>
                <a:latin typeface="Consolas"/>
              </a:rPr>
              <a:t> key </a:t>
            </a:r>
            <a:r>
              <a:rPr sz="1450" b="0" i="0" dirty="0" err="1">
                <a:solidFill>
                  <a:srgbClr val="222A33"/>
                </a:solidFill>
                <a:latin typeface="Consolas"/>
              </a:rPr>
              <a:t>MySharedKey</a:t>
            </a:r>
            <a:endParaRPr sz="1450" b="0" i="0" dirty="0">
              <a:solidFill>
                <a:srgbClr val="222A33"/>
              </a:solidFill>
              <a:latin typeface="Consolas"/>
            </a:endParaRPr>
          </a:p>
          <a:p>
            <a:pPr algn="l">
              <a:spcAft>
                <a:spcPts val="200"/>
              </a:spcAft>
            </a:pPr>
            <a:r>
              <a:rPr sz="1450" b="0" i="0" dirty="0" err="1">
                <a:solidFill>
                  <a:srgbClr val="222A33"/>
                </a:solidFill>
                <a:latin typeface="Consolas"/>
              </a:rPr>
              <a:t>aaa</a:t>
            </a:r>
            <a:r>
              <a:rPr sz="1450" b="0" i="0" dirty="0">
                <a:solidFill>
                  <a:srgbClr val="222A33"/>
                </a:solidFill>
                <a:latin typeface="Consolas"/>
              </a:rPr>
              <a:t> authentication login default group </a:t>
            </a:r>
            <a:r>
              <a:rPr sz="1450" b="0" i="0" dirty="0" err="1">
                <a:solidFill>
                  <a:srgbClr val="222A33"/>
                </a:solidFill>
                <a:latin typeface="Consolas"/>
              </a:rPr>
              <a:t>tacacs</a:t>
            </a:r>
            <a:r>
              <a:rPr sz="1450" b="0" i="0" dirty="0">
                <a:solidFill>
                  <a:srgbClr val="222A33"/>
                </a:solidFill>
                <a:latin typeface="Consolas"/>
              </a:rPr>
              <a:t>+ local</a:t>
            </a:r>
          </a:p>
          <a:p>
            <a:pPr algn="l">
              <a:spcAft>
                <a:spcPts val="200"/>
              </a:spcAft>
            </a:pPr>
            <a:r>
              <a:rPr sz="1450" b="0" i="0" dirty="0" err="1">
                <a:solidFill>
                  <a:srgbClr val="222A33"/>
                </a:solidFill>
                <a:latin typeface="Consolas"/>
              </a:rPr>
              <a:t>aaa</a:t>
            </a:r>
            <a:r>
              <a:rPr sz="1450" b="0" i="0" dirty="0">
                <a:solidFill>
                  <a:srgbClr val="222A33"/>
                </a:solidFill>
                <a:latin typeface="Consolas"/>
              </a:rPr>
              <a:t> authorization exec default group </a:t>
            </a:r>
            <a:r>
              <a:rPr sz="1450" b="0" i="0" dirty="0" err="1">
                <a:solidFill>
                  <a:srgbClr val="222A33"/>
                </a:solidFill>
                <a:latin typeface="Consolas"/>
              </a:rPr>
              <a:t>tacacs</a:t>
            </a:r>
            <a:r>
              <a:rPr sz="1450" b="0" i="0" dirty="0">
                <a:solidFill>
                  <a:srgbClr val="222A33"/>
                </a:solidFill>
                <a:latin typeface="Consolas"/>
              </a:rPr>
              <a:t>+ local</a:t>
            </a:r>
          </a:p>
          <a:p>
            <a:pPr algn="l">
              <a:spcAft>
                <a:spcPts val="200"/>
              </a:spcAft>
            </a:pPr>
            <a:r>
              <a:rPr sz="1450" b="0" i="0" dirty="0" err="1">
                <a:solidFill>
                  <a:srgbClr val="222A33"/>
                </a:solidFill>
                <a:latin typeface="Consolas"/>
              </a:rPr>
              <a:t>aaa</a:t>
            </a:r>
            <a:r>
              <a:rPr sz="1450" b="0" i="0" dirty="0">
                <a:solidFill>
                  <a:srgbClr val="222A33"/>
                </a:solidFill>
                <a:latin typeface="Consolas"/>
              </a:rPr>
              <a:t> accounting exec default start-stop group </a:t>
            </a:r>
            <a:r>
              <a:rPr sz="1450" b="0" i="0" dirty="0" err="1">
                <a:solidFill>
                  <a:srgbClr val="222A33"/>
                </a:solidFill>
                <a:latin typeface="Consolas"/>
              </a:rPr>
              <a:t>tacacs</a:t>
            </a:r>
            <a:r>
              <a:rPr sz="1350" b="0" i="0" dirty="0">
                <a:solidFill>
                  <a:srgbClr val="222A33"/>
                </a:solidFill>
                <a:latin typeface="Consolas"/>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Step 4, RADIUS Server-Based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37360"/>
            <a:ext cx="10698480" cy="54864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Define the RADIUS server and its shared key, then build a method list the same way, RADIUS first, local as the fallback.</a:t>
            </a:r>
          </a:p>
        </p:txBody>
      </p:sp>
      <p:sp>
        <p:nvSpPr>
          <p:cNvPr id="5" name="Rounded Rectangle 4"/>
          <p:cNvSpPr/>
          <p:nvPr/>
        </p:nvSpPr>
        <p:spPr>
          <a:xfrm>
            <a:off x="548640" y="2468880"/>
            <a:ext cx="11064240" cy="1467612"/>
          </a:xfrm>
          <a:prstGeom prst="roundRect">
            <a:avLst/>
          </a:prstGeom>
          <a:solidFill>
            <a:srgbClr val="F2F4F7"/>
          </a:solidFill>
          <a:ln w="9525">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37160" bIns="137160" rtlCol="0" anchor="ctr"/>
          <a:lstStyle/>
          <a:p>
            <a:pPr algn="l">
              <a:spcAft>
                <a:spcPts val="200"/>
              </a:spcAft>
            </a:pPr>
            <a:r>
              <a:rPr sz="1450" b="0" i="0" dirty="0">
                <a:solidFill>
                  <a:srgbClr val="222A33"/>
                </a:solidFill>
                <a:latin typeface="Consolas"/>
              </a:rPr>
              <a:t>radius server RADIUS-SERVER1</a:t>
            </a:r>
          </a:p>
          <a:p>
            <a:pPr algn="l">
              <a:spcAft>
                <a:spcPts val="200"/>
              </a:spcAft>
            </a:pPr>
            <a:r>
              <a:rPr sz="1450" b="0" i="0" dirty="0">
                <a:solidFill>
                  <a:srgbClr val="222A33"/>
                </a:solidFill>
                <a:latin typeface="Consolas"/>
              </a:rPr>
              <a:t> address ipv4 192.168.1.200 auth-port 1812 acct-port 1813</a:t>
            </a:r>
          </a:p>
          <a:p>
            <a:pPr algn="l">
              <a:spcAft>
                <a:spcPts val="200"/>
              </a:spcAft>
            </a:pPr>
            <a:r>
              <a:rPr sz="1450" b="0" i="0" dirty="0">
                <a:solidFill>
                  <a:srgbClr val="222A33"/>
                </a:solidFill>
                <a:latin typeface="Consolas"/>
              </a:rPr>
              <a:t> key </a:t>
            </a:r>
            <a:r>
              <a:rPr sz="1450" b="0" i="0" dirty="0" err="1">
                <a:solidFill>
                  <a:srgbClr val="222A33"/>
                </a:solidFill>
                <a:latin typeface="Consolas"/>
              </a:rPr>
              <a:t>MySharedKey</a:t>
            </a:r>
            <a:endParaRPr sz="1450" b="0" i="0" dirty="0">
              <a:solidFill>
                <a:srgbClr val="222A33"/>
              </a:solidFill>
              <a:latin typeface="Consolas"/>
            </a:endParaRPr>
          </a:p>
          <a:p>
            <a:pPr algn="l">
              <a:spcAft>
                <a:spcPts val="200"/>
              </a:spcAft>
            </a:pPr>
            <a:r>
              <a:rPr sz="1450" b="0" i="0" dirty="0" err="1">
                <a:solidFill>
                  <a:srgbClr val="222A33"/>
                </a:solidFill>
                <a:latin typeface="Consolas"/>
              </a:rPr>
              <a:t>aaa</a:t>
            </a:r>
            <a:r>
              <a:rPr sz="1450" b="0" i="0" dirty="0">
                <a:solidFill>
                  <a:srgbClr val="222A33"/>
                </a:solidFill>
                <a:latin typeface="Consolas"/>
              </a:rPr>
              <a:t> authentication login default group radius local</a:t>
            </a:r>
          </a:p>
        </p:txBody>
      </p:sp>
      <p:sp>
        <p:nvSpPr>
          <p:cNvPr id="6" name="TextBox 5"/>
          <p:cNvSpPr txBox="1"/>
          <p:nvPr/>
        </p:nvSpPr>
        <p:spPr>
          <a:xfrm>
            <a:off x="548640" y="4297680"/>
            <a:ext cx="11064240" cy="1097280"/>
          </a:xfrm>
          <a:prstGeom prst="rect">
            <a:avLst/>
          </a:prstGeom>
          <a:noFill/>
        </p:spPr>
        <p:txBody>
          <a:bodyPr wrap="square">
            <a:spAutoFit/>
          </a:bodyPr>
          <a:lstStyle/>
          <a:p>
            <a:pPr marL="201168" indent="-201168">
              <a:spcAft>
                <a:spcPts val="800"/>
              </a:spcAft>
              <a:buFont typeface="Arial"/>
              <a:buChar char="–"/>
            </a:pPr>
            <a:r>
              <a:rPr sz="1400" b="0" i="1">
                <a:solidFill>
                  <a:srgbClr val="6B7682"/>
                </a:solidFill>
                <a:latin typeface="Calibri"/>
              </a:rPr>
              <a:t>Notice the method list itself: group tacacs+ local, or group radius local. The order you write the command in is the fallback order, matching exactly the ACL-style top-to-bottom logic from the previous section.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2485296"/>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Local AAA needs no infrastructure but doesn't scale. Server-based AAA scales and </a:t>
            </a:r>
            <a:r>
              <a:rPr sz="1600" b="0" i="0" dirty="0" err="1">
                <a:solidFill>
                  <a:srgbClr val="222A33"/>
                </a:solidFill>
                <a:latin typeface="Calibri"/>
              </a:rPr>
              <a:t>centralises</a:t>
            </a:r>
            <a:r>
              <a:rPr sz="1600" b="0" i="0" dirty="0">
                <a:solidFill>
                  <a:srgbClr val="222A33"/>
                </a:solidFill>
                <a:latin typeface="Calibri"/>
              </a:rPr>
              <a:t>, but adds a dependency on the server being reachable.</a:t>
            </a:r>
          </a:p>
          <a:p>
            <a:pPr marL="201168" indent="-201168">
              <a:spcAft>
                <a:spcPts val="1100"/>
              </a:spcAft>
              <a:buFont typeface="Arial"/>
              <a:buChar char="–"/>
            </a:pPr>
            <a:r>
              <a:rPr sz="1600" b="0" i="0" dirty="0">
                <a:solidFill>
                  <a:srgbClr val="222A33"/>
                </a:solidFill>
                <a:latin typeface="Calibri"/>
              </a:rPr>
              <a:t>Device administration AAA and network access AAA protect genuinely different things, which is exactly why TACACS+ and RADIUS each dominate a different one of them.</a:t>
            </a:r>
          </a:p>
          <a:p>
            <a:pPr marL="201168" indent="-201168">
              <a:spcAft>
                <a:spcPts val="1100"/>
              </a:spcAft>
              <a:buFont typeface="Arial"/>
              <a:buChar char="–"/>
            </a:pPr>
            <a:r>
              <a:rPr sz="1600" b="0" i="0" dirty="0">
                <a:solidFill>
                  <a:srgbClr val="222A33"/>
                </a:solidFill>
                <a:latin typeface="Calibri"/>
              </a:rPr>
              <a:t>TACACS+ trades a proprietary standard for full-packet encryption and clean AAA separation. RADIUS trades weaker encryption for open, multi-vendor, high-volume connection handling.</a:t>
            </a:r>
          </a:p>
          <a:p>
            <a:pPr marL="201168" indent="-201168">
              <a:spcAft>
                <a:spcPts val="1100"/>
              </a:spcAft>
              <a:buFont typeface="Arial"/>
              <a:buChar char="–"/>
            </a:pPr>
            <a:r>
              <a:rPr sz="1600" b="0" i="0" dirty="0">
                <a:solidFill>
                  <a:srgbClr val="222A33"/>
                </a:solidFill>
                <a:latin typeface="Calibri"/>
              </a:rPr>
              <a:t>A method list is how a device survives its primary AAA source going down, falling back in a defined order rather than simply locking everyone out.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Lab: to be planned in a follow-up discussion, once we've confirmed which of today's configurations are genuinely supported and testable in Packet Tracer.</a:t>
            </a:r>
          </a:p>
          <a:p>
            <a:pPr marL="201168" indent="-201168">
              <a:spcAft>
                <a:spcPts val="1100"/>
              </a:spcAft>
              <a:buFont typeface="Arial"/>
              <a:buChar char="–"/>
            </a:pPr>
            <a:r>
              <a:rPr sz="1600" b="0" i="0">
                <a:solidFill>
                  <a:srgbClr val="222A33"/>
                </a:solidFill>
                <a:latin typeface="Calibri"/>
              </a:rPr>
              <a:t>Tutorial worksheet: study-notes-style questions covering local versus centralised AAA, RADIUS versus TACACS+, method lists, and Cisco configuration. Use it to prep for the mid-semester test.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Santos &amp; </a:t>
            </a:r>
            <a:r>
              <a:rPr sz="1600" b="0" i="0" dirty="0" err="1">
                <a:solidFill>
                  <a:srgbClr val="222A33"/>
                </a:solidFill>
                <a:latin typeface="Calibri"/>
              </a:rPr>
              <a:t>Stuppi</a:t>
            </a:r>
            <a:r>
              <a:rPr sz="1600" b="0" i="0" dirty="0">
                <a:solidFill>
                  <a:srgbClr val="222A33"/>
                </a:solidFill>
                <a:latin typeface="Calibri"/>
              </a:rPr>
              <a:t>, CCNA Security 210-260 Official Cert Guide, 1st Ed., Cisco Press.</a:t>
            </a:r>
          </a:p>
          <a:p>
            <a:pPr marL="201168" indent="-201168">
              <a:spcAft>
                <a:spcPts val="1100"/>
              </a:spcAft>
              <a:buFont typeface="Arial"/>
              <a:buChar char="–"/>
            </a:pPr>
            <a:r>
              <a:rPr sz="1600" b="0" i="0" dirty="0">
                <a:solidFill>
                  <a:srgbClr val="222A33"/>
                </a:solidFill>
                <a:latin typeface="Calibri"/>
              </a:rPr>
              <a:t>Kaufman, Perlman, </a:t>
            </a:r>
            <a:r>
              <a:rPr sz="1600" b="0" i="0" dirty="0" err="1">
                <a:solidFill>
                  <a:srgbClr val="222A33"/>
                </a:solidFill>
                <a:latin typeface="Calibri"/>
              </a:rPr>
              <a:t>Speciner</a:t>
            </a:r>
            <a:r>
              <a:rPr sz="1600" b="0" i="0" dirty="0">
                <a:solidFill>
                  <a:srgbClr val="222A33"/>
                </a:solidFill>
                <a:latin typeface="Calibri"/>
              </a:rPr>
              <a:t> &amp; </a:t>
            </a:r>
            <a:r>
              <a:rPr sz="1600" b="0" i="0" dirty="0" err="1">
                <a:solidFill>
                  <a:srgbClr val="222A33"/>
                </a:solidFill>
                <a:latin typeface="Calibri"/>
              </a:rPr>
              <a:t>Perlner</a:t>
            </a:r>
            <a:r>
              <a:rPr sz="1600" b="0" i="0" dirty="0">
                <a:solidFill>
                  <a:srgbClr val="222A33"/>
                </a:solidFill>
                <a:latin typeface="Calibri"/>
              </a:rPr>
              <a:t>, Network Security: Private Communication in a Public World, 3rd Ed., Prentice Hall.</a:t>
            </a:r>
          </a:p>
          <a:p>
            <a:pPr marL="201168" indent="-201168">
              <a:spcAft>
                <a:spcPts val="1100"/>
              </a:spcAft>
              <a:buFont typeface="Arial"/>
              <a:buChar char="–"/>
            </a:pPr>
            <a:r>
              <a:rPr sz="1600" b="0" i="0" dirty="0">
                <a:solidFill>
                  <a:srgbClr val="222A33"/>
                </a:solidFill>
                <a:latin typeface="Calibri"/>
              </a:rPr>
              <a:t>Cisco Networking Academy, CCNA Security curriculum (AAA configuration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555</TotalTime>
  <Words>1990</Words>
  <Application>Microsoft Office PowerPoint</Application>
  <PresentationFormat>Widescreen</PresentationFormat>
  <Paragraphs>164</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Display</vt:lpstr>
      <vt:lpstr>Arial</vt:lpstr>
      <vt:lpstr>Calibri</vt:lpstr>
      <vt:lpstr>Cambria</vt:lpstr>
      <vt:lpstr>Consolas</vt:lpstr>
      <vt:lpstr>Office Theme</vt:lpstr>
      <vt:lpstr>PowerPoint Presentation</vt:lpstr>
      <vt:lpstr>Today's Agenda</vt:lpstr>
      <vt:lpstr>Learning Outcomes for Today</vt:lpstr>
      <vt:lpstr>Local vs. Server-Based AAA</vt:lpstr>
      <vt:lpstr>Local AAA</vt:lpstr>
      <vt:lpstr>Server-Based (Centralised) AAA</vt:lpstr>
      <vt:lpstr>Local vs. Server-Based: Comparison</vt:lpstr>
      <vt:lpstr>Device Administration AAA vs. Network Access AAA</vt:lpstr>
      <vt:lpstr>Device Administration AAA</vt:lpstr>
      <vt:lpstr>Network Access AAA</vt:lpstr>
      <vt:lpstr>Why This Distinction Actually Matters</vt:lpstr>
      <vt:lpstr>RADIUS vs. TACACS+</vt:lpstr>
      <vt:lpstr>RADIUS: Mechanism and Use Cases</vt:lpstr>
      <vt:lpstr>RADIUS: Strengths and Weaknesses</vt:lpstr>
      <vt:lpstr>TACACS+: Mechanism and Use Cases</vt:lpstr>
      <vt:lpstr>TACACS+: Strengths and Weaknesses</vt:lpstr>
      <vt:lpstr>RADIUS vs. TACACS+: Full Comparison</vt:lpstr>
      <vt:lpstr>AAA Method Lists</vt:lpstr>
      <vt:lpstr>What a Method List Actually Is</vt:lpstr>
      <vt:lpstr>The Same Logic as an ACL, Applied to AAA</vt:lpstr>
      <vt:lpstr>Configuring AAA on Cisco Devices</vt:lpstr>
      <vt:lpstr>Step 1, Enable AAA</vt:lpstr>
      <vt:lpstr>Step 2, Local AAA</vt:lpstr>
      <vt:lpstr>Step 3, TACACS+ Server-Based AAA</vt:lpstr>
      <vt:lpstr>Step 4, RADIUS Server-Based AAA</vt:lpstr>
      <vt:lpstr>Summary</vt:lpstr>
      <vt:lpstr>This Week's Lab &amp; Tutorial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204</cp:revision>
  <dcterms:created xsi:type="dcterms:W3CDTF">2026-02-25T14:32:17Z</dcterms:created>
  <dcterms:modified xsi:type="dcterms:W3CDTF">2026-09-27T10:53:03Z</dcterms:modified>
</cp:coreProperties>
</file>