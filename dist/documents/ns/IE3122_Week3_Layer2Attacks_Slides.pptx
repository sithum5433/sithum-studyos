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99" r:id="rId13"/>
    <p:sldId id="292" r:id="rId14"/>
    <p:sldId id="293" r:id="rId15"/>
    <p:sldId id="294"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90" r:id="rId30"/>
    <p:sldId id="281" r:id="rId31"/>
    <p:sldId id="282" r:id="rId32"/>
    <p:sldId id="283" r:id="rId33"/>
    <p:sldId id="291" r:id="rId34"/>
    <p:sldId id="300" r:id="rId35"/>
    <p:sldId id="301" r:id="rId36"/>
    <p:sldId id="302" r:id="rId37"/>
    <p:sldId id="303" r:id="rId38"/>
    <p:sldId id="284" r:id="rId39"/>
    <p:sldId id="298" r:id="rId40"/>
    <p:sldId id="295" r:id="rId41"/>
    <p:sldId id="296" r:id="rId42"/>
    <p:sldId id="297" r:id="rId43"/>
    <p:sldId id="286" r:id="rId44"/>
    <p:sldId id="287" r:id="rId45"/>
    <p:sldId id="288" r:id="rId46"/>
    <p:sldId id="289"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60AE"/>
    <a:srgbClr val="EBEFF6"/>
    <a:srgbClr val="FDFDFE"/>
    <a:srgbClr val="C8ECFC"/>
    <a:srgbClr val="003054"/>
    <a:srgbClr val="0070C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6D173C-E030-4F05-82B9-7D1D198524BF}" v="17" dt="2026-08-13T08:40:09.558"/>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969"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nda Fernando" userId="be4c618b-01eb-4ea5-9d4b-17596987021b" providerId="ADAL" clId="{1E0ABD71-AB93-41F5-8129-2081E38250EC}"/>
    <pc:docChg chg="undo custSel addSld delSld modSld">
      <pc:chgData name="Harinda Fernando" userId="be4c618b-01eb-4ea5-9d4b-17596987021b" providerId="ADAL" clId="{1E0ABD71-AB93-41F5-8129-2081E38250EC}" dt="2026-08-13T08:40:09.556" v="245"/>
      <pc:docMkLst>
        <pc:docMk/>
      </pc:docMkLst>
      <pc:sldChg chg="del">
        <pc:chgData name="Harinda Fernando" userId="be4c618b-01eb-4ea5-9d4b-17596987021b" providerId="ADAL" clId="{1E0ABD71-AB93-41F5-8129-2081E38250EC}" dt="2026-08-13T08:33:15.229" v="242" actId="47"/>
        <pc:sldMkLst>
          <pc:docMk/>
          <pc:sldMk cId="0" sldId="267"/>
        </pc:sldMkLst>
      </pc:sldChg>
      <pc:sldChg chg="del">
        <pc:chgData name="Harinda Fernando" userId="be4c618b-01eb-4ea5-9d4b-17596987021b" providerId="ADAL" clId="{1E0ABD71-AB93-41F5-8129-2081E38250EC}" dt="2026-08-13T08:30:35.891" v="232" actId="47"/>
        <pc:sldMkLst>
          <pc:docMk/>
          <pc:sldMk cId="0" sldId="285"/>
        </pc:sldMkLst>
      </pc:sldChg>
      <pc:sldChg chg="addSp delSp modSp add mod">
        <pc:chgData name="Harinda Fernando" userId="be4c618b-01eb-4ea5-9d4b-17596987021b" providerId="ADAL" clId="{1E0ABD71-AB93-41F5-8129-2081E38250EC}" dt="2026-08-09T09:43:25.353" v="51"/>
        <pc:sldMkLst>
          <pc:docMk/>
          <pc:sldMk cId="4127296914" sldId="290"/>
        </pc:sldMkLst>
        <pc:spChg chg="mod">
          <ac:chgData name="Harinda Fernando" userId="be4c618b-01eb-4ea5-9d4b-17596987021b" providerId="ADAL" clId="{1E0ABD71-AB93-41F5-8129-2081E38250EC}" dt="2026-08-09T09:42:52.212" v="42" actId="20577"/>
          <ac:spMkLst>
            <pc:docMk/>
            <pc:sldMk cId="4127296914" sldId="290"/>
            <ac:spMk id="2" creationId="{C3E8B87D-3428-CF19-07BF-51673C63F23C}"/>
          </ac:spMkLst>
        </pc:spChg>
        <pc:picChg chg="add mod">
          <ac:chgData name="Harinda Fernando" userId="be4c618b-01eb-4ea5-9d4b-17596987021b" providerId="ADAL" clId="{1E0ABD71-AB93-41F5-8129-2081E38250EC}" dt="2026-08-09T09:43:23.428" v="49" actId="1035"/>
          <ac:picMkLst>
            <pc:docMk/>
            <pc:sldMk cId="4127296914" sldId="290"/>
            <ac:picMk id="5" creationId="{D074CA82-F31B-4C0D-BC22-E86BA8B3EC53}"/>
          </ac:picMkLst>
        </pc:picChg>
      </pc:sldChg>
      <pc:sldChg chg="addSp delSp modSp add mod">
        <pc:chgData name="Harinda Fernando" userId="be4c618b-01eb-4ea5-9d4b-17596987021b" providerId="ADAL" clId="{1E0ABD71-AB93-41F5-8129-2081E38250EC}" dt="2026-08-09T09:44:33.074" v="102"/>
        <pc:sldMkLst>
          <pc:docMk/>
          <pc:sldMk cId="3278770534" sldId="291"/>
        </pc:sldMkLst>
        <pc:spChg chg="mod">
          <ac:chgData name="Harinda Fernando" userId="be4c618b-01eb-4ea5-9d4b-17596987021b" providerId="ADAL" clId="{1E0ABD71-AB93-41F5-8129-2081E38250EC}" dt="2026-08-09T09:44:11.343" v="94" actId="20577"/>
          <ac:spMkLst>
            <pc:docMk/>
            <pc:sldMk cId="3278770534" sldId="291"/>
            <ac:spMk id="2" creationId="{6DE6C915-8A1A-933A-FCB8-3CE6FC0A8F7F}"/>
          </ac:spMkLst>
        </pc:spChg>
        <pc:picChg chg="add mod">
          <ac:chgData name="Harinda Fernando" userId="be4c618b-01eb-4ea5-9d4b-17596987021b" providerId="ADAL" clId="{1E0ABD71-AB93-41F5-8129-2081E38250EC}" dt="2026-08-09T09:44:31.265" v="100" actId="1076"/>
          <ac:picMkLst>
            <pc:docMk/>
            <pc:sldMk cId="3278770534" sldId="291"/>
            <ac:picMk id="5" creationId="{5F32785E-BE2A-487E-994D-EE7934DC4F74}"/>
          </ac:picMkLst>
        </pc:picChg>
      </pc:sldChg>
      <pc:sldChg chg="modSp add mod">
        <pc:chgData name="Harinda Fernando" userId="be4c618b-01eb-4ea5-9d4b-17596987021b" providerId="ADAL" clId="{1E0ABD71-AB93-41F5-8129-2081E38250EC}" dt="2026-08-13T08:29:57.445" v="230" actId="20577"/>
        <pc:sldMkLst>
          <pc:docMk/>
          <pc:sldMk cId="0" sldId="292"/>
        </pc:sldMkLst>
        <pc:spChg chg="mod">
          <ac:chgData name="Harinda Fernando" userId="be4c618b-01eb-4ea5-9d4b-17596987021b" providerId="ADAL" clId="{1E0ABD71-AB93-41F5-8129-2081E38250EC}" dt="2026-08-13T08:29:57.445" v="230" actId="20577"/>
          <ac:spMkLst>
            <pc:docMk/>
            <pc:sldMk cId="0" sldId="292"/>
            <ac:spMk id="4" creationId="{00000000-0000-0000-0000-000000000000}"/>
          </ac:spMkLst>
        </pc:spChg>
      </pc:sldChg>
      <pc:sldChg chg="add">
        <pc:chgData name="Harinda Fernando" userId="be4c618b-01eb-4ea5-9d4b-17596987021b" providerId="ADAL" clId="{1E0ABD71-AB93-41F5-8129-2081E38250EC}" dt="2026-08-13T08:25:57.092" v="103"/>
        <pc:sldMkLst>
          <pc:docMk/>
          <pc:sldMk cId="0" sldId="293"/>
        </pc:sldMkLst>
      </pc:sldChg>
      <pc:sldChg chg="add">
        <pc:chgData name="Harinda Fernando" userId="be4c618b-01eb-4ea5-9d4b-17596987021b" providerId="ADAL" clId="{1E0ABD71-AB93-41F5-8129-2081E38250EC}" dt="2026-08-13T08:25:57.092" v="103"/>
        <pc:sldMkLst>
          <pc:docMk/>
          <pc:sldMk cId="0" sldId="294"/>
        </pc:sldMkLst>
      </pc:sldChg>
      <pc:sldChg chg="add del">
        <pc:chgData name="Harinda Fernando" userId="be4c618b-01eb-4ea5-9d4b-17596987021b" providerId="ADAL" clId="{1E0ABD71-AB93-41F5-8129-2081E38250EC}" dt="2026-08-13T08:26:33.951" v="104" actId="2696"/>
        <pc:sldMkLst>
          <pc:docMk/>
          <pc:sldMk cId="0" sldId="295"/>
        </pc:sldMkLst>
      </pc:sldChg>
      <pc:sldChg chg="add">
        <pc:chgData name="Harinda Fernando" userId="be4c618b-01eb-4ea5-9d4b-17596987021b" providerId="ADAL" clId="{1E0ABD71-AB93-41F5-8129-2081E38250EC}" dt="2026-08-13T08:26:50.068" v="105"/>
        <pc:sldMkLst>
          <pc:docMk/>
          <pc:sldMk cId="4022840339" sldId="295"/>
        </pc:sldMkLst>
      </pc:sldChg>
      <pc:sldChg chg="add del">
        <pc:chgData name="Harinda Fernando" userId="be4c618b-01eb-4ea5-9d4b-17596987021b" providerId="ADAL" clId="{1E0ABD71-AB93-41F5-8129-2081E38250EC}" dt="2026-08-13T08:26:33.951" v="104" actId="2696"/>
        <pc:sldMkLst>
          <pc:docMk/>
          <pc:sldMk cId="0" sldId="296"/>
        </pc:sldMkLst>
      </pc:sldChg>
      <pc:sldChg chg="add">
        <pc:chgData name="Harinda Fernando" userId="be4c618b-01eb-4ea5-9d4b-17596987021b" providerId="ADAL" clId="{1E0ABD71-AB93-41F5-8129-2081E38250EC}" dt="2026-08-13T08:26:50.068" v="105"/>
        <pc:sldMkLst>
          <pc:docMk/>
          <pc:sldMk cId="274588905" sldId="296"/>
        </pc:sldMkLst>
      </pc:sldChg>
      <pc:sldChg chg="add del">
        <pc:chgData name="Harinda Fernando" userId="be4c618b-01eb-4ea5-9d4b-17596987021b" providerId="ADAL" clId="{1E0ABD71-AB93-41F5-8129-2081E38250EC}" dt="2026-08-13T08:26:33.951" v="104" actId="2696"/>
        <pc:sldMkLst>
          <pc:docMk/>
          <pc:sldMk cId="0" sldId="297"/>
        </pc:sldMkLst>
      </pc:sldChg>
      <pc:sldChg chg="add">
        <pc:chgData name="Harinda Fernando" userId="be4c618b-01eb-4ea5-9d4b-17596987021b" providerId="ADAL" clId="{1E0ABD71-AB93-41F5-8129-2081E38250EC}" dt="2026-08-13T08:26:50.068" v="105"/>
        <pc:sldMkLst>
          <pc:docMk/>
          <pc:sldMk cId="2977452407" sldId="297"/>
        </pc:sldMkLst>
      </pc:sldChg>
      <pc:sldChg chg="modSp add mod">
        <pc:chgData name="Harinda Fernando" userId="be4c618b-01eb-4ea5-9d4b-17596987021b" providerId="ADAL" clId="{1E0ABD71-AB93-41F5-8129-2081E38250EC}" dt="2026-08-13T08:31:02.581" v="240"/>
        <pc:sldMkLst>
          <pc:docMk/>
          <pc:sldMk cId="0" sldId="298"/>
        </pc:sldMkLst>
        <pc:graphicFrameChg chg="mod modGraphic">
          <ac:chgData name="Harinda Fernando" userId="be4c618b-01eb-4ea5-9d4b-17596987021b" providerId="ADAL" clId="{1E0ABD71-AB93-41F5-8129-2081E38250EC}" dt="2026-08-13T08:31:02.581" v="240"/>
          <ac:graphicFrameMkLst>
            <pc:docMk/>
            <pc:sldMk cId="0" sldId="298"/>
            <ac:graphicFrameMk id="4" creationId="{00000000-0000-0000-0000-000000000000}"/>
          </ac:graphicFrameMkLst>
        </pc:graphicFrameChg>
      </pc:sldChg>
      <pc:sldChg chg="add del">
        <pc:chgData name="Harinda Fernando" userId="be4c618b-01eb-4ea5-9d4b-17596987021b" providerId="ADAL" clId="{1E0ABD71-AB93-41F5-8129-2081E38250EC}" dt="2026-08-13T08:33:19.778" v="243" actId="2696"/>
        <pc:sldMkLst>
          <pc:docMk/>
          <pc:sldMk cId="0" sldId="299"/>
        </pc:sldMkLst>
      </pc:sldChg>
      <pc:sldChg chg="add">
        <pc:chgData name="Harinda Fernando" userId="be4c618b-01eb-4ea5-9d4b-17596987021b" providerId="ADAL" clId="{1E0ABD71-AB93-41F5-8129-2081E38250EC}" dt="2026-08-13T08:33:25.553" v="244"/>
        <pc:sldMkLst>
          <pc:docMk/>
          <pc:sldMk cId="1945604284" sldId="299"/>
        </pc:sldMkLst>
      </pc:sldChg>
      <pc:sldChg chg="add">
        <pc:chgData name="Harinda Fernando" userId="be4c618b-01eb-4ea5-9d4b-17596987021b" providerId="ADAL" clId="{1E0ABD71-AB93-41F5-8129-2081E38250EC}" dt="2026-08-13T08:40:09.556" v="245"/>
        <pc:sldMkLst>
          <pc:docMk/>
          <pc:sldMk cId="0" sldId="300"/>
        </pc:sldMkLst>
      </pc:sldChg>
      <pc:sldChg chg="add">
        <pc:chgData name="Harinda Fernando" userId="be4c618b-01eb-4ea5-9d4b-17596987021b" providerId="ADAL" clId="{1E0ABD71-AB93-41F5-8129-2081E38250EC}" dt="2026-08-13T08:40:09.556" v="245"/>
        <pc:sldMkLst>
          <pc:docMk/>
          <pc:sldMk cId="0" sldId="301"/>
        </pc:sldMkLst>
      </pc:sldChg>
      <pc:sldChg chg="add">
        <pc:chgData name="Harinda Fernando" userId="be4c618b-01eb-4ea5-9d4b-17596987021b" providerId="ADAL" clId="{1E0ABD71-AB93-41F5-8129-2081E38250EC}" dt="2026-08-13T08:40:09.556" v="245"/>
        <pc:sldMkLst>
          <pc:docMk/>
          <pc:sldMk cId="0" sldId="302"/>
        </pc:sldMkLst>
      </pc:sldChg>
      <pc:sldChg chg="add">
        <pc:chgData name="Harinda Fernando" userId="be4c618b-01eb-4ea5-9d4b-17596987021b" providerId="ADAL" clId="{1E0ABD71-AB93-41F5-8129-2081E38250EC}" dt="2026-08-13T08:40:09.556" v="245"/>
        <pc:sldMkLst>
          <pc:docMk/>
          <pc:sldMk cId="0" sldId="30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5A265B-85F9-4AB9-A7F7-F201F3EC6124}"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EDF255-290D-41DE-BD04-0A7C06A1BC10}" type="slidenum">
              <a:rPr lang="en-US" smtClean="0"/>
              <a:t>‹#›</a:t>
            </a:fld>
            <a:endParaRPr lang="en-US"/>
          </a:p>
        </p:txBody>
      </p:sp>
    </p:spTree>
    <p:extLst>
      <p:ext uri="{BB962C8B-B14F-4D97-AF65-F5344CB8AC3E}">
        <p14:creationId xmlns:p14="http://schemas.microsoft.com/office/powerpoint/2010/main" val="278463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36BA-4D0C-582A-D90D-A5050C3B570A}"/>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0835A14-CC45-415E-91D7-B390853369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A3511F-336C-5F04-B406-EAC188B39250}"/>
              </a:ext>
            </a:extLst>
          </p:cNvPr>
          <p:cNvSpPr>
            <a:spLocks noGrp="1"/>
          </p:cNvSpPr>
          <p:nvPr>
            <p:ph type="dt" sz="half" idx="10"/>
          </p:nvPr>
        </p:nvSpPr>
        <p:spPr/>
        <p:txBody>
          <a:bodyPr/>
          <a:lstStyle/>
          <a:p>
            <a:fld id="{DCA9E3F6-6859-4CA3-A09E-D0F7F72ACFE0}" type="datetime1">
              <a:rPr lang="en-US" smtClean="0"/>
              <a:t>8/13/2026</a:t>
            </a:fld>
            <a:endParaRPr lang="en-US"/>
          </a:p>
        </p:txBody>
      </p:sp>
      <p:sp>
        <p:nvSpPr>
          <p:cNvPr id="5" name="Footer Placeholder 4">
            <a:extLst>
              <a:ext uri="{FF2B5EF4-FFF2-40B4-BE49-F238E27FC236}">
                <a16:creationId xmlns:a16="http://schemas.microsoft.com/office/drawing/2014/main" id="{02544DD8-8DE2-49BF-2256-D6C974530B7F}"/>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9AE118B-A9C0-2539-EE0E-7F976FEA3DD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991033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9DBE-034D-F88C-332A-467E245C0A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86D88A-9AB2-CE18-CCE1-4CE93CF5F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E28A8-BA96-F50D-807E-BE9AFD5BB942}"/>
              </a:ext>
            </a:extLst>
          </p:cNvPr>
          <p:cNvSpPr>
            <a:spLocks noGrp="1"/>
          </p:cNvSpPr>
          <p:nvPr>
            <p:ph type="dt" sz="half" idx="10"/>
          </p:nvPr>
        </p:nvSpPr>
        <p:spPr/>
        <p:txBody>
          <a:bodyPr/>
          <a:lstStyle/>
          <a:p>
            <a:fld id="{26FF9165-B718-4A05-ABEA-493F7CF226F4}" type="datetime1">
              <a:rPr lang="en-US" smtClean="0"/>
              <a:t>8/13/2026</a:t>
            </a:fld>
            <a:endParaRPr lang="en-US"/>
          </a:p>
        </p:txBody>
      </p:sp>
      <p:sp>
        <p:nvSpPr>
          <p:cNvPr id="5" name="Footer Placeholder 4">
            <a:extLst>
              <a:ext uri="{FF2B5EF4-FFF2-40B4-BE49-F238E27FC236}">
                <a16:creationId xmlns:a16="http://schemas.microsoft.com/office/drawing/2014/main" id="{DF9172DB-9131-6C85-8238-09E061156DF0}"/>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FB35A60-C9F7-6C8C-1CB6-26C1644CF7DC}"/>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2443620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D231-9473-3376-B7F9-2B9B0001BF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098136-DBDE-3025-06A8-1C273FCE09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E3572A-62DD-CA9F-E4DD-D035DA296BC3}"/>
              </a:ext>
            </a:extLst>
          </p:cNvPr>
          <p:cNvSpPr>
            <a:spLocks noGrp="1"/>
          </p:cNvSpPr>
          <p:nvPr>
            <p:ph type="dt" sz="half" idx="10"/>
          </p:nvPr>
        </p:nvSpPr>
        <p:spPr/>
        <p:txBody>
          <a:bodyPr/>
          <a:lstStyle/>
          <a:p>
            <a:fld id="{BFF99AE2-4C36-4768-AD66-E53AE3B69896}" type="datetime1">
              <a:rPr lang="en-US" smtClean="0"/>
              <a:t>8/13/2026</a:t>
            </a:fld>
            <a:endParaRPr lang="en-US"/>
          </a:p>
        </p:txBody>
      </p:sp>
      <p:sp>
        <p:nvSpPr>
          <p:cNvPr id="5" name="Footer Placeholder 4">
            <a:extLst>
              <a:ext uri="{FF2B5EF4-FFF2-40B4-BE49-F238E27FC236}">
                <a16:creationId xmlns:a16="http://schemas.microsoft.com/office/drawing/2014/main" id="{CEB06F99-EECF-A28B-02D8-6E9260C98AC3}"/>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A0497C3B-FDFB-646C-AA5A-1D48D6DB0C4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006166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8290-BA90-4A7A-864A-9F9331466B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88928-35DF-C4DA-EEF3-AF71B4FDE9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324945-DF26-5646-D08A-6A42E8E1EC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E4C70D-C5D2-DE0E-5A4D-5C54D957BBF0}"/>
              </a:ext>
            </a:extLst>
          </p:cNvPr>
          <p:cNvSpPr>
            <a:spLocks noGrp="1"/>
          </p:cNvSpPr>
          <p:nvPr>
            <p:ph type="dt" sz="half" idx="10"/>
          </p:nvPr>
        </p:nvSpPr>
        <p:spPr/>
        <p:txBody>
          <a:bodyPr/>
          <a:lstStyle/>
          <a:p>
            <a:fld id="{8D61E677-F796-43F6-BC96-25B1E0E4BB94}" type="datetime1">
              <a:rPr lang="en-US" smtClean="0"/>
              <a:t>8/13/2026</a:t>
            </a:fld>
            <a:endParaRPr lang="en-US"/>
          </a:p>
        </p:txBody>
      </p:sp>
      <p:sp>
        <p:nvSpPr>
          <p:cNvPr id="6" name="Footer Placeholder 5">
            <a:extLst>
              <a:ext uri="{FF2B5EF4-FFF2-40B4-BE49-F238E27FC236}">
                <a16:creationId xmlns:a16="http://schemas.microsoft.com/office/drawing/2014/main" id="{3F936F4D-2522-DF44-1C34-3B60B4B4BEB9}"/>
              </a:ext>
            </a:extLst>
          </p:cNvPr>
          <p:cNvSpPr>
            <a:spLocks noGrp="1"/>
          </p:cNvSpPr>
          <p:nvPr>
            <p:ph type="ftr" sz="quarter" idx="11"/>
          </p:nvPr>
        </p:nvSpPr>
        <p:spPr/>
        <p:txBody>
          <a:bodyPr/>
          <a:lstStyle/>
          <a:p>
            <a:r>
              <a:rPr lang="en-US"/>
              <a:t>BSc (Hons) in Information Technology</a:t>
            </a:r>
          </a:p>
        </p:txBody>
      </p:sp>
      <p:sp>
        <p:nvSpPr>
          <p:cNvPr id="7" name="Slide Number Placeholder 6">
            <a:extLst>
              <a:ext uri="{FF2B5EF4-FFF2-40B4-BE49-F238E27FC236}">
                <a16:creationId xmlns:a16="http://schemas.microsoft.com/office/drawing/2014/main" id="{EAD36A2C-43F6-FE22-6DC6-758D53EBA043}"/>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743063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5137-4489-DD84-A8A0-C614F15F12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41754-800C-4717-0512-67D3739D2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28F263-D07C-28BF-3BB6-9B65279454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DEA40D-AAC1-9598-D1AF-7635335E1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6D1A6-36AD-89AE-1A4F-1E8B9A77E7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E20158-925C-A7E9-5222-5E66069D1F9C}"/>
              </a:ext>
            </a:extLst>
          </p:cNvPr>
          <p:cNvSpPr>
            <a:spLocks noGrp="1"/>
          </p:cNvSpPr>
          <p:nvPr>
            <p:ph type="dt" sz="half" idx="10"/>
          </p:nvPr>
        </p:nvSpPr>
        <p:spPr/>
        <p:txBody>
          <a:bodyPr/>
          <a:lstStyle/>
          <a:p>
            <a:fld id="{7CEC14BC-1BD6-4166-8FDC-A0F77CFEB6BC}" type="datetime1">
              <a:rPr lang="en-US" smtClean="0"/>
              <a:t>8/13/2026</a:t>
            </a:fld>
            <a:endParaRPr lang="en-US"/>
          </a:p>
        </p:txBody>
      </p:sp>
      <p:sp>
        <p:nvSpPr>
          <p:cNvPr id="8" name="Footer Placeholder 7">
            <a:extLst>
              <a:ext uri="{FF2B5EF4-FFF2-40B4-BE49-F238E27FC236}">
                <a16:creationId xmlns:a16="http://schemas.microsoft.com/office/drawing/2014/main" id="{74889187-3B4A-58A4-0C3B-C7E850F66B05}"/>
              </a:ext>
            </a:extLst>
          </p:cNvPr>
          <p:cNvSpPr>
            <a:spLocks noGrp="1"/>
          </p:cNvSpPr>
          <p:nvPr>
            <p:ph type="ftr" sz="quarter" idx="11"/>
          </p:nvPr>
        </p:nvSpPr>
        <p:spPr/>
        <p:txBody>
          <a:bodyPr/>
          <a:lstStyle/>
          <a:p>
            <a:r>
              <a:rPr lang="en-US"/>
              <a:t>BSc (Hons) in Information Technology</a:t>
            </a:r>
          </a:p>
        </p:txBody>
      </p:sp>
      <p:sp>
        <p:nvSpPr>
          <p:cNvPr id="9" name="Slide Number Placeholder 8">
            <a:extLst>
              <a:ext uri="{FF2B5EF4-FFF2-40B4-BE49-F238E27FC236}">
                <a16:creationId xmlns:a16="http://schemas.microsoft.com/office/drawing/2014/main" id="{308F996D-4AE8-BB7F-D3A1-995EE754271E}"/>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4149834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80101-22BA-32E5-2060-4A9C785ACD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593B0A-96D8-DA75-C76E-DA71825A01AE}"/>
              </a:ext>
            </a:extLst>
          </p:cNvPr>
          <p:cNvSpPr>
            <a:spLocks noGrp="1"/>
          </p:cNvSpPr>
          <p:nvPr>
            <p:ph type="dt" sz="half" idx="10"/>
          </p:nvPr>
        </p:nvSpPr>
        <p:spPr/>
        <p:txBody>
          <a:bodyPr/>
          <a:lstStyle/>
          <a:p>
            <a:fld id="{3A9FD351-5A68-4A1F-946B-20C3567895CF}" type="datetime1">
              <a:rPr lang="en-US" smtClean="0"/>
              <a:t>8/13/2026</a:t>
            </a:fld>
            <a:endParaRPr lang="en-US"/>
          </a:p>
        </p:txBody>
      </p:sp>
      <p:sp>
        <p:nvSpPr>
          <p:cNvPr id="4" name="Footer Placeholder 3">
            <a:extLst>
              <a:ext uri="{FF2B5EF4-FFF2-40B4-BE49-F238E27FC236}">
                <a16:creationId xmlns:a16="http://schemas.microsoft.com/office/drawing/2014/main" id="{5B881D16-288F-8034-9059-C666E54D7B15}"/>
              </a:ext>
            </a:extLst>
          </p:cNvPr>
          <p:cNvSpPr>
            <a:spLocks noGrp="1"/>
          </p:cNvSpPr>
          <p:nvPr>
            <p:ph type="ftr" sz="quarter" idx="11"/>
          </p:nvPr>
        </p:nvSpPr>
        <p:spPr/>
        <p:txBody>
          <a:bodyPr/>
          <a:lstStyle/>
          <a:p>
            <a:r>
              <a:rPr lang="en-US"/>
              <a:t>BSc (Hons) in Information Technology</a:t>
            </a:r>
          </a:p>
        </p:txBody>
      </p:sp>
      <p:sp>
        <p:nvSpPr>
          <p:cNvPr id="5" name="Slide Number Placeholder 4">
            <a:extLst>
              <a:ext uri="{FF2B5EF4-FFF2-40B4-BE49-F238E27FC236}">
                <a16:creationId xmlns:a16="http://schemas.microsoft.com/office/drawing/2014/main" id="{CE065B0D-78DE-91A7-D803-150A4D18B266}"/>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397684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D95D1-8997-87CC-14A9-30F3E28ED848}"/>
              </a:ext>
            </a:extLst>
          </p:cNvPr>
          <p:cNvSpPr>
            <a:spLocks noGrp="1"/>
          </p:cNvSpPr>
          <p:nvPr>
            <p:ph type="dt" sz="half" idx="10"/>
          </p:nvPr>
        </p:nvSpPr>
        <p:spPr/>
        <p:txBody>
          <a:bodyPr/>
          <a:lstStyle/>
          <a:p>
            <a:fld id="{2BA7CCCF-53CF-49A2-8E4E-6C875B11F612}" type="datetime1">
              <a:rPr lang="en-US" smtClean="0"/>
              <a:t>8/13/2026</a:t>
            </a:fld>
            <a:endParaRPr lang="en-US"/>
          </a:p>
        </p:txBody>
      </p:sp>
      <p:sp>
        <p:nvSpPr>
          <p:cNvPr id="3" name="Footer Placeholder 2">
            <a:extLst>
              <a:ext uri="{FF2B5EF4-FFF2-40B4-BE49-F238E27FC236}">
                <a16:creationId xmlns:a16="http://schemas.microsoft.com/office/drawing/2014/main" id="{8185F0F5-689E-656C-326C-0DF47574D589}"/>
              </a:ext>
            </a:extLst>
          </p:cNvPr>
          <p:cNvSpPr>
            <a:spLocks noGrp="1"/>
          </p:cNvSpPr>
          <p:nvPr>
            <p:ph type="ftr" sz="quarter" idx="11"/>
          </p:nvPr>
        </p:nvSpPr>
        <p:spPr/>
        <p:txBody>
          <a:bodyPr/>
          <a:lstStyle/>
          <a:p>
            <a:r>
              <a:rPr lang="en-US"/>
              <a:t>BSc (Hons) in Information Technology</a:t>
            </a:r>
          </a:p>
        </p:txBody>
      </p:sp>
      <p:sp>
        <p:nvSpPr>
          <p:cNvPr id="4" name="Slide Number Placeholder 3">
            <a:extLst>
              <a:ext uri="{FF2B5EF4-FFF2-40B4-BE49-F238E27FC236}">
                <a16:creationId xmlns:a16="http://schemas.microsoft.com/office/drawing/2014/main" id="{2948FF23-2E61-3111-9C42-8D84E4817CB5}"/>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510882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A2505E-CFD5-8901-B1E4-35E1DFF8B637}"/>
              </a:ext>
            </a:extLst>
          </p:cNvPr>
          <p:cNvSpPr/>
          <p:nvPr userDrawn="1"/>
        </p:nvSpPr>
        <p:spPr>
          <a:xfrm>
            <a:off x="3048000" y="6176963"/>
            <a:ext cx="9143994" cy="667612"/>
          </a:xfrm>
          <a:prstGeom prst="rect">
            <a:avLst/>
          </a:prstGeom>
          <a:solidFill>
            <a:srgbClr val="003054"/>
          </a:solidFill>
          <a:ln>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7" name="Rectangle 6">
            <a:extLst>
              <a:ext uri="{FF2B5EF4-FFF2-40B4-BE49-F238E27FC236}">
                <a16:creationId xmlns:a16="http://schemas.microsoft.com/office/drawing/2014/main" id="{E0A7784B-71B0-4A27-69C4-436C1E401103}"/>
              </a:ext>
            </a:extLst>
          </p:cNvPr>
          <p:cNvSpPr/>
          <p:nvPr userDrawn="1"/>
        </p:nvSpPr>
        <p:spPr>
          <a:xfrm>
            <a:off x="0" y="1"/>
            <a:ext cx="12192000" cy="1690688"/>
          </a:xfrm>
          <a:prstGeom prst="rect">
            <a:avLst/>
          </a:prstGeom>
          <a:solidFill>
            <a:srgbClr val="003054"/>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2" name="Title Placeholder 1">
            <a:extLst>
              <a:ext uri="{FF2B5EF4-FFF2-40B4-BE49-F238E27FC236}">
                <a16:creationId xmlns:a16="http://schemas.microsoft.com/office/drawing/2014/main" id="{F41F2622-3876-DB58-BA22-E1EC5EDCEED2}"/>
              </a:ext>
            </a:extLst>
          </p:cNvPr>
          <p:cNvSpPr>
            <a:spLocks noGrp="1"/>
          </p:cNvSpPr>
          <p:nvPr>
            <p:ph type="title"/>
          </p:nvPr>
        </p:nvSpPr>
        <p:spPr>
          <a:xfrm>
            <a:off x="838200" y="22657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F546EC-E134-9B17-EE99-C27C18DC9F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2DB5F-A581-B2FE-E227-EF8B4134FA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ADC54051-F9E3-4634-8E2D-FEE7EC79C47F}" type="datetime1">
              <a:rPr lang="en-US" smtClean="0"/>
              <a:t>8/13/2026</a:t>
            </a:fld>
            <a:endParaRPr lang="en-US"/>
          </a:p>
        </p:txBody>
      </p:sp>
      <p:sp>
        <p:nvSpPr>
          <p:cNvPr id="5" name="Footer Placeholder 4">
            <a:extLst>
              <a:ext uri="{FF2B5EF4-FFF2-40B4-BE49-F238E27FC236}">
                <a16:creationId xmlns:a16="http://schemas.microsoft.com/office/drawing/2014/main" id="{884CB4C9-6F98-0B0C-A82A-07D2BA3BC1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US">
                <a:solidFill>
                  <a:schemeClr val="bg1"/>
                </a:solidFill>
              </a:rPr>
              <a:t>BSc (Hons) in Information Technology</a:t>
            </a:r>
          </a:p>
        </p:txBody>
      </p:sp>
      <p:sp>
        <p:nvSpPr>
          <p:cNvPr id="6" name="Slide Number Placeholder 5">
            <a:extLst>
              <a:ext uri="{FF2B5EF4-FFF2-40B4-BE49-F238E27FC236}">
                <a16:creationId xmlns:a16="http://schemas.microsoft.com/office/drawing/2014/main" id="{A08E30B7-3975-EABC-A921-0B090B3CE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B05DC659-408D-4781-A84D-B150AC404B91}" type="slidenum">
              <a:rPr lang="en-US" smtClean="0"/>
              <a:pPr/>
              <a:t>‹#›</a:t>
            </a:fld>
            <a:endParaRPr lang="en-US"/>
          </a:p>
        </p:txBody>
      </p:sp>
      <p:pic>
        <p:nvPicPr>
          <p:cNvPr id="10" name="Picture 9">
            <a:extLst>
              <a:ext uri="{FF2B5EF4-FFF2-40B4-BE49-F238E27FC236}">
                <a16:creationId xmlns:a16="http://schemas.microsoft.com/office/drawing/2014/main" id="{937B7A56-4602-F3E4-33AF-7961B334812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2913" y="6221220"/>
            <a:ext cx="2850179" cy="590320"/>
          </a:xfrm>
          <a:prstGeom prst="rect">
            <a:avLst/>
          </a:prstGeom>
        </p:spPr>
      </p:pic>
    </p:spTree>
    <p:extLst>
      <p:ext uri="{BB962C8B-B14F-4D97-AF65-F5344CB8AC3E}">
        <p14:creationId xmlns:p14="http://schemas.microsoft.com/office/powerpoint/2010/main" val="381618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931920"/>
          </a:xfrm>
          <a:prstGeom prst="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332720" cy="1645920"/>
          </a:xfrm>
          <a:prstGeom prst="rect">
            <a:avLst/>
          </a:prstGeom>
          <a:noFill/>
        </p:spPr>
        <p:txBody>
          <a:bodyPr wrap="square">
            <a:spAutoFit/>
          </a:bodyPr>
          <a:lstStyle/>
          <a:p>
            <a:r>
              <a:rPr sz="3400" b="1" i="0">
                <a:solidFill>
                  <a:srgbClr val="FFFFFF"/>
                </a:solidFill>
                <a:latin typeface="Cambria"/>
              </a:rPr>
              <a:t>Layer 2 Attacks</a:t>
            </a:r>
          </a:p>
        </p:txBody>
      </p:sp>
      <p:sp>
        <p:nvSpPr>
          <p:cNvPr id="4" name="TextBox 3"/>
          <p:cNvSpPr txBox="1"/>
          <p:nvPr/>
        </p:nvSpPr>
        <p:spPr>
          <a:xfrm>
            <a:off x="914400" y="2926080"/>
            <a:ext cx="10332720" cy="914400"/>
          </a:xfrm>
          <a:prstGeom prst="rect">
            <a:avLst/>
          </a:prstGeom>
          <a:noFill/>
        </p:spPr>
        <p:txBody>
          <a:bodyPr wrap="square">
            <a:spAutoFit/>
          </a:bodyPr>
          <a:lstStyle/>
          <a:p>
            <a:r>
              <a:rPr sz="2200" b="0" i="0">
                <a:solidFill>
                  <a:srgbClr val="FFFFFF"/>
                </a:solidFill>
                <a:latin typeface="Calibri"/>
              </a:rPr>
              <a:t>IE3122 – Network Security | Week 3</a:t>
            </a:r>
          </a:p>
          <a:p>
            <a:r>
              <a:rPr sz="1600" b="0" i="1">
                <a:solidFill>
                  <a:srgbClr val="FFFFFF"/>
                </a:solidFill>
                <a:latin typeface="Calibri"/>
              </a:rPr>
              <a:t>VLANs, switching, and the attacks that target them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Today's Agenda</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600"/>
              </a:spcAft>
              <a:buFont typeface="Arial"/>
              <a:buChar char="–"/>
            </a:pPr>
            <a:r>
              <a:rPr sz="1900" b="0" i="0">
                <a:solidFill>
                  <a:srgbClr val="222A33"/>
                </a:solidFill>
                <a:latin typeface="Calibri"/>
              </a:rPr>
              <a:t>Why Layer 2 matters, and a VLAN refresher</a:t>
            </a:r>
          </a:p>
          <a:p>
            <a:pPr marL="201168" indent="-201168">
              <a:spcAft>
                <a:spcPts val="1600"/>
              </a:spcAft>
              <a:buFont typeface="Arial"/>
              <a:buChar char="–"/>
            </a:pPr>
            <a:r>
              <a:rPr sz="1900" b="0" i="0">
                <a:solidFill>
                  <a:srgbClr val="222A33"/>
                </a:solidFill>
                <a:latin typeface="Calibri"/>
              </a:rPr>
              <a:t>The Layer 2 attack landscape</a:t>
            </a:r>
          </a:p>
          <a:p>
            <a:pPr marL="201168" indent="-201168">
              <a:spcAft>
                <a:spcPts val="1600"/>
              </a:spcAft>
              <a:buFont typeface="Arial"/>
              <a:buChar char="–"/>
            </a:pPr>
            <a:r>
              <a:rPr sz="1900" b="0" i="0">
                <a:solidFill>
                  <a:srgbClr val="222A33"/>
                </a:solidFill>
                <a:latin typeface="Calibri"/>
              </a:rPr>
              <a:t>CAM table (MAC flooding) attacks</a:t>
            </a:r>
          </a:p>
          <a:p>
            <a:pPr marL="201168" indent="-201168">
              <a:spcAft>
                <a:spcPts val="1600"/>
              </a:spcAft>
              <a:buFont typeface="Arial"/>
              <a:buChar char="–"/>
            </a:pPr>
            <a:r>
              <a:rPr sz="1900" b="0" i="0">
                <a:solidFill>
                  <a:srgbClr val="222A33"/>
                </a:solidFill>
                <a:latin typeface="Calibri"/>
              </a:rPr>
              <a:t>VLAN hopping attacks (switch spoofing &amp; double tagging)</a:t>
            </a:r>
          </a:p>
          <a:p>
            <a:pPr marL="201168" indent="-201168">
              <a:spcAft>
                <a:spcPts val="1600"/>
              </a:spcAft>
              <a:buFont typeface="Arial"/>
              <a:buChar char="–"/>
            </a:pPr>
            <a:r>
              <a:rPr sz="1900" b="0" i="0">
                <a:solidFill>
                  <a:srgbClr val="222A33"/>
                </a:solidFill>
                <a:latin typeface="Calibri"/>
              </a:rPr>
              <a:t>DHCP-based attacks (starvation &amp; spoofing)</a:t>
            </a:r>
          </a:p>
          <a:p>
            <a:pPr marL="201168" indent="-201168">
              <a:spcAft>
                <a:spcPts val="1600"/>
              </a:spcAft>
              <a:buFont typeface="Arial"/>
              <a:buChar char="–"/>
            </a:pPr>
            <a:r>
              <a:rPr sz="1900" b="0" i="0">
                <a:solidFill>
                  <a:srgbClr val="222A33"/>
                </a:solidFill>
                <a:latin typeface="Calibri"/>
              </a:rPr>
              <a:t>ARP spoofing</a:t>
            </a:r>
          </a:p>
          <a:p>
            <a:pPr marL="201168" indent="-201168">
              <a:spcAft>
                <a:spcPts val="1600"/>
              </a:spcAft>
              <a:buFont typeface="Arial"/>
              <a:buChar char="–"/>
            </a:pPr>
            <a:r>
              <a:rPr sz="1900" b="0" i="0">
                <a:solidFill>
                  <a:srgbClr val="222A33"/>
                </a:solidFill>
                <a:latin typeface="Calibri"/>
              </a:rPr>
              <a:t>Bringing it together: layered Layer 2 defense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Learning Outcomes for Today</a:t>
            </a:r>
          </a:p>
        </p:txBody>
      </p:sp>
      <p:sp>
        <p:nvSpPr>
          <p:cNvPr id="3" name="TextBox 2"/>
          <p:cNvSpPr txBox="1"/>
          <p:nvPr/>
        </p:nvSpPr>
        <p:spPr>
          <a:xfrm>
            <a:off x="731520" y="1828800"/>
            <a:ext cx="10698480" cy="4114800"/>
          </a:xfrm>
          <a:prstGeom prst="rect">
            <a:avLst/>
          </a:prstGeom>
          <a:noFill/>
        </p:spPr>
        <p:txBody>
          <a:bodyPr wrap="square">
            <a:spAutoFit/>
          </a:bodyPr>
          <a:lstStyle/>
          <a:p>
            <a:pPr marL="0" indent="0">
              <a:spcAft>
                <a:spcPts val="400"/>
              </a:spcAft>
              <a:buNone/>
            </a:pPr>
            <a:r>
              <a:rPr sz="1700" b="1" i="0">
                <a:solidFill>
                  <a:srgbClr val="003054"/>
                </a:solidFill>
                <a:latin typeface="Calibri"/>
              </a:rPr>
              <a:t>LO1</a:t>
            </a:r>
          </a:p>
          <a:p>
            <a:pPr marL="201168" indent="-201168">
              <a:spcAft>
                <a:spcPts val="1800"/>
              </a:spcAft>
              <a:buFont typeface="Arial"/>
              <a:buChar char="–"/>
            </a:pPr>
            <a:r>
              <a:rPr sz="1700" b="0" i="0">
                <a:solidFill>
                  <a:srgbClr val="222A33"/>
                </a:solidFill>
                <a:latin typeface="Calibri"/>
              </a:rPr>
              <a:t>Describe common network vulnerabilities and attacks — today, specifically at Layer 2.</a:t>
            </a:r>
          </a:p>
          <a:p>
            <a:pPr marL="0" indent="0">
              <a:spcAft>
                <a:spcPts val="400"/>
              </a:spcAft>
              <a:buNone/>
            </a:pPr>
            <a:r>
              <a:rPr sz="1700" b="1" i="0">
                <a:solidFill>
                  <a:srgbClr val="003054"/>
                </a:solidFill>
                <a:latin typeface="Calibri"/>
              </a:rPr>
              <a:t>LO2</a:t>
            </a:r>
          </a:p>
          <a:p>
            <a:pPr marL="201168" indent="-201168">
              <a:spcAft>
                <a:spcPts val="1800"/>
              </a:spcAft>
              <a:buFont typeface="Arial"/>
              <a:buChar char="–"/>
            </a:pPr>
            <a:r>
              <a:rPr sz="1700" b="0" i="0">
                <a:solidFill>
                  <a:srgbClr val="222A33"/>
                </a:solidFill>
                <a:latin typeface="Calibri"/>
              </a:rPr>
              <a:t>Evaluate different mitigation techniques for vulnerabilities and make recommendations.</a:t>
            </a:r>
          </a:p>
          <a:p>
            <a:pPr marL="201168" indent="-201168">
              <a:spcAft>
                <a:spcPts val="800"/>
              </a:spcAft>
              <a:buFont typeface="Arial"/>
              <a:buChar char="–"/>
            </a:pPr>
            <a:r>
              <a:rPr sz="1600" b="0" i="1">
                <a:solidFill>
                  <a:srgbClr val="6B7682"/>
                </a:solidFill>
                <a:latin typeface="Calibri"/>
              </a:rPr>
              <a:t>By the end of this session you should be able to explain how each attack works, what it exploits, and compare mitigation options — from a simple config change to a more complete technical control.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Layer 2 &amp; VLAN Foundations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What we're protecting, and why it's an attractive target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Why Layer 2 Matters in Modern Networks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FOUNDATIONS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Every packet, regardless of what's happening at Layer 3 and above, ultimately has to move as an Ethernet frame between two directly connected devices — Layer 2 is the ground floor.</a:t>
            </a:r>
          </a:p>
          <a:p>
            <a:pPr marL="201168" indent="-201168">
              <a:spcAft>
                <a:spcPts val="1200"/>
              </a:spcAft>
              <a:buFont typeface="Arial"/>
              <a:buChar char="–"/>
            </a:pPr>
            <a:r>
              <a:rPr sz="1700" b="0" i="0">
                <a:solidFill>
                  <a:srgbClr val="222A33"/>
                </a:solidFill>
                <a:latin typeface="Calibri"/>
              </a:rPr>
              <a:t>Layer 2 protocols (Ethernet, ARP, DHCP, VLAN trunking) were largely designed for trusted, physically-controlled networks — most have little to no built-in authentication.</a:t>
            </a:r>
          </a:p>
          <a:p>
            <a:pPr marL="201168" indent="-201168">
              <a:spcAft>
                <a:spcPts val="1200"/>
              </a:spcAft>
              <a:buFont typeface="Arial"/>
              <a:buChar char="–"/>
            </a:pPr>
            <a:r>
              <a:rPr sz="1700" b="0" i="0">
                <a:solidFill>
                  <a:srgbClr val="222A33"/>
                </a:solidFill>
                <a:latin typeface="Calibri"/>
              </a:rPr>
              <a:t>A compromise at Layer 2 can undermine security controls running above it — e.g. intercepting traffic at Layer 2 defeats a Layer 3 ACL that never gets a chance to inspect it.</a:t>
            </a:r>
          </a:p>
          <a:p>
            <a:pPr marL="201168" indent="-201168">
              <a:spcAft>
                <a:spcPts val="1200"/>
              </a:spcAft>
              <a:buFont typeface="Arial"/>
              <a:buChar char="–"/>
            </a:pPr>
            <a:r>
              <a:rPr sz="1700" b="0" i="0">
                <a:solidFill>
                  <a:srgbClr val="222A33"/>
                </a:solidFill>
                <a:latin typeface="Calibri"/>
              </a:rPr>
              <a:t>This is why LO2 matters here: knowing an attack is possible isn't enough — you need to evaluate which mitigation actually closes the gap, and at what cost/complexity.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VLANs: What and Why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FOUNDATIONS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A VLAN (Virtual LAN) splits a single physical switch into multiple logical broadcast domains — devices on different VLANs can't reach each other without going through a router (recall Week 1's broadcast-domain revision).</a:t>
            </a:r>
          </a:p>
          <a:p>
            <a:pPr marL="201168" indent="-201168">
              <a:spcAft>
                <a:spcPts val="1200"/>
              </a:spcAft>
              <a:buFont typeface="Arial"/>
              <a:buChar char="–"/>
            </a:pPr>
            <a:r>
              <a:rPr sz="1700" b="0" i="0">
                <a:solidFill>
                  <a:srgbClr val="222A33"/>
                </a:solidFill>
                <a:latin typeface="Calibri"/>
              </a:rPr>
              <a:t>Used for segmentation: separating staff, guests, servers, and IoT devices so a compromise in one segment doesn't automatically expose the others.</a:t>
            </a:r>
          </a:p>
          <a:p>
            <a:pPr marL="201168" indent="-201168">
              <a:spcAft>
                <a:spcPts val="1200"/>
              </a:spcAft>
              <a:buFont typeface="Arial"/>
              <a:buChar char="–"/>
            </a:pPr>
            <a:r>
              <a:rPr sz="1700" b="0" i="0">
                <a:solidFill>
                  <a:srgbClr val="222A33"/>
                </a:solidFill>
                <a:latin typeface="Calibri"/>
              </a:rPr>
              <a:t>Each VLAN is identified by a VLAN ID (1–4094); frames are tagged with this ID as they cross trunk links between switches.</a:t>
            </a:r>
          </a:p>
          <a:p>
            <a:pPr marL="201168" indent="-201168">
              <a:spcAft>
                <a:spcPts val="1200"/>
              </a:spcAft>
              <a:buFont typeface="Arial"/>
              <a:buChar char="–"/>
            </a:pPr>
            <a:r>
              <a:rPr sz="1700" b="0" i="0">
                <a:solidFill>
                  <a:srgbClr val="222A33"/>
                </a:solidFill>
                <a:latin typeface="Calibri"/>
              </a:rPr>
              <a:t>Segmentation is a security control in its own right — but as we'll see today, VLANs have their own attack surface if misconfigured.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VLAN Protocols Overview</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FOUNDATIONS</a:t>
            </a:r>
          </a:p>
        </p:txBody>
      </p:sp>
      <p:graphicFrame>
        <p:nvGraphicFramePr>
          <p:cNvPr id="4" name="Table 3"/>
          <p:cNvGraphicFramePr>
            <a:graphicFrameLocks noGrp="1"/>
          </p:cNvGraphicFramePr>
          <p:nvPr/>
        </p:nvGraphicFramePr>
        <p:xfrm>
          <a:off x="548640" y="1828800"/>
          <a:ext cx="11064240" cy="2560320"/>
        </p:xfrm>
        <a:graphic>
          <a:graphicData uri="http://schemas.openxmlformats.org/drawingml/2006/table">
            <a:tbl>
              <a:tblPr firstRow="1" bandRow="1">
                <a:tableStyleId>{5C22544A-7EE6-4342-B048-85BDC9FD1C3A}</a:tableStyleId>
              </a:tblPr>
              <a:tblGrid>
                <a:gridCol w="329184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640080">
                <a:tc>
                  <a:txBody>
                    <a:bodyPr/>
                    <a:lstStyle/>
                    <a:p>
                      <a:r>
                        <a:rPr sz="1300" b="1" i="0">
                          <a:solidFill>
                            <a:srgbClr val="FFFFFF"/>
                          </a:solidFill>
                          <a:latin typeface="Calibri"/>
                        </a:rPr>
                        <a:t>Protocol</a:t>
                      </a:r>
                    </a:p>
                  </a:txBody>
                  <a:tcPr marL="73152" marR="73152" marT="27432" marB="27432" anchor="ctr">
                    <a:solidFill>
                      <a:srgbClr val="003054"/>
                    </a:solidFill>
                  </a:tcPr>
                </a:tc>
                <a:tc>
                  <a:txBody>
                    <a:bodyPr/>
                    <a:lstStyle/>
                    <a:p>
                      <a:r>
                        <a:rPr sz="1300" b="1" i="0">
                          <a:solidFill>
                            <a:srgbClr val="FFFFFF"/>
                          </a:solidFill>
                          <a:latin typeface="Calibri"/>
                        </a:rPr>
                        <a:t>Purpose</a:t>
                      </a:r>
                    </a:p>
                  </a:txBody>
                  <a:tcPr marL="73152" marR="73152" marT="27432" marB="27432" anchor="ctr">
                    <a:solidFill>
                      <a:srgbClr val="003054"/>
                    </a:solidFill>
                  </a:tcPr>
                </a:tc>
                <a:extLst>
                  <a:ext uri="{0D108BD9-81ED-4DB2-BD59-A6C34878D82A}">
                    <a16:rowId xmlns:a16="http://schemas.microsoft.com/office/drawing/2014/main" val="10000"/>
                  </a:ext>
                </a:extLst>
              </a:tr>
              <a:tr h="640080">
                <a:tc>
                  <a:txBody>
                    <a:bodyPr/>
                    <a:lstStyle/>
                    <a:p>
                      <a:r>
                        <a:rPr sz="1300" b="0" i="0">
                          <a:solidFill>
                            <a:srgbClr val="222A33"/>
                          </a:solidFill>
                          <a:latin typeface="Calibri"/>
                        </a:rPr>
                        <a:t>802.1Q</a:t>
                      </a:r>
                    </a:p>
                  </a:txBody>
                  <a:tcPr marL="73152" marR="73152" marT="27432" marB="27432" anchor="ctr">
                    <a:solidFill>
                      <a:srgbClr val="FFFFFF"/>
                    </a:solidFill>
                  </a:tcPr>
                </a:tc>
                <a:tc>
                  <a:txBody>
                    <a:bodyPr/>
                    <a:lstStyle/>
                    <a:p>
                      <a:r>
                        <a:rPr sz="1300" b="0" i="0">
                          <a:solidFill>
                            <a:srgbClr val="222A33"/>
                          </a:solidFill>
                          <a:latin typeface="Calibri"/>
                        </a:rPr>
                        <a:t>The standard for tagging Ethernet frames with a VLAN ID as they cross trunk links</a:t>
                      </a:r>
                    </a:p>
                  </a:txBody>
                  <a:tcPr marL="73152" marR="73152" marT="27432" marB="27432" anchor="ctr">
                    <a:solidFill>
                      <a:srgbClr val="FFFFFF"/>
                    </a:solidFill>
                  </a:tcPr>
                </a:tc>
                <a:extLst>
                  <a:ext uri="{0D108BD9-81ED-4DB2-BD59-A6C34878D82A}">
                    <a16:rowId xmlns:a16="http://schemas.microsoft.com/office/drawing/2014/main" val="10001"/>
                  </a:ext>
                </a:extLst>
              </a:tr>
              <a:tr h="640080">
                <a:tc>
                  <a:txBody>
                    <a:bodyPr/>
                    <a:lstStyle/>
                    <a:p>
                      <a:r>
                        <a:rPr sz="1300" b="0" i="0">
                          <a:solidFill>
                            <a:srgbClr val="222A33"/>
                          </a:solidFill>
                          <a:latin typeface="Calibri"/>
                        </a:rPr>
                        <a:t>VTP (VLAN Trunking Protocol)</a:t>
                      </a:r>
                    </a:p>
                  </a:txBody>
                  <a:tcPr marL="73152" marR="73152" marT="27432" marB="27432" anchor="ctr">
                    <a:solidFill>
                      <a:srgbClr val="F2F4F7"/>
                    </a:solidFill>
                  </a:tcPr>
                </a:tc>
                <a:tc>
                  <a:txBody>
                    <a:bodyPr/>
                    <a:lstStyle/>
                    <a:p>
                      <a:r>
                        <a:rPr sz="1300" b="0" i="0">
                          <a:solidFill>
                            <a:srgbClr val="222A33"/>
                          </a:solidFill>
                          <a:latin typeface="Calibri"/>
                        </a:rPr>
                        <a:t>Propagates VLAN configuration across multiple switches automatically</a:t>
                      </a:r>
                    </a:p>
                  </a:txBody>
                  <a:tcPr marL="73152" marR="73152" marT="27432" marB="27432" anchor="ctr">
                    <a:solidFill>
                      <a:srgbClr val="F2F4F7"/>
                    </a:solidFill>
                  </a:tcPr>
                </a:tc>
                <a:extLst>
                  <a:ext uri="{0D108BD9-81ED-4DB2-BD59-A6C34878D82A}">
                    <a16:rowId xmlns:a16="http://schemas.microsoft.com/office/drawing/2014/main" val="10002"/>
                  </a:ext>
                </a:extLst>
              </a:tr>
              <a:tr h="640080">
                <a:tc>
                  <a:txBody>
                    <a:bodyPr/>
                    <a:lstStyle/>
                    <a:p>
                      <a:r>
                        <a:rPr sz="1300" b="0" i="0">
                          <a:solidFill>
                            <a:srgbClr val="222A33"/>
                          </a:solidFill>
                          <a:latin typeface="Calibri"/>
                        </a:rPr>
                        <a:t>DTP (Dynamic Trunking Protocol)</a:t>
                      </a:r>
                    </a:p>
                  </a:txBody>
                  <a:tcPr marL="73152" marR="73152" marT="27432" marB="27432" anchor="ctr">
                    <a:solidFill>
                      <a:srgbClr val="FFFFFF"/>
                    </a:solidFill>
                  </a:tcPr>
                </a:tc>
                <a:tc>
                  <a:txBody>
                    <a:bodyPr/>
                    <a:lstStyle/>
                    <a:p>
                      <a:r>
                        <a:rPr sz="1300" b="0" i="0">
                          <a:solidFill>
                            <a:srgbClr val="222A33"/>
                          </a:solidFill>
                          <a:latin typeface="Calibri"/>
                        </a:rPr>
                        <a:t>Automatically negotiates whether a link becomes a trunk — convenient, but exploitable (see VLAN hopping)</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Trunking &amp; the Native VLAN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FOUNDATIONS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A trunk link carries traffic for multiple VLANs between switches, using 802.1Q tags so each switch knows which VLAN a frame belongs to.</a:t>
            </a:r>
          </a:p>
          <a:p>
            <a:pPr marL="201168" indent="-201168">
              <a:spcAft>
                <a:spcPts val="1200"/>
              </a:spcAft>
              <a:buFont typeface="Arial"/>
              <a:buChar char="–"/>
            </a:pPr>
            <a:r>
              <a:rPr sz="1700" b="0" i="0">
                <a:solidFill>
                  <a:srgbClr val="222A33"/>
                </a:solidFill>
                <a:latin typeface="Calibri"/>
              </a:rPr>
              <a:t>The native VLAN is the one exception: frames on the native VLAN are sent untagged across a trunk — a legacy compatibility feature.</a:t>
            </a:r>
          </a:p>
          <a:p>
            <a:pPr marL="201168" indent="-201168">
              <a:spcAft>
                <a:spcPts val="1200"/>
              </a:spcAft>
              <a:buFont typeface="Arial"/>
              <a:buChar char="–"/>
            </a:pPr>
            <a:r>
              <a:rPr sz="1700" b="0" i="0">
                <a:solidFill>
                  <a:srgbClr val="222A33"/>
                </a:solidFill>
                <a:latin typeface="Calibri"/>
              </a:rPr>
              <a:t>That untagged exception is exactly what the VLAN double-tagging attack (later today) abuses — keep this in mind.</a:t>
            </a:r>
          </a:p>
          <a:p>
            <a:pPr marL="201168" indent="-201168">
              <a:spcAft>
                <a:spcPts val="1200"/>
              </a:spcAft>
              <a:buFont typeface="Arial"/>
              <a:buChar char="–"/>
            </a:pPr>
            <a:r>
              <a:rPr sz="1700" b="0" i="0">
                <a:solidFill>
                  <a:srgbClr val="222A33"/>
                </a:solidFill>
                <a:latin typeface="Calibri"/>
              </a:rPr>
              <a:t>By default, many switches use VLAN 1 as both the default access VLAN and the default native VLAN — a configuration habit that turns out to matter a lot for security.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The Layer 2 Attack Landscape</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Six attacks, one underlying theme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Why Attackers Target Layer 2</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LANDSCAPE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MAC addresses, ARP, and DHCP all operate with essentially no built-in authentication — a device is largely trusted just for being on the wire.</a:t>
            </a:r>
          </a:p>
          <a:p>
            <a:pPr marL="201168" indent="-201168">
              <a:spcAft>
                <a:spcPts val="1200"/>
              </a:spcAft>
              <a:buFont typeface="Arial"/>
              <a:buChar char="–"/>
            </a:pPr>
            <a:r>
              <a:rPr sz="1700" b="0" i="0">
                <a:solidFill>
                  <a:srgbClr val="222A33"/>
                </a:solidFill>
                <a:latin typeface="Calibri"/>
              </a:rPr>
              <a:t>Layer 2 attacks are often cheap to execute: many need nothing more than a laptop on an access port and freely available tools.</a:t>
            </a:r>
          </a:p>
          <a:p>
            <a:pPr marL="201168" indent="-201168">
              <a:spcAft>
                <a:spcPts val="1200"/>
              </a:spcAft>
              <a:buFont typeface="Arial"/>
              <a:buChar char="–"/>
            </a:pPr>
            <a:r>
              <a:rPr sz="1700" b="0" i="0">
                <a:solidFill>
                  <a:srgbClr val="222A33"/>
                </a:solidFill>
                <a:latin typeface="Calibri"/>
              </a:rPr>
              <a:t>A successful Layer 2 attack frequently becomes the foothold for something bigger — traffic interception, credential theft, or a pivot to Layer 3.</a:t>
            </a:r>
          </a:p>
          <a:p>
            <a:pPr marL="201168" indent="-201168">
              <a:spcAft>
                <a:spcPts val="1200"/>
              </a:spcAft>
              <a:buFont typeface="Arial"/>
              <a:buChar char="–"/>
            </a:pPr>
            <a:r>
              <a:rPr sz="1700" b="0" i="0">
                <a:solidFill>
                  <a:srgbClr val="222A33"/>
                </a:solidFill>
                <a:latin typeface="Calibri"/>
              </a:rPr>
              <a:t>The common defensive theme across today's six attacks: verify what a device claims (MAC, VLAN, IP-to-MAC binding) instead of trusting it by default.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Six Attacks at a Glance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LANDSCAPE</a:t>
            </a:r>
          </a:p>
        </p:txBody>
      </p:sp>
      <p:graphicFrame>
        <p:nvGraphicFramePr>
          <p:cNvPr id="4" name="Table 3"/>
          <p:cNvGraphicFramePr>
            <a:graphicFrameLocks noGrp="1"/>
          </p:cNvGraphicFramePr>
          <p:nvPr/>
        </p:nvGraphicFramePr>
        <p:xfrm>
          <a:off x="502920" y="1783080"/>
          <a:ext cx="11155680" cy="3931920"/>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6949440">
                  <a:extLst>
                    <a:ext uri="{9D8B030D-6E8A-4147-A177-3AD203B41FA5}">
                      <a16:colId xmlns:a16="http://schemas.microsoft.com/office/drawing/2014/main" val="20001"/>
                    </a:ext>
                  </a:extLst>
                </a:gridCol>
              </a:tblGrid>
              <a:tr h="561702">
                <a:tc>
                  <a:txBody>
                    <a:bodyPr/>
                    <a:lstStyle/>
                    <a:p>
                      <a:r>
                        <a:rPr sz="1300" b="1" i="0">
                          <a:solidFill>
                            <a:srgbClr val="FFFFFF"/>
                          </a:solidFill>
                          <a:latin typeface="Calibri"/>
                        </a:rPr>
                        <a:t>Attack</a:t>
                      </a:r>
                    </a:p>
                  </a:txBody>
                  <a:tcPr marL="73152" marR="73152" marT="27432" marB="27432" anchor="ctr">
                    <a:solidFill>
                      <a:srgbClr val="003054"/>
                    </a:solidFill>
                  </a:tcPr>
                </a:tc>
                <a:tc>
                  <a:txBody>
                    <a:bodyPr/>
                    <a:lstStyle/>
                    <a:p>
                      <a:r>
                        <a:rPr sz="1300" b="1" i="0">
                          <a:solidFill>
                            <a:srgbClr val="FFFFFF"/>
                          </a:solidFill>
                          <a:latin typeface="Calibri"/>
                        </a:rPr>
                        <a:t>What it targets</a:t>
                      </a:r>
                    </a:p>
                  </a:txBody>
                  <a:tcPr marL="73152" marR="73152" marT="27432" marB="27432" anchor="ctr">
                    <a:solidFill>
                      <a:srgbClr val="003054"/>
                    </a:solidFill>
                  </a:tcPr>
                </a:tc>
                <a:extLst>
                  <a:ext uri="{0D108BD9-81ED-4DB2-BD59-A6C34878D82A}">
                    <a16:rowId xmlns:a16="http://schemas.microsoft.com/office/drawing/2014/main" val="10000"/>
                  </a:ext>
                </a:extLst>
              </a:tr>
              <a:tr h="561702">
                <a:tc>
                  <a:txBody>
                    <a:bodyPr/>
                    <a:lstStyle/>
                    <a:p>
                      <a:r>
                        <a:rPr sz="1400" b="0" i="0">
                          <a:solidFill>
                            <a:srgbClr val="222A33"/>
                          </a:solidFill>
                          <a:latin typeface="Calibri"/>
                        </a:rPr>
                        <a:t>CAM Table (MAC Flooding)</a:t>
                      </a:r>
                    </a:p>
                  </a:txBody>
                  <a:tcPr marL="73152" marR="73152" marT="27432" marB="27432" anchor="ctr">
                    <a:solidFill>
                      <a:srgbClr val="FFFFFF"/>
                    </a:solidFill>
                  </a:tcPr>
                </a:tc>
                <a:tc>
                  <a:txBody>
                    <a:bodyPr/>
                    <a:lstStyle/>
                    <a:p>
                      <a:r>
                        <a:rPr sz="1400" b="0" i="0">
                          <a:solidFill>
                            <a:srgbClr val="222A33"/>
                          </a:solidFill>
                          <a:latin typeface="Calibri"/>
                        </a:rPr>
                        <a:t>The switch's MAC address table</a:t>
                      </a:r>
                    </a:p>
                  </a:txBody>
                  <a:tcPr marL="73152" marR="73152" marT="27432" marB="27432" anchor="ctr">
                    <a:solidFill>
                      <a:srgbClr val="FFFFFF"/>
                    </a:solidFill>
                  </a:tcPr>
                </a:tc>
                <a:extLst>
                  <a:ext uri="{0D108BD9-81ED-4DB2-BD59-A6C34878D82A}">
                    <a16:rowId xmlns:a16="http://schemas.microsoft.com/office/drawing/2014/main" val="10001"/>
                  </a:ext>
                </a:extLst>
              </a:tr>
              <a:tr h="561702">
                <a:tc>
                  <a:txBody>
                    <a:bodyPr/>
                    <a:lstStyle/>
                    <a:p>
                      <a:r>
                        <a:rPr sz="1400" b="0" i="0">
                          <a:solidFill>
                            <a:srgbClr val="222A33"/>
                          </a:solidFill>
                          <a:latin typeface="Calibri"/>
                        </a:rPr>
                        <a:t>VLAN Hopping — Switch Spoofing</a:t>
                      </a:r>
                    </a:p>
                  </a:txBody>
                  <a:tcPr marL="73152" marR="73152" marT="27432" marB="27432" anchor="ctr">
                    <a:solidFill>
                      <a:srgbClr val="F2F4F7"/>
                    </a:solidFill>
                  </a:tcPr>
                </a:tc>
                <a:tc>
                  <a:txBody>
                    <a:bodyPr/>
                    <a:lstStyle/>
                    <a:p>
                      <a:r>
                        <a:rPr sz="1400" b="0" i="0">
                          <a:solidFill>
                            <a:srgbClr val="222A33"/>
                          </a:solidFill>
                          <a:latin typeface="Calibri"/>
                        </a:rPr>
                        <a:t>DTP trunk negotiation</a:t>
                      </a:r>
                    </a:p>
                  </a:txBody>
                  <a:tcPr marL="73152" marR="73152" marT="27432" marB="27432" anchor="ctr">
                    <a:solidFill>
                      <a:srgbClr val="F2F4F7"/>
                    </a:solidFill>
                  </a:tcPr>
                </a:tc>
                <a:extLst>
                  <a:ext uri="{0D108BD9-81ED-4DB2-BD59-A6C34878D82A}">
                    <a16:rowId xmlns:a16="http://schemas.microsoft.com/office/drawing/2014/main" val="10002"/>
                  </a:ext>
                </a:extLst>
              </a:tr>
              <a:tr h="561702">
                <a:tc>
                  <a:txBody>
                    <a:bodyPr/>
                    <a:lstStyle/>
                    <a:p>
                      <a:r>
                        <a:rPr sz="1400" b="0" i="0">
                          <a:solidFill>
                            <a:srgbClr val="222A33"/>
                          </a:solidFill>
                          <a:latin typeface="Calibri"/>
                        </a:rPr>
                        <a:t>VLAN Hopping — Double Tagging</a:t>
                      </a:r>
                    </a:p>
                  </a:txBody>
                  <a:tcPr marL="73152" marR="73152" marT="27432" marB="27432" anchor="ctr">
                    <a:solidFill>
                      <a:srgbClr val="FFFFFF"/>
                    </a:solidFill>
                  </a:tcPr>
                </a:tc>
                <a:tc>
                  <a:txBody>
                    <a:bodyPr/>
                    <a:lstStyle/>
                    <a:p>
                      <a:r>
                        <a:rPr sz="1400" b="0" i="0">
                          <a:solidFill>
                            <a:srgbClr val="222A33"/>
                          </a:solidFill>
                          <a:latin typeface="Calibri"/>
                        </a:rPr>
                        <a:t>The native VLAN's untagged handling</a:t>
                      </a:r>
                    </a:p>
                  </a:txBody>
                  <a:tcPr marL="73152" marR="73152" marT="27432" marB="27432" anchor="ctr">
                    <a:solidFill>
                      <a:srgbClr val="FFFFFF"/>
                    </a:solidFill>
                  </a:tcPr>
                </a:tc>
                <a:extLst>
                  <a:ext uri="{0D108BD9-81ED-4DB2-BD59-A6C34878D82A}">
                    <a16:rowId xmlns:a16="http://schemas.microsoft.com/office/drawing/2014/main" val="10003"/>
                  </a:ext>
                </a:extLst>
              </a:tr>
              <a:tr h="561702">
                <a:tc>
                  <a:txBody>
                    <a:bodyPr/>
                    <a:lstStyle/>
                    <a:p>
                      <a:r>
                        <a:rPr sz="1400" b="0" i="0">
                          <a:solidFill>
                            <a:srgbClr val="222A33"/>
                          </a:solidFill>
                          <a:latin typeface="Calibri"/>
                        </a:rPr>
                        <a:t>DHCP Starvation</a:t>
                      </a:r>
                    </a:p>
                  </a:txBody>
                  <a:tcPr marL="73152" marR="73152" marT="27432" marB="27432" anchor="ctr">
                    <a:solidFill>
                      <a:srgbClr val="F2F4F7"/>
                    </a:solidFill>
                  </a:tcPr>
                </a:tc>
                <a:tc>
                  <a:txBody>
                    <a:bodyPr/>
                    <a:lstStyle/>
                    <a:p>
                      <a:r>
                        <a:rPr sz="1400" b="0" i="0">
                          <a:solidFill>
                            <a:srgbClr val="222A33"/>
                          </a:solidFill>
                          <a:latin typeface="Calibri"/>
                        </a:rPr>
                        <a:t>The DHCP server's available IP pool</a:t>
                      </a:r>
                    </a:p>
                  </a:txBody>
                  <a:tcPr marL="73152" marR="73152" marT="27432" marB="27432" anchor="ctr">
                    <a:solidFill>
                      <a:srgbClr val="F2F4F7"/>
                    </a:solidFill>
                  </a:tcPr>
                </a:tc>
                <a:extLst>
                  <a:ext uri="{0D108BD9-81ED-4DB2-BD59-A6C34878D82A}">
                    <a16:rowId xmlns:a16="http://schemas.microsoft.com/office/drawing/2014/main" val="10004"/>
                  </a:ext>
                </a:extLst>
              </a:tr>
              <a:tr h="561702">
                <a:tc>
                  <a:txBody>
                    <a:bodyPr/>
                    <a:lstStyle/>
                    <a:p>
                      <a:r>
                        <a:rPr sz="1400" b="0" i="0">
                          <a:solidFill>
                            <a:srgbClr val="222A33"/>
                          </a:solidFill>
                          <a:latin typeface="Calibri"/>
                        </a:rPr>
                        <a:t>DHCP Spoofing</a:t>
                      </a:r>
                    </a:p>
                  </a:txBody>
                  <a:tcPr marL="73152" marR="73152" marT="27432" marB="27432" anchor="ctr">
                    <a:solidFill>
                      <a:srgbClr val="FFFFFF"/>
                    </a:solidFill>
                  </a:tcPr>
                </a:tc>
                <a:tc>
                  <a:txBody>
                    <a:bodyPr/>
                    <a:lstStyle/>
                    <a:p>
                      <a:r>
                        <a:rPr sz="1400" b="0" i="0">
                          <a:solidFill>
                            <a:srgbClr val="222A33"/>
                          </a:solidFill>
                          <a:latin typeface="Calibri"/>
                        </a:rPr>
                        <a:t>Clients trusting any DHCP reply</a:t>
                      </a:r>
                    </a:p>
                  </a:txBody>
                  <a:tcPr marL="73152" marR="73152" marT="27432" marB="27432" anchor="ctr">
                    <a:solidFill>
                      <a:srgbClr val="FFFFFF"/>
                    </a:solidFill>
                  </a:tcPr>
                </a:tc>
                <a:extLst>
                  <a:ext uri="{0D108BD9-81ED-4DB2-BD59-A6C34878D82A}">
                    <a16:rowId xmlns:a16="http://schemas.microsoft.com/office/drawing/2014/main" val="10005"/>
                  </a:ext>
                </a:extLst>
              </a:tr>
              <a:tr h="561708">
                <a:tc>
                  <a:txBody>
                    <a:bodyPr/>
                    <a:lstStyle/>
                    <a:p>
                      <a:r>
                        <a:rPr sz="1400" b="0" i="0">
                          <a:solidFill>
                            <a:srgbClr val="222A33"/>
                          </a:solidFill>
                          <a:latin typeface="Calibri"/>
                        </a:rPr>
                        <a:t>ARP Spoofing</a:t>
                      </a:r>
                    </a:p>
                  </a:txBody>
                  <a:tcPr marL="73152" marR="73152" marT="27432" marB="27432" anchor="ctr">
                    <a:solidFill>
                      <a:srgbClr val="F2F4F7"/>
                    </a:solidFill>
                  </a:tcPr>
                </a:tc>
                <a:tc>
                  <a:txBody>
                    <a:bodyPr/>
                    <a:lstStyle/>
                    <a:p>
                      <a:r>
                        <a:rPr sz="1400" b="0" i="0">
                          <a:solidFill>
                            <a:srgbClr val="222A33"/>
                          </a:solidFill>
                          <a:latin typeface="Calibri"/>
                        </a:rPr>
                        <a:t>Hosts trusting any ARP reply</a:t>
                      </a:r>
                    </a:p>
                  </a:txBody>
                  <a:tcPr marL="73152" marR="73152" marT="27432" marB="27432" anchor="ctr">
                    <a:solidFill>
                      <a:srgbClr val="F2F4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MAC Address Attacks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Overwhelming the CAM table, and forging the identities it relies on</a:t>
            </a:r>
          </a:p>
        </p:txBody>
      </p:sp>
    </p:spTree>
    <p:extLst>
      <p:ext uri="{BB962C8B-B14F-4D97-AF65-F5344CB8AC3E}">
        <p14:creationId xmlns:p14="http://schemas.microsoft.com/office/powerpoint/2010/main" val="1945604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MAC Address Spoofing: Overview &amp; Vulnerability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MAC SPOOFING</a:t>
            </a:r>
          </a:p>
        </p:txBody>
      </p:sp>
      <p:sp>
        <p:nvSpPr>
          <p:cNvPr id="4" name="TextBox 3"/>
          <p:cNvSpPr txBox="1"/>
          <p:nvPr/>
        </p:nvSpPr>
        <p:spPr>
          <a:xfrm>
            <a:off x="731520" y="1828800"/>
            <a:ext cx="10698480" cy="2646878"/>
          </a:xfrm>
          <a:prstGeom prst="rect">
            <a:avLst/>
          </a:prstGeom>
          <a:noFill/>
        </p:spPr>
        <p:txBody>
          <a:bodyPr wrap="square">
            <a:spAutoFit/>
          </a:bodyPr>
          <a:lstStyle/>
          <a:p>
            <a:pPr marL="201168" indent="-201168">
              <a:spcAft>
                <a:spcPts val="1200"/>
              </a:spcAft>
              <a:buFont typeface="Arial"/>
              <a:buChar char="–"/>
            </a:pPr>
            <a:r>
              <a:rPr sz="1700" b="0" i="0" dirty="0">
                <a:solidFill>
                  <a:srgbClr val="222A33"/>
                </a:solidFill>
                <a:latin typeface="Calibri"/>
              </a:rPr>
              <a:t>Overview: MAC address spoofing is </a:t>
            </a:r>
            <a:r>
              <a:rPr lang="en-US" sz="1700" b="0" i="0" dirty="0">
                <a:solidFill>
                  <a:srgbClr val="222A33"/>
                </a:solidFill>
                <a:latin typeface="Calibri"/>
              </a:rPr>
              <a:t>a very </a:t>
            </a:r>
            <a:r>
              <a:rPr sz="1700" b="0" i="0" dirty="0">
                <a:solidFill>
                  <a:srgbClr val="222A33"/>
                </a:solidFill>
                <a:latin typeface="Calibri"/>
              </a:rPr>
              <a:t>simple</a:t>
            </a:r>
            <a:r>
              <a:rPr lang="en-US" sz="1700" b="0" i="0" dirty="0">
                <a:solidFill>
                  <a:srgbClr val="222A33"/>
                </a:solidFill>
                <a:latin typeface="Calibri"/>
              </a:rPr>
              <a:t> attack</a:t>
            </a:r>
            <a:r>
              <a:rPr sz="1700" b="0" i="0" dirty="0">
                <a:solidFill>
                  <a:srgbClr val="222A33"/>
                </a:solidFill>
                <a:latin typeface="Calibri"/>
              </a:rPr>
              <a:t>. The attacker changes their own device's MAC address to match a specific target, usually a trusted or already-</a:t>
            </a:r>
            <a:r>
              <a:rPr sz="1700" b="0" i="0" dirty="0" err="1">
                <a:solidFill>
                  <a:srgbClr val="222A33"/>
                </a:solidFill>
                <a:latin typeface="Calibri"/>
              </a:rPr>
              <a:t>authorised</a:t>
            </a:r>
            <a:r>
              <a:rPr sz="1700" b="0" i="0" dirty="0">
                <a:solidFill>
                  <a:srgbClr val="222A33"/>
                </a:solidFill>
                <a:latin typeface="Calibri"/>
              </a:rPr>
              <a:t> device.</a:t>
            </a:r>
          </a:p>
          <a:p>
            <a:pPr marL="201168" indent="-201168">
              <a:spcAft>
                <a:spcPts val="1200"/>
              </a:spcAft>
              <a:buFont typeface="Arial"/>
              <a:buChar char="–"/>
            </a:pPr>
            <a:r>
              <a:rPr sz="1700" b="0" i="0" dirty="0">
                <a:solidFill>
                  <a:srgbClr val="222A33"/>
                </a:solidFill>
                <a:latin typeface="Calibri"/>
              </a:rPr>
              <a:t>Vulnerability exploited: a MAC address is stored in software/firmware on most network interfaces and can be changed by the user with a single command on nearly every operating system. The network has no way to verify that a claimed MAC address genuinely belongs to the hardware presenting it.</a:t>
            </a:r>
            <a:endParaRPr lang="en-US" sz="1700" b="0" i="0" dirty="0">
              <a:solidFill>
                <a:srgbClr val="222A33"/>
              </a:solidFill>
              <a:latin typeface="Calibri"/>
            </a:endParaRPr>
          </a:p>
          <a:p>
            <a:pPr marL="201168" indent="-201168">
              <a:spcAft>
                <a:spcPts val="1200"/>
              </a:spcAft>
              <a:buFont typeface="Arial"/>
              <a:buChar char="–"/>
            </a:pPr>
            <a:r>
              <a:rPr lang="en-US" sz="1700" dirty="0">
                <a:solidFill>
                  <a:srgbClr val="222A33"/>
                </a:solidFill>
                <a:latin typeface="Calibri"/>
              </a:rPr>
              <a:t>Use for thinks like network testing and breaking physical tracking of mobile devices via the MAC address</a:t>
            </a:r>
            <a:endParaRPr sz="1700" b="0" i="0" dirty="0">
              <a:solidFill>
                <a:srgbClr val="222A33"/>
              </a:solidFill>
              <a:latin typeface="Calibri"/>
            </a:endParaRPr>
          </a:p>
          <a:p>
            <a:pPr marL="201168" indent="-201168">
              <a:spcAft>
                <a:spcPts val="1200"/>
              </a:spcAft>
              <a:buFont typeface="Arial"/>
              <a:buChar char="–"/>
            </a:pPr>
            <a:r>
              <a:rPr sz="1700" b="0" i="0" dirty="0">
                <a:solidFill>
                  <a:srgbClr val="222A33"/>
                </a:solidFill>
                <a:latin typeface="Calibri"/>
              </a:rPr>
              <a:t>Why this matters: many basic access controls (Wi-Fi MAC filtering, MAC-based ACLs, some port security setups) implicitly assume a MAC address is a reliable, hardware-tied identity. Spoofing directly breaks that assumption.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MAC Address Spoofing: Technique &amp; Impact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MAC SPOOFING</a:t>
            </a:r>
          </a:p>
        </p:txBody>
      </p:sp>
      <p:sp>
        <p:nvSpPr>
          <p:cNvPr id="4" name="Rounded Rectangle 3"/>
          <p:cNvSpPr/>
          <p:nvPr/>
        </p:nvSpPr>
        <p:spPr>
          <a:xfrm>
            <a:off x="731520" y="1828800"/>
            <a:ext cx="3017520" cy="109728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Attacker
Real MAC: AA:AA:AA:11:11:11</a:t>
            </a:r>
          </a:p>
        </p:txBody>
      </p:sp>
      <p:cxnSp>
        <p:nvCxnSpPr>
          <p:cNvPr id="5" name="Connector 4"/>
          <p:cNvCxnSpPr/>
          <p:nvPr/>
        </p:nvCxnSpPr>
        <p:spPr>
          <a:xfrm>
            <a:off x="4023360" y="2377440"/>
            <a:ext cx="1463040" cy="0"/>
          </a:xfrm>
          <a:prstGeom prst="line">
            <a:avLst/>
          </a:prstGeom>
          <a:ln w="2540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486400" y="1828800"/>
            <a:ext cx="3291840" cy="109728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Attacker's interface reconfigured
Spoofed MAC: BB:BB:BB:22:22:22
(the target's real MAC)</a:t>
            </a:r>
          </a:p>
        </p:txBody>
      </p:sp>
      <p:sp>
        <p:nvSpPr>
          <p:cNvPr id="7" name="TextBox 6"/>
          <p:cNvSpPr txBox="1"/>
          <p:nvPr/>
        </p:nvSpPr>
        <p:spPr>
          <a:xfrm>
            <a:off x="9052560" y="1783080"/>
            <a:ext cx="2468880" cy="1188720"/>
          </a:xfrm>
          <a:prstGeom prst="rect">
            <a:avLst/>
          </a:prstGeom>
          <a:noFill/>
        </p:spPr>
        <p:txBody>
          <a:bodyPr wrap="square" anchor="ctr">
            <a:spAutoFit/>
          </a:bodyPr>
          <a:lstStyle/>
          <a:p>
            <a:r>
              <a:rPr sz="1200" b="0" i="1">
                <a:solidFill>
                  <a:srgbClr val="6B7682"/>
                </a:solidFill>
                <a:latin typeface="Calibri"/>
              </a:rPr>
              <a:t>Network now treats the attacker as the trusted device</a:t>
            </a:r>
          </a:p>
        </p:txBody>
      </p:sp>
      <p:sp>
        <p:nvSpPr>
          <p:cNvPr id="8" name="TextBox 7"/>
          <p:cNvSpPr txBox="1"/>
          <p:nvPr/>
        </p:nvSpPr>
        <p:spPr>
          <a:xfrm>
            <a:off x="731520" y="3200400"/>
            <a:ext cx="10698480" cy="2834640"/>
          </a:xfrm>
          <a:prstGeom prst="rect">
            <a:avLst/>
          </a:prstGeom>
          <a:noFill/>
        </p:spPr>
        <p:txBody>
          <a:bodyPr wrap="square">
            <a:spAutoFit/>
          </a:bodyPr>
          <a:lstStyle/>
          <a:p>
            <a:pPr marL="201168" indent="-201168">
              <a:spcAft>
                <a:spcPts val="800"/>
              </a:spcAft>
              <a:buFont typeface="Arial"/>
              <a:buChar char="–"/>
            </a:pPr>
            <a:r>
              <a:rPr sz="1500" b="0" i="0">
                <a:solidFill>
                  <a:srgbClr val="222A33"/>
                </a:solidFill>
                <a:latin typeface="Calibri"/>
              </a:rPr>
              <a:t>Technique: the attacker identifies a target MAC address (e.g. by sniffing local traffic), then uses a simple OS command to reconfigure their own network interface to present that MAC instead of its real one. No special tools or deep protocol knowledge required.</a:t>
            </a:r>
          </a:p>
          <a:p>
            <a:pPr marL="201168" indent="-201168">
              <a:spcAft>
                <a:spcPts val="800"/>
              </a:spcAft>
              <a:buFont typeface="Arial"/>
              <a:buChar char="–"/>
            </a:pPr>
            <a:r>
              <a:rPr sz="1500" b="0" i="0">
                <a:solidFill>
                  <a:srgbClr val="222A33"/>
                </a:solidFill>
                <a:latin typeface="Calibri"/>
              </a:rPr>
              <a:t>Impact — bypassing controls: defeats MAC-filtered Wi-Fi/wired ports and MAC-based ACLs outright, since the attacker's traffic now carries an allowed address.</a:t>
            </a:r>
          </a:p>
          <a:p>
            <a:pPr marL="201168" indent="-201168">
              <a:spcAft>
                <a:spcPts val="800"/>
              </a:spcAft>
              <a:buFont typeface="Arial"/>
              <a:buChar char="–"/>
            </a:pPr>
            <a:r>
              <a:rPr sz="1500" b="0" i="0">
                <a:solidFill>
                  <a:srgbClr val="222A33"/>
                </a:solidFill>
                <a:latin typeface="Calibri"/>
              </a:rPr>
              <a:t>Impact — session hijacking: if the attacker spoofs an already-connected device's MAC, the resulting address conflict can be exploited to intercept or redirect that device's traffic.</a:t>
            </a:r>
          </a:p>
          <a:p>
            <a:pPr marL="201168" indent="-201168">
              <a:spcAft>
                <a:spcPts val="800"/>
              </a:spcAft>
              <a:buFont typeface="Arial"/>
              <a:buChar char="–"/>
            </a:pPr>
            <a:r>
              <a:rPr sz="1500" b="0" i="0">
                <a:solidFill>
                  <a:srgbClr val="222A33"/>
                </a:solidFill>
                <a:latin typeface="Calibri"/>
              </a:rPr>
              <a:t>Impact — evading attribution: logs and simple port-security checks show the legitimate device's MAC, not the attacker's own, making the activity harder to trace back.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MAC Address Spoofing: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MAC SPOOFING</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Port security with sticky MAC and a low violation threshold helps, but isn't a complete fix — an attacker who waits until the legitimate device disconnects, or spoofs during an idle window, can still get through.</a:t>
            </a:r>
          </a:p>
          <a:p>
            <a:pPr marL="201168" indent="-201168">
              <a:spcAft>
                <a:spcPts val="1200"/>
              </a:spcAft>
              <a:buFont typeface="Arial"/>
              <a:buChar char="–"/>
            </a:pPr>
            <a:r>
              <a:rPr sz="1700" b="0" i="0">
                <a:solidFill>
                  <a:srgbClr val="222A33"/>
                </a:solidFill>
                <a:latin typeface="Calibri"/>
              </a:rPr>
              <a:t>802.1X / centralised AAA authentication is the strongest fix: it ties network access to a verified user or device credential (e.g. a certificate or EAP method), not just a MAC address. Cloning a MAC alone is no longer enough to gain access.</a:t>
            </a:r>
          </a:p>
          <a:p>
            <a:pPr marL="201168" indent="-201168">
              <a:spcAft>
                <a:spcPts val="1200"/>
              </a:spcAft>
              <a:buFont typeface="Arial"/>
              <a:buChar char="–"/>
            </a:pPr>
            <a:r>
              <a:rPr sz="1700" b="0" i="0">
                <a:solidFill>
                  <a:srgbClr val="222A33"/>
                </a:solidFill>
                <a:latin typeface="Calibri"/>
              </a:rPr>
              <a:t>Monitoring for duplicate MAC addresses appearing on the network is a useful detective control — it flags exactly the anomaly a spoofing attack creates, even if it can't prevent the first attempt.</a:t>
            </a:r>
          </a:p>
          <a:p>
            <a:pPr marL="201168" indent="-201168">
              <a:spcAft>
                <a:spcPts val="1200"/>
              </a:spcAft>
              <a:buFont typeface="Arial"/>
              <a:buChar char="–"/>
            </a:pPr>
            <a:r>
              <a:rPr sz="1700" b="0" i="0">
                <a:solidFill>
                  <a:srgbClr val="222A33"/>
                </a:solidFill>
                <a:latin typeface="Calibri"/>
              </a:rPr>
              <a:t>The underlying lesson: relying on a MAC address alone as a trust signal is fundamentally fragile. This is exactly why centralised authentication (AAA, covered in full in Week 8) matters so much more than device-level filtering alone.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CAM Table Attack: Overview &amp; Vulnerability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CAM TABLE</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Overview: also called MAC flooding — the attacker overwhelms a switch's MAC address table so it can no longer forward frames intelligently.</a:t>
            </a:r>
          </a:p>
          <a:p>
            <a:pPr marL="201168" indent="-201168">
              <a:spcAft>
                <a:spcPts val="1200"/>
              </a:spcAft>
              <a:buFont typeface="Arial"/>
              <a:buChar char="–"/>
            </a:pPr>
            <a:r>
              <a:rPr sz="1700" b="0" i="0">
                <a:solidFill>
                  <a:srgbClr val="222A33"/>
                </a:solidFill>
                <a:latin typeface="Calibri"/>
              </a:rPr>
              <a:t>Vulnerability exploited: a switch's CAM (Content Addressable Memory) table has a fixed size, and switches are designed to ‘fail open’ when it's full — prioritising availability over confidentiality.</a:t>
            </a:r>
          </a:p>
          <a:p>
            <a:pPr marL="201168" indent="-201168">
              <a:spcAft>
                <a:spcPts val="1200"/>
              </a:spcAft>
              <a:buFont typeface="Arial"/>
              <a:buChar char="–"/>
            </a:pPr>
            <a:r>
              <a:rPr sz="1700" b="0" i="0">
                <a:solidFill>
                  <a:srgbClr val="222A33"/>
                </a:solidFill>
                <a:latin typeface="Calibri"/>
              </a:rPr>
              <a:t>This is a design trade-off, not a bug: recall from Week 1 that switches learn source MACs automatically and with no verification of who's really sending them.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CAM Table Attack: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CAM TABLE</a:t>
            </a:r>
          </a:p>
        </p:txBody>
      </p:sp>
      <p:sp>
        <p:nvSpPr>
          <p:cNvPr id="4" name="Rounded Rectangle 3"/>
          <p:cNvSpPr/>
          <p:nvPr/>
        </p:nvSpPr>
        <p:spPr>
          <a:xfrm>
            <a:off x="731520" y="1920240"/>
            <a:ext cx="2560320" cy="73152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Attacker</a:t>
            </a:r>
          </a:p>
        </p:txBody>
      </p:sp>
      <p:cxnSp>
        <p:nvCxnSpPr>
          <p:cNvPr id="5" name="Connector 4"/>
          <p:cNvCxnSpPr/>
          <p:nvPr/>
        </p:nvCxnSpPr>
        <p:spPr>
          <a:xfrm>
            <a:off x="3291840" y="2286000"/>
            <a:ext cx="1645920" cy="0"/>
          </a:xfrm>
          <a:prstGeom prst="line">
            <a:avLst/>
          </a:prstGeom>
          <a:ln w="2540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937760" y="1920240"/>
            <a:ext cx="2560320" cy="73152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Switch
(CAM table)</a:t>
            </a:r>
          </a:p>
        </p:txBody>
      </p:sp>
      <p:sp>
        <p:nvSpPr>
          <p:cNvPr id="7" name="TextBox 6"/>
          <p:cNvSpPr txBox="1"/>
          <p:nvPr/>
        </p:nvSpPr>
        <p:spPr>
          <a:xfrm>
            <a:off x="7680960" y="1828800"/>
            <a:ext cx="3749039" cy="914400"/>
          </a:xfrm>
          <a:prstGeom prst="rect">
            <a:avLst/>
          </a:prstGeom>
          <a:noFill/>
        </p:spPr>
        <p:txBody>
          <a:bodyPr wrap="square" anchor="ctr">
            <a:spAutoFit/>
          </a:bodyPr>
          <a:lstStyle/>
          <a:p>
            <a:r>
              <a:rPr sz="1300" b="0" i="1">
                <a:solidFill>
                  <a:srgbClr val="6B7682"/>
                </a:solidFill>
                <a:latin typeface="Calibri"/>
              </a:rPr>
              <a:t>Floods thousands of frames, each with a fake, unique source MAC</a:t>
            </a:r>
          </a:p>
        </p:txBody>
      </p:sp>
      <p:sp>
        <p:nvSpPr>
          <p:cNvPr id="8" name="TextBox 7"/>
          <p:cNvSpPr txBox="1"/>
          <p:nvPr/>
        </p:nvSpPr>
        <p:spPr>
          <a:xfrm>
            <a:off x="731520" y="3017520"/>
            <a:ext cx="10698480" cy="2926080"/>
          </a:xfrm>
          <a:prstGeom prst="rect">
            <a:avLst/>
          </a:prstGeom>
          <a:noFill/>
        </p:spPr>
        <p:txBody>
          <a:bodyPr wrap="square">
            <a:spAutoFit/>
          </a:bodyPr>
          <a:lstStyle/>
          <a:p>
            <a:pPr marL="201168" indent="-201168">
              <a:spcAft>
                <a:spcPts val="1000"/>
              </a:spcAft>
              <a:buFont typeface="Arial"/>
              <a:buChar char="–"/>
            </a:pPr>
            <a:r>
              <a:rPr sz="1600" b="0" i="0">
                <a:solidFill>
                  <a:srgbClr val="222A33"/>
                </a:solidFill>
                <a:latin typeface="Calibri"/>
              </a:rPr>
              <a:t>The attacker sends a huge number of frames, each with a different, fabricated source MAC address.</a:t>
            </a:r>
          </a:p>
          <a:p>
            <a:pPr marL="201168" indent="-201168">
              <a:spcAft>
                <a:spcPts val="1000"/>
              </a:spcAft>
              <a:buFont typeface="Arial"/>
              <a:buChar char="–"/>
            </a:pPr>
            <a:r>
              <a:rPr sz="1600" b="0" i="0">
                <a:solidFill>
                  <a:srgbClr val="222A33"/>
                </a:solidFill>
                <a:latin typeface="Calibri"/>
              </a:rPr>
              <a:t>The switch dutifully learns every one of them until the CAM table fills completely.</a:t>
            </a:r>
          </a:p>
          <a:p>
            <a:pPr marL="201168" indent="-201168">
              <a:spcAft>
                <a:spcPts val="1000"/>
              </a:spcAft>
              <a:buFont typeface="Arial"/>
              <a:buChar char="–"/>
            </a:pPr>
            <a:r>
              <a:rPr sz="1600" b="0" i="0">
                <a:solidFill>
                  <a:srgbClr val="222A33"/>
                </a:solidFill>
                <a:latin typeface="Calibri"/>
              </a:rPr>
              <a:t>Once full, the switch can no longer learn new legitimate MACs and — to keep forwarding traffic at all — starts flooding unknown-destination frames out every port, just like a hub.</a:t>
            </a:r>
          </a:p>
          <a:p>
            <a:pPr marL="201168" indent="-201168">
              <a:spcAft>
                <a:spcPts val="800"/>
              </a:spcAft>
              <a:buFont typeface="Arial"/>
              <a:buChar char="–"/>
            </a:pPr>
            <a:r>
              <a:rPr sz="1600" b="0" i="0">
                <a:solidFill>
                  <a:srgbClr val="222A33"/>
                </a:solidFill>
                <a:latin typeface="Calibri"/>
              </a:rPr>
              <a:t>The attacker, sitting on any port, now receives a copy of traffic never meant for them — a passive eavesdropping win with no need to intercept anything actively.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CAM Table Attack: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CAM TABLE</a:t>
            </a:r>
          </a:p>
        </p:txBody>
      </p:sp>
      <p:graphicFrame>
        <p:nvGraphicFramePr>
          <p:cNvPr id="4" name="Table 3"/>
          <p:cNvGraphicFramePr>
            <a:graphicFrameLocks noGrp="1"/>
          </p:cNvGraphicFramePr>
          <p:nvPr/>
        </p:nvGraphicFramePr>
        <p:xfrm>
          <a:off x="502920" y="1783080"/>
          <a:ext cx="11155680" cy="219456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731520">
                <a:tc>
                  <a:txBody>
                    <a:bodyPr/>
                    <a:lstStyle/>
                    <a:p>
                      <a:r>
                        <a:rPr sz="1300" b="1" i="0">
                          <a:solidFill>
                            <a:srgbClr val="FFFFFF"/>
                          </a:solidFill>
                          <a:latin typeface="Calibri"/>
                        </a:rPr>
                        <a:t>Technique</a:t>
                      </a:r>
                    </a:p>
                  </a:txBody>
                  <a:tcPr marL="73152" marR="73152" marT="27432" marB="27432" anchor="ctr">
                    <a:solidFill>
                      <a:srgbClr val="003054"/>
                    </a:solidFill>
                  </a:tcPr>
                </a:tc>
                <a:tc>
                  <a:txBody>
                    <a:bodyPr/>
                    <a:lstStyle/>
                    <a:p>
                      <a:r>
                        <a:rPr sz="1300" b="1" i="0">
                          <a:solidFill>
                            <a:srgbClr val="FFFFFF"/>
                          </a:solidFill>
                          <a:latin typeface="Calibri"/>
                        </a:rPr>
                        <a:t>How it helps</a:t>
                      </a:r>
                    </a:p>
                  </a:txBody>
                  <a:tcPr marL="73152" marR="73152" marT="27432" marB="27432" anchor="ctr">
                    <a:solidFill>
                      <a:srgbClr val="003054"/>
                    </a:solidFill>
                  </a:tcPr>
                </a:tc>
                <a:extLst>
                  <a:ext uri="{0D108BD9-81ED-4DB2-BD59-A6C34878D82A}">
                    <a16:rowId xmlns:a16="http://schemas.microsoft.com/office/drawing/2014/main" val="10000"/>
                  </a:ext>
                </a:extLst>
              </a:tr>
              <a:tr h="731520">
                <a:tc>
                  <a:txBody>
                    <a:bodyPr/>
                    <a:lstStyle/>
                    <a:p>
                      <a:r>
                        <a:rPr sz="1400" b="0" i="0">
                          <a:solidFill>
                            <a:srgbClr val="222A33"/>
                          </a:solidFill>
                          <a:latin typeface="Calibri"/>
                        </a:rPr>
                        <a:t>Port Security (simple)</a:t>
                      </a:r>
                    </a:p>
                  </a:txBody>
                  <a:tcPr marL="73152" marR="73152" marT="27432" marB="27432" anchor="ctr">
                    <a:solidFill>
                      <a:srgbClr val="FFFFFF"/>
                    </a:solidFill>
                  </a:tcPr>
                </a:tc>
                <a:tc>
                  <a:txBody>
                    <a:bodyPr/>
                    <a:lstStyle/>
                    <a:p>
                      <a:r>
                        <a:rPr sz="1400" b="0" i="0">
                          <a:solidFill>
                            <a:srgbClr val="222A33"/>
                          </a:solidFill>
                          <a:latin typeface="Calibri"/>
                        </a:rPr>
                        <a:t>Limit each access port to a maximum number of learned MAC addresses — e.g. 1–2 — stopping the flood before the table fills</a:t>
                      </a:r>
                    </a:p>
                  </a:txBody>
                  <a:tcPr marL="73152" marR="73152" marT="27432" marB="27432" anchor="ctr">
                    <a:solidFill>
                      <a:srgbClr val="FFFFFF"/>
                    </a:solidFill>
                  </a:tcPr>
                </a:tc>
                <a:extLst>
                  <a:ext uri="{0D108BD9-81ED-4DB2-BD59-A6C34878D82A}">
                    <a16:rowId xmlns:a16="http://schemas.microsoft.com/office/drawing/2014/main" val="10001"/>
                  </a:ext>
                </a:extLst>
              </a:tr>
              <a:tr h="731520">
                <a:tc>
                  <a:txBody>
                    <a:bodyPr/>
                    <a:lstStyle/>
                    <a:p>
                      <a:r>
                        <a:rPr sz="1400" b="0" i="0">
                          <a:solidFill>
                            <a:srgbClr val="222A33"/>
                          </a:solidFill>
                          <a:latin typeface="Calibri"/>
                        </a:rPr>
                        <a:t>Sticky MAC + violation action</a:t>
                      </a:r>
                    </a:p>
                  </a:txBody>
                  <a:tcPr marL="73152" marR="73152" marT="27432" marB="27432" anchor="ctr">
                    <a:solidFill>
                      <a:srgbClr val="F2F4F7"/>
                    </a:solidFill>
                  </a:tcPr>
                </a:tc>
                <a:tc>
                  <a:txBody>
                    <a:bodyPr/>
                    <a:lstStyle/>
                    <a:p>
                      <a:r>
                        <a:rPr sz="1400" b="0" i="0">
                          <a:solidFill>
                            <a:srgbClr val="222A33"/>
                          </a:solidFill>
                          <a:latin typeface="Calibri"/>
                        </a:rPr>
                        <a:t>Lock the first learned MAC(s) permanently; configure the port to shut down or restrict traffic on a violation</a:t>
                      </a:r>
                    </a:p>
                  </a:txBody>
                  <a:tcPr marL="73152" marR="73152" marT="27432" marB="27432" anchor="ctr">
                    <a:solidFill>
                      <a:srgbClr val="F2F4F7"/>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502920" y="4206240"/>
            <a:ext cx="11155680" cy="1645920"/>
          </a:xfrm>
          <a:prstGeom prst="rect">
            <a:avLst/>
          </a:prstGeom>
          <a:noFill/>
        </p:spPr>
        <p:txBody>
          <a:bodyPr wrap="square">
            <a:spAutoFit/>
          </a:bodyPr>
          <a:lstStyle/>
          <a:p>
            <a:pPr marL="201168" indent="-201168">
              <a:spcAft>
                <a:spcPts val="1000"/>
              </a:spcAft>
              <a:buFont typeface="Arial"/>
              <a:buChar char="–"/>
            </a:pPr>
            <a:r>
              <a:rPr sz="1600" b="0" i="0">
                <a:solidFill>
                  <a:srgbClr val="222A33"/>
                </a:solidFill>
                <a:latin typeface="Calibri"/>
              </a:rPr>
              <a:t>This is the exact configuration you'll apply in this week's lab — port security is a simple, low-cost control with a big payoff against this specific attack.</a:t>
            </a:r>
          </a:p>
          <a:p>
            <a:pPr marL="201168" indent="-201168">
              <a:spcAft>
                <a:spcPts val="800"/>
              </a:spcAft>
              <a:buFont typeface="Arial"/>
              <a:buChar char="–"/>
            </a:pPr>
            <a:r>
              <a:rPr sz="1600" b="0" i="0">
                <a:solidFill>
                  <a:srgbClr val="222A33"/>
                </a:solidFill>
                <a:latin typeface="Calibri"/>
              </a:rPr>
              <a:t>Port security doesn't address VLAN hopping, DHCP, or ARP attacks — it's one layer, not a complete Layer 2 defense on its own.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VLAN Hopping Attacks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Reaching traffic you were never meant to see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VLAN Hopping: Overview</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VLAN HOPPING</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Goal: send or receive traffic on a VLAN the attacker's port was never assigned to — bypassing the segmentation VLANs are meant to provide.</a:t>
            </a:r>
          </a:p>
          <a:p>
            <a:pPr marL="201168" indent="-201168">
              <a:spcAft>
                <a:spcPts val="1200"/>
              </a:spcAft>
              <a:buFont typeface="Arial"/>
              <a:buChar char="–"/>
            </a:pPr>
            <a:r>
              <a:rPr sz="1700" b="0" i="0">
                <a:solidFill>
                  <a:srgbClr val="222A33"/>
                </a:solidFill>
                <a:latin typeface="Calibri"/>
              </a:rPr>
              <a:t>Two distinct techniques achieve this: switch spoofing (abusing DTP) and double tagging (abusing native VLAN handling) — different vulnerability, different fix.</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Switch Spoofing: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VLAN HOPPING</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Vulnerability exploited: DTP will automatically negotiate a trunk if the port on the other end signals willingness to trunk — with no authentication of who's asking.</a:t>
            </a:r>
          </a:p>
          <a:p>
            <a:pPr marL="201168" indent="-201168">
              <a:spcAft>
                <a:spcPts val="1200"/>
              </a:spcAft>
              <a:buFont typeface="Arial"/>
              <a:buChar char="–"/>
            </a:pPr>
            <a:r>
              <a:rPr sz="1700" b="0" i="0">
                <a:solidFill>
                  <a:srgbClr val="222A33"/>
                </a:solidFill>
                <a:latin typeface="Calibri"/>
              </a:rPr>
              <a:t>Technique: the attacker's PC runs software that mimics a switch speaking DTP. If the access port they're connected to has DTP enabled (often the default), the switch obligingly turns that port into a trunk.</a:t>
            </a:r>
          </a:p>
          <a:p>
            <a:pPr marL="201168" indent="-201168">
              <a:spcAft>
                <a:spcPts val="1200"/>
              </a:spcAft>
              <a:buFont typeface="Arial"/>
              <a:buChar char="–"/>
            </a:pPr>
            <a:r>
              <a:rPr sz="1700" b="0" i="0">
                <a:solidFill>
                  <a:srgbClr val="222A33"/>
                </a:solidFill>
                <a:latin typeface="Calibri"/>
              </a:rPr>
              <a:t>Once trunked, the attacker's device receives tagged traffic for every VLAN carried on that trunk — not just the one it was originally assigned.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Double Tagging: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VLAN HOPPING</a:t>
            </a:r>
          </a:p>
        </p:txBody>
      </p:sp>
      <p:sp>
        <p:nvSpPr>
          <p:cNvPr id="4" name="Rounded Rectangle 3"/>
          <p:cNvSpPr/>
          <p:nvPr/>
        </p:nvSpPr>
        <p:spPr>
          <a:xfrm>
            <a:off x="731520" y="1874519"/>
            <a:ext cx="2377440" cy="82296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Outer Tag
(Native VLAN)</a:t>
            </a:r>
          </a:p>
        </p:txBody>
      </p:sp>
      <p:sp>
        <p:nvSpPr>
          <p:cNvPr id="5" name="Rounded Rectangle 4"/>
          <p:cNvSpPr/>
          <p:nvPr/>
        </p:nvSpPr>
        <p:spPr>
          <a:xfrm>
            <a:off x="3383280" y="1874519"/>
            <a:ext cx="2377440" cy="82296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Inner Tag
(Target VLAN)</a:t>
            </a:r>
          </a:p>
        </p:txBody>
      </p:sp>
      <p:sp>
        <p:nvSpPr>
          <p:cNvPr id="6" name="Rounded Rectangle 5"/>
          <p:cNvSpPr/>
          <p:nvPr/>
        </p:nvSpPr>
        <p:spPr>
          <a:xfrm>
            <a:off x="6035040" y="1874519"/>
            <a:ext cx="2377440" cy="8229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222A33"/>
                </a:solidFill>
                <a:latin typeface="Calibri"/>
              </a:rPr>
              <a:t>Payload</a:t>
            </a:r>
          </a:p>
        </p:txBody>
      </p:sp>
      <p:sp>
        <p:nvSpPr>
          <p:cNvPr id="7" name="TextBox 6"/>
          <p:cNvSpPr txBox="1"/>
          <p:nvPr/>
        </p:nvSpPr>
        <p:spPr>
          <a:xfrm>
            <a:off x="8503920" y="1874519"/>
            <a:ext cx="2926080" cy="822960"/>
          </a:xfrm>
          <a:prstGeom prst="rect">
            <a:avLst/>
          </a:prstGeom>
          <a:noFill/>
        </p:spPr>
        <p:txBody>
          <a:bodyPr wrap="square" anchor="ctr">
            <a:spAutoFit/>
          </a:bodyPr>
          <a:lstStyle/>
          <a:p>
            <a:r>
              <a:rPr sz="1200" b="0" i="1">
                <a:solidFill>
                  <a:srgbClr val="6B7682"/>
                </a:solidFill>
                <a:latin typeface="Calibri"/>
              </a:rPr>
              <a:t>Attacker crafts a frame with two 802.1Q tags</a:t>
            </a:r>
          </a:p>
        </p:txBody>
      </p:sp>
      <p:sp>
        <p:nvSpPr>
          <p:cNvPr id="8" name="TextBox 7"/>
          <p:cNvSpPr txBox="1"/>
          <p:nvPr/>
        </p:nvSpPr>
        <p:spPr>
          <a:xfrm>
            <a:off x="731520" y="2971800"/>
            <a:ext cx="10698480" cy="2926080"/>
          </a:xfrm>
          <a:prstGeom prst="rect">
            <a:avLst/>
          </a:prstGeom>
          <a:noFill/>
        </p:spPr>
        <p:txBody>
          <a:bodyPr wrap="square">
            <a:spAutoFit/>
          </a:bodyPr>
          <a:lstStyle/>
          <a:p>
            <a:pPr marL="201168" indent="-201168">
              <a:spcAft>
                <a:spcPts val="1000"/>
              </a:spcAft>
              <a:buFont typeface="Arial"/>
              <a:buChar char="–"/>
            </a:pPr>
            <a:r>
              <a:rPr sz="1600" b="0" i="0">
                <a:solidFill>
                  <a:srgbClr val="222A33"/>
                </a:solidFill>
                <a:latin typeface="Calibri"/>
              </a:rPr>
              <a:t>Vulnerability exploited: the native VLAN is sent untagged across a trunk — the first switch strips only the outer tag, assuming that's all there is.</a:t>
            </a:r>
          </a:p>
          <a:p>
            <a:pPr marL="201168" indent="-201168">
              <a:spcAft>
                <a:spcPts val="1000"/>
              </a:spcAft>
              <a:buFont typeface="Arial"/>
              <a:buChar char="–"/>
            </a:pPr>
            <a:r>
              <a:rPr sz="1600" b="0" i="0">
                <a:solidFill>
                  <a:srgbClr val="222A33"/>
                </a:solidFill>
                <a:latin typeface="Calibri"/>
              </a:rPr>
              <a:t>Technique: the attacker (on a port assigned to the native VLAN) crafts a frame with two stacked 802.1Q tags — an outer tag matching the native VLAN, and an inner tag for the target VLAN.</a:t>
            </a:r>
          </a:p>
          <a:p>
            <a:pPr marL="201168" indent="-201168">
              <a:spcAft>
                <a:spcPts val="1000"/>
              </a:spcAft>
              <a:buFont typeface="Arial"/>
              <a:buChar char="–"/>
            </a:pPr>
            <a:r>
              <a:rPr sz="1600" b="0" i="0">
                <a:solidFill>
                  <a:srgbClr val="222A33"/>
                </a:solidFill>
                <a:latin typeface="Calibri"/>
              </a:rPr>
              <a:t>The first switch strips the outer (native) tag and forwards the frame — still carrying the inner tag — onward. The next switch reads that inner tag and delivers the frame straight into the target VLAN.</a:t>
            </a:r>
          </a:p>
          <a:p>
            <a:pPr marL="201168" indent="-201168">
              <a:spcAft>
                <a:spcPts val="800"/>
              </a:spcAft>
              <a:buFont typeface="Arial"/>
              <a:buChar char="–"/>
            </a:pPr>
            <a:r>
              <a:rPr sz="1600" b="0" i="0">
                <a:solidFill>
                  <a:srgbClr val="222A33"/>
                </a:solidFill>
                <a:latin typeface="Calibri"/>
              </a:rPr>
              <a:t>This is a one-way attack (no reply path back the same way), but it's enough to inject traffic into a VLAN the attacker shouldn't reach — and it only works if the attacker's port sits on the native VLAN.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VLAN Hopping: Mitigation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VLAN HOPPING</a:t>
            </a:r>
          </a:p>
        </p:txBody>
      </p:sp>
      <p:graphicFrame>
        <p:nvGraphicFramePr>
          <p:cNvPr id="4" name="Table 3"/>
          <p:cNvGraphicFramePr>
            <a:graphicFrameLocks noGrp="1"/>
          </p:cNvGraphicFramePr>
          <p:nvPr/>
        </p:nvGraphicFramePr>
        <p:xfrm>
          <a:off x="502920" y="1783080"/>
          <a:ext cx="11155680" cy="2926080"/>
        </p:xfrm>
        <a:graphic>
          <a:graphicData uri="http://schemas.openxmlformats.org/drawingml/2006/table">
            <a:tbl>
              <a:tblPr firstRow="1" bandRow="1">
                <a:tableStyleId>{5C22544A-7EE6-4342-B048-85BDC9FD1C3A}</a:tableStyleId>
              </a:tblPr>
              <a:tblGrid>
                <a:gridCol w="512064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487680">
                <a:tc>
                  <a:txBody>
                    <a:bodyPr/>
                    <a:lstStyle/>
                    <a:p>
                      <a:r>
                        <a:rPr sz="1300" b="1" i="0">
                          <a:solidFill>
                            <a:srgbClr val="FFFFFF"/>
                          </a:solidFill>
                          <a:latin typeface="Calibri"/>
                        </a:rPr>
                        <a:t>Technique</a:t>
                      </a:r>
                    </a:p>
                  </a:txBody>
                  <a:tcPr marL="73152" marR="73152" marT="27432" marB="27432" anchor="ctr">
                    <a:solidFill>
                      <a:srgbClr val="003054"/>
                    </a:solidFill>
                  </a:tcPr>
                </a:tc>
                <a:tc>
                  <a:txBody>
                    <a:bodyPr/>
                    <a:lstStyle/>
                    <a:p>
                      <a:r>
                        <a:rPr sz="1300" b="1" i="0">
                          <a:solidFill>
                            <a:srgbClr val="FFFFFF"/>
                          </a:solidFill>
                          <a:latin typeface="Calibri"/>
                        </a:rPr>
                        <a:t>Addresses</a:t>
                      </a:r>
                    </a:p>
                  </a:txBody>
                  <a:tcPr marL="73152" marR="73152" marT="27432" marB="27432" anchor="ctr">
                    <a:solidFill>
                      <a:srgbClr val="003054"/>
                    </a:solidFill>
                  </a:tcPr>
                </a:tc>
                <a:extLst>
                  <a:ext uri="{0D108BD9-81ED-4DB2-BD59-A6C34878D82A}">
                    <a16:rowId xmlns:a16="http://schemas.microsoft.com/office/drawing/2014/main" val="10000"/>
                  </a:ext>
                </a:extLst>
              </a:tr>
              <a:tr h="487680">
                <a:tc>
                  <a:txBody>
                    <a:bodyPr/>
                    <a:lstStyle/>
                    <a:p>
                      <a:r>
                        <a:rPr sz="1300" b="0" i="0">
                          <a:solidFill>
                            <a:srgbClr val="222A33"/>
                          </a:solidFill>
                          <a:latin typeface="Calibri"/>
                        </a:rPr>
                        <a:t>Disable DTP (switchport nonegotiate)</a:t>
                      </a:r>
                    </a:p>
                  </a:txBody>
                  <a:tcPr marL="73152" marR="73152" marT="27432" marB="27432" anchor="ctr">
                    <a:solidFill>
                      <a:srgbClr val="FFFFFF"/>
                    </a:solidFill>
                  </a:tcPr>
                </a:tc>
                <a:tc>
                  <a:txBody>
                    <a:bodyPr/>
                    <a:lstStyle/>
                    <a:p>
                      <a:r>
                        <a:rPr sz="1300" b="0" i="0">
                          <a:solidFill>
                            <a:srgbClr val="222A33"/>
                          </a:solidFill>
                          <a:latin typeface="Calibri"/>
                        </a:rPr>
                        <a:t>Switch spoofing — stops ports from ever auto-negotiating into a trunk</a:t>
                      </a:r>
                    </a:p>
                  </a:txBody>
                  <a:tcPr marL="73152" marR="73152" marT="27432" marB="27432" anchor="ctr">
                    <a:solidFill>
                      <a:srgbClr val="FFFFFF"/>
                    </a:solidFill>
                  </a:tcPr>
                </a:tc>
                <a:extLst>
                  <a:ext uri="{0D108BD9-81ED-4DB2-BD59-A6C34878D82A}">
                    <a16:rowId xmlns:a16="http://schemas.microsoft.com/office/drawing/2014/main" val="10001"/>
                  </a:ext>
                </a:extLst>
              </a:tr>
              <a:tr h="487680">
                <a:tc>
                  <a:txBody>
                    <a:bodyPr/>
                    <a:lstStyle/>
                    <a:p>
                      <a:r>
                        <a:rPr sz="1300" b="0" i="0">
                          <a:solidFill>
                            <a:srgbClr val="222A33"/>
                          </a:solidFill>
                          <a:latin typeface="Calibri"/>
                        </a:rPr>
                        <a:t>Manually configure trunk/access mode explicitly</a:t>
                      </a:r>
                    </a:p>
                  </a:txBody>
                  <a:tcPr marL="73152" marR="73152" marT="27432" marB="27432" anchor="ctr">
                    <a:solidFill>
                      <a:srgbClr val="F2F4F7"/>
                    </a:solidFill>
                  </a:tcPr>
                </a:tc>
                <a:tc>
                  <a:txBody>
                    <a:bodyPr/>
                    <a:lstStyle/>
                    <a:p>
                      <a:r>
                        <a:rPr sz="1300" b="0" i="0">
                          <a:solidFill>
                            <a:srgbClr val="222A33"/>
                          </a:solidFill>
                          <a:latin typeface="Calibri"/>
                        </a:rPr>
                        <a:t>Switch spoofing — removes ambiguity DTP would otherwise resolve automatically</a:t>
                      </a:r>
                    </a:p>
                  </a:txBody>
                  <a:tcPr marL="73152" marR="73152" marT="27432" marB="27432" anchor="ctr">
                    <a:solidFill>
                      <a:srgbClr val="F2F4F7"/>
                    </a:solidFill>
                  </a:tcPr>
                </a:tc>
                <a:extLst>
                  <a:ext uri="{0D108BD9-81ED-4DB2-BD59-A6C34878D82A}">
                    <a16:rowId xmlns:a16="http://schemas.microsoft.com/office/drawing/2014/main" val="10002"/>
                  </a:ext>
                </a:extLst>
              </a:tr>
              <a:tr h="487680">
                <a:tc>
                  <a:txBody>
                    <a:bodyPr/>
                    <a:lstStyle/>
                    <a:p>
                      <a:r>
                        <a:rPr sz="1300" b="0" i="0">
                          <a:solidFill>
                            <a:srgbClr val="222A33"/>
                          </a:solidFill>
                          <a:latin typeface="Calibri"/>
                        </a:rPr>
                        <a:t>Change the native VLAN off VLAN 1, to an unused VLAN</a:t>
                      </a:r>
                    </a:p>
                  </a:txBody>
                  <a:tcPr marL="73152" marR="73152" marT="27432" marB="27432" anchor="ctr">
                    <a:solidFill>
                      <a:srgbClr val="FFFFFF"/>
                    </a:solidFill>
                  </a:tcPr>
                </a:tc>
                <a:tc>
                  <a:txBody>
                    <a:bodyPr/>
                    <a:lstStyle/>
                    <a:p>
                      <a:r>
                        <a:rPr sz="1300" b="0" i="0">
                          <a:solidFill>
                            <a:srgbClr val="222A33"/>
                          </a:solidFill>
                          <a:latin typeface="Calibri"/>
                        </a:rPr>
                        <a:t>Double tagging — attacker's access port is no longer on the native VLAN by default</a:t>
                      </a:r>
                    </a:p>
                  </a:txBody>
                  <a:tcPr marL="73152" marR="73152" marT="27432" marB="27432" anchor="ctr">
                    <a:solidFill>
                      <a:srgbClr val="FFFFFF"/>
                    </a:solidFill>
                  </a:tcPr>
                </a:tc>
                <a:extLst>
                  <a:ext uri="{0D108BD9-81ED-4DB2-BD59-A6C34878D82A}">
                    <a16:rowId xmlns:a16="http://schemas.microsoft.com/office/drawing/2014/main" val="10003"/>
                  </a:ext>
                </a:extLst>
              </a:tr>
              <a:tr h="487680">
                <a:tc>
                  <a:txBody>
                    <a:bodyPr/>
                    <a:lstStyle/>
                    <a:p>
                      <a:r>
                        <a:rPr sz="1300" b="0" i="0">
                          <a:solidFill>
                            <a:srgbClr val="222A33"/>
                          </a:solidFill>
                          <a:latin typeface="Calibri"/>
                        </a:rPr>
                        <a:t>Explicitly tag the native VLAN on trunks (where supported)</a:t>
                      </a:r>
                    </a:p>
                  </a:txBody>
                  <a:tcPr marL="73152" marR="73152" marT="27432" marB="27432" anchor="ctr">
                    <a:solidFill>
                      <a:srgbClr val="F2F4F7"/>
                    </a:solidFill>
                  </a:tcPr>
                </a:tc>
                <a:tc>
                  <a:txBody>
                    <a:bodyPr/>
                    <a:lstStyle/>
                    <a:p>
                      <a:r>
                        <a:rPr sz="1300" b="0" i="0">
                          <a:solidFill>
                            <a:srgbClr val="222A33"/>
                          </a:solidFill>
                          <a:latin typeface="Calibri"/>
                        </a:rPr>
                        <a:t>Double tagging — removes the untagged exception the attack depends on</a:t>
                      </a:r>
                    </a:p>
                  </a:txBody>
                  <a:tcPr marL="73152" marR="73152" marT="27432" marB="27432" anchor="ctr">
                    <a:solidFill>
                      <a:srgbClr val="F2F4F7"/>
                    </a:solidFill>
                  </a:tcPr>
                </a:tc>
                <a:extLst>
                  <a:ext uri="{0D108BD9-81ED-4DB2-BD59-A6C34878D82A}">
                    <a16:rowId xmlns:a16="http://schemas.microsoft.com/office/drawing/2014/main" val="10004"/>
                  </a:ext>
                </a:extLst>
              </a:tr>
              <a:tr h="487680">
                <a:tc>
                  <a:txBody>
                    <a:bodyPr/>
                    <a:lstStyle/>
                    <a:p>
                      <a:r>
                        <a:rPr sz="1300" b="0" i="0">
                          <a:solidFill>
                            <a:srgbClr val="222A33"/>
                          </a:solidFill>
                          <a:latin typeface="Calibri"/>
                        </a:rPr>
                        <a:t>Shut down / move unused ports to an unused VLAN</a:t>
                      </a:r>
                    </a:p>
                  </a:txBody>
                  <a:tcPr marL="73152" marR="73152" marT="27432" marB="27432" anchor="ctr">
                    <a:solidFill>
                      <a:srgbClr val="FFFFFF"/>
                    </a:solidFill>
                  </a:tcPr>
                </a:tc>
                <a:tc>
                  <a:txBody>
                    <a:bodyPr/>
                    <a:lstStyle/>
                    <a:p>
                      <a:r>
                        <a:rPr sz="1300" b="0" i="0">
                          <a:solidFill>
                            <a:srgbClr val="222A33"/>
                          </a:solidFill>
                          <a:latin typeface="Calibri"/>
                        </a:rPr>
                        <a:t>Both — reduces the number of ports an attacker could exploit at all</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DHCP-Based Attacks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Starvation and spoofing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DHCP Recap: Why It's Vulnerable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DHCP ATTACKS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Recall the DORA process from Week 1: Discover → Offer → Request → Acknowledge.</a:t>
            </a:r>
          </a:p>
          <a:p>
            <a:pPr marL="201168" indent="-201168">
              <a:spcAft>
                <a:spcPts val="1200"/>
              </a:spcAft>
              <a:buFont typeface="Arial"/>
              <a:buChar char="–"/>
            </a:pPr>
            <a:r>
              <a:rPr sz="1700" b="0" i="0">
                <a:solidFill>
                  <a:srgbClr val="222A33"/>
                </a:solidFill>
                <a:latin typeface="Calibri"/>
              </a:rPr>
              <a:t>DHCP has no built-in authentication at any of those four steps — a server doesn't prove it's authorised to answer, and a client doesn't prove who it is.</a:t>
            </a:r>
          </a:p>
          <a:p>
            <a:pPr marL="201168" indent="-201168">
              <a:spcAft>
                <a:spcPts val="1200"/>
              </a:spcAft>
              <a:buFont typeface="Arial"/>
              <a:buChar char="–"/>
            </a:pPr>
            <a:r>
              <a:rPr sz="1700" b="0" i="0">
                <a:solidFill>
                  <a:srgbClr val="222A33"/>
                </a:solidFill>
                <a:latin typeface="Calibri"/>
              </a:rPr>
              <a:t>That single gap is enough to enable two distinct attacks: exhausting the legitimate server's pool (starvation), and impersonating the server entirely (spoofing).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DHCP Starvation: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DHCP ATTACKS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Vulnerability exploited: a DHCP server has no way to tell that many different DHCP Discover messages, each with a different spoofed source MAC, are really all coming from one attacker.</a:t>
            </a:r>
          </a:p>
          <a:p>
            <a:pPr marL="201168" indent="-201168">
              <a:spcAft>
                <a:spcPts val="1200"/>
              </a:spcAft>
              <a:buFont typeface="Arial"/>
              <a:buChar char="–"/>
            </a:pPr>
            <a:r>
              <a:rPr sz="1700" b="0" i="0">
                <a:solidFill>
                  <a:srgbClr val="222A33"/>
                </a:solidFill>
                <a:latin typeface="Calibri"/>
              </a:rPr>
              <a:t>Technique: the attacker floods the network with DHCP Discover requests using a different fabricated MAC address each time.</a:t>
            </a:r>
          </a:p>
          <a:p>
            <a:pPr marL="201168" indent="-201168">
              <a:spcAft>
                <a:spcPts val="1200"/>
              </a:spcAft>
              <a:buFont typeface="Arial"/>
              <a:buChar char="–"/>
            </a:pPr>
            <a:r>
              <a:rPr sz="1700" b="0" i="0">
                <a:solidFill>
                  <a:srgbClr val="222A33"/>
                </a:solidFill>
                <a:latin typeface="Calibri"/>
              </a:rPr>
              <a:t>The legitimate server, doing exactly what it's designed to do, leases out an address for each request — until its entire address pool is exhausted.</a:t>
            </a:r>
          </a:p>
          <a:p>
            <a:pPr marL="201168" indent="-201168">
              <a:spcAft>
                <a:spcPts val="1200"/>
              </a:spcAft>
              <a:buFont typeface="Arial"/>
              <a:buChar char="–"/>
            </a:pPr>
            <a:r>
              <a:rPr sz="1700" b="0" i="0">
                <a:solidFill>
                  <a:srgbClr val="222A33"/>
                </a:solidFill>
                <a:latin typeface="Calibri"/>
              </a:rPr>
              <a:t>Result: legitimate new clients can no longer get an IP address at all — this is fundamentally a Denial of Service on the addressing system itself.</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DHCP Spoofing: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DHCP ATTACKS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Vulnerability exploited: a client accepts a DHCP Offer from whichever server replies first — it has no way to check the offer came from the authorised server.</a:t>
            </a:r>
          </a:p>
          <a:p>
            <a:pPr marL="201168" indent="-201168">
              <a:spcAft>
                <a:spcPts val="1200"/>
              </a:spcAft>
              <a:buFont typeface="Arial"/>
              <a:buChar char="–"/>
            </a:pPr>
            <a:r>
              <a:rPr sz="1700" b="0" i="0">
                <a:solidFill>
                  <a:srgbClr val="222A33"/>
                </a:solidFill>
                <a:latin typeface="Calibri"/>
              </a:rPr>
              <a:t>Technique: the attacker runs their own rogue DHCP server. If it answers a client's Discover before the real server does, the client accepts the rogue offer instead.</a:t>
            </a:r>
          </a:p>
          <a:p>
            <a:pPr marL="201168" indent="-201168">
              <a:spcAft>
                <a:spcPts val="1200"/>
              </a:spcAft>
              <a:buFont typeface="Arial"/>
              <a:buChar char="–"/>
            </a:pPr>
            <a:r>
              <a:rPr sz="1700" b="0" i="0">
                <a:solidFill>
                  <a:srgbClr val="222A33"/>
                </a:solidFill>
                <a:latin typeface="Calibri"/>
              </a:rPr>
              <a:t>The rogue server hands out a normal-looking IP address — but with the attacker's own machine set as the default gateway and/or DNS server.</a:t>
            </a:r>
          </a:p>
          <a:p>
            <a:pPr marL="201168" indent="-201168">
              <a:spcAft>
                <a:spcPts val="1200"/>
              </a:spcAft>
              <a:buFont typeface="Arial"/>
              <a:buChar char="–"/>
            </a:pPr>
            <a:r>
              <a:rPr sz="1700" b="0" i="0">
                <a:solidFill>
                  <a:srgbClr val="222A33"/>
                </a:solidFill>
                <a:latin typeface="Calibri"/>
              </a:rPr>
              <a:t>Result: the victim's traffic is silently routed through the attacker — a man-in-the-middle position, often paired with starvation to make sure the rogue server wins the race (recall this was previewed as a security concern back in Week 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DHCP Attacks: Mitigation — DHCP Snooping</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DHCP ATTACKS</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DHCP Snooping classifies switch ports as trusted (uplinks toward the real DHCP server) or untrusted (access ports where end users/clients connect).</a:t>
            </a:r>
          </a:p>
          <a:p>
            <a:pPr marL="201168" indent="-201168">
              <a:spcAft>
                <a:spcPts val="1200"/>
              </a:spcAft>
              <a:buFont typeface="Arial"/>
              <a:buChar char="–"/>
            </a:pPr>
            <a:r>
              <a:rPr sz="1700" b="0" i="0">
                <a:solidFill>
                  <a:srgbClr val="222A33"/>
                </a:solidFill>
                <a:latin typeface="Calibri"/>
              </a:rPr>
              <a:t>DHCP server responses (Offer, Acknowledge) are only permitted from trusted ports — a rogue server plugged into an untrusted access port has its replies silently dropped, directly stopping DHCP spoofing.</a:t>
            </a:r>
          </a:p>
          <a:p>
            <a:pPr marL="201168" indent="-201168">
              <a:spcAft>
                <a:spcPts val="1200"/>
              </a:spcAft>
              <a:buFont typeface="Arial"/>
              <a:buChar char="–"/>
            </a:pPr>
            <a:r>
              <a:rPr sz="1700" b="0" i="0">
                <a:solidFill>
                  <a:srgbClr val="222A33"/>
                </a:solidFill>
                <a:latin typeface="Calibri"/>
              </a:rPr>
              <a:t>The switch also builds a binding table (MAC ↔ IP ↔ VLAN ↔ port) from legitimate DHCP transactions — this becomes the trust source for Dynamic ARP Inspection shortly.</a:t>
            </a:r>
          </a:p>
          <a:p>
            <a:pPr marL="201168" indent="-201168">
              <a:spcAft>
                <a:spcPts val="1200"/>
              </a:spcAft>
              <a:buFont typeface="Arial"/>
              <a:buChar char="–"/>
            </a:pPr>
            <a:r>
              <a:rPr sz="1700" b="0" i="0">
                <a:solidFill>
                  <a:srgbClr val="222A33"/>
                </a:solidFill>
                <a:latin typeface="Calibri"/>
              </a:rPr>
              <a:t>Rate-limiting DHCP messages per port helps blunt starvation attempts by capping how fast one port can generate Discover floods.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BDB45-50F8-C9F1-2550-A211484FB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8B87D-3428-CF19-07BF-51673C63F23C}"/>
              </a:ext>
            </a:extLst>
          </p:cNvPr>
          <p:cNvSpPr>
            <a:spLocks noGrp="1"/>
          </p:cNvSpPr>
          <p:nvPr>
            <p:ph type="title"/>
          </p:nvPr>
        </p:nvSpPr>
        <p:spPr/>
        <p:txBody>
          <a:bodyPr anchor="b"/>
          <a:lstStyle/>
          <a:p>
            <a:r>
              <a:rPr sz="2600" b="1" i="0" dirty="0">
                <a:solidFill>
                  <a:srgbClr val="FFFFFF"/>
                </a:solidFill>
                <a:latin typeface="Cambria"/>
              </a:rPr>
              <a:t>DHCP Snooping</a:t>
            </a:r>
            <a:r>
              <a:rPr lang="en-US" sz="2600" b="1" i="0" dirty="0">
                <a:solidFill>
                  <a:srgbClr val="FFFFFF"/>
                </a:solidFill>
                <a:latin typeface="Cambria"/>
              </a:rPr>
              <a:t>: Configuration</a:t>
            </a:r>
            <a:endParaRPr sz="2600" b="1" i="0" dirty="0">
              <a:solidFill>
                <a:srgbClr val="FFFFFF"/>
              </a:solidFill>
              <a:latin typeface="Cambria"/>
            </a:endParaRPr>
          </a:p>
        </p:txBody>
      </p:sp>
      <p:sp>
        <p:nvSpPr>
          <p:cNvPr id="3" name="TextBox 2">
            <a:extLst>
              <a:ext uri="{FF2B5EF4-FFF2-40B4-BE49-F238E27FC236}">
                <a16:creationId xmlns:a16="http://schemas.microsoft.com/office/drawing/2014/main" id="{96A6422E-26B2-D38C-C78B-805AA63324D8}"/>
              </a:ext>
            </a:extLst>
          </p:cNvPr>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DHCP ATTACKS</a:t>
            </a:r>
          </a:p>
        </p:txBody>
      </p:sp>
      <p:pic>
        <p:nvPicPr>
          <p:cNvPr id="5" name="Picture 4">
            <a:extLst>
              <a:ext uri="{FF2B5EF4-FFF2-40B4-BE49-F238E27FC236}">
                <a16:creationId xmlns:a16="http://schemas.microsoft.com/office/drawing/2014/main" id="{D074CA82-F31B-4C0D-BC22-E86BA8B3EC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1123" y="1783830"/>
            <a:ext cx="4789753" cy="43544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72969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ARP Spoofing</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The classic man-in-the-middle setup</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ARP Spoofing: Vulnerability &amp; Technique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ARP SPOOFING</a:t>
            </a:r>
          </a:p>
        </p:txBody>
      </p:sp>
      <p:sp>
        <p:nvSpPr>
          <p:cNvPr id="4" name="Rounded Rectangle 3"/>
          <p:cNvSpPr/>
          <p:nvPr/>
        </p:nvSpPr>
        <p:spPr>
          <a:xfrm>
            <a:off x="731520" y="1828800"/>
            <a:ext cx="2377440" cy="64008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Victim A</a:t>
            </a:r>
          </a:p>
        </p:txBody>
      </p:sp>
      <p:sp>
        <p:nvSpPr>
          <p:cNvPr id="5" name="Rounded Rectangle 4"/>
          <p:cNvSpPr/>
          <p:nvPr/>
        </p:nvSpPr>
        <p:spPr>
          <a:xfrm>
            <a:off x="9052560" y="1828800"/>
            <a:ext cx="2377440" cy="64008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Victim B</a:t>
            </a:r>
          </a:p>
        </p:txBody>
      </p:sp>
      <p:sp>
        <p:nvSpPr>
          <p:cNvPr id="6" name="Rounded Rectangle 5"/>
          <p:cNvSpPr/>
          <p:nvPr/>
        </p:nvSpPr>
        <p:spPr>
          <a:xfrm>
            <a:off x="4892040" y="2743200"/>
            <a:ext cx="2377440" cy="64008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Attacker</a:t>
            </a:r>
          </a:p>
        </p:txBody>
      </p:sp>
      <p:cxnSp>
        <p:nvCxnSpPr>
          <p:cNvPr id="7" name="Connector 6"/>
          <p:cNvCxnSpPr/>
          <p:nvPr/>
        </p:nvCxnSpPr>
        <p:spPr>
          <a:xfrm flipH="1" flipV="1">
            <a:off x="3291840" y="2148840"/>
            <a:ext cx="2194560" cy="594360"/>
          </a:xfrm>
          <a:prstGeom prst="line">
            <a:avLst/>
          </a:prstGeom>
          <a:ln w="1905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7315200" y="2148840"/>
            <a:ext cx="1737360" cy="594360"/>
          </a:xfrm>
          <a:prstGeom prst="line">
            <a:avLst/>
          </a:prstGeom>
          <a:ln w="19050">
            <a:solidFill>
              <a:srgbClr val="0030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2606040"/>
            <a:ext cx="4023360" cy="731520"/>
          </a:xfrm>
          <a:prstGeom prst="rect">
            <a:avLst/>
          </a:prstGeom>
          <a:noFill/>
        </p:spPr>
        <p:txBody>
          <a:bodyPr wrap="square">
            <a:spAutoFit/>
          </a:bodyPr>
          <a:lstStyle/>
          <a:p>
            <a:r>
              <a:rPr sz="1200" b="0" i="1">
                <a:solidFill>
                  <a:srgbClr val="6B7682"/>
                </a:solidFill>
                <a:latin typeface="Calibri"/>
              </a:rPr>
              <a:t>Forged ARP replies redirect both victims' traffic through the attacker</a:t>
            </a:r>
          </a:p>
        </p:txBody>
      </p:sp>
      <p:sp>
        <p:nvSpPr>
          <p:cNvPr id="10" name="TextBox 9"/>
          <p:cNvSpPr txBox="1"/>
          <p:nvPr/>
        </p:nvSpPr>
        <p:spPr>
          <a:xfrm>
            <a:off x="731520" y="3657600"/>
            <a:ext cx="10698480" cy="2377440"/>
          </a:xfrm>
          <a:prstGeom prst="rect">
            <a:avLst/>
          </a:prstGeom>
          <a:noFill/>
        </p:spPr>
        <p:txBody>
          <a:bodyPr wrap="square">
            <a:spAutoFit/>
          </a:bodyPr>
          <a:lstStyle/>
          <a:p>
            <a:pPr marL="201168" indent="-201168">
              <a:spcAft>
                <a:spcPts val="1000"/>
              </a:spcAft>
              <a:buFont typeface="Arial"/>
              <a:buChar char="–"/>
            </a:pPr>
            <a:r>
              <a:rPr sz="1600" b="0" i="0">
                <a:solidFill>
                  <a:srgbClr val="222A33"/>
                </a:solidFill>
                <a:latin typeface="Calibri"/>
              </a:rPr>
              <a:t>Vulnerability exploited: hosts accept unsolicited ARP replies and update their ARP cache without verifying the reply was ever requested.</a:t>
            </a:r>
          </a:p>
          <a:p>
            <a:pPr marL="201168" indent="-201168">
              <a:spcAft>
                <a:spcPts val="1000"/>
              </a:spcAft>
              <a:buFont typeface="Arial"/>
              <a:buChar char="–"/>
            </a:pPr>
            <a:r>
              <a:rPr sz="1600" b="0" i="0">
                <a:solidFill>
                  <a:srgbClr val="222A33"/>
                </a:solidFill>
                <a:latin typeface="Calibri"/>
              </a:rPr>
              <a:t>Technique: the attacker sends forged (gratuitous) ARP replies to two victims, each telling them the attacker's MAC address belongs to the other victim's IP.</a:t>
            </a:r>
          </a:p>
          <a:p>
            <a:pPr marL="201168" indent="-201168">
              <a:spcAft>
                <a:spcPts val="800"/>
              </a:spcAft>
              <a:buFont typeface="Arial"/>
              <a:buChar char="–"/>
            </a:pPr>
            <a:r>
              <a:rPr sz="1600" b="0" i="0">
                <a:solidFill>
                  <a:srgbClr val="222A33"/>
                </a:solidFill>
                <a:latin typeface="Calibri"/>
              </a:rPr>
              <a:t>Both victims now send traffic intended for each other straight to the attacker instead — who can read it, alter it, or simply forward it on so neither victim notices.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ARP Spoofing: Mitigation — Dynamic ARP Inspection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ARP SPOOFING</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Dynamic ARP Inspection (DAI) checks every ARP packet on untrusted ports against the DHCP snooping binding table built earlier — this is why DHCP snooping is typically configured first.</a:t>
            </a:r>
          </a:p>
          <a:p>
            <a:pPr marL="201168" indent="-201168">
              <a:spcAft>
                <a:spcPts val="1200"/>
              </a:spcAft>
              <a:buFont typeface="Arial"/>
              <a:buChar char="–"/>
            </a:pPr>
            <a:r>
              <a:rPr sz="1700" b="0" i="0">
                <a:solidFill>
                  <a:srgbClr val="222A33"/>
                </a:solidFill>
                <a:latin typeface="Calibri"/>
              </a:rPr>
              <a:t>If an ARP reply's claimed IP-to-MAC mapping doesn't match what the binding table says that device was actually leased, the switch drops the packet before it ever reaches its target.</a:t>
            </a:r>
          </a:p>
          <a:p>
            <a:pPr marL="201168" indent="-201168">
              <a:spcAft>
                <a:spcPts val="1200"/>
              </a:spcAft>
              <a:buFont typeface="Arial"/>
              <a:buChar char="–"/>
            </a:pPr>
            <a:r>
              <a:rPr sz="1700" b="0" i="0">
                <a:solidFill>
                  <a:srgbClr val="222A33"/>
                </a:solidFill>
                <a:latin typeface="Calibri"/>
              </a:rPr>
              <a:t>This directly stops ARP spoofing without needing every host to run its own protection — the enforcement happens at the switch.</a:t>
            </a:r>
          </a:p>
          <a:p>
            <a:pPr marL="201168" indent="-201168">
              <a:spcAft>
                <a:spcPts val="1200"/>
              </a:spcAft>
              <a:buFont typeface="Arial"/>
              <a:buChar char="–"/>
            </a:pPr>
            <a:r>
              <a:rPr sz="1700" b="0" i="0">
                <a:solidFill>
                  <a:srgbClr val="222A33"/>
                </a:solidFill>
                <a:latin typeface="Calibri"/>
              </a:rPr>
              <a:t>Together, DHCP Snooping + DAI is a clean example of layered defense: one control (snooping) builds the trusted data another control (DAI) depends 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C7CA3-2C1D-5DF0-5EB6-675DCF0A39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E6C915-8A1A-933A-FCB8-3CE6FC0A8F7F}"/>
              </a:ext>
            </a:extLst>
          </p:cNvPr>
          <p:cNvSpPr>
            <a:spLocks noGrp="1"/>
          </p:cNvSpPr>
          <p:nvPr>
            <p:ph type="title"/>
          </p:nvPr>
        </p:nvSpPr>
        <p:spPr/>
        <p:txBody>
          <a:bodyPr anchor="b"/>
          <a:lstStyle/>
          <a:p>
            <a:r>
              <a:rPr sz="2600" b="1" i="0" dirty="0">
                <a:solidFill>
                  <a:srgbClr val="FFFFFF"/>
                </a:solidFill>
                <a:latin typeface="Cambria"/>
              </a:rPr>
              <a:t>Dynamic ARP Inspection</a:t>
            </a:r>
            <a:r>
              <a:rPr lang="en-US" sz="2600" b="1" i="0" dirty="0">
                <a:solidFill>
                  <a:srgbClr val="FFFFFF"/>
                </a:solidFill>
                <a:latin typeface="Cambria"/>
              </a:rPr>
              <a:t>: Configuration</a:t>
            </a:r>
            <a:endParaRPr sz="2600" b="1" i="0" dirty="0">
              <a:solidFill>
                <a:srgbClr val="FFFFFF"/>
              </a:solidFill>
              <a:latin typeface="Cambria"/>
            </a:endParaRPr>
          </a:p>
        </p:txBody>
      </p:sp>
      <p:sp>
        <p:nvSpPr>
          <p:cNvPr id="3" name="TextBox 2">
            <a:extLst>
              <a:ext uri="{FF2B5EF4-FFF2-40B4-BE49-F238E27FC236}">
                <a16:creationId xmlns:a16="http://schemas.microsoft.com/office/drawing/2014/main" id="{5E520091-6B33-89C9-9FE1-ED8DF7276C1A}"/>
              </a:ext>
            </a:extLst>
          </p:cNvPr>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ARP SPOOFING</a:t>
            </a:r>
          </a:p>
        </p:txBody>
      </p:sp>
      <p:pic>
        <p:nvPicPr>
          <p:cNvPr id="5" name="Picture 4">
            <a:extLst>
              <a:ext uri="{FF2B5EF4-FFF2-40B4-BE49-F238E27FC236}">
                <a16:creationId xmlns:a16="http://schemas.microsoft.com/office/drawing/2014/main" id="{5F32785E-BE2A-487E-994D-EE7934DC4F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6448" y="1828800"/>
            <a:ext cx="5219103" cy="42968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787705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Multi-Function Attacks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Why the same technique can serve more than one goal</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Attacks with Multiple Outcomes (1/2)</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MULTI-FUNCTION ATTACKS</a:t>
            </a:r>
          </a:p>
        </p:txBody>
      </p:sp>
      <p:graphicFrame>
        <p:nvGraphicFramePr>
          <p:cNvPr id="4" name="Table 3"/>
          <p:cNvGraphicFramePr>
            <a:graphicFrameLocks noGrp="1"/>
          </p:cNvGraphicFramePr>
          <p:nvPr/>
        </p:nvGraphicFramePr>
        <p:xfrm>
          <a:off x="365760" y="1737360"/>
          <a:ext cx="11430000" cy="42062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572000">
                  <a:extLst>
                    <a:ext uri="{9D8B030D-6E8A-4147-A177-3AD203B41FA5}">
                      <a16:colId xmlns:a16="http://schemas.microsoft.com/office/drawing/2014/main" val="20003"/>
                    </a:ext>
                  </a:extLst>
                </a:gridCol>
              </a:tblGrid>
              <a:tr h="841248">
                <a:tc>
                  <a:txBody>
                    <a:bodyPr/>
                    <a:lstStyle/>
                    <a:p>
                      <a:r>
                        <a:rPr sz="1300" b="1" i="0">
                          <a:solidFill>
                            <a:srgbClr val="FFFFFF"/>
                          </a:solidFill>
                          <a:latin typeface="Calibri"/>
                        </a:rPr>
                        <a:t>Attack</a:t>
                      </a:r>
                    </a:p>
                  </a:txBody>
                  <a:tcPr marL="73152" marR="73152" marT="27432" marB="27432" anchor="ctr">
                    <a:solidFill>
                      <a:srgbClr val="003054"/>
                    </a:solidFill>
                  </a:tcPr>
                </a:tc>
                <a:tc>
                  <a:txBody>
                    <a:bodyPr/>
                    <a:lstStyle/>
                    <a:p>
                      <a:r>
                        <a:rPr sz="1300" b="1" i="0">
                          <a:solidFill>
                            <a:srgbClr val="FFFFFF"/>
                          </a:solidFill>
                          <a:latin typeface="Calibri"/>
                        </a:rPr>
                        <a:t>Primary Outcome</a:t>
                      </a:r>
                    </a:p>
                  </a:txBody>
                  <a:tcPr marL="73152" marR="73152" marT="27432" marB="27432" anchor="ctr">
                    <a:solidFill>
                      <a:srgbClr val="003054"/>
                    </a:solidFill>
                  </a:tcPr>
                </a:tc>
                <a:tc>
                  <a:txBody>
                    <a:bodyPr/>
                    <a:lstStyle/>
                    <a:p>
                      <a:r>
                        <a:rPr sz="1300" b="1" i="0">
                          <a:solidFill>
                            <a:srgbClr val="FFFFFF"/>
                          </a:solidFill>
                          <a:latin typeface="Calibri"/>
                        </a:rPr>
                        <a:t>Secondary Outcome</a:t>
                      </a:r>
                    </a:p>
                  </a:txBody>
                  <a:tcPr marL="73152" marR="73152" marT="27432" marB="27432" anchor="ctr">
                    <a:solidFill>
                      <a:srgbClr val="003054"/>
                    </a:solidFill>
                  </a:tcPr>
                </a:tc>
                <a:tc>
                  <a:txBody>
                    <a:bodyPr/>
                    <a:lstStyle/>
                    <a:p>
                      <a:r>
                        <a:rPr sz="1300" b="1" i="0">
                          <a:solidFill>
                            <a:srgbClr val="FFFFFF"/>
                          </a:solidFill>
                          <a:latin typeface="Calibri"/>
                        </a:rPr>
                        <a:t>Why it can go either way</a:t>
                      </a:r>
                    </a:p>
                  </a:txBody>
                  <a:tcPr marL="73152" marR="73152" marT="27432" marB="27432" anchor="ctr">
                    <a:solidFill>
                      <a:srgbClr val="003054"/>
                    </a:solidFill>
                  </a:tcPr>
                </a:tc>
                <a:extLst>
                  <a:ext uri="{0D108BD9-81ED-4DB2-BD59-A6C34878D82A}">
                    <a16:rowId xmlns:a16="http://schemas.microsoft.com/office/drawing/2014/main" val="10000"/>
                  </a:ext>
                </a:extLst>
              </a:tr>
              <a:tr h="841248">
                <a:tc>
                  <a:txBody>
                    <a:bodyPr/>
                    <a:lstStyle/>
                    <a:p>
                      <a:r>
                        <a:rPr sz="1200" b="0" i="0">
                          <a:solidFill>
                            <a:srgbClr val="222A33"/>
                          </a:solidFill>
                          <a:latin typeface="Calibri"/>
                        </a:rPr>
                        <a:t>CAM Table
(MAC Flooding)</a:t>
                      </a:r>
                    </a:p>
                  </a:txBody>
                  <a:tcPr marL="73152" marR="73152" marT="27432" marB="27432" anchor="ctr">
                    <a:solidFill>
                      <a:srgbClr val="FFFFFF"/>
                    </a:solidFill>
                  </a:tcPr>
                </a:tc>
                <a:tc>
                  <a:txBody>
                    <a:bodyPr/>
                    <a:lstStyle/>
                    <a:p>
                      <a:r>
                        <a:rPr sz="1200" b="0" i="0">
                          <a:solidFill>
                            <a:srgbClr val="222A33"/>
                          </a:solidFill>
                          <a:latin typeface="Calibri"/>
                        </a:rPr>
                        <a:t>MITM /
Eavesdropping</a:t>
                      </a:r>
                    </a:p>
                  </a:txBody>
                  <a:tcPr marL="73152" marR="73152" marT="27432" marB="27432" anchor="ctr">
                    <a:solidFill>
                      <a:srgbClr val="FFFFFF"/>
                    </a:solidFill>
                  </a:tcPr>
                </a:tc>
                <a:tc>
                  <a:txBody>
                    <a:bodyPr/>
                    <a:lstStyle/>
                    <a:p>
                      <a:r>
                        <a:rPr sz="1200" b="0" i="0">
                          <a:solidFill>
                            <a:srgbClr val="222A33"/>
                          </a:solidFill>
                          <a:latin typeface="Calibri"/>
                        </a:rPr>
                        <a:t>DoS</a:t>
                      </a:r>
                    </a:p>
                  </a:txBody>
                  <a:tcPr marL="73152" marR="73152" marT="27432" marB="27432" anchor="ctr">
                    <a:solidFill>
                      <a:srgbClr val="FFFFFF"/>
                    </a:solidFill>
                  </a:tcPr>
                </a:tc>
                <a:tc>
                  <a:txBody>
                    <a:bodyPr/>
                    <a:lstStyle/>
                    <a:p>
                      <a:r>
                        <a:rPr sz="1200" b="0" i="0">
                          <a:solidFill>
                            <a:srgbClr val="222A33"/>
                          </a:solidFill>
                          <a:latin typeface="Calibri"/>
                        </a:rPr>
                        <a:t>Overflow floods traffic to the attacker; sustained flooding also degrades switch performance</a:t>
                      </a:r>
                    </a:p>
                  </a:txBody>
                  <a:tcPr marL="73152" marR="73152" marT="27432" marB="27432" anchor="ctr">
                    <a:solidFill>
                      <a:srgbClr val="FFFFFF"/>
                    </a:solidFill>
                  </a:tcPr>
                </a:tc>
                <a:extLst>
                  <a:ext uri="{0D108BD9-81ED-4DB2-BD59-A6C34878D82A}">
                    <a16:rowId xmlns:a16="http://schemas.microsoft.com/office/drawing/2014/main" val="10001"/>
                  </a:ext>
                </a:extLst>
              </a:tr>
              <a:tr h="841248">
                <a:tc>
                  <a:txBody>
                    <a:bodyPr/>
                    <a:lstStyle/>
                    <a:p>
                      <a:r>
                        <a:rPr sz="1200" b="0" i="0">
                          <a:solidFill>
                            <a:srgbClr val="222A33"/>
                          </a:solidFill>
                          <a:latin typeface="Calibri"/>
                        </a:rPr>
                        <a:t>MAC Address
Spoofing</a:t>
                      </a:r>
                    </a:p>
                  </a:txBody>
                  <a:tcPr marL="73152" marR="73152" marT="27432" marB="27432" anchor="ctr">
                    <a:solidFill>
                      <a:srgbClr val="F2F4F7"/>
                    </a:solidFill>
                  </a:tcPr>
                </a:tc>
                <a:tc>
                  <a:txBody>
                    <a:bodyPr/>
                    <a:lstStyle/>
                    <a:p>
                      <a:r>
                        <a:rPr sz="1200" b="0" i="0">
                          <a:solidFill>
                            <a:srgbClr val="222A33"/>
                          </a:solidFill>
                          <a:latin typeface="Calibri"/>
                        </a:rPr>
                        <a:t>Access /
Impersonation</a:t>
                      </a:r>
                    </a:p>
                  </a:txBody>
                  <a:tcPr marL="73152" marR="73152" marT="27432" marB="27432" anchor="ctr">
                    <a:solidFill>
                      <a:srgbClr val="F2F4F7"/>
                    </a:solidFill>
                  </a:tcPr>
                </a:tc>
                <a:tc>
                  <a:txBody>
                    <a:bodyPr/>
                    <a:lstStyle/>
                    <a:p>
                      <a:r>
                        <a:rPr sz="1200" b="0" i="0">
                          <a:solidFill>
                            <a:srgbClr val="222A33"/>
                          </a:solidFill>
                          <a:latin typeface="Calibri"/>
                        </a:rPr>
                        <a:t>Enabler for
further attacks</a:t>
                      </a:r>
                    </a:p>
                  </a:txBody>
                  <a:tcPr marL="73152" marR="73152" marT="27432" marB="27432" anchor="ctr">
                    <a:solidFill>
                      <a:srgbClr val="F2F4F7"/>
                    </a:solidFill>
                  </a:tcPr>
                </a:tc>
                <a:tc>
                  <a:txBody>
                    <a:bodyPr/>
                    <a:lstStyle/>
                    <a:p>
                      <a:r>
                        <a:rPr sz="1200" b="0" i="0">
                          <a:solidFill>
                            <a:srgbClr val="222A33"/>
                          </a:solidFill>
                          <a:latin typeface="Calibri"/>
                        </a:rPr>
                        <a:t>Bypasses filtering directly; the identity theft also sets up hijacking and evades attribution</a:t>
                      </a:r>
                    </a:p>
                  </a:txBody>
                  <a:tcPr marL="73152" marR="73152" marT="27432" marB="27432" anchor="ctr">
                    <a:solidFill>
                      <a:srgbClr val="F2F4F7"/>
                    </a:solidFill>
                  </a:tcPr>
                </a:tc>
                <a:extLst>
                  <a:ext uri="{0D108BD9-81ED-4DB2-BD59-A6C34878D82A}">
                    <a16:rowId xmlns:a16="http://schemas.microsoft.com/office/drawing/2014/main" val="10002"/>
                  </a:ext>
                </a:extLst>
              </a:tr>
              <a:tr h="841248">
                <a:tc>
                  <a:txBody>
                    <a:bodyPr/>
                    <a:lstStyle/>
                    <a:p>
                      <a:r>
                        <a:rPr sz="1200" b="0" i="0">
                          <a:solidFill>
                            <a:srgbClr val="222A33"/>
                          </a:solidFill>
                          <a:latin typeface="Calibri"/>
                        </a:rPr>
                        <a:t>VLAN Hopping
(Switch Spoofing)</a:t>
                      </a:r>
                    </a:p>
                  </a:txBody>
                  <a:tcPr marL="73152" marR="73152" marT="27432" marB="27432" anchor="ctr">
                    <a:solidFill>
                      <a:srgbClr val="FFFFFF"/>
                    </a:solidFill>
                  </a:tcPr>
                </a:tc>
                <a:tc>
                  <a:txBody>
                    <a:bodyPr/>
                    <a:lstStyle/>
                    <a:p>
                      <a:r>
                        <a:rPr sz="1200" b="0" i="0">
                          <a:solidFill>
                            <a:srgbClr val="222A33"/>
                          </a:solidFill>
                          <a:latin typeface="Calibri"/>
                        </a:rPr>
                        <a:t>Access /
Reconnaissance</a:t>
                      </a:r>
                    </a:p>
                  </a:txBody>
                  <a:tcPr marL="73152" marR="73152" marT="27432" marB="27432" anchor="ctr">
                    <a:solidFill>
                      <a:srgbClr val="FFFFFF"/>
                    </a:solidFill>
                  </a:tcPr>
                </a:tc>
                <a:tc>
                  <a:txBody>
                    <a:bodyPr/>
                    <a:lstStyle/>
                    <a:p>
                      <a:r>
                        <a:rPr sz="1200" b="0" i="0">
                          <a:solidFill>
                            <a:srgbClr val="222A33"/>
                          </a:solidFill>
                          <a:latin typeface="Calibri"/>
                        </a:rPr>
                        <a:t>Enabler for
further attacks</a:t>
                      </a:r>
                    </a:p>
                  </a:txBody>
                  <a:tcPr marL="73152" marR="73152" marT="27432" marB="27432" anchor="ctr">
                    <a:solidFill>
                      <a:srgbClr val="FFFFFF"/>
                    </a:solidFill>
                  </a:tcPr>
                </a:tc>
                <a:tc>
                  <a:txBody>
                    <a:bodyPr/>
                    <a:lstStyle/>
                    <a:p>
                      <a:r>
                        <a:rPr sz="1200" b="0" i="0">
                          <a:solidFill>
                            <a:srgbClr val="222A33"/>
                          </a:solidFill>
                          <a:latin typeface="Calibri"/>
                        </a:rPr>
                        <a:t>Grants visibility into every VLAN on the trunk; that foothold enables lateral movement</a:t>
                      </a:r>
                    </a:p>
                  </a:txBody>
                  <a:tcPr marL="73152" marR="73152" marT="27432" marB="27432" anchor="ctr">
                    <a:solidFill>
                      <a:srgbClr val="FFFFFF"/>
                    </a:solidFill>
                  </a:tcPr>
                </a:tc>
                <a:extLst>
                  <a:ext uri="{0D108BD9-81ED-4DB2-BD59-A6C34878D82A}">
                    <a16:rowId xmlns:a16="http://schemas.microsoft.com/office/drawing/2014/main" val="10003"/>
                  </a:ext>
                </a:extLst>
              </a:tr>
              <a:tr h="841248">
                <a:tc>
                  <a:txBody>
                    <a:bodyPr/>
                    <a:lstStyle/>
                    <a:p>
                      <a:r>
                        <a:rPr sz="1200" b="0" i="0">
                          <a:solidFill>
                            <a:srgbClr val="222A33"/>
                          </a:solidFill>
                          <a:latin typeface="Calibri"/>
                        </a:rPr>
                        <a:t>VLAN Hopping
(Double Tagging)</a:t>
                      </a:r>
                    </a:p>
                  </a:txBody>
                  <a:tcPr marL="73152" marR="73152" marT="27432" marB="27432" anchor="ctr">
                    <a:solidFill>
                      <a:srgbClr val="F2F4F7"/>
                    </a:solidFill>
                  </a:tcPr>
                </a:tc>
                <a:tc>
                  <a:txBody>
                    <a:bodyPr/>
                    <a:lstStyle/>
                    <a:p>
                      <a:r>
                        <a:rPr sz="1200" b="0" i="0">
                          <a:solidFill>
                            <a:srgbClr val="222A33"/>
                          </a:solidFill>
                          <a:latin typeface="Calibri"/>
                        </a:rPr>
                        <a:t>Injection</a:t>
                      </a:r>
                    </a:p>
                  </a:txBody>
                  <a:tcPr marL="73152" marR="73152" marT="27432" marB="27432" anchor="ctr">
                    <a:solidFill>
                      <a:srgbClr val="F2F4F7"/>
                    </a:solidFill>
                  </a:tcPr>
                </a:tc>
                <a:tc>
                  <a:txBody>
                    <a:bodyPr/>
                    <a:lstStyle/>
                    <a:p>
                      <a:r>
                        <a:rPr sz="1200" b="0" i="0">
                          <a:solidFill>
                            <a:srgbClr val="222A33"/>
                          </a:solidFill>
                          <a:latin typeface="Calibri"/>
                        </a:rPr>
                        <a:t>Enabler for
further attacks</a:t>
                      </a:r>
                    </a:p>
                  </a:txBody>
                  <a:tcPr marL="73152" marR="73152" marT="27432" marB="27432" anchor="ctr">
                    <a:solidFill>
                      <a:srgbClr val="F2F4F7"/>
                    </a:solidFill>
                  </a:tcPr>
                </a:tc>
                <a:tc>
                  <a:txBody>
                    <a:bodyPr/>
                    <a:lstStyle/>
                    <a:p>
                      <a:r>
                        <a:rPr sz="1200" b="0" i="0">
                          <a:solidFill>
                            <a:srgbClr val="222A33"/>
                          </a:solidFill>
                          <a:latin typeface="Calibri"/>
                        </a:rPr>
                        <a:t>One-directional injection into an isolated VLAN; sets up a further exploit against hosts there</a:t>
                      </a:r>
                    </a:p>
                  </a:txBody>
                  <a:tcPr marL="73152" marR="73152" marT="27432" marB="27432" anchor="ctr">
                    <a:solidFill>
                      <a:srgbClr val="F2F4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Attacks with Multiple Outcomes (2/2)</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MULTI-FUNCTION ATTACKS</a:t>
            </a:r>
          </a:p>
        </p:txBody>
      </p:sp>
      <p:graphicFrame>
        <p:nvGraphicFramePr>
          <p:cNvPr id="4" name="Table 3"/>
          <p:cNvGraphicFramePr>
            <a:graphicFrameLocks noGrp="1"/>
          </p:cNvGraphicFramePr>
          <p:nvPr/>
        </p:nvGraphicFramePr>
        <p:xfrm>
          <a:off x="365760" y="1737360"/>
          <a:ext cx="11430000" cy="32918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572000">
                  <a:extLst>
                    <a:ext uri="{9D8B030D-6E8A-4147-A177-3AD203B41FA5}">
                      <a16:colId xmlns:a16="http://schemas.microsoft.com/office/drawing/2014/main" val="20003"/>
                    </a:ext>
                  </a:extLst>
                </a:gridCol>
              </a:tblGrid>
              <a:tr h="822960">
                <a:tc>
                  <a:txBody>
                    <a:bodyPr/>
                    <a:lstStyle/>
                    <a:p>
                      <a:r>
                        <a:rPr sz="1300" b="1" i="0">
                          <a:solidFill>
                            <a:srgbClr val="FFFFFF"/>
                          </a:solidFill>
                          <a:latin typeface="Calibri"/>
                        </a:rPr>
                        <a:t>Attack</a:t>
                      </a:r>
                    </a:p>
                  </a:txBody>
                  <a:tcPr marL="73152" marR="73152" marT="27432" marB="27432" anchor="ctr">
                    <a:solidFill>
                      <a:srgbClr val="003054"/>
                    </a:solidFill>
                  </a:tcPr>
                </a:tc>
                <a:tc>
                  <a:txBody>
                    <a:bodyPr/>
                    <a:lstStyle/>
                    <a:p>
                      <a:r>
                        <a:rPr sz="1300" b="1" i="0">
                          <a:solidFill>
                            <a:srgbClr val="FFFFFF"/>
                          </a:solidFill>
                          <a:latin typeface="Calibri"/>
                        </a:rPr>
                        <a:t>Primary Outcome</a:t>
                      </a:r>
                    </a:p>
                  </a:txBody>
                  <a:tcPr marL="73152" marR="73152" marT="27432" marB="27432" anchor="ctr">
                    <a:solidFill>
                      <a:srgbClr val="003054"/>
                    </a:solidFill>
                  </a:tcPr>
                </a:tc>
                <a:tc>
                  <a:txBody>
                    <a:bodyPr/>
                    <a:lstStyle/>
                    <a:p>
                      <a:r>
                        <a:rPr sz="1300" b="1" i="0">
                          <a:solidFill>
                            <a:srgbClr val="FFFFFF"/>
                          </a:solidFill>
                          <a:latin typeface="Calibri"/>
                        </a:rPr>
                        <a:t>Secondary Outcome</a:t>
                      </a:r>
                    </a:p>
                  </a:txBody>
                  <a:tcPr marL="73152" marR="73152" marT="27432" marB="27432" anchor="ctr">
                    <a:solidFill>
                      <a:srgbClr val="003054"/>
                    </a:solidFill>
                  </a:tcPr>
                </a:tc>
                <a:tc>
                  <a:txBody>
                    <a:bodyPr/>
                    <a:lstStyle/>
                    <a:p>
                      <a:r>
                        <a:rPr sz="1300" b="1" i="0">
                          <a:solidFill>
                            <a:srgbClr val="FFFFFF"/>
                          </a:solidFill>
                          <a:latin typeface="Calibri"/>
                        </a:rPr>
                        <a:t>Why it can go either way</a:t>
                      </a:r>
                    </a:p>
                  </a:txBody>
                  <a:tcPr marL="73152" marR="73152" marT="27432" marB="27432" anchor="ctr">
                    <a:solidFill>
                      <a:srgbClr val="003054"/>
                    </a:solidFill>
                  </a:tcPr>
                </a:tc>
                <a:extLst>
                  <a:ext uri="{0D108BD9-81ED-4DB2-BD59-A6C34878D82A}">
                    <a16:rowId xmlns:a16="http://schemas.microsoft.com/office/drawing/2014/main" val="10000"/>
                  </a:ext>
                </a:extLst>
              </a:tr>
              <a:tr h="822960">
                <a:tc>
                  <a:txBody>
                    <a:bodyPr/>
                    <a:lstStyle/>
                    <a:p>
                      <a:r>
                        <a:rPr sz="1200" b="0" i="0">
                          <a:solidFill>
                            <a:srgbClr val="222A33"/>
                          </a:solidFill>
                          <a:latin typeface="Calibri"/>
                        </a:rPr>
                        <a:t>DHCP
Starvation</a:t>
                      </a:r>
                    </a:p>
                  </a:txBody>
                  <a:tcPr marL="73152" marR="73152" marT="27432" marB="27432" anchor="ctr">
                    <a:solidFill>
                      <a:srgbClr val="FFFFFF"/>
                    </a:solidFill>
                  </a:tcPr>
                </a:tc>
                <a:tc>
                  <a:txBody>
                    <a:bodyPr/>
                    <a:lstStyle/>
                    <a:p>
                      <a:r>
                        <a:rPr sz="1200" b="0" i="0">
                          <a:solidFill>
                            <a:srgbClr val="222A33"/>
                          </a:solidFill>
                          <a:latin typeface="Calibri"/>
                        </a:rPr>
                        <a:t>DoS</a:t>
                      </a:r>
                    </a:p>
                  </a:txBody>
                  <a:tcPr marL="73152" marR="73152" marT="27432" marB="27432" anchor="ctr">
                    <a:solidFill>
                      <a:srgbClr val="FFFFFF"/>
                    </a:solidFill>
                  </a:tcPr>
                </a:tc>
                <a:tc>
                  <a:txBody>
                    <a:bodyPr/>
                    <a:lstStyle/>
                    <a:p>
                      <a:r>
                        <a:rPr sz="1200" b="0" i="0">
                          <a:solidFill>
                            <a:srgbClr val="222A33"/>
                          </a:solidFill>
                          <a:latin typeface="Calibri"/>
                        </a:rPr>
                        <a:t>Enabler for
further attacks</a:t>
                      </a:r>
                    </a:p>
                  </a:txBody>
                  <a:tcPr marL="73152" marR="73152" marT="27432" marB="27432" anchor="ctr">
                    <a:solidFill>
                      <a:srgbClr val="FFFFFF"/>
                    </a:solidFill>
                  </a:tcPr>
                </a:tc>
                <a:tc>
                  <a:txBody>
                    <a:bodyPr/>
                    <a:lstStyle/>
                    <a:p>
                      <a:r>
                        <a:rPr sz="1200" b="0" i="0">
                          <a:solidFill>
                            <a:srgbClr val="222A33"/>
                          </a:solidFill>
                          <a:latin typeface="Calibri"/>
                        </a:rPr>
                        <a:t>Exhausts the address pool outright; often paired with DHCP Spoofing to guarantee it wins the race</a:t>
                      </a:r>
                    </a:p>
                  </a:txBody>
                  <a:tcPr marL="73152" marR="73152" marT="27432" marB="27432" anchor="ctr">
                    <a:solidFill>
                      <a:srgbClr val="FFFFFF"/>
                    </a:solidFill>
                  </a:tcPr>
                </a:tc>
                <a:extLst>
                  <a:ext uri="{0D108BD9-81ED-4DB2-BD59-A6C34878D82A}">
                    <a16:rowId xmlns:a16="http://schemas.microsoft.com/office/drawing/2014/main" val="10001"/>
                  </a:ext>
                </a:extLst>
              </a:tr>
              <a:tr h="822960">
                <a:tc>
                  <a:txBody>
                    <a:bodyPr/>
                    <a:lstStyle/>
                    <a:p>
                      <a:r>
                        <a:rPr sz="1200" b="0" i="0">
                          <a:solidFill>
                            <a:srgbClr val="222A33"/>
                          </a:solidFill>
                          <a:latin typeface="Calibri"/>
                        </a:rPr>
                        <a:t>DHCP
Spoofing</a:t>
                      </a:r>
                    </a:p>
                  </a:txBody>
                  <a:tcPr marL="73152" marR="73152" marT="27432" marB="27432" anchor="ctr">
                    <a:solidFill>
                      <a:srgbClr val="F2F4F7"/>
                    </a:solidFill>
                  </a:tcPr>
                </a:tc>
                <a:tc>
                  <a:txBody>
                    <a:bodyPr/>
                    <a:lstStyle/>
                    <a:p>
                      <a:r>
                        <a:rPr sz="1200" b="0" i="0">
                          <a:solidFill>
                            <a:srgbClr val="222A33"/>
                          </a:solidFill>
                          <a:latin typeface="Calibri"/>
                        </a:rPr>
                        <a:t>MITM</a:t>
                      </a:r>
                    </a:p>
                  </a:txBody>
                  <a:tcPr marL="73152" marR="73152" marT="27432" marB="27432" anchor="ctr">
                    <a:solidFill>
                      <a:srgbClr val="F2F4F7"/>
                    </a:solidFill>
                  </a:tcPr>
                </a:tc>
                <a:tc>
                  <a:txBody>
                    <a:bodyPr/>
                    <a:lstStyle/>
                    <a:p>
                      <a:r>
                        <a:rPr sz="1200" b="0" i="0">
                          <a:solidFill>
                            <a:srgbClr val="222A33"/>
                          </a:solidFill>
                          <a:latin typeface="Calibri"/>
                        </a:rPr>
                        <a:t>DoS</a:t>
                      </a:r>
                    </a:p>
                  </a:txBody>
                  <a:tcPr marL="73152" marR="73152" marT="27432" marB="27432" anchor="ctr">
                    <a:solidFill>
                      <a:srgbClr val="F2F4F7"/>
                    </a:solidFill>
                  </a:tcPr>
                </a:tc>
                <a:tc>
                  <a:txBody>
                    <a:bodyPr/>
                    <a:lstStyle/>
                    <a:p>
                      <a:r>
                        <a:rPr sz="1200" b="0" i="0">
                          <a:solidFill>
                            <a:srgbClr val="222A33"/>
                          </a:solidFill>
                          <a:latin typeface="Calibri"/>
                        </a:rPr>
                        <a:t>Normally positions the attacker as gateway/DNS to intercept traffic; a broken rogue config just cuts victims off instead</a:t>
                      </a:r>
                    </a:p>
                  </a:txBody>
                  <a:tcPr marL="73152" marR="73152" marT="27432" marB="27432" anchor="ctr">
                    <a:solidFill>
                      <a:srgbClr val="F2F4F7"/>
                    </a:solidFill>
                  </a:tcPr>
                </a:tc>
                <a:extLst>
                  <a:ext uri="{0D108BD9-81ED-4DB2-BD59-A6C34878D82A}">
                    <a16:rowId xmlns:a16="http://schemas.microsoft.com/office/drawing/2014/main" val="10002"/>
                  </a:ext>
                </a:extLst>
              </a:tr>
              <a:tr h="822960">
                <a:tc>
                  <a:txBody>
                    <a:bodyPr/>
                    <a:lstStyle/>
                    <a:p>
                      <a:r>
                        <a:rPr sz="1200" b="0" i="0">
                          <a:solidFill>
                            <a:srgbClr val="222A33"/>
                          </a:solidFill>
                          <a:latin typeface="Calibri"/>
                        </a:rPr>
                        <a:t>ARP
Spoofing</a:t>
                      </a:r>
                    </a:p>
                  </a:txBody>
                  <a:tcPr marL="73152" marR="73152" marT="27432" marB="27432" anchor="ctr">
                    <a:solidFill>
                      <a:srgbClr val="FFFFFF"/>
                    </a:solidFill>
                  </a:tcPr>
                </a:tc>
                <a:tc>
                  <a:txBody>
                    <a:bodyPr/>
                    <a:lstStyle/>
                    <a:p>
                      <a:r>
                        <a:rPr sz="1200" b="0" i="0">
                          <a:solidFill>
                            <a:srgbClr val="222A33"/>
                          </a:solidFill>
                          <a:latin typeface="Calibri"/>
                        </a:rPr>
                        <a:t>MITM /
Eavesdropping</a:t>
                      </a:r>
                    </a:p>
                  </a:txBody>
                  <a:tcPr marL="73152" marR="73152" marT="27432" marB="27432" anchor="ctr">
                    <a:solidFill>
                      <a:srgbClr val="FFFFFF"/>
                    </a:solidFill>
                  </a:tcPr>
                </a:tc>
                <a:tc>
                  <a:txBody>
                    <a:bodyPr/>
                    <a:lstStyle/>
                    <a:p>
                      <a:r>
                        <a:rPr sz="1200" b="0" i="0">
                          <a:solidFill>
                            <a:srgbClr val="222A33"/>
                          </a:solidFill>
                          <a:latin typeface="Calibri"/>
                        </a:rPr>
                        <a:t>DoS</a:t>
                      </a:r>
                    </a:p>
                  </a:txBody>
                  <a:tcPr marL="73152" marR="73152" marT="27432" marB="27432" anchor="ctr">
                    <a:solidFill>
                      <a:srgbClr val="FFFFFF"/>
                    </a:solidFill>
                  </a:tcPr>
                </a:tc>
                <a:tc>
                  <a:txBody>
                    <a:bodyPr/>
                    <a:lstStyle/>
                    <a:p>
                      <a:r>
                        <a:rPr sz="1200" b="0" i="0">
                          <a:solidFill>
                            <a:srgbClr val="222A33"/>
                          </a:solidFill>
                          <a:latin typeface="Calibri"/>
                        </a:rPr>
                        <a:t>Classic bidirectional interception between two victims; the same forged mapping can instead blackhole traffic</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365760" y="5212080"/>
            <a:ext cx="11430000" cy="640080"/>
          </a:xfrm>
          <a:prstGeom prst="rect">
            <a:avLst/>
          </a:prstGeom>
          <a:noFill/>
        </p:spPr>
        <p:txBody>
          <a:bodyPr wrap="square">
            <a:spAutoFit/>
          </a:bodyPr>
          <a:lstStyle/>
          <a:p>
            <a:r>
              <a:rPr sz="1300" b="0" i="1">
                <a:solidFill>
                  <a:srgbClr val="6B7682"/>
                </a:solidFill>
                <a:latin typeface="Calibri"/>
              </a:rPr>
              <a:t>Every attack covered this week appears in at least one of these tables with more than one plausible outcome.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500" b="1" i="0">
                <a:solidFill>
                  <a:srgbClr val="FFFFFF"/>
                </a:solidFill>
                <a:latin typeface="Cambria"/>
              </a:rPr>
              <a:t>Patterns and Implications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MULTI-FUNCTION ATTACKS</a:t>
            </a:r>
          </a:p>
        </p:txBody>
      </p:sp>
      <p:sp>
        <p:nvSpPr>
          <p:cNvPr id="4" name="Rounded Rectangle 3"/>
          <p:cNvSpPr/>
          <p:nvPr/>
        </p:nvSpPr>
        <p:spPr>
          <a:xfrm>
            <a:off x="548640" y="1783080"/>
            <a:ext cx="2606040" cy="82296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DoS</a:t>
            </a:r>
          </a:p>
        </p:txBody>
      </p:sp>
      <p:sp>
        <p:nvSpPr>
          <p:cNvPr id="5" name="Rounded Rectangle 4"/>
          <p:cNvSpPr/>
          <p:nvPr/>
        </p:nvSpPr>
        <p:spPr>
          <a:xfrm>
            <a:off x="3337560" y="1783080"/>
            <a:ext cx="2606040" cy="82296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MITM /
Eavesdropping</a:t>
            </a:r>
          </a:p>
        </p:txBody>
      </p:sp>
      <p:sp>
        <p:nvSpPr>
          <p:cNvPr id="6" name="Rounded Rectangle 5"/>
          <p:cNvSpPr/>
          <p:nvPr/>
        </p:nvSpPr>
        <p:spPr>
          <a:xfrm>
            <a:off x="6126480" y="1783080"/>
            <a:ext cx="2606040" cy="82296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Access /
Injection</a:t>
            </a:r>
          </a:p>
        </p:txBody>
      </p:sp>
      <p:sp>
        <p:nvSpPr>
          <p:cNvPr id="7" name="Rounded Rectangle 6"/>
          <p:cNvSpPr/>
          <p:nvPr/>
        </p:nvSpPr>
        <p:spPr>
          <a:xfrm>
            <a:off x="8915399" y="1783080"/>
            <a:ext cx="2606040" cy="82296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Enabler for
further attacks</a:t>
            </a:r>
          </a:p>
        </p:txBody>
      </p:sp>
      <p:sp>
        <p:nvSpPr>
          <p:cNvPr id="8" name="TextBox 7"/>
          <p:cNvSpPr txBox="1"/>
          <p:nvPr/>
        </p:nvSpPr>
        <p:spPr>
          <a:xfrm>
            <a:off x="548640" y="2834640"/>
            <a:ext cx="11064240" cy="3017520"/>
          </a:xfrm>
          <a:prstGeom prst="rect">
            <a:avLst/>
          </a:prstGeom>
          <a:noFill/>
        </p:spPr>
        <p:txBody>
          <a:bodyPr wrap="square">
            <a:spAutoFit/>
          </a:bodyPr>
          <a:lstStyle/>
          <a:p>
            <a:pPr marL="201168" indent="-201168">
              <a:spcAft>
                <a:spcPts val="1200"/>
              </a:spcAft>
              <a:buFont typeface="Arial"/>
              <a:buChar char="–"/>
            </a:pPr>
            <a:r>
              <a:rPr sz="1600" b="0" i="0">
                <a:solidFill>
                  <a:srgbClr val="222A33"/>
                </a:solidFill>
                <a:latin typeface="Calibri"/>
              </a:rPr>
              <a:t>Every attack this week maps to at least two of these four outcome categories, not one — which outcome actually happens is usually decided by attacker intent, not by a difference in the technique itself.</a:t>
            </a:r>
          </a:p>
          <a:p>
            <a:pPr marL="201168" indent="-201168">
              <a:spcAft>
                <a:spcPts val="1200"/>
              </a:spcAft>
              <a:buFont typeface="Arial"/>
              <a:buChar char="–"/>
            </a:pPr>
            <a:r>
              <a:rPr sz="1600" b="0" i="0">
                <a:solidFill>
                  <a:srgbClr val="222A33"/>
                </a:solidFill>
                <a:latin typeface="Calibri"/>
              </a:rPr>
              <a:t>A CAM table attack run for two extra minutes is still a CAM table attack — but it stops being quiet eavesdropping and starts being a performance-degrading DoS. Same technique, different goal.</a:t>
            </a:r>
          </a:p>
          <a:p>
            <a:pPr marL="201168" indent="-201168">
              <a:spcAft>
                <a:spcPts val="1200"/>
              </a:spcAft>
              <a:buFont typeface="Arial"/>
              <a:buChar char="–"/>
            </a:pPr>
            <a:r>
              <a:rPr sz="1600" b="0" i="0">
                <a:solidFill>
                  <a:srgbClr val="222A33"/>
                </a:solidFill>
                <a:latin typeface="Calibri"/>
              </a:rPr>
              <a:t>Implication for mitigation: evaluating a control means asking whether it closes off every plausible outcome, not just the one demonstrated in lecture. Port security stops the CAM table attack full stop, regardless of which outcome the attacker was actually going for.</a:t>
            </a:r>
          </a:p>
          <a:p>
            <a:pPr marL="201168" indent="-201168">
              <a:spcAft>
                <a:spcPts val="800"/>
              </a:spcAft>
              <a:buFont typeface="Arial"/>
              <a:buChar char="–"/>
            </a:pPr>
            <a:r>
              <a:rPr sz="1600" b="1" i="0">
                <a:solidFill>
                  <a:srgbClr val="003054"/>
                </a:solidFill>
                <a:latin typeface="Calibri"/>
              </a:rPr>
              <a:t>This is exactly the LO2 skill the costing exercise is built on — a mitigation's value depends on the full range of what it prevents, not a single labelled scenario.</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Bringing It Together</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Comparing mitigations across all six attacks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Full Mitigation Comparison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SUMMARY</a:t>
            </a:r>
          </a:p>
        </p:txBody>
      </p:sp>
      <p:graphicFrame>
        <p:nvGraphicFramePr>
          <p:cNvPr id="4" name="Table 3"/>
          <p:cNvGraphicFramePr>
            <a:graphicFrameLocks noGrp="1"/>
          </p:cNvGraphicFramePr>
          <p:nvPr>
            <p:extLst>
              <p:ext uri="{D42A27DB-BD31-4B8C-83A1-F6EECF244321}">
                <p14:modId xmlns:p14="http://schemas.microsoft.com/office/powerpoint/2010/main" val="848766723"/>
              </p:ext>
            </p:extLst>
          </p:nvPr>
        </p:nvGraphicFramePr>
        <p:xfrm>
          <a:off x="457200" y="1691640"/>
          <a:ext cx="11247120" cy="43434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42925">
                <a:tc>
                  <a:txBody>
                    <a:bodyPr/>
                    <a:lstStyle/>
                    <a:p>
                      <a:r>
                        <a:rPr sz="1300" b="1" i="0">
                          <a:solidFill>
                            <a:srgbClr val="FFFFFF"/>
                          </a:solidFill>
                          <a:latin typeface="Calibri"/>
                        </a:rPr>
                        <a:t>Attack</a:t>
                      </a:r>
                    </a:p>
                  </a:txBody>
                  <a:tcPr marL="73152" marR="73152" marT="27432" marB="27432" anchor="ctr">
                    <a:solidFill>
                      <a:srgbClr val="003054"/>
                    </a:solidFill>
                  </a:tcPr>
                </a:tc>
                <a:tc>
                  <a:txBody>
                    <a:bodyPr/>
                    <a:lstStyle/>
                    <a:p>
                      <a:r>
                        <a:rPr sz="1300" b="1" i="0">
                          <a:solidFill>
                            <a:srgbClr val="FFFFFF"/>
                          </a:solidFill>
                          <a:latin typeface="Calibri"/>
                        </a:rPr>
                        <a:t>Simple config</a:t>
                      </a:r>
                    </a:p>
                  </a:txBody>
                  <a:tcPr marL="73152" marR="73152" marT="27432" marB="27432" anchor="ctr">
                    <a:solidFill>
                      <a:srgbClr val="003054"/>
                    </a:solidFill>
                  </a:tcPr>
                </a:tc>
                <a:tc>
                  <a:txBody>
                    <a:bodyPr/>
                    <a:lstStyle/>
                    <a:p>
                      <a:r>
                        <a:rPr sz="1300" b="1" i="0">
                          <a:solidFill>
                            <a:srgbClr val="FFFFFF"/>
                          </a:solidFill>
                          <a:latin typeface="Calibri"/>
                        </a:rPr>
                        <a:t>Additional technique</a:t>
                      </a:r>
                    </a:p>
                  </a:txBody>
                  <a:tcPr marL="73152" marR="73152" marT="27432" marB="27432" anchor="ctr">
                    <a:solidFill>
                      <a:srgbClr val="003054"/>
                    </a:solidFill>
                  </a:tcPr>
                </a:tc>
                <a:extLst>
                  <a:ext uri="{0D108BD9-81ED-4DB2-BD59-A6C34878D82A}">
                    <a16:rowId xmlns:a16="http://schemas.microsoft.com/office/drawing/2014/main" val="10000"/>
                  </a:ext>
                </a:extLst>
              </a:tr>
              <a:tr h="542925">
                <a:tc>
                  <a:txBody>
                    <a:bodyPr/>
                    <a:lstStyle/>
                    <a:p>
                      <a:r>
                        <a:rPr sz="1200" b="0" i="0" dirty="0">
                          <a:solidFill>
                            <a:srgbClr val="222A33"/>
                          </a:solidFill>
                          <a:latin typeface="Calibri"/>
                        </a:rPr>
                        <a:t>MAC Address Spoofing</a:t>
                      </a:r>
                    </a:p>
                  </a:txBody>
                  <a:tcPr marL="73152" marR="73152" marT="27432" marB="27432" anchor="ctr">
                    <a:solidFill>
                      <a:srgbClr val="FFFFFF"/>
                    </a:solidFill>
                  </a:tcPr>
                </a:tc>
                <a:tc>
                  <a:txBody>
                    <a:bodyPr/>
                    <a:lstStyle/>
                    <a:p>
                      <a:r>
                        <a:rPr sz="1200" b="0" i="0">
                          <a:solidFill>
                            <a:srgbClr val="222A33"/>
                          </a:solidFill>
                          <a:latin typeface="Calibri"/>
                        </a:rPr>
                        <a:t>Port security (sticky MAC + violation action)</a:t>
                      </a:r>
                    </a:p>
                  </a:txBody>
                  <a:tcPr marL="73152" marR="73152" marT="27432" marB="27432" anchor="ctr">
                    <a:solidFill>
                      <a:srgbClr val="FFFFFF"/>
                    </a:solidFill>
                  </a:tcPr>
                </a:tc>
                <a:tc>
                  <a:txBody>
                    <a:bodyPr/>
                    <a:lstStyle/>
                    <a:p>
                      <a:r>
                        <a:rPr sz="1200" b="0" i="0" dirty="0">
                          <a:solidFill>
                            <a:srgbClr val="222A33"/>
                          </a:solidFill>
                          <a:latin typeface="Calibri"/>
                        </a:rPr>
                        <a:t>802.1X / </a:t>
                      </a:r>
                      <a:r>
                        <a:rPr sz="1200" b="0" i="0" dirty="0" err="1">
                          <a:solidFill>
                            <a:srgbClr val="222A33"/>
                          </a:solidFill>
                          <a:latin typeface="Calibri"/>
                        </a:rPr>
                        <a:t>centralised</a:t>
                      </a:r>
                      <a:r>
                        <a:rPr sz="1200" b="0" i="0" dirty="0">
                          <a:solidFill>
                            <a:srgbClr val="222A33"/>
                          </a:solidFill>
                          <a:latin typeface="Calibri"/>
                        </a:rPr>
                        <a:t> AAA authentication</a:t>
                      </a:r>
                    </a:p>
                  </a:txBody>
                  <a:tcPr marL="73152" marR="73152" marT="27432" marB="27432" anchor="ctr">
                    <a:solidFill>
                      <a:srgbClr val="FFFFFF"/>
                    </a:solidFill>
                  </a:tcPr>
                </a:tc>
                <a:extLst>
                  <a:ext uri="{0D108BD9-81ED-4DB2-BD59-A6C34878D82A}">
                    <a16:rowId xmlns:a16="http://schemas.microsoft.com/office/drawing/2014/main" val="10001"/>
                  </a:ext>
                </a:extLst>
              </a:tr>
              <a:tr h="542925">
                <a:tc>
                  <a:txBody>
                    <a:bodyPr/>
                    <a:lstStyle/>
                    <a:p>
                      <a:r>
                        <a:rPr sz="1200" b="0" i="0" dirty="0">
                          <a:solidFill>
                            <a:srgbClr val="222A33"/>
                          </a:solidFill>
                          <a:latin typeface="Calibri"/>
                        </a:rPr>
                        <a:t>CAM Table (MAC Flooding)</a:t>
                      </a:r>
                    </a:p>
                  </a:txBody>
                  <a:tcPr marL="73152" marR="73152" marT="27432" marB="27432" anchor="ctr">
                    <a:solidFill>
                      <a:srgbClr val="F2F4F7"/>
                    </a:solidFill>
                  </a:tcPr>
                </a:tc>
                <a:tc>
                  <a:txBody>
                    <a:bodyPr/>
                    <a:lstStyle/>
                    <a:p>
                      <a:r>
                        <a:rPr sz="1200" b="0" i="0">
                          <a:solidFill>
                            <a:srgbClr val="222A33"/>
                          </a:solidFill>
                          <a:latin typeface="Calibri"/>
                        </a:rPr>
                        <a:t>Port security (max MAC count)</a:t>
                      </a:r>
                    </a:p>
                  </a:txBody>
                  <a:tcPr marL="73152" marR="73152" marT="27432" marB="27432" anchor="ctr">
                    <a:solidFill>
                      <a:srgbClr val="F2F4F7"/>
                    </a:solidFill>
                  </a:tcPr>
                </a:tc>
                <a:tc>
                  <a:txBody>
                    <a:bodyPr/>
                    <a:lstStyle/>
                    <a:p>
                      <a:r>
                        <a:rPr sz="1200" b="0" i="0" dirty="0">
                          <a:solidFill>
                            <a:srgbClr val="222A33"/>
                          </a:solidFill>
                          <a:latin typeface="Calibri"/>
                        </a:rPr>
                        <a:t>Sticky MAC + violation action</a:t>
                      </a:r>
                    </a:p>
                  </a:txBody>
                  <a:tcPr marL="73152" marR="73152" marT="27432" marB="27432" anchor="ctr">
                    <a:solidFill>
                      <a:srgbClr val="F2F4F7"/>
                    </a:solidFill>
                  </a:tcPr>
                </a:tc>
                <a:extLst>
                  <a:ext uri="{0D108BD9-81ED-4DB2-BD59-A6C34878D82A}">
                    <a16:rowId xmlns:a16="http://schemas.microsoft.com/office/drawing/2014/main" val="10002"/>
                  </a:ext>
                </a:extLst>
              </a:tr>
              <a:tr h="542925">
                <a:tc>
                  <a:txBody>
                    <a:bodyPr/>
                    <a:lstStyle/>
                    <a:p>
                      <a:r>
                        <a:rPr sz="1200" b="0" i="0" dirty="0">
                          <a:solidFill>
                            <a:srgbClr val="222A33"/>
                          </a:solidFill>
                          <a:latin typeface="Calibri"/>
                        </a:rPr>
                        <a:t>VLAN Hopping (Switch Spoofing)</a:t>
                      </a:r>
                    </a:p>
                  </a:txBody>
                  <a:tcPr marL="73152" marR="73152" marT="27432" marB="27432" anchor="ctr">
                    <a:solidFill>
                      <a:srgbClr val="FFFFFF"/>
                    </a:solidFill>
                  </a:tcPr>
                </a:tc>
                <a:tc>
                  <a:txBody>
                    <a:bodyPr/>
                    <a:lstStyle/>
                    <a:p>
                      <a:r>
                        <a:rPr sz="1200" b="0" i="0">
                          <a:solidFill>
                            <a:srgbClr val="222A33"/>
                          </a:solidFill>
                          <a:latin typeface="Calibri"/>
                        </a:rPr>
                        <a:t>switchport nonegotiate</a:t>
                      </a:r>
                    </a:p>
                  </a:txBody>
                  <a:tcPr marL="73152" marR="73152" marT="27432" marB="27432" anchor="ctr">
                    <a:solidFill>
                      <a:srgbClr val="FFFFFF"/>
                    </a:solidFill>
                  </a:tcPr>
                </a:tc>
                <a:tc>
                  <a:txBody>
                    <a:bodyPr/>
                    <a:lstStyle/>
                    <a:p>
                      <a:r>
                        <a:rPr sz="1200" b="0" i="0" dirty="0">
                          <a:solidFill>
                            <a:srgbClr val="222A33"/>
                          </a:solidFill>
                          <a:latin typeface="Calibri"/>
                        </a:rPr>
                        <a:t>Manual trunk/access mode</a:t>
                      </a:r>
                    </a:p>
                  </a:txBody>
                  <a:tcPr marL="73152" marR="73152" marT="27432" marB="27432" anchor="ctr">
                    <a:solidFill>
                      <a:srgbClr val="FFFFFF"/>
                    </a:solidFill>
                  </a:tcPr>
                </a:tc>
                <a:extLst>
                  <a:ext uri="{0D108BD9-81ED-4DB2-BD59-A6C34878D82A}">
                    <a16:rowId xmlns:a16="http://schemas.microsoft.com/office/drawing/2014/main" val="10003"/>
                  </a:ext>
                </a:extLst>
              </a:tr>
              <a:tr h="542925">
                <a:tc>
                  <a:txBody>
                    <a:bodyPr/>
                    <a:lstStyle/>
                    <a:p>
                      <a:r>
                        <a:rPr sz="1200" b="0" i="0">
                          <a:solidFill>
                            <a:srgbClr val="222A33"/>
                          </a:solidFill>
                          <a:latin typeface="Calibri"/>
                        </a:rPr>
                        <a:t>VLAN Hopping (Double Tagging)</a:t>
                      </a:r>
                    </a:p>
                  </a:txBody>
                  <a:tcPr marL="73152" marR="73152" marT="27432" marB="27432" anchor="ctr">
                    <a:solidFill>
                      <a:srgbClr val="F2F4F7"/>
                    </a:solidFill>
                  </a:tcPr>
                </a:tc>
                <a:tc>
                  <a:txBody>
                    <a:bodyPr/>
                    <a:lstStyle/>
                    <a:p>
                      <a:r>
                        <a:rPr sz="1200" b="0" i="0">
                          <a:solidFill>
                            <a:srgbClr val="222A33"/>
                          </a:solidFill>
                          <a:latin typeface="Calibri"/>
                        </a:rPr>
                        <a:t>Change native VLAN off VLAN 1</a:t>
                      </a:r>
                    </a:p>
                  </a:txBody>
                  <a:tcPr marL="73152" marR="73152" marT="27432" marB="27432" anchor="ctr">
                    <a:solidFill>
                      <a:srgbClr val="F2F4F7"/>
                    </a:solidFill>
                  </a:tcPr>
                </a:tc>
                <a:tc>
                  <a:txBody>
                    <a:bodyPr/>
                    <a:lstStyle/>
                    <a:p>
                      <a:r>
                        <a:rPr sz="1200" b="0" i="0">
                          <a:solidFill>
                            <a:srgbClr val="222A33"/>
                          </a:solidFill>
                          <a:latin typeface="Calibri"/>
                        </a:rPr>
                        <a:t>Explicit native VLAN tagging</a:t>
                      </a:r>
                    </a:p>
                  </a:txBody>
                  <a:tcPr marL="73152" marR="73152" marT="27432" marB="27432" anchor="ctr">
                    <a:solidFill>
                      <a:srgbClr val="F2F4F7"/>
                    </a:solidFill>
                  </a:tcPr>
                </a:tc>
                <a:extLst>
                  <a:ext uri="{0D108BD9-81ED-4DB2-BD59-A6C34878D82A}">
                    <a16:rowId xmlns:a16="http://schemas.microsoft.com/office/drawing/2014/main" val="10004"/>
                  </a:ext>
                </a:extLst>
              </a:tr>
              <a:tr h="542925">
                <a:tc>
                  <a:txBody>
                    <a:bodyPr/>
                    <a:lstStyle/>
                    <a:p>
                      <a:r>
                        <a:rPr sz="1200" b="0" i="0">
                          <a:solidFill>
                            <a:srgbClr val="222A33"/>
                          </a:solidFill>
                          <a:latin typeface="Calibri"/>
                        </a:rPr>
                        <a:t>DHCP Starvation</a:t>
                      </a:r>
                    </a:p>
                  </a:txBody>
                  <a:tcPr marL="73152" marR="73152" marT="27432" marB="27432" anchor="ctr">
                    <a:solidFill>
                      <a:srgbClr val="FFFFFF"/>
                    </a:solidFill>
                  </a:tcPr>
                </a:tc>
                <a:tc>
                  <a:txBody>
                    <a:bodyPr/>
                    <a:lstStyle/>
                    <a:p>
                      <a:r>
                        <a:rPr sz="1200" b="0" i="0">
                          <a:solidFill>
                            <a:srgbClr val="222A33"/>
                          </a:solidFill>
                          <a:latin typeface="Calibri"/>
                        </a:rPr>
                        <a:t>Port security (limits spoofed MACs)</a:t>
                      </a:r>
                    </a:p>
                  </a:txBody>
                  <a:tcPr marL="73152" marR="73152" marT="27432" marB="27432" anchor="ctr">
                    <a:solidFill>
                      <a:srgbClr val="FFFFFF"/>
                    </a:solidFill>
                  </a:tcPr>
                </a:tc>
                <a:tc>
                  <a:txBody>
                    <a:bodyPr/>
                    <a:lstStyle/>
                    <a:p>
                      <a:r>
                        <a:rPr sz="1200" b="0" i="0">
                          <a:solidFill>
                            <a:srgbClr val="222A33"/>
                          </a:solidFill>
                          <a:latin typeface="Calibri"/>
                        </a:rPr>
                        <a:t>DHCP snooping rate-limiting</a:t>
                      </a:r>
                    </a:p>
                  </a:txBody>
                  <a:tcPr marL="73152" marR="73152" marT="27432" marB="27432" anchor="ctr">
                    <a:solidFill>
                      <a:srgbClr val="FFFFFF"/>
                    </a:solidFill>
                  </a:tcPr>
                </a:tc>
                <a:extLst>
                  <a:ext uri="{0D108BD9-81ED-4DB2-BD59-A6C34878D82A}">
                    <a16:rowId xmlns:a16="http://schemas.microsoft.com/office/drawing/2014/main" val="10005"/>
                  </a:ext>
                </a:extLst>
              </a:tr>
              <a:tr h="542925">
                <a:tc>
                  <a:txBody>
                    <a:bodyPr/>
                    <a:lstStyle/>
                    <a:p>
                      <a:r>
                        <a:rPr sz="1200" b="0" i="0">
                          <a:solidFill>
                            <a:srgbClr val="222A33"/>
                          </a:solidFill>
                          <a:latin typeface="Calibri"/>
                        </a:rPr>
                        <a:t>DHCP Spoofing</a:t>
                      </a:r>
                    </a:p>
                  </a:txBody>
                  <a:tcPr marL="73152" marR="73152" marT="27432" marB="27432" anchor="ctr">
                    <a:solidFill>
                      <a:srgbClr val="F2F4F7"/>
                    </a:solidFill>
                  </a:tcPr>
                </a:tc>
                <a:tc>
                  <a:txBody>
                    <a:bodyPr/>
                    <a:lstStyle/>
                    <a:p>
                      <a:r>
                        <a:rPr sz="1200" b="0" i="0">
                          <a:solidFill>
                            <a:srgbClr val="222A33"/>
                          </a:solidFill>
                          <a:latin typeface="Calibri"/>
                        </a:rPr>
                        <a:t>Restrict trusted ports</a:t>
                      </a:r>
                    </a:p>
                  </a:txBody>
                  <a:tcPr marL="73152" marR="73152" marT="27432" marB="27432" anchor="ctr">
                    <a:solidFill>
                      <a:srgbClr val="F2F4F7"/>
                    </a:solidFill>
                  </a:tcPr>
                </a:tc>
                <a:tc>
                  <a:txBody>
                    <a:bodyPr/>
                    <a:lstStyle/>
                    <a:p>
                      <a:r>
                        <a:rPr sz="1200" b="0" i="0" dirty="0">
                          <a:solidFill>
                            <a:srgbClr val="222A33"/>
                          </a:solidFill>
                          <a:latin typeface="Calibri"/>
                        </a:rPr>
                        <a:t>Full DHCP snooping deployment</a:t>
                      </a:r>
                    </a:p>
                  </a:txBody>
                  <a:tcPr marL="73152" marR="73152" marT="27432" marB="27432" anchor="ctr">
                    <a:solidFill>
                      <a:srgbClr val="F2F4F7"/>
                    </a:solidFill>
                  </a:tcPr>
                </a:tc>
                <a:extLst>
                  <a:ext uri="{0D108BD9-81ED-4DB2-BD59-A6C34878D82A}">
                    <a16:rowId xmlns:a16="http://schemas.microsoft.com/office/drawing/2014/main" val="10006"/>
                  </a:ext>
                </a:extLst>
              </a:tr>
              <a:tr h="542925">
                <a:tc>
                  <a:txBody>
                    <a:bodyPr/>
                    <a:lstStyle/>
                    <a:p>
                      <a:r>
                        <a:rPr sz="1200" b="0" i="0">
                          <a:solidFill>
                            <a:srgbClr val="222A33"/>
                          </a:solidFill>
                          <a:latin typeface="Calibri"/>
                        </a:rPr>
                        <a:t>ARP Spoofing</a:t>
                      </a:r>
                    </a:p>
                  </a:txBody>
                  <a:tcPr marL="73152" marR="73152" marT="27432" marB="27432" anchor="ctr">
                    <a:solidFill>
                      <a:srgbClr val="FFFFFF"/>
                    </a:solidFill>
                  </a:tcPr>
                </a:tc>
                <a:tc>
                  <a:txBody>
                    <a:bodyPr/>
                    <a:lstStyle/>
                    <a:p>
                      <a:r>
                        <a:rPr sz="1200" b="0" i="0">
                          <a:solidFill>
                            <a:srgbClr val="222A33"/>
                          </a:solidFill>
                          <a:latin typeface="Calibri"/>
                        </a:rPr>
                        <a:t>Static ARP (small networks only)</a:t>
                      </a:r>
                    </a:p>
                  </a:txBody>
                  <a:tcPr marL="73152" marR="73152" marT="27432" marB="27432" anchor="ctr">
                    <a:solidFill>
                      <a:srgbClr val="FFFFFF"/>
                    </a:solidFill>
                  </a:tcPr>
                </a:tc>
                <a:tc>
                  <a:txBody>
                    <a:bodyPr/>
                    <a:lstStyle/>
                    <a:p>
                      <a:r>
                        <a:rPr sz="1200" b="0" i="0" dirty="0">
                          <a:solidFill>
                            <a:srgbClr val="222A33"/>
                          </a:solidFill>
                          <a:latin typeface="Calibri"/>
                        </a:rPr>
                        <a:t>Dynamic ARP Inspection</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Same Control, Different Purpose and Cost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DISCUSSION</a:t>
            </a:r>
          </a:p>
        </p:txBody>
      </p:sp>
      <p:graphicFrame>
        <p:nvGraphicFramePr>
          <p:cNvPr id="4" name="Table 3"/>
          <p:cNvGraphicFramePr>
            <a:graphicFrameLocks noGrp="1"/>
          </p:cNvGraphicFramePr>
          <p:nvPr/>
        </p:nvGraphicFramePr>
        <p:xfrm>
          <a:off x="548640" y="1783080"/>
          <a:ext cx="11064240" cy="17373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579120">
                <a:tc>
                  <a:txBody>
                    <a:bodyPr/>
                    <a:lstStyle/>
                    <a:p>
                      <a:r>
                        <a:rPr sz="1300" b="1" i="0">
                          <a:solidFill>
                            <a:srgbClr val="FFFFFF"/>
                          </a:solidFill>
                          <a:latin typeface="Calibri"/>
                        </a:rPr>
                        <a:t>Port Security Violation Action</a:t>
                      </a:r>
                    </a:p>
                  </a:txBody>
                  <a:tcPr marL="73152" marR="73152" marT="27432" marB="27432" anchor="ctr">
                    <a:solidFill>
                      <a:srgbClr val="003054"/>
                    </a:solidFill>
                  </a:tcPr>
                </a:tc>
                <a:tc>
                  <a:txBody>
                    <a:bodyPr/>
                    <a:lstStyle/>
                    <a:p>
                      <a:r>
                        <a:rPr sz="1300" b="1" i="0">
                          <a:solidFill>
                            <a:srgbClr val="FFFFFF"/>
                          </a:solidFill>
                          <a:latin typeface="Calibri"/>
                        </a:rPr>
                        <a:t>What actually happens</a:t>
                      </a:r>
                    </a:p>
                  </a:txBody>
                  <a:tcPr marL="73152" marR="73152" marT="27432" marB="27432" anchor="ctr">
                    <a:solidFill>
                      <a:srgbClr val="003054"/>
                    </a:solidFill>
                  </a:tcPr>
                </a:tc>
                <a:tc>
                  <a:txBody>
                    <a:bodyPr/>
                    <a:lstStyle/>
                    <a:p>
                      <a:r>
                        <a:rPr sz="1300" b="1" i="0">
                          <a:solidFill>
                            <a:srgbClr val="FFFFFF"/>
                          </a:solidFill>
                          <a:latin typeface="Calibri"/>
                        </a:rPr>
                        <a:t>Primary function shifts to...</a:t>
                      </a:r>
                    </a:p>
                  </a:txBody>
                  <a:tcPr marL="73152" marR="73152" marT="27432" marB="27432" anchor="ctr">
                    <a:solidFill>
                      <a:srgbClr val="003054"/>
                    </a:solidFill>
                  </a:tcPr>
                </a:tc>
                <a:extLst>
                  <a:ext uri="{0D108BD9-81ED-4DB2-BD59-A6C34878D82A}">
                    <a16:rowId xmlns:a16="http://schemas.microsoft.com/office/drawing/2014/main" val="10000"/>
                  </a:ext>
                </a:extLst>
              </a:tr>
              <a:tr h="579120">
                <a:tc>
                  <a:txBody>
                    <a:bodyPr/>
                    <a:lstStyle/>
                    <a:p>
                      <a:r>
                        <a:rPr sz="1300" b="0" i="0">
                          <a:solidFill>
                            <a:srgbClr val="222A33"/>
                          </a:solidFill>
                          <a:latin typeface="Calibri"/>
                        </a:rPr>
                        <a:t>Shutdown</a:t>
                      </a:r>
                    </a:p>
                  </a:txBody>
                  <a:tcPr marL="73152" marR="73152" marT="27432" marB="27432" anchor="ctr">
                    <a:solidFill>
                      <a:srgbClr val="FFFFFF"/>
                    </a:solidFill>
                  </a:tcPr>
                </a:tc>
                <a:tc>
                  <a:txBody>
                    <a:bodyPr/>
                    <a:lstStyle/>
                    <a:p>
                      <a:r>
                        <a:rPr sz="1300" b="0" i="0">
                          <a:solidFill>
                            <a:srgbClr val="222A33"/>
                          </a:solidFill>
                          <a:latin typeface="Calibri"/>
                        </a:rPr>
                        <a:t>Port is disabled entirely the moment a violation occurs</a:t>
                      </a:r>
                    </a:p>
                  </a:txBody>
                  <a:tcPr marL="73152" marR="73152" marT="27432" marB="27432" anchor="ctr">
                    <a:solidFill>
                      <a:srgbClr val="FFFFFF"/>
                    </a:solidFill>
                  </a:tcPr>
                </a:tc>
                <a:tc>
                  <a:txBody>
                    <a:bodyPr/>
                    <a:lstStyle/>
                    <a:p>
                      <a:r>
                        <a:rPr sz="1300" b="0" i="0">
                          <a:solidFill>
                            <a:srgbClr val="222A33"/>
                          </a:solidFill>
                          <a:latin typeface="Calibri"/>
                        </a:rPr>
                        <a:t>Preventive — stops the traffic outright</a:t>
                      </a:r>
                    </a:p>
                  </a:txBody>
                  <a:tcPr marL="73152" marR="73152" marT="27432" marB="27432" anchor="ctr">
                    <a:solidFill>
                      <a:srgbClr val="FFFFFF"/>
                    </a:solidFill>
                  </a:tcPr>
                </a:tc>
                <a:extLst>
                  <a:ext uri="{0D108BD9-81ED-4DB2-BD59-A6C34878D82A}">
                    <a16:rowId xmlns:a16="http://schemas.microsoft.com/office/drawing/2014/main" val="10001"/>
                  </a:ext>
                </a:extLst>
              </a:tr>
              <a:tr h="579120">
                <a:tc>
                  <a:txBody>
                    <a:bodyPr/>
                    <a:lstStyle/>
                    <a:p>
                      <a:r>
                        <a:rPr sz="1300" b="0" i="0">
                          <a:solidFill>
                            <a:srgbClr val="222A33"/>
                          </a:solidFill>
                          <a:latin typeface="Calibri"/>
                        </a:rPr>
                        <a:t>Restrict</a:t>
                      </a:r>
                    </a:p>
                  </a:txBody>
                  <a:tcPr marL="73152" marR="73152" marT="27432" marB="27432" anchor="ctr">
                    <a:solidFill>
                      <a:srgbClr val="F2F4F7"/>
                    </a:solidFill>
                  </a:tcPr>
                </a:tc>
                <a:tc>
                  <a:txBody>
                    <a:bodyPr/>
                    <a:lstStyle/>
                    <a:p>
                      <a:r>
                        <a:rPr sz="1300" b="0" i="0">
                          <a:solidFill>
                            <a:srgbClr val="222A33"/>
                          </a:solidFill>
                          <a:latin typeface="Calibri"/>
                        </a:rPr>
                        <a:t>Violating traffic is dropped, but the port stays up and a log/alert is generated</a:t>
                      </a:r>
                    </a:p>
                  </a:txBody>
                  <a:tcPr marL="73152" marR="73152" marT="27432" marB="27432" anchor="ctr">
                    <a:solidFill>
                      <a:srgbClr val="F2F4F7"/>
                    </a:solidFill>
                  </a:tcPr>
                </a:tc>
                <a:tc>
                  <a:txBody>
                    <a:bodyPr/>
                    <a:lstStyle/>
                    <a:p>
                      <a:r>
                        <a:rPr sz="1300" b="0" i="0">
                          <a:solidFill>
                            <a:srgbClr val="222A33"/>
                          </a:solidFill>
                          <a:latin typeface="Calibri"/>
                        </a:rPr>
                        <a:t>Detective — the value is now the visibility, not the block</a:t>
                      </a:r>
                    </a:p>
                  </a:txBody>
                  <a:tcPr marL="73152" marR="73152" marT="27432" marB="27432" anchor="ctr">
                    <a:solidFill>
                      <a:srgbClr val="F2F4F7"/>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548640" y="3657600"/>
            <a:ext cx="11064240" cy="2331720"/>
          </a:xfrm>
          <a:prstGeom prst="rect">
            <a:avLst/>
          </a:prstGeom>
          <a:noFill/>
        </p:spPr>
        <p:txBody>
          <a:bodyPr wrap="square">
            <a:spAutoFit/>
          </a:bodyPr>
          <a:lstStyle/>
          <a:p>
            <a:pPr marL="201168" indent="-201168">
              <a:spcAft>
                <a:spcPts val="700"/>
              </a:spcAft>
              <a:buFont typeface="Arial"/>
              <a:buChar char="–"/>
            </a:pPr>
            <a:r>
              <a:rPr sz="1350" b="0" i="0">
                <a:solidFill>
                  <a:srgbClr val="222A33"/>
                </a:solidFill>
                <a:latin typeface="Calibri"/>
              </a:rPr>
              <a:t>One keyword change moves the same feature from one column of Week 2's function taxonomy to another — the technology didn't change, only what it's actually doing for you did.</a:t>
            </a:r>
          </a:p>
          <a:p>
            <a:pPr marL="201168" indent="-201168">
              <a:spcAft>
                <a:spcPts val="700"/>
              </a:spcAft>
              <a:buFont typeface="Arial"/>
              <a:buChar char="–"/>
            </a:pPr>
            <a:r>
              <a:rPr sz="1350" b="0" i="0">
                <a:solidFill>
                  <a:srgbClr val="222A33"/>
                </a:solidFill>
                <a:latin typeface="Calibri"/>
              </a:rPr>
              <a:t>Physical security can do the same job as several technical controls at once: if an attacker cannot physically reach a switch port or a cable, CAM table attacks, ARP spoofing, MAC spoofing, and rogue DHCP are all simultaneously off the table, without a single line of configuration.</a:t>
            </a:r>
          </a:p>
          <a:p>
            <a:pPr marL="201168" indent="-201168">
              <a:spcAft>
                <a:spcPts val="700"/>
              </a:spcAft>
              <a:buFont typeface="Arial"/>
              <a:buChar char="–"/>
            </a:pPr>
            <a:r>
              <a:rPr sz="1350" b="0" i="0">
                <a:solidFill>
                  <a:srgbClr val="222A33"/>
                </a:solidFill>
                <a:latin typeface="Calibri"/>
              </a:rPr>
              <a:t>Neither of these is free, though. A stricter violation action can lock out legitimate devices; locked comms rooms and cable conduit cost money and slow down routine maintenance. Every mitigation trades security for some kind of cost, not just whether it ‘works.’</a:t>
            </a:r>
          </a:p>
          <a:p>
            <a:pPr marL="201168" indent="-201168">
              <a:spcAft>
                <a:spcPts val="800"/>
              </a:spcAft>
              <a:buFont typeface="Arial"/>
              <a:buChar char="–"/>
            </a:pPr>
            <a:r>
              <a:rPr sz="1400" b="1" i="0">
                <a:solidFill>
                  <a:srgbClr val="003054"/>
                </a:solidFill>
                <a:latin typeface="Calibri"/>
              </a:rPr>
              <a:t>That's exactly what the next exercise asks you to work through.</a:t>
            </a:r>
          </a:p>
        </p:txBody>
      </p:sp>
    </p:spTree>
    <p:extLst>
      <p:ext uri="{BB962C8B-B14F-4D97-AF65-F5344CB8AC3E}">
        <p14:creationId xmlns:p14="http://schemas.microsoft.com/office/powerpoint/2010/main" val="40228403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Exercise: Costing Out Layer 2 Mitigations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IN-CLASS ACTIVITY</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In your groups, take the mitigation techniques covered across today's Layer 2 attacks (including MAC address spoofing) and rate each one across three cost dimensions.</a:t>
            </a:r>
          </a:p>
          <a:p>
            <a:pPr marL="201168" indent="-201168">
              <a:spcAft>
                <a:spcPts val="1200"/>
              </a:spcAft>
              <a:buFont typeface="Arial"/>
              <a:buChar char="–"/>
            </a:pPr>
            <a:r>
              <a:rPr sz="1700" b="0" i="0">
                <a:solidFill>
                  <a:srgbClr val="222A33"/>
                </a:solidFill>
                <a:latin typeface="Calibri"/>
              </a:rPr>
              <a:t>Financial Cost — licensing, hardware, and ongoing costs to acquire and run the control.</a:t>
            </a:r>
          </a:p>
          <a:p>
            <a:pPr marL="201168" indent="-201168">
              <a:spcAft>
                <a:spcPts val="1200"/>
              </a:spcAft>
              <a:buFont typeface="Arial"/>
              <a:buChar char="–"/>
            </a:pPr>
            <a:r>
              <a:rPr sz="1700" b="0" i="0">
                <a:solidFill>
                  <a:srgbClr val="222A33"/>
                </a:solidFill>
                <a:latin typeface="Calibri"/>
              </a:rPr>
              <a:t>Configuration Cost — how much time and complexity it takes to set up correctly, including the risk of getting it wrong.</a:t>
            </a:r>
          </a:p>
          <a:p>
            <a:pPr marL="201168" indent="-201168">
              <a:spcAft>
                <a:spcPts val="1200"/>
              </a:spcAft>
              <a:buFont typeface="Arial"/>
              <a:buChar char="–"/>
            </a:pPr>
            <a:r>
              <a:rPr sz="1700" b="0" i="0">
                <a:solidFill>
                  <a:srgbClr val="222A33"/>
                </a:solidFill>
                <a:latin typeface="Calibri"/>
              </a:rPr>
              <a:t>Computational Cost — the processing/performance overhead the control adds to switches and the network.</a:t>
            </a:r>
          </a:p>
          <a:p>
            <a:pPr marL="201168" indent="-201168">
              <a:spcAft>
                <a:spcPts val="1200"/>
              </a:spcAft>
              <a:buFont typeface="Arial"/>
              <a:buChar char="–"/>
            </a:pPr>
            <a:r>
              <a:rPr sz="1700" b="0" i="0">
                <a:solidFill>
                  <a:srgbClr val="222A33"/>
                </a:solidFill>
                <a:latin typeface="Calibri"/>
              </a:rPr>
              <a:t>Use a simple scale for each: None, Low, Medium, or High.</a:t>
            </a:r>
          </a:p>
          <a:p>
            <a:pPr marL="201168" indent="-201168">
              <a:spcAft>
                <a:spcPts val="1200"/>
              </a:spcAft>
              <a:buFont typeface="Arial"/>
              <a:buChar char="–"/>
            </a:pPr>
            <a:r>
              <a:rPr sz="1700" b="0" i="0">
                <a:solidFill>
                  <a:srgbClr val="222A33"/>
                </a:solidFill>
                <a:latin typeface="Calibri"/>
              </a:rPr>
              <a:t>Be ready to justify at least two of your ratings to the class — why that rating, and what would change it?</a:t>
            </a:r>
          </a:p>
        </p:txBody>
      </p:sp>
      <p:sp>
        <p:nvSpPr>
          <p:cNvPr id="5" name="TextBox 4"/>
          <p:cNvSpPr txBox="1"/>
          <p:nvPr/>
        </p:nvSpPr>
        <p:spPr>
          <a:xfrm>
            <a:off x="731520" y="5394960"/>
            <a:ext cx="10698480" cy="548640"/>
          </a:xfrm>
          <a:prstGeom prst="rect">
            <a:avLst/>
          </a:prstGeom>
          <a:noFill/>
        </p:spPr>
        <p:txBody>
          <a:bodyPr wrap="square">
            <a:spAutoFit/>
          </a:bodyPr>
          <a:lstStyle/>
          <a:p>
            <a:r>
              <a:rPr sz="1400" b="0" i="1">
                <a:solidFill>
                  <a:srgbClr val="6B7682"/>
                </a:solidFill>
                <a:latin typeface="Calibri"/>
              </a:rPr>
              <a:t>This connects directly to LO2: evaluating a mitigation isn't just about whether it works, it's about whether it's worth deploying given real-world constraints.</a:t>
            </a:r>
          </a:p>
        </p:txBody>
      </p:sp>
    </p:spTree>
    <p:extLst>
      <p:ext uri="{BB962C8B-B14F-4D97-AF65-F5344CB8AC3E}">
        <p14:creationId xmlns:p14="http://schemas.microsoft.com/office/powerpoint/2010/main" val="2745889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Exercise Worksheet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IN-CLASS ACTIVITY</a:t>
            </a:r>
          </a:p>
        </p:txBody>
      </p:sp>
      <p:graphicFrame>
        <p:nvGraphicFramePr>
          <p:cNvPr id="4" name="Table 3"/>
          <p:cNvGraphicFramePr>
            <a:graphicFrameLocks noGrp="1"/>
          </p:cNvGraphicFramePr>
          <p:nvPr/>
        </p:nvGraphicFramePr>
        <p:xfrm>
          <a:off x="457200" y="1783080"/>
          <a:ext cx="11247120" cy="4206240"/>
        </p:xfrm>
        <a:graphic>
          <a:graphicData uri="http://schemas.openxmlformats.org/drawingml/2006/table">
            <a:tbl>
              <a:tblPr firstRow="1" bandRow="1">
                <a:tableStyleId>{5C22544A-7EE6-4342-B048-85BDC9FD1C3A}</a:tableStyleId>
              </a:tblPr>
              <a:tblGrid>
                <a:gridCol w="4846320">
                  <a:extLst>
                    <a:ext uri="{9D8B030D-6E8A-4147-A177-3AD203B41FA5}">
                      <a16:colId xmlns:a16="http://schemas.microsoft.com/office/drawing/2014/main" val="20000"/>
                    </a:ext>
                  </a:extLst>
                </a:gridCol>
                <a:gridCol w="2130552">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gridCol w="2139696">
                  <a:extLst>
                    <a:ext uri="{9D8B030D-6E8A-4147-A177-3AD203B41FA5}">
                      <a16:colId xmlns:a16="http://schemas.microsoft.com/office/drawing/2014/main" val="20003"/>
                    </a:ext>
                  </a:extLst>
                </a:gridCol>
              </a:tblGrid>
              <a:tr h="525780">
                <a:tc>
                  <a:txBody>
                    <a:bodyPr/>
                    <a:lstStyle/>
                    <a:p>
                      <a:r>
                        <a:rPr sz="1300" b="1" i="0">
                          <a:solidFill>
                            <a:srgbClr val="FFFFFF"/>
                          </a:solidFill>
                          <a:latin typeface="Calibri"/>
                        </a:rPr>
                        <a:t>Mitigation Technique</a:t>
                      </a:r>
                    </a:p>
                  </a:txBody>
                  <a:tcPr marL="73152" marR="73152" marT="27432" marB="27432" anchor="ctr">
                    <a:solidFill>
                      <a:srgbClr val="003054"/>
                    </a:solidFill>
                  </a:tcPr>
                </a:tc>
                <a:tc>
                  <a:txBody>
                    <a:bodyPr/>
                    <a:lstStyle/>
                    <a:p>
                      <a:r>
                        <a:rPr sz="1300" b="1" i="0">
                          <a:solidFill>
                            <a:srgbClr val="FFFFFF"/>
                          </a:solidFill>
                          <a:latin typeface="Calibri"/>
                        </a:rPr>
                        <a:t>Financial Cost</a:t>
                      </a:r>
                    </a:p>
                  </a:txBody>
                  <a:tcPr marL="73152" marR="73152" marT="27432" marB="27432" anchor="ctr">
                    <a:solidFill>
                      <a:srgbClr val="003054"/>
                    </a:solidFill>
                  </a:tcPr>
                </a:tc>
                <a:tc>
                  <a:txBody>
                    <a:bodyPr/>
                    <a:lstStyle/>
                    <a:p>
                      <a:r>
                        <a:rPr sz="1300" b="1" i="0">
                          <a:solidFill>
                            <a:srgbClr val="FFFFFF"/>
                          </a:solidFill>
                          <a:latin typeface="Calibri"/>
                        </a:rPr>
                        <a:t>Configuration Cost</a:t>
                      </a:r>
                    </a:p>
                  </a:txBody>
                  <a:tcPr marL="73152" marR="73152" marT="27432" marB="27432" anchor="ctr">
                    <a:solidFill>
                      <a:srgbClr val="003054"/>
                    </a:solidFill>
                  </a:tcPr>
                </a:tc>
                <a:tc>
                  <a:txBody>
                    <a:bodyPr/>
                    <a:lstStyle/>
                    <a:p>
                      <a:r>
                        <a:rPr sz="1300" b="1" i="0">
                          <a:solidFill>
                            <a:srgbClr val="FFFFFF"/>
                          </a:solidFill>
                          <a:latin typeface="Calibri"/>
                        </a:rPr>
                        <a:t>Computational Cost</a:t>
                      </a:r>
                    </a:p>
                  </a:txBody>
                  <a:tcPr marL="73152" marR="73152" marT="27432" marB="27432" anchor="ctr">
                    <a:solidFill>
                      <a:srgbClr val="003054"/>
                    </a:solidFill>
                  </a:tcPr>
                </a:tc>
                <a:extLst>
                  <a:ext uri="{0D108BD9-81ED-4DB2-BD59-A6C34878D82A}">
                    <a16:rowId xmlns:a16="http://schemas.microsoft.com/office/drawing/2014/main" val="10000"/>
                  </a:ext>
                </a:extLst>
              </a:tr>
              <a:tr h="525780">
                <a:tc>
                  <a:txBody>
                    <a:bodyPr/>
                    <a:lstStyle/>
                    <a:p>
                      <a:r>
                        <a:rPr sz="1300" b="0" i="0">
                          <a:solidFill>
                            <a:srgbClr val="222A33"/>
                          </a:solidFill>
                          <a:latin typeface="Calibri"/>
                        </a:rPr>
                        <a:t>Port Security (sticky MAC + violation action)</a:t>
                      </a: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extLst>
                  <a:ext uri="{0D108BD9-81ED-4DB2-BD59-A6C34878D82A}">
                    <a16:rowId xmlns:a16="http://schemas.microsoft.com/office/drawing/2014/main" val="10001"/>
                  </a:ext>
                </a:extLst>
              </a:tr>
              <a:tr h="525780">
                <a:tc>
                  <a:txBody>
                    <a:bodyPr/>
                    <a:lstStyle/>
                    <a:p>
                      <a:r>
                        <a:rPr sz="1300" b="0" i="0">
                          <a:solidFill>
                            <a:srgbClr val="222A33"/>
                          </a:solidFill>
                          <a:latin typeface="Calibri"/>
                        </a:rPr>
                        <a:t>Disable DTP / manual trunk-access mode</a:t>
                      </a:r>
                    </a:p>
                  </a:txBody>
                  <a:tcPr marL="73152" marR="73152" marT="27432" marB="27432" anchor="ctr">
                    <a:solidFill>
                      <a:srgbClr val="F2F4F7"/>
                    </a:solidFill>
                  </a:tcPr>
                </a:tc>
                <a:tc>
                  <a:txBody>
                    <a:bodyPr/>
                    <a:lstStyle/>
                    <a:p>
                      <a:endParaRPr/>
                    </a:p>
                  </a:txBody>
                  <a:tcPr marL="73152" marR="73152" marT="27432" marB="27432" anchor="ctr">
                    <a:solidFill>
                      <a:srgbClr val="F2F4F7"/>
                    </a:solidFill>
                  </a:tcPr>
                </a:tc>
                <a:tc>
                  <a:txBody>
                    <a:bodyPr/>
                    <a:lstStyle/>
                    <a:p>
                      <a:endParaRPr/>
                    </a:p>
                  </a:txBody>
                  <a:tcPr marL="73152" marR="73152" marT="27432" marB="27432" anchor="ctr">
                    <a:solidFill>
                      <a:srgbClr val="F2F4F7"/>
                    </a:solidFill>
                  </a:tcPr>
                </a:tc>
                <a:tc>
                  <a:txBody>
                    <a:bodyPr/>
                    <a:lstStyle/>
                    <a:p>
                      <a:endParaRPr/>
                    </a:p>
                  </a:txBody>
                  <a:tcPr marL="73152" marR="73152" marT="27432" marB="27432" anchor="ctr">
                    <a:solidFill>
                      <a:srgbClr val="F2F4F7"/>
                    </a:solidFill>
                  </a:tcPr>
                </a:tc>
                <a:extLst>
                  <a:ext uri="{0D108BD9-81ED-4DB2-BD59-A6C34878D82A}">
                    <a16:rowId xmlns:a16="http://schemas.microsoft.com/office/drawing/2014/main" val="10002"/>
                  </a:ext>
                </a:extLst>
              </a:tr>
              <a:tr h="525780">
                <a:tc>
                  <a:txBody>
                    <a:bodyPr/>
                    <a:lstStyle/>
                    <a:p>
                      <a:r>
                        <a:rPr sz="1300" b="0" i="0">
                          <a:solidFill>
                            <a:srgbClr val="222A33"/>
                          </a:solidFill>
                          <a:latin typeface="Calibri"/>
                        </a:rPr>
                        <a:t>Native VLAN hardening (move off VLAN 1 + explicit tagging)</a:t>
                      </a: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extLst>
                  <a:ext uri="{0D108BD9-81ED-4DB2-BD59-A6C34878D82A}">
                    <a16:rowId xmlns:a16="http://schemas.microsoft.com/office/drawing/2014/main" val="10003"/>
                  </a:ext>
                </a:extLst>
              </a:tr>
              <a:tr h="525780">
                <a:tc>
                  <a:txBody>
                    <a:bodyPr/>
                    <a:lstStyle/>
                    <a:p>
                      <a:r>
                        <a:rPr sz="1300" b="0" i="0">
                          <a:solidFill>
                            <a:srgbClr val="222A33"/>
                          </a:solidFill>
                          <a:latin typeface="Calibri"/>
                        </a:rPr>
                        <a:t>DHCP Snooping</a:t>
                      </a:r>
                    </a:p>
                  </a:txBody>
                  <a:tcPr marL="73152" marR="73152" marT="27432" marB="27432" anchor="ctr">
                    <a:solidFill>
                      <a:srgbClr val="F2F4F7"/>
                    </a:solidFill>
                  </a:tcPr>
                </a:tc>
                <a:tc>
                  <a:txBody>
                    <a:bodyPr/>
                    <a:lstStyle/>
                    <a:p>
                      <a:endParaRPr/>
                    </a:p>
                  </a:txBody>
                  <a:tcPr marL="73152" marR="73152" marT="27432" marB="27432" anchor="ctr">
                    <a:solidFill>
                      <a:srgbClr val="F2F4F7"/>
                    </a:solidFill>
                  </a:tcPr>
                </a:tc>
                <a:tc>
                  <a:txBody>
                    <a:bodyPr/>
                    <a:lstStyle/>
                    <a:p>
                      <a:endParaRPr/>
                    </a:p>
                  </a:txBody>
                  <a:tcPr marL="73152" marR="73152" marT="27432" marB="27432" anchor="ctr">
                    <a:solidFill>
                      <a:srgbClr val="F2F4F7"/>
                    </a:solidFill>
                  </a:tcPr>
                </a:tc>
                <a:tc>
                  <a:txBody>
                    <a:bodyPr/>
                    <a:lstStyle/>
                    <a:p>
                      <a:endParaRPr/>
                    </a:p>
                  </a:txBody>
                  <a:tcPr marL="73152" marR="73152" marT="27432" marB="27432" anchor="ctr">
                    <a:solidFill>
                      <a:srgbClr val="F2F4F7"/>
                    </a:solidFill>
                  </a:tcPr>
                </a:tc>
                <a:extLst>
                  <a:ext uri="{0D108BD9-81ED-4DB2-BD59-A6C34878D82A}">
                    <a16:rowId xmlns:a16="http://schemas.microsoft.com/office/drawing/2014/main" val="10004"/>
                  </a:ext>
                </a:extLst>
              </a:tr>
              <a:tr h="525780">
                <a:tc>
                  <a:txBody>
                    <a:bodyPr/>
                    <a:lstStyle/>
                    <a:p>
                      <a:r>
                        <a:rPr sz="1300" b="0" i="0">
                          <a:solidFill>
                            <a:srgbClr val="222A33"/>
                          </a:solidFill>
                          <a:latin typeface="Calibri"/>
                        </a:rPr>
                        <a:t>Dynamic ARP Inspection (DAI)</a:t>
                      </a: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extLst>
                  <a:ext uri="{0D108BD9-81ED-4DB2-BD59-A6C34878D82A}">
                    <a16:rowId xmlns:a16="http://schemas.microsoft.com/office/drawing/2014/main" val="10005"/>
                  </a:ext>
                </a:extLst>
              </a:tr>
              <a:tr h="525780">
                <a:tc>
                  <a:txBody>
                    <a:bodyPr/>
                    <a:lstStyle/>
                    <a:p>
                      <a:r>
                        <a:rPr sz="1300" b="0" i="0">
                          <a:solidFill>
                            <a:srgbClr val="222A33"/>
                          </a:solidFill>
                          <a:latin typeface="Calibri"/>
                        </a:rPr>
                        <a:t>802.1X / centralised AAA authentication</a:t>
                      </a:r>
                    </a:p>
                  </a:txBody>
                  <a:tcPr marL="73152" marR="73152" marT="27432" marB="27432" anchor="ctr">
                    <a:solidFill>
                      <a:srgbClr val="F2F4F7"/>
                    </a:solidFill>
                  </a:tcPr>
                </a:tc>
                <a:tc>
                  <a:txBody>
                    <a:bodyPr/>
                    <a:lstStyle/>
                    <a:p>
                      <a:endParaRPr/>
                    </a:p>
                  </a:txBody>
                  <a:tcPr marL="73152" marR="73152" marT="27432" marB="27432" anchor="ctr">
                    <a:solidFill>
                      <a:srgbClr val="F2F4F7"/>
                    </a:solidFill>
                  </a:tcPr>
                </a:tc>
                <a:tc>
                  <a:txBody>
                    <a:bodyPr/>
                    <a:lstStyle/>
                    <a:p>
                      <a:endParaRPr/>
                    </a:p>
                  </a:txBody>
                  <a:tcPr marL="73152" marR="73152" marT="27432" marB="27432" anchor="ctr">
                    <a:solidFill>
                      <a:srgbClr val="F2F4F7"/>
                    </a:solidFill>
                  </a:tcPr>
                </a:tc>
                <a:tc>
                  <a:txBody>
                    <a:bodyPr/>
                    <a:lstStyle/>
                    <a:p>
                      <a:endParaRPr/>
                    </a:p>
                  </a:txBody>
                  <a:tcPr marL="73152" marR="73152" marT="27432" marB="27432" anchor="ctr">
                    <a:solidFill>
                      <a:srgbClr val="F2F4F7"/>
                    </a:solidFill>
                  </a:tcPr>
                </a:tc>
                <a:extLst>
                  <a:ext uri="{0D108BD9-81ED-4DB2-BD59-A6C34878D82A}">
                    <a16:rowId xmlns:a16="http://schemas.microsoft.com/office/drawing/2014/main" val="10006"/>
                  </a:ext>
                </a:extLst>
              </a:tr>
              <a:tr h="525780">
                <a:tc>
                  <a:txBody>
                    <a:bodyPr/>
                    <a:lstStyle/>
                    <a:p>
                      <a:r>
                        <a:rPr sz="1300" b="0" i="0">
                          <a:solidFill>
                            <a:srgbClr val="222A33"/>
                          </a:solidFill>
                          <a:latin typeface="Calibri"/>
                        </a:rPr>
                        <a:t>Static ARP entries (small networks only)</a:t>
                      </a: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tc>
                  <a:txBody>
                    <a:bodyPr/>
                    <a:lstStyle/>
                    <a:p>
                      <a:endParaRP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457200" y="6126480"/>
            <a:ext cx="11247120" cy="365760"/>
          </a:xfrm>
          <a:prstGeom prst="rect">
            <a:avLst/>
          </a:prstGeom>
          <a:noFill/>
        </p:spPr>
        <p:txBody>
          <a:bodyPr wrap="square">
            <a:spAutoFit/>
          </a:bodyPr>
          <a:lstStyle/>
          <a:p>
            <a:r>
              <a:rPr sz="1200" b="0" i="1">
                <a:solidFill>
                  <a:srgbClr val="6B7682"/>
                </a:solidFill>
                <a:latin typeface="Calibri"/>
              </a:rPr>
              <a:t>Fill in None / Low / Medium / High for each cell.</a:t>
            </a:r>
          </a:p>
        </p:txBody>
      </p:sp>
    </p:spTree>
    <p:extLst>
      <p:ext uri="{BB962C8B-B14F-4D97-AF65-F5344CB8AC3E}">
        <p14:creationId xmlns:p14="http://schemas.microsoft.com/office/powerpoint/2010/main" val="29774524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600" b="1" i="0">
                <a:solidFill>
                  <a:srgbClr val="FFFFFF"/>
                </a:solidFill>
                <a:latin typeface="Cambria"/>
              </a:rPr>
              <a:t>Layered Defense at Layer 2</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SUMMARY</a:t>
            </a:r>
          </a:p>
        </p:txBody>
      </p:sp>
      <p:sp>
        <p:nvSpPr>
          <p:cNvPr id="4" name="TextBox 3"/>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No single control here covers every attack — exactly the layered-defense principle from Week 2, applied specifically to Layer 2.</a:t>
            </a:r>
          </a:p>
          <a:p>
            <a:pPr marL="201168" indent="-201168">
              <a:spcAft>
                <a:spcPts val="1200"/>
              </a:spcAft>
              <a:buFont typeface="Arial"/>
              <a:buChar char="–"/>
            </a:pPr>
            <a:r>
              <a:rPr sz="1700" b="0" i="0">
                <a:solidFill>
                  <a:srgbClr val="222A33"/>
                </a:solidFill>
                <a:latin typeface="Calibri"/>
              </a:rPr>
              <a:t>A practical baseline: port security on every access port, DTP disabled everywhere, native VLAN moved off VLAN 1, DHCP snooping enabled, and DAI layered on top.</a:t>
            </a:r>
          </a:p>
          <a:p>
            <a:pPr marL="201168" indent="-201168">
              <a:spcAft>
                <a:spcPts val="1200"/>
              </a:spcAft>
              <a:buFont typeface="Arial"/>
              <a:buChar char="–"/>
            </a:pPr>
            <a:r>
              <a:rPr sz="1700" b="0" i="0">
                <a:solidFill>
                  <a:srgbClr val="222A33"/>
                </a:solidFill>
                <a:latin typeface="Calibri"/>
              </a:rPr>
              <a:t>This baseline is what you'll configure hands-on in this week's lab — port security, DHCP snooping, and DAI together on a small topology.</a:t>
            </a:r>
          </a:p>
          <a:p>
            <a:pPr marL="201168" indent="-201168">
              <a:spcAft>
                <a:spcPts val="1200"/>
              </a:spcAft>
              <a:buFont typeface="Arial"/>
              <a:buChar char="–"/>
            </a:pPr>
            <a:r>
              <a:rPr sz="1700" b="0" i="0">
                <a:solidFill>
                  <a:srgbClr val="222A33"/>
                </a:solidFill>
                <a:latin typeface="Calibri"/>
              </a:rPr>
              <a:t>Evaluating *which* of these to prioritise for a given network — balancing security against operational complexity — is exactly the LO2 reasoning this module is building toward.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Summary</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600" b="0" i="0">
                <a:solidFill>
                  <a:srgbClr val="222A33"/>
                </a:solidFill>
                <a:latin typeface="Calibri"/>
              </a:rPr>
              <a:t>Layer 2 protocols were built for trust, not verification — that gap is what every attack today exploited.</a:t>
            </a:r>
          </a:p>
          <a:p>
            <a:pPr marL="201168" indent="-201168">
              <a:spcAft>
                <a:spcPts val="1200"/>
              </a:spcAft>
              <a:buFont typeface="Arial"/>
              <a:buChar char="–"/>
            </a:pPr>
            <a:r>
              <a:rPr sz="1600" b="0" i="0">
                <a:solidFill>
                  <a:srgbClr val="222A33"/>
                </a:solidFill>
                <a:latin typeface="Calibri"/>
              </a:rPr>
              <a:t>CAM table attacks abuse a switch's fail-open design; VLAN hopping abuses trunk negotiation and native-VLAN handling; DHCP and ARP attacks abuse the total absence of authentication in both protocols.</a:t>
            </a:r>
          </a:p>
          <a:p>
            <a:pPr marL="201168" indent="-201168">
              <a:spcAft>
                <a:spcPts val="1200"/>
              </a:spcAft>
              <a:buFont typeface="Arial"/>
              <a:buChar char="–"/>
            </a:pPr>
            <a:r>
              <a:rPr sz="1600" b="0" i="0">
                <a:solidFill>
                  <a:srgbClr val="222A33"/>
                </a:solidFill>
                <a:latin typeface="Calibri"/>
              </a:rPr>
              <a:t>Mitigations range from a single config line (disabling DTP) to a small dependent chain (DHCP snooping enabling Dynamic ARP Inspection) — evaluating that trade-off is the LO2 skill.</a:t>
            </a:r>
          </a:p>
          <a:p>
            <a:pPr marL="201168" indent="-201168">
              <a:spcAft>
                <a:spcPts val="1200"/>
              </a:spcAft>
              <a:buFont typeface="Arial"/>
              <a:buChar char="–"/>
            </a:pPr>
            <a:r>
              <a:rPr sz="1600" b="0" i="0">
                <a:solidFill>
                  <a:srgbClr val="222A33"/>
                </a:solidFill>
                <a:latin typeface="Calibri"/>
              </a:rPr>
              <a:t>Layered defense isn't just a Layer 3+ concept — it applies just as much within a single switch.</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This Week's Lab &amp; Tutorial</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Lab (runs in the Week 4 session, based on this lecture): configure port security, DHCP snooping, and Dynamic ARP Inspection on a small Packet Tracer topology, then verify each with the appropriate show commands.</a:t>
            </a:r>
          </a:p>
          <a:p>
            <a:pPr marL="201168" indent="-201168">
              <a:spcAft>
                <a:spcPts val="1200"/>
              </a:spcAft>
              <a:buFont typeface="Arial"/>
              <a:buChar char="–"/>
            </a:pPr>
            <a:r>
              <a:rPr sz="1700" b="0" i="0">
                <a:solidFill>
                  <a:srgbClr val="222A33"/>
                </a:solidFill>
                <a:latin typeface="Calibri"/>
              </a:rPr>
              <a:t>Tutorial worksheet: study-notes-style questions covering VLANs, all six attacks, and their mitigations — use it to prep for the mid-semester test.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References</a:t>
            </a:r>
          </a:p>
        </p:txBody>
      </p:sp>
      <p:sp>
        <p:nvSpPr>
          <p:cNvPr id="3" name="TextBox 2"/>
          <p:cNvSpPr txBox="1"/>
          <p:nvPr/>
        </p:nvSpPr>
        <p:spPr>
          <a:xfrm>
            <a:off x="731520" y="1828800"/>
            <a:ext cx="10698480" cy="4114800"/>
          </a:xfrm>
          <a:prstGeom prst="rect">
            <a:avLst/>
          </a:prstGeom>
          <a:noFill/>
        </p:spPr>
        <p:txBody>
          <a:bodyPr wrap="square">
            <a:spAutoFit/>
          </a:bodyPr>
          <a:lstStyle/>
          <a:p>
            <a:pPr marL="201168" indent="-201168">
              <a:spcAft>
                <a:spcPts val="1200"/>
              </a:spcAft>
              <a:buFont typeface="Arial"/>
              <a:buChar char="–"/>
            </a:pPr>
            <a:r>
              <a:rPr sz="1700" b="0" i="0">
                <a:solidFill>
                  <a:srgbClr val="222A33"/>
                </a:solidFill>
                <a:latin typeface="Calibri"/>
              </a:rPr>
              <a:t>Santos &amp; Stuppi, CCNA Security 210-260 Official Cert Guide, 1st Ed., Cisco Press.</a:t>
            </a:r>
          </a:p>
          <a:p>
            <a:pPr marL="201168" indent="-201168">
              <a:spcAft>
                <a:spcPts val="1200"/>
              </a:spcAft>
              <a:buFont typeface="Arial"/>
              <a:buChar char="–"/>
            </a:pPr>
            <a:r>
              <a:rPr sz="1700" b="0" i="0">
                <a:solidFill>
                  <a:srgbClr val="222A33"/>
                </a:solidFill>
                <a:latin typeface="Calibri"/>
              </a:rPr>
              <a:t>Kaufman, Perlman, Speciner &amp; Perlner, Network Security: Private Communication in a Public World, 3rd Ed., Prentice Hall.</a:t>
            </a:r>
          </a:p>
          <a:p>
            <a:pPr marL="201168" indent="-201168">
              <a:spcAft>
                <a:spcPts val="1200"/>
              </a:spcAft>
              <a:buFont typeface="Arial"/>
              <a:buChar char="–"/>
            </a:pPr>
            <a:r>
              <a:rPr sz="1700" b="0" i="0">
                <a:solidFill>
                  <a:srgbClr val="222A33"/>
                </a:solidFill>
                <a:latin typeface="Calibri"/>
              </a:rPr>
              <a:t>Cisco Networking Academy — CCNA Security curriculum (Layer 2 security chapters).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564</TotalTime>
  <Words>4162</Words>
  <Application>Microsoft Office PowerPoint</Application>
  <PresentationFormat>Widescreen</PresentationFormat>
  <Paragraphs>336</Paragraphs>
  <Slides>46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Aptos</vt:lpstr>
      <vt:lpstr>Aptos Display</vt:lpstr>
      <vt:lpstr>Arial</vt:lpstr>
      <vt:lpstr>Calibri</vt:lpstr>
      <vt:lpstr>Cambria</vt:lpstr>
      <vt:lpstr>Office Theme</vt:lpstr>
      <vt:lpstr>PowerPoint Presentation</vt:lpstr>
      <vt:lpstr>Today's Agenda</vt:lpstr>
      <vt:lpstr>Learning Outcomes for Today</vt:lpstr>
      <vt:lpstr>Layer 2 &amp; VLAN Foundations</vt:lpstr>
      <vt:lpstr>Why Layer 2 Matters in Modern Networks</vt:lpstr>
      <vt:lpstr>VLANs: What and Why</vt:lpstr>
      <vt:lpstr>VLAN Protocols Overview</vt:lpstr>
      <vt:lpstr>Trunking &amp; the Native VLAN</vt:lpstr>
      <vt:lpstr>The Layer 2 Attack Landscape</vt:lpstr>
      <vt:lpstr>Why Attackers Target Layer 2</vt:lpstr>
      <vt:lpstr>Six Attacks at a Glance</vt:lpstr>
      <vt:lpstr>MAC Address Attacks</vt:lpstr>
      <vt:lpstr>MAC Address Spoofing: Overview &amp; Vulnerability</vt:lpstr>
      <vt:lpstr>MAC Address Spoofing: Technique &amp; Impact</vt:lpstr>
      <vt:lpstr>MAC Address Spoofing: Mitigation</vt:lpstr>
      <vt:lpstr>CAM Table Attack: Overview &amp; Vulnerability</vt:lpstr>
      <vt:lpstr>CAM Table Attack: Technique</vt:lpstr>
      <vt:lpstr>CAM Table Attack: Mitigation</vt:lpstr>
      <vt:lpstr>VLAN Hopping Attacks</vt:lpstr>
      <vt:lpstr>VLAN Hopping: Overview</vt:lpstr>
      <vt:lpstr>Switch Spoofing: Vulnerability &amp; Technique</vt:lpstr>
      <vt:lpstr>Double Tagging: Vulnerability &amp; Technique</vt:lpstr>
      <vt:lpstr>VLAN Hopping: Mitigation</vt:lpstr>
      <vt:lpstr>DHCP-Based Attacks</vt:lpstr>
      <vt:lpstr>DHCP Recap: Why It's Vulnerable</vt:lpstr>
      <vt:lpstr>DHCP Starvation: Vulnerability &amp; Technique</vt:lpstr>
      <vt:lpstr>DHCP Spoofing: Vulnerability &amp; Technique</vt:lpstr>
      <vt:lpstr>DHCP Attacks: Mitigation — DHCP Snooping</vt:lpstr>
      <vt:lpstr>DHCP Snooping: Configuration</vt:lpstr>
      <vt:lpstr>ARP Spoofing</vt:lpstr>
      <vt:lpstr>ARP Spoofing: Vulnerability &amp; Technique</vt:lpstr>
      <vt:lpstr>ARP Spoofing: Mitigation — Dynamic ARP Inspection</vt:lpstr>
      <vt:lpstr>Dynamic ARP Inspection: Configuration</vt:lpstr>
      <vt:lpstr>Multi-Function Attacks</vt:lpstr>
      <vt:lpstr>Attacks with Multiple Outcomes (1/2)</vt:lpstr>
      <vt:lpstr>Attacks with Multiple Outcomes (2/2)</vt:lpstr>
      <vt:lpstr>Patterns and Implications</vt:lpstr>
      <vt:lpstr>Bringing It Together</vt:lpstr>
      <vt:lpstr>Full Mitigation Comparison</vt:lpstr>
      <vt:lpstr>Same Control, Different Purpose and Cost</vt:lpstr>
      <vt:lpstr>Exercise: Costing Out Layer 2 Mitigations</vt:lpstr>
      <vt:lpstr>Exercise Worksheet</vt:lpstr>
      <vt:lpstr>Layered Defense at Layer 2</vt:lpstr>
      <vt:lpstr>Summary</vt:lpstr>
      <vt:lpstr>This Week's Lab &amp; Tutorial</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Chathurangika Kahandawaarachchi</dc:creator>
  <cp:lastModifiedBy>Harinda Fernando</cp:lastModifiedBy>
  <cp:revision>201</cp:revision>
  <dcterms:created xsi:type="dcterms:W3CDTF">2026-02-25T14:32:17Z</dcterms:created>
  <dcterms:modified xsi:type="dcterms:W3CDTF">2026-08-13T08:40:13Z</dcterms:modified>
</cp:coreProperties>
</file>