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9" r:id="rId39"/>
    <p:sldId id="300" r:id="rId40"/>
    <p:sldId id="298" r:id="rId41"/>
    <p:sldId id="293" r:id="rId42"/>
    <p:sldId id="294" r:id="rId43"/>
    <p:sldId id="295" r:id="rId44"/>
    <p:sldId id="296" r:id="rId45"/>
    <p:sldId id="297"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260AE"/>
    <a:srgbClr val="EBEFF6"/>
    <a:srgbClr val="FDFDFE"/>
    <a:srgbClr val="C8ECFC"/>
    <a:srgbClr val="003054"/>
    <a:srgbClr val="0070C0"/>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EE4D6C7-50FB-494A-8201-789894EBD533}" v="2" dt="2026-08-13T10:47:12.062"/>
  </p1510:revLst>
</p1510:revInfo>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3969" autoAdjust="0"/>
  </p:normalViewPr>
  <p:slideViewPr>
    <p:cSldViewPr snapToGrid="0">
      <p:cViewPr varScale="1">
        <p:scale>
          <a:sx n="69" d="100"/>
          <a:sy n="69" d="100"/>
        </p:scale>
        <p:origin x="78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microsoft.com/office/2015/10/relationships/revisionInfo" Target="revisionInfo.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inda Fernando" userId="be4c618b-01eb-4ea5-9d4b-17596987021b" providerId="ADAL" clId="{1E0ABD71-AB93-41F5-8129-2081E38250EC}"/>
    <pc:docChg chg="addSld modSld">
      <pc:chgData name="Harinda Fernando" userId="be4c618b-01eb-4ea5-9d4b-17596987021b" providerId="ADAL" clId="{1E0ABD71-AB93-41F5-8129-2081E38250EC}" dt="2026-08-13T10:47:12.062" v="1"/>
      <pc:docMkLst>
        <pc:docMk/>
      </pc:docMkLst>
      <pc:sldChg chg="add">
        <pc:chgData name="Harinda Fernando" userId="be4c618b-01eb-4ea5-9d4b-17596987021b" providerId="ADAL" clId="{1E0ABD71-AB93-41F5-8129-2081E38250EC}" dt="2026-08-13T10:32:41.028" v="0"/>
        <pc:sldMkLst>
          <pc:docMk/>
          <pc:sldMk cId="0" sldId="298"/>
        </pc:sldMkLst>
      </pc:sldChg>
      <pc:sldChg chg="add">
        <pc:chgData name="Harinda Fernando" userId="be4c618b-01eb-4ea5-9d4b-17596987021b" providerId="ADAL" clId="{1E0ABD71-AB93-41F5-8129-2081E38250EC}" dt="2026-08-13T10:47:12.062" v="1"/>
        <pc:sldMkLst>
          <pc:docMk/>
          <pc:sldMk cId="0" sldId="299"/>
        </pc:sldMkLst>
      </pc:sldChg>
      <pc:sldChg chg="add">
        <pc:chgData name="Harinda Fernando" userId="be4c618b-01eb-4ea5-9d4b-17596987021b" providerId="ADAL" clId="{1E0ABD71-AB93-41F5-8129-2081E38250EC}" dt="2026-08-13T10:47:12.062" v="1"/>
        <pc:sldMkLst>
          <pc:docMk/>
          <pc:sldMk cId="0" sldId="30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35A265B-85F9-4AB9-A7F7-F201F3EC6124}" type="datetimeFigureOut">
              <a:rPr lang="en-US" smtClean="0"/>
              <a:t>8/13/2026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EDF255-290D-41DE-BD04-0A7C06A1BC10}" type="slidenum">
              <a:rPr lang="en-US" smtClean="0"/>
              <a:t>‹#›</a:t>
            </a:fld>
            <a:endParaRPr lang="en-US"/>
          </a:p>
        </p:txBody>
      </p:sp>
    </p:spTree>
    <p:extLst>
      <p:ext uri="{BB962C8B-B14F-4D97-AF65-F5344CB8AC3E}">
        <p14:creationId xmlns:p14="http://schemas.microsoft.com/office/powerpoint/2010/main" val="27846368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AC36BA-4D0C-582A-D90D-A5050C3B570A}"/>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50835A14-CC45-415E-91D7-B3908533699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CA3511F-336C-5F04-B406-EAC188B39250}"/>
              </a:ext>
            </a:extLst>
          </p:cNvPr>
          <p:cNvSpPr>
            <a:spLocks noGrp="1"/>
          </p:cNvSpPr>
          <p:nvPr>
            <p:ph type="dt" sz="half" idx="10"/>
          </p:nvPr>
        </p:nvSpPr>
        <p:spPr/>
        <p:txBody>
          <a:bodyPr/>
          <a:lstStyle/>
          <a:p>
            <a:fld id="{DCA9E3F6-6859-4CA3-A09E-D0F7F72ACFE0}" type="datetime1">
              <a:rPr lang="en-US" smtClean="0"/>
              <a:t>8/13/2026</a:t>
            </a:fld>
            <a:endParaRPr lang="en-US"/>
          </a:p>
        </p:txBody>
      </p:sp>
      <p:sp>
        <p:nvSpPr>
          <p:cNvPr id="5" name="Footer Placeholder 4">
            <a:extLst>
              <a:ext uri="{FF2B5EF4-FFF2-40B4-BE49-F238E27FC236}">
                <a16:creationId xmlns:a16="http://schemas.microsoft.com/office/drawing/2014/main" id="{02544DD8-8DE2-49BF-2256-D6C974530B7F}"/>
              </a:ext>
            </a:extLst>
          </p:cNvPr>
          <p:cNvSpPr>
            <a:spLocks noGrp="1"/>
          </p:cNvSpPr>
          <p:nvPr>
            <p:ph type="ftr" sz="quarter" idx="11"/>
          </p:nvPr>
        </p:nvSpPr>
        <p:spPr/>
        <p:txBody>
          <a:bodyPr/>
          <a:lstStyle/>
          <a:p>
            <a:r>
              <a:rPr lang="en-US"/>
              <a:t>BSc (Hons) in Information Technology</a:t>
            </a:r>
          </a:p>
        </p:txBody>
      </p:sp>
      <p:sp>
        <p:nvSpPr>
          <p:cNvPr id="6" name="Slide Number Placeholder 5">
            <a:extLst>
              <a:ext uri="{FF2B5EF4-FFF2-40B4-BE49-F238E27FC236}">
                <a16:creationId xmlns:a16="http://schemas.microsoft.com/office/drawing/2014/main" id="{F9AE118B-A9C0-2539-EE0E-7F976FEA3DDF}"/>
              </a:ext>
            </a:extLst>
          </p:cNvPr>
          <p:cNvSpPr>
            <a:spLocks noGrp="1"/>
          </p:cNvSpPr>
          <p:nvPr>
            <p:ph type="sldNum" sz="quarter" idx="12"/>
          </p:nvPr>
        </p:nvSpPr>
        <p:spPr/>
        <p:txBody>
          <a:bodyPr/>
          <a:lstStyle/>
          <a:p>
            <a:fld id="{B05DC659-408D-4781-A84D-B150AC404B91}" type="slidenum">
              <a:rPr lang="en-US" smtClean="0"/>
              <a:t>‹#›</a:t>
            </a:fld>
            <a:endParaRPr lang="en-US"/>
          </a:p>
        </p:txBody>
      </p:sp>
    </p:spTree>
    <p:extLst>
      <p:ext uri="{BB962C8B-B14F-4D97-AF65-F5344CB8AC3E}">
        <p14:creationId xmlns:p14="http://schemas.microsoft.com/office/powerpoint/2010/main" val="9910337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DD9DBE-034D-F88C-332A-467E245C0AA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C86D88A-9AB2-CE18-CCE1-4CE93CF5FAA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8E28A8-BA96-F50D-807E-BE9AFD5BB942}"/>
              </a:ext>
            </a:extLst>
          </p:cNvPr>
          <p:cNvSpPr>
            <a:spLocks noGrp="1"/>
          </p:cNvSpPr>
          <p:nvPr>
            <p:ph type="dt" sz="half" idx="10"/>
          </p:nvPr>
        </p:nvSpPr>
        <p:spPr/>
        <p:txBody>
          <a:bodyPr/>
          <a:lstStyle/>
          <a:p>
            <a:fld id="{26FF9165-B718-4A05-ABEA-493F7CF226F4}" type="datetime1">
              <a:rPr lang="en-US" smtClean="0"/>
              <a:t>8/13/2026</a:t>
            </a:fld>
            <a:endParaRPr lang="en-US"/>
          </a:p>
        </p:txBody>
      </p:sp>
      <p:sp>
        <p:nvSpPr>
          <p:cNvPr id="5" name="Footer Placeholder 4">
            <a:extLst>
              <a:ext uri="{FF2B5EF4-FFF2-40B4-BE49-F238E27FC236}">
                <a16:creationId xmlns:a16="http://schemas.microsoft.com/office/drawing/2014/main" id="{DF9172DB-9131-6C85-8238-09E061156DF0}"/>
              </a:ext>
            </a:extLst>
          </p:cNvPr>
          <p:cNvSpPr>
            <a:spLocks noGrp="1"/>
          </p:cNvSpPr>
          <p:nvPr>
            <p:ph type="ftr" sz="quarter" idx="11"/>
          </p:nvPr>
        </p:nvSpPr>
        <p:spPr/>
        <p:txBody>
          <a:bodyPr/>
          <a:lstStyle/>
          <a:p>
            <a:r>
              <a:rPr lang="en-US"/>
              <a:t>BSc (Hons) in Information Technology</a:t>
            </a:r>
          </a:p>
        </p:txBody>
      </p:sp>
      <p:sp>
        <p:nvSpPr>
          <p:cNvPr id="6" name="Slide Number Placeholder 5">
            <a:extLst>
              <a:ext uri="{FF2B5EF4-FFF2-40B4-BE49-F238E27FC236}">
                <a16:creationId xmlns:a16="http://schemas.microsoft.com/office/drawing/2014/main" id="{FFB35A60-C9F7-6C8C-1CB6-26C1644CF7DC}"/>
              </a:ext>
            </a:extLst>
          </p:cNvPr>
          <p:cNvSpPr>
            <a:spLocks noGrp="1"/>
          </p:cNvSpPr>
          <p:nvPr>
            <p:ph type="sldNum" sz="quarter" idx="12"/>
          </p:nvPr>
        </p:nvSpPr>
        <p:spPr/>
        <p:txBody>
          <a:bodyPr/>
          <a:lstStyle/>
          <a:p>
            <a:fld id="{B05DC659-408D-4781-A84D-B150AC404B91}" type="slidenum">
              <a:rPr lang="en-US" smtClean="0"/>
              <a:t>‹#›</a:t>
            </a:fld>
            <a:endParaRPr lang="en-US"/>
          </a:p>
        </p:txBody>
      </p:sp>
    </p:spTree>
    <p:extLst>
      <p:ext uri="{BB962C8B-B14F-4D97-AF65-F5344CB8AC3E}">
        <p14:creationId xmlns:p14="http://schemas.microsoft.com/office/powerpoint/2010/main" val="24436209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6D231-9473-3376-B7F9-2B9B0001BFF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3098136-DBDE-3025-06A8-1C273FCE09E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8E3572A-62DD-CA9F-E4DD-D035DA296BC3}"/>
              </a:ext>
            </a:extLst>
          </p:cNvPr>
          <p:cNvSpPr>
            <a:spLocks noGrp="1"/>
          </p:cNvSpPr>
          <p:nvPr>
            <p:ph type="dt" sz="half" idx="10"/>
          </p:nvPr>
        </p:nvSpPr>
        <p:spPr/>
        <p:txBody>
          <a:bodyPr/>
          <a:lstStyle/>
          <a:p>
            <a:fld id="{BFF99AE2-4C36-4768-AD66-E53AE3B69896}" type="datetime1">
              <a:rPr lang="en-US" smtClean="0"/>
              <a:t>8/13/2026</a:t>
            </a:fld>
            <a:endParaRPr lang="en-US"/>
          </a:p>
        </p:txBody>
      </p:sp>
      <p:sp>
        <p:nvSpPr>
          <p:cNvPr id="5" name="Footer Placeholder 4">
            <a:extLst>
              <a:ext uri="{FF2B5EF4-FFF2-40B4-BE49-F238E27FC236}">
                <a16:creationId xmlns:a16="http://schemas.microsoft.com/office/drawing/2014/main" id="{CEB06F99-EECF-A28B-02D8-6E9260C98AC3}"/>
              </a:ext>
            </a:extLst>
          </p:cNvPr>
          <p:cNvSpPr>
            <a:spLocks noGrp="1"/>
          </p:cNvSpPr>
          <p:nvPr>
            <p:ph type="ftr" sz="quarter" idx="11"/>
          </p:nvPr>
        </p:nvSpPr>
        <p:spPr/>
        <p:txBody>
          <a:bodyPr/>
          <a:lstStyle/>
          <a:p>
            <a:r>
              <a:rPr lang="en-US"/>
              <a:t>BSc (Hons) in Information Technology</a:t>
            </a:r>
          </a:p>
        </p:txBody>
      </p:sp>
      <p:sp>
        <p:nvSpPr>
          <p:cNvPr id="6" name="Slide Number Placeholder 5">
            <a:extLst>
              <a:ext uri="{FF2B5EF4-FFF2-40B4-BE49-F238E27FC236}">
                <a16:creationId xmlns:a16="http://schemas.microsoft.com/office/drawing/2014/main" id="{A0497C3B-FDFB-646C-AA5A-1D48D6DB0C4F}"/>
              </a:ext>
            </a:extLst>
          </p:cNvPr>
          <p:cNvSpPr>
            <a:spLocks noGrp="1"/>
          </p:cNvSpPr>
          <p:nvPr>
            <p:ph type="sldNum" sz="quarter" idx="12"/>
          </p:nvPr>
        </p:nvSpPr>
        <p:spPr/>
        <p:txBody>
          <a:bodyPr/>
          <a:lstStyle/>
          <a:p>
            <a:fld id="{B05DC659-408D-4781-A84D-B150AC404B91}" type="slidenum">
              <a:rPr lang="en-US" smtClean="0"/>
              <a:t>‹#›</a:t>
            </a:fld>
            <a:endParaRPr lang="en-US"/>
          </a:p>
        </p:txBody>
      </p:sp>
    </p:spTree>
    <p:extLst>
      <p:ext uri="{BB962C8B-B14F-4D97-AF65-F5344CB8AC3E}">
        <p14:creationId xmlns:p14="http://schemas.microsoft.com/office/powerpoint/2010/main" val="10061668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6D8290-BA90-4A7A-864A-9F9331466B7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6188928-35DF-C4DA-EEF3-AF71B4FDE92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E324945-DF26-5646-D08A-6A42E8E1ECF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7E4C70D-C5D2-DE0E-5A4D-5C54D957BBF0}"/>
              </a:ext>
            </a:extLst>
          </p:cNvPr>
          <p:cNvSpPr>
            <a:spLocks noGrp="1"/>
          </p:cNvSpPr>
          <p:nvPr>
            <p:ph type="dt" sz="half" idx="10"/>
          </p:nvPr>
        </p:nvSpPr>
        <p:spPr/>
        <p:txBody>
          <a:bodyPr/>
          <a:lstStyle/>
          <a:p>
            <a:fld id="{8D61E677-F796-43F6-BC96-25B1E0E4BB94}" type="datetime1">
              <a:rPr lang="en-US" smtClean="0"/>
              <a:t>8/13/2026</a:t>
            </a:fld>
            <a:endParaRPr lang="en-US"/>
          </a:p>
        </p:txBody>
      </p:sp>
      <p:sp>
        <p:nvSpPr>
          <p:cNvPr id="6" name="Footer Placeholder 5">
            <a:extLst>
              <a:ext uri="{FF2B5EF4-FFF2-40B4-BE49-F238E27FC236}">
                <a16:creationId xmlns:a16="http://schemas.microsoft.com/office/drawing/2014/main" id="{3F936F4D-2522-DF44-1C34-3B60B4B4BEB9}"/>
              </a:ext>
            </a:extLst>
          </p:cNvPr>
          <p:cNvSpPr>
            <a:spLocks noGrp="1"/>
          </p:cNvSpPr>
          <p:nvPr>
            <p:ph type="ftr" sz="quarter" idx="11"/>
          </p:nvPr>
        </p:nvSpPr>
        <p:spPr/>
        <p:txBody>
          <a:bodyPr/>
          <a:lstStyle/>
          <a:p>
            <a:r>
              <a:rPr lang="en-US"/>
              <a:t>BSc (Hons) in Information Technology</a:t>
            </a:r>
          </a:p>
        </p:txBody>
      </p:sp>
      <p:sp>
        <p:nvSpPr>
          <p:cNvPr id="7" name="Slide Number Placeholder 6">
            <a:extLst>
              <a:ext uri="{FF2B5EF4-FFF2-40B4-BE49-F238E27FC236}">
                <a16:creationId xmlns:a16="http://schemas.microsoft.com/office/drawing/2014/main" id="{EAD36A2C-43F6-FE22-6DC6-758D53EBA043}"/>
              </a:ext>
            </a:extLst>
          </p:cNvPr>
          <p:cNvSpPr>
            <a:spLocks noGrp="1"/>
          </p:cNvSpPr>
          <p:nvPr>
            <p:ph type="sldNum" sz="quarter" idx="12"/>
          </p:nvPr>
        </p:nvSpPr>
        <p:spPr/>
        <p:txBody>
          <a:bodyPr/>
          <a:lstStyle/>
          <a:p>
            <a:fld id="{B05DC659-408D-4781-A84D-B150AC404B91}" type="slidenum">
              <a:rPr lang="en-US" smtClean="0"/>
              <a:t>‹#›</a:t>
            </a:fld>
            <a:endParaRPr lang="en-US"/>
          </a:p>
        </p:txBody>
      </p:sp>
    </p:spTree>
    <p:extLst>
      <p:ext uri="{BB962C8B-B14F-4D97-AF65-F5344CB8AC3E}">
        <p14:creationId xmlns:p14="http://schemas.microsoft.com/office/powerpoint/2010/main" val="7430630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FB5137-4489-DD84-A8A0-C614F15F124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9641754-800C-4717-0512-67D3739D2FE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E28F263-D07C-28BF-3BB6-9B652794548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9DEA40D-AAC1-9598-D1AF-7635335E1F7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106D1A6-36AD-89AE-1A4F-1E8B9A77E76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BE20158-925C-A7E9-5222-5E66069D1F9C}"/>
              </a:ext>
            </a:extLst>
          </p:cNvPr>
          <p:cNvSpPr>
            <a:spLocks noGrp="1"/>
          </p:cNvSpPr>
          <p:nvPr>
            <p:ph type="dt" sz="half" idx="10"/>
          </p:nvPr>
        </p:nvSpPr>
        <p:spPr/>
        <p:txBody>
          <a:bodyPr/>
          <a:lstStyle/>
          <a:p>
            <a:fld id="{7CEC14BC-1BD6-4166-8FDC-A0F77CFEB6BC}" type="datetime1">
              <a:rPr lang="en-US" smtClean="0"/>
              <a:t>8/13/2026</a:t>
            </a:fld>
            <a:endParaRPr lang="en-US"/>
          </a:p>
        </p:txBody>
      </p:sp>
      <p:sp>
        <p:nvSpPr>
          <p:cNvPr id="8" name="Footer Placeholder 7">
            <a:extLst>
              <a:ext uri="{FF2B5EF4-FFF2-40B4-BE49-F238E27FC236}">
                <a16:creationId xmlns:a16="http://schemas.microsoft.com/office/drawing/2014/main" id="{74889187-3B4A-58A4-0C3B-C7E850F66B05}"/>
              </a:ext>
            </a:extLst>
          </p:cNvPr>
          <p:cNvSpPr>
            <a:spLocks noGrp="1"/>
          </p:cNvSpPr>
          <p:nvPr>
            <p:ph type="ftr" sz="quarter" idx="11"/>
          </p:nvPr>
        </p:nvSpPr>
        <p:spPr/>
        <p:txBody>
          <a:bodyPr/>
          <a:lstStyle/>
          <a:p>
            <a:r>
              <a:rPr lang="en-US"/>
              <a:t>BSc (Hons) in Information Technology</a:t>
            </a:r>
          </a:p>
        </p:txBody>
      </p:sp>
      <p:sp>
        <p:nvSpPr>
          <p:cNvPr id="9" name="Slide Number Placeholder 8">
            <a:extLst>
              <a:ext uri="{FF2B5EF4-FFF2-40B4-BE49-F238E27FC236}">
                <a16:creationId xmlns:a16="http://schemas.microsoft.com/office/drawing/2014/main" id="{308F996D-4AE8-BB7F-D3A1-995EE754271E}"/>
              </a:ext>
            </a:extLst>
          </p:cNvPr>
          <p:cNvSpPr>
            <a:spLocks noGrp="1"/>
          </p:cNvSpPr>
          <p:nvPr>
            <p:ph type="sldNum" sz="quarter" idx="12"/>
          </p:nvPr>
        </p:nvSpPr>
        <p:spPr/>
        <p:txBody>
          <a:bodyPr/>
          <a:lstStyle/>
          <a:p>
            <a:fld id="{B05DC659-408D-4781-A84D-B150AC404B91}" type="slidenum">
              <a:rPr lang="en-US" smtClean="0"/>
              <a:t>‹#›</a:t>
            </a:fld>
            <a:endParaRPr lang="en-US"/>
          </a:p>
        </p:txBody>
      </p:sp>
    </p:spTree>
    <p:extLst>
      <p:ext uri="{BB962C8B-B14F-4D97-AF65-F5344CB8AC3E}">
        <p14:creationId xmlns:p14="http://schemas.microsoft.com/office/powerpoint/2010/main" val="4149834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F80101-22BA-32E5-2060-4A9C785ACDB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1593B0A-96D8-DA75-C76E-DA71825A01AE}"/>
              </a:ext>
            </a:extLst>
          </p:cNvPr>
          <p:cNvSpPr>
            <a:spLocks noGrp="1"/>
          </p:cNvSpPr>
          <p:nvPr>
            <p:ph type="dt" sz="half" idx="10"/>
          </p:nvPr>
        </p:nvSpPr>
        <p:spPr/>
        <p:txBody>
          <a:bodyPr/>
          <a:lstStyle/>
          <a:p>
            <a:fld id="{3A9FD351-5A68-4A1F-946B-20C3567895CF}" type="datetime1">
              <a:rPr lang="en-US" smtClean="0"/>
              <a:t>8/13/2026</a:t>
            </a:fld>
            <a:endParaRPr lang="en-US"/>
          </a:p>
        </p:txBody>
      </p:sp>
      <p:sp>
        <p:nvSpPr>
          <p:cNvPr id="4" name="Footer Placeholder 3">
            <a:extLst>
              <a:ext uri="{FF2B5EF4-FFF2-40B4-BE49-F238E27FC236}">
                <a16:creationId xmlns:a16="http://schemas.microsoft.com/office/drawing/2014/main" id="{5B881D16-288F-8034-9059-C666E54D7B15}"/>
              </a:ext>
            </a:extLst>
          </p:cNvPr>
          <p:cNvSpPr>
            <a:spLocks noGrp="1"/>
          </p:cNvSpPr>
          <p:nvPr>
            <p:ph type="ftr" sz="quarter" idx="11"/>
          </p:nvPr>
        </p:nvSpPr>
        <p:spPr/>
        <p:txBody>
          <a:bodyPr/>
          <a:lstStyle/>
          <a:p>
            <a:r>
              <a:rPr lang="en-US"/>
              <a:t>BSc (Hons) in Information Technology</a:t>
            </a:r>
          </a:p>
        </p:txBody>
      </p:sp>
      <p:sp>
        <p:nvSpPr>
          <p:cNvPr id="5" name="Slide Number Placeholder 4">
            <a:extLst>
              <a:ext uri="{FF2B5EF4-FFF2-40B4-BE49-F238E27FC236}">
                <a16:creationId xmlns:a16="http://schemas.microsoft.com/office/drawing/2014/main" id="{CE065B0D-78DE-91A7-D803-150A4D18B266}"/>
              </a:ext>
            </a:extLst>
          </p:cNvPr>
          <p:cNvSpPr>
            <a:spLocks noGrp="1"/>
          </p:cNvSpPr>
          <p:nvPr>
            <p:ph type="sldNum" sz="quarter" idx="12"/>
          </p:nvPr>
        </p:nvSpPr>
        <p:spPr/>
        <p:txBody>
          <a:bodyPr/>
          <a:lstStyle/>
          <a:p>
            <a:fld id="{B05DC659-408D-4781-A84D-B150AC404B91}" type="slidenum">
              <a:rPr lang="en-US" smtClean="0"/>
              <a:t>‹#›</a:t>
            </a:fld>
            <a:endParaRPr lang="en-US"/>
          </a:p>
        </p:txBody>
      </p:sp>
    </p:spTree>
    <p:extLst>
      <p:ext uri="{BB962C8B-B14F-4D97-AF65-F5344CB8AC3E}">
        <p14:creationId xmlns:p14="http://schemas.microsoft.com/office/powerpoint/2010/main" val="13976849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97D95D1-8997-87CC-14A9-30F3E28ED848}"/>
              </a:ext>
            </a:extLst>
          </p:cNvPr>
          <p:cNvSpPr>
            <a:spLocks noGrp="1"/>
          </p:cNvSpPr>
          <p:nvPr>
            <p:ph type="dt" sz="half" idx="10"/>
          </p:nvPr>
        </p:nvSpPr>
        <p:spPr/>
        <p:txBody>
          <a:bodyPr/>
          <a:lstStyle/>
          <a:p>
            <a:fld id="{2BA7CCCF-53CF-49A2-8E4E-6C875B11F612}" type="datetime1">
              <a:rPr lang="en-US" smtClean="0"/>
              <a:t>8/13/2026</a:t>
            </a:fld>
            <a:endParaRPr lang="en-US"/>
          </a:p>
        </p:txBody>
      </p:sp>
      <p:sp>
        <p:nvSpPr>
          <p:cNvPr id="3" name="Footer Placeholder 2">
            <a:extLst>
              <a:ext uri="{FF2B5EF4-FFF2-40B4-BE49-F238E27FC236}">
                <a16:creationId xmlns:a16="http://schemas.microsoft.com/office/drawing/2014/main" id="{8185F0F5-689E-656C-326C-0DF47574D589}"/>
              </a:ext>
            </a:extLst>
          </p:cNvPr>
          <p:cNvSpPr>
            <a:spLocks noGrp="1"/>
          </p:cNvSpPr>
          <p:nvPr>
            <p:ph type="ftr" sz="quarter" idx="11"/>
          </p:nvPr>
        </p:nvSpPr>
        <p:spPr/>
        <p:txBody>
          <a:bodyPr/>
          <a:lstStyle/>
          <a:p>
            <a:r>
              <a:rPr lang="en-US"/>
              <a:t>BSc (Hons) in Information Technology</a:t>
            </a:r>
          </a:p>
        </p:txBody>
      </p:sp>
      <p:sp>
        <p:nvSpPr>
          <p:cNvPr id="4" name="Slide Number Placeholder 3">
            <a:extLst>
              <a:ext uri="{FF2B5EF4-FFF2-40B4-BE49-F238E27FC236}">
                <a16:creationId xmlns:a16="http://schemas.microsoft.com/office/drawing/2014/main" id="{2948FF23-2E61-3111-9C42-8D84E4817CB5}"/>
              </a:ext>
            </a:extLst>
          </p:cNvPr>
          <p:cNvSpPr>
            <a:spLocks noGrp="1"/>
          </p:cNvSpPr>
          <p:nvPr>
            <p:ph type="sldNum" sz="quarter" idx="12"/>
          </p:nvPr>
        </p:nvSpPr>
        <p:spPr/>
        <p:txBody>
          <a:bodyPr/>
          <a:lstStyle/>
          <a:p>
            <a:fld id="{B05DC659-408D-4781-A84D-B150AC404B91}" type="slidenum">
              <a:rPr lang="en-US" smtClean="0"/>
              <a:t>‹#›</a:t>
            </a:fld>
            <a:endParaRPr lang="en-US"/>
          </a:p>
        </p:txBody>
      </p:sp>
    </p:spTree>
    <p:extLst>
      <p:ext uri="{BB962C8B-B14F-4D97-AF65-F5344CB8AC3E}">
        <p14:creationId xmlns:p14="http://schemas.microsoft.com/office/powerpoint/2010/main" val="5108825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0A2505E-CFD5-8901-B1E4-35E1DFF8B637}"/>
              </a:ext>
            </a:extLst>
          </p:cNvPr>
          <p:cNvSpPr/>
          <p:nvPr userDrawn="1"/>
        </p:nvSpPr>
        <p:spPr>
          <a:xfrm>
            <a:off x="3048000" y="6176963"/>
            <a:ext cx="9143994" cy="667612"/>
          </a:xfrm>
          <a:prstGeom prst="rect">
            <a:avLst/>
          </a:prstGeom>
          <a:solidFill>
            <a:srgbClr val="003054"/>
          </a:solidFill>
          <a:ln>
            <a:solidFill>
              <a:srgbClr val="0000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70C0"/>
              </a:solidFill>
            </a:endParaRPr>
          </a:p>
        </p:txBody>
      </p:sp>
      <p:sp>
        <p:nvSpPr>
          <p:cNvPr id="7" name="Rectangle 6">
            <a:extLst>
              <a:ext uri="{FF2B5EF4-FFF2-40B4-BE49-F238E27FC236}">
                <a16:creationId xmlns:a16="http://schemas.microsoft.com/office/drawing/2014/main" id="{E0A7784B-71B0-4A27-69C4-436C1E401103}"/>
              </a:ext>
            </a:extLst>
          </p:cNvPr>
          <p:cNvSpPr/>
          <p:nvPr userDrawn="1"/>
        </p:nvSpPr>
        <p:spPr>
          <a:xfrm>
            <a:off x="0" y="1"/>
            <a:ext cx="12192000" cy="1690688"/>
          </a:xfrm>
          <a:prstGeom prst="rect">
            <a:avLst/>
          </a:prstGeom>
          <a:solidFill>
            <a:srgbClr val="003054"/>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70C0"/>
              </a:solidFill>
            </a:endParaRPr>
          </a:p>
        </p:txBody>
      </p:sp>
      <p:sp>
        <p:nvSpPr>
          <p:cNvPr id="2" name="Title Placeholder 1">
            <a:extLst>
              <a:ext uri="{FF2B5EF4-FFF2-40B4-BE49-F238E27FC236}">
                <a16:creationId xmlns:a16="http://schemas.microsoft.com/office/drawing/2014/main" id="{F41F2622-3876-DB58-BA22-E1EC5EDCEED2}"/>
              </a:ext>
            </a:extLst>
          </p:cNvPr>
          <p:cNvSpPr>
            <a:spLocks noGrp="1"/>
          </p:cNvSpPr>
          <p:nvPr>
            <p:ph type="title"/>
          </p:nvPr>
        </p:nvSpPr>
        <p:spPr>
          <a:xfrm>
            <a:off x="838200" y="22657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4F546EC-E134-9B17-EE99-C27C18DC9FD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82DB5F-A581-B2FE-E227-EF8B4134FA2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bg1"/>
                </a:solidFill>
              </a:defRPr>
            </a:lvl1pPr>
          </a:lstStyle>
          <a:p>
            <a:fld id="{ADC54051-F9E3-4634-8E2D-FEE7EC79C47F}" type="datetime1">
              <a:rPr lang="en-US" smtClean="0"/>
              <a:t>8/13/2026</a:t>
            </a:fld>
            <a:endParaRPr lang="en-US"/>
          </a:p>
        </p:txBody>
      </p:sp>
      <p:sp>
        <p:nvSpPr>
          <p:cNvPr id="5" name="Footer Placeholder 4">
            <a:extLst>
              <a:ext uri="{FF2B5EF4-FFF2-40B4-BE49-F238E27FC236}">
                <a16:creationId xmlns:a16="http://schemas.microsoft.com/office/drawing/2014/main" id="{884CB4C9-6F98-0B0C-A82A-07D2BA3BC14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bg1"/>
                </a:solidFill>
              </a:defRPr>
            </a:lvl1pPr>
          </a:lstStyle>
          <a:p>
            <a:r>
              <a:rPr lang="en-US">
                <a:solidFill>
                  <a:schemeClr val="bg1"/>
                </a:solidFill>
              </a:rPr>
              <a:t>BSc (Hons) in Information Technology</a:t>
            </a:r>
          </a:p>
        </p:txBody>
      </p:sp>
      <p:sp>
        <p:nvSpPr>
          <p:cNvPr id="6" name="Slide Number Placeholder 5">
            <a:extLst>
              <a:ext uri="{FF2B5EF4-FFF2-40B4-BE49-F238E27FC236}">
                <a16:creationId xmlns:a16="http://schemas.microsoft.com/office/drawing/2014/main" id="{A08E30B7-3975-EABC-A921-0B090B3CED0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bg1"/>
                </a:solidFill>
              </a:defRPr>
            </a:lvl1pPr>
          </a:lstStyle>
          <a:p>
            <a:fld id="{B05DC659-408D-4781-A84D-B150AC404B91}" type="slidenum">
              <a:rPr lang="en-US" smtClean="0"/>
              <a:pPr/>
              <a:t>‹#›</a:t>
            </a:fld>
            <a:endParaRPr lang="en-US"/>
          </a:p>
        </p:txBody>
      </p:sp>
      <p:pic>
        <p:nvPicPr>
          <p:cNvPr id="10" name="Picture 9">
            <a:extLst>
              <a:ext uri="{FF2B5EF4-FFF2-40B4-BE49-F238E27FC236}">
                <a16:creationId xmlns:a16="http://schemas.microsoft.com/office/drawing/2014/main" id="{937B7A56-4602-F3E4-33AF-7961B3348122}"/>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52913" y="6221220"/>
            <a:ext cx="2850179" cy="590320"/>
          </a:xfrm>
          <a:prstGeom prst="rect">
            <a:avLst/>
          </a:prstGeom>
        </p:spPr>
      </p:pic>
    </p:spTree>
    <p:extLst>
      <p:ext uri="{BB962C8B-B14F-4D97-AF65-F5344CB8AC3E}">
        <p14:creationId xmlns:p14="http://schemas.microsoft.com/office/powerpoint/2010/main" val="38161847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hdr="0"/>
  <p:txStyles>
    <p:titleStyle>
      <a:lvl1pPr algn="l" defTabSz="914400" rtl="0" eaLnBrk="1" latinLnBrk="0" hangingPunct="1">
        <a:lnSpc>
          <a:spcPct val="90000"/>
        </a:lnSpc>
        <a:spcBef>
          <a:spcPct val="0"/>
        </a:spcBef>
        <a:buNone/>
        <a:defRPr sz="44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931920"/>
          </a:xfrm>
          <a:prstGeom prst="rect">
            <a:avLst/>
          </a:prstGeom>
          <a:solidFill>
            <a:srgbClr val="0030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1371600"/>
            <a:ext cx="10332720" cy="1645920"/>
          </a:xfrm>
          <a:prstGeom prst="rect">
            <a:avLst/>
          </a:prstGeom>
          <a:noFill/>
        </p:spPr>
        <p:txBody>
          <a:bodyPr wrap="square">
            <a:spAutoFit/>
          </a:bodyPr>
          <a:lstStyle/>
          <a:p>
            <a:r>
              <a:rPr sz="3400" b="1" i="0">
                <a:solidFill>
                  <a:srgbClr val="FFFFFF"/>
                </a:solidFill>
                <a:latin typeface="Cambria"/>
              </a:rPr>
              <a:t>Routing Protocols and Routing Attacks</a:t>
            </a:r>
          </a:p>
        </p:txBody>
      </p:sp>
      <p:sp>
        <p:nvSpPr>
          <p:cNvPr id="4" name="TextBox 3"/>
          <p:cNvSpPr txBox="1"/>
          <p:nvPr/>
        </p:nvSpPr>
        <p:spPr>
          <a:xfrm>
            <a:off x="914400" y="2926080"/>
            <a:ext cx="10332720" cy="914400"/>
          </a:xfrm>
          <a:prstGeom prst="rect">
            <a:avLst/>
          </a:prstGeom>
          <a:noFill/>
        </p:spPr>
        <p:txBody>
          <a:bodyPr wrap="square">
            <a:spAutoFit/>
          </a:bodyPr>
          <a:lstStyle/>
          <a:p>
            <a:r>
              <a:rPr sz="2200" b="0" i="0">
                <a:solidFill>
                  <a:srgbClr val="FFFFFF"/>
                </a:solidFill>
                <a:latin typeface="Calibri"/>
              </a:rPr>
              <a:t>IE3122: Network Security | Week 5</a:t>
            </a:r>
          </a:p>
          <a:p>
            <a:r>
              <a:rPr sz="1600" b="0" i="1">
                <a:solidFill>
                  <a:srgbClr val="FFFFFF"/>
                </a:solidFill>
                <a:latin typeface="Calibri"/>
              </a:rPr>
              <a:t>How routers trust each other, and what happens when that trust is abused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b="1" i="0">
                <a:solidFill>
                  <a:srgbClr val="FFFFFF"/>
                </a:solidFill>
                <a:latin typeface="Cambria"/>
              </a:rPr>
              <a:t>Today's Agenda</a:t>
            </a:r>
          </a:p>
        </p:txBody>
      </p:sp>
      <p:sp>
        <p:nvSpPr>
          <p:cNvPr id="3" name="TextBox 2"/>
          <p:cNvSpPr txBox="1"/>
          <p:nvPr/>
        </p:nvSpPr>
        <p:spPr>
          <a:xfrm>
            <a:off x="731520" y="1828800"/>
            <a:ext cx="10698480" cy="4114800"/>
          </a:xfrm>
          <a:prstGeom prst="rect">
            <a:avLst/>
          </a:prstGeom>
          <a:noFill/>
        </p:spPr>
        <p:txBody>
          <a:bodyPr wrap="square">
            <a:spAutoFit/>
          </a:bodyPr>
          <a:lstStyle/>
          <a:p>
            <a:pPr marL="201168" indent="-201168">
              <a:spcAft>
                <a:spcPts val="1400"/>
              </a:spcAft>
              <a:buFont typeface="Arial"/>
              <a:buChar char="–"/>
            </a:pPr>
            <a:r>
              <a:rPr sz="1800" b="0" i="0">
                <a:solidFill>
                  <a:srgbClr val="222A33"/>
                </a:solidFill>
                <a:latin typeface="Calibri"/>
              </a:rPr>
              <a:t>Quick overview of routing protocols: RIP, OSPF, EIGRP, BGP</a:t>
            </a:r>
          </a:p>
          <a:p>
            <a:pPr marL="201168" indent="-201168">
              <a:spcAft>
                <a:spcPts val="1400"/>
              </a:spcAft>
              <a:buFont typeface="Arial"/>
              <a:buChar char="–"/>
            </a:pPr>
            <a:r>
              <a:rPr sz="1800" b="0" i="0">
                <a:solidFill>
                  <a:srgbClr val="222A33"/>
                </a:solidFill>
                <a:latin typeface="Calibri"/>
              </a:rPr>
              <a:t>Why routing protocols are attackable</a:t>
            </a:r>
          </a:p>
          <a:p>
            <a:pPr marL="201168" indent="-201168">
              <a:spcAft>
                <a:spcPts val="1400"/>
              </a:spcAft>
              <a:buFont typeface="Arial"/>
              <a:buChar char="–"/>
            </a:pPr>
            <a:r>
              <a:rPr sz="1800" b="0" i="0">
                <a:solidFill>
                  <a:srgbClr val="222A33"/>
                </a:solidFill>
                <a:latin typeface="Calibri"/>
              </a:rPr>
              <a:t>Five specific routing attacks</a:t>
            </a:r>
          </a:p>
          <a:p>
            <a:pPr marL="201168" indent="-201168">
              <a:spcAft>
                <a:spcPts val="1400"/>
              </a:spcAft>
              <a:buFont typeface="Arial"/>
              <a:buChar char="–"/>
            </a:pPr>
            <a:r>
              <a:rPr sz="1800" b="0" i="0">
                <a:solidFill>
                  <a:srgbClr val="222A33"/>
                </a:solidFill>
                <a:latin typeface="Calibri"/>
              </a:rPr>
              <a:t>Defenses: authentication, passive-interface, filtering, RPKI</a:t>
            </a:r>
          </a:p>
          <a:p>
            <a:pPr marL="201168" indent="-201168">
              <a:spcAft>
                <a:spcPts val="1400"/>
              </a:spcAft>
              <a:buFont typeface="Arial"/>
              <a:buChar char="–"/>
            </a:pPr>
            <a:r>
              <a:rPr sz="1800" b="0" i="0">
                <a:solidFill>
                  <a:srgbClr val="222A33"/>
                </a:solidFill>
                <a:latin typeface="Calibri"/>
              </a:rPr>
              <a:t>Bringing it together: layered defense for routing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b="1" i="0">
                <a:solidFill>
                  <a:srgbClr val="FFFFFF"/>
                </a:solidFill>
                <a:latin typeface="Cambria"/>
              </a:rPr>
              <a:t>Learning Outcomes for Today</a:t>
            </a:r>
          </a:p>
        </p:txBody>
      </p:sp>
      <p:sp>
        <p:nvSpPr>
          <p:cNvPr id="3" name="TextBox 2"/>
          <p:cNvSpPr txBox="1"/>
          <p:nvPr/>
        </p:nvSpPr>
        <p:spPr>
          <a:xfrm>
            <a:off x="731520" y="1828800"/>
            <a:ext cx="10698480" cy="4114800"/>
          </a:xfrm>
          <a:prstGeom prst="rect">
            <a:avLst/>
          </a:prstGeom>
          <a:noFill/>
        </p:spPr>
        <p:txBody>
          <a:bodyPr wrap="square">
            <a:spAutoFit/>
          </a:bodyPr>
          <a:lstStyle/>
          <a:p>
            <a:pPr marL="0" indent="0">
              <a:spcAft>
                <a:spcPts val="400"/>
              </a:spcAft>
              <a:buNone/>
            </a:pPr>
            <a:r>
              <a:rPr sz="1700" b="1" i="0">
                <a:solidFill>
                  <a:srgbClr val="003054"/>
                </a:solidFill>
                <a:latin typeface="Calibri"/>
              </a:rPr>
              <a:t>LO1</a:t>
            </a:r>
          </a:p>
          <a:p>
            <a:pPr marL="201168" indent="-201168">
              <a:spcAft>
                <a:spcPts val="1800"/>
              </a:spcAft>
              <a:buFont typeface="Arial"/>
              <a:buChar char="–"/>
            </a:pPr>
            <a:r>
              <a:rPr sz="1700" b="0" i="0">
                <a:solidFill>
                  <a:srgbClr val="222A33"/>
                </a:solidFill>
                <a:latin typeface="Calibri"/>
              </a:rPr>
              <a:t>Describe common network vulnerabilities and attacks, today specifically at the routing layer.</a:t>
            </a:r>
          </a:p>
          <a:p>
            <a:pPr marL="0" indent="0">
              <a:spcAft>
                <a:spcPts val="400"/>
              </a:spcAft>
              <a:buNone/>
            </a:pPr>
            <a:r>
              <a:rPr sz="1700" b="1" i="0">
                <a:solidFill>
                  <a:srgbClr val="003054"/>
                </a:solidFill>
                <a:latin typeface="Calibri"/>
              </a:rPr>
              <a:t>LO2</a:t>
            </a:r>
          </a:p>
          <a:p>
            <a:pPr marL="201168" indent="-201168">
              <a:spcAft>
                <a:spcPts val="1800"/>
              </a:spcAft>
              <a:buFont typeface="Arial"/>
              <a:buChar char="–"/>
            </a:pPr>
            <a:r>
              <a:rPr sz="1700" b="0" i="0">
                <a:solidFill>
                  <a:srgbClr val="222A33"/>
                </a:solidFill>
                <a:latin typeface="Calibri"/>
              </a:rPr>
              <a:t>Evaluate different mitigation techniques for vulnerabilities and make recommendations.</a:t>
            </a:r>
          </a:p>
          <a:p>
            <a:pPr marL="201168" indent="-201168">
              <a:spcAft>
                <a:spcPts val="800"/>
              </a:spcAft>
              <a:buFont typeface="Arial"/>
              <a:buChar char="–"/>
            </a:pPr>
            <a:r>
              <a:rPr sz="1600" b="0" i="1">
                <a:solidFill>
                  <a:srgbClr val="6B7682"/>
                </a:solidFill>
                <a:latin typeface="Calibri"/>
              </a:rPr>
              <a:t>By the end of this session you should be able to explain how a routing protocol decides what to trust, how that trust can be abused, and which defense actually closes the gap.</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lgn="ctr"/>
            <a:r>
              <a:rPr sz="4000" b="1" i="0">
                <a:solidFill>
                  <a:srgbClr val="003054"/>
                </a:solidFill>
                <a:latin typeface="Cambria"/>
              </a:rPr>
              <a:t>Routing Protocol Fundamentals</a:t>
            </a:r>
          </a:p>
        </p:txBody>
      </p:sp>
      <p:sp>
        <p:nvSpPr>
          <p:cNvPr id="3" name="Text Placeholder 2"/>
          <p:cNvSpPr>
            <a:spLocks noGrp="1"/>
          </p:cNvSpPr>
          <p:nvPr>
            <p:ph type="body" idx="1"/>
          </p:nvPr>
        </p:nvSpPr>
        <p:spPr/>
        <p:txBody>
          <a:bodyPr wrap="square"/>
          <a:lstStyle/>
          <a:p>
            <a:pPr algn="ctr"/>
            <a:r>
              <a:rPr sz="1800" b="0" i="1">
                <a:solidFill>
                  <a:srgbClr val="6B7682"/>
                </a:solidFill>
                <a:latin typeface="Calibri"/>
              </a:rPr>
              <a:t>How routers learn to trust each other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600" b="1" i="0">
                <a:solidFill>
                  <a:srgbClr val="FFFFFF"/>
                </a:solidFill>
                <a:latin typeface="Cambria"/>
              </a:rPr>
              <a:t>Why Routing Protocols Matter</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FUNDAMENTALS</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200"/>
              </a:spcAft>
              <a:buFont typeface="Arial"/>
              <a:buChar char="–"/>
            </a:pPr>
            <a:r>
              <a:rPr sz="1700" b="0" i="0">
                <a:solidFill>
                  <a:srgbClr val="222A33"/>
                </a:solidFill>
                <a:latin typeface="Calibri"/>
              </a:rPr>
              <a:t>Recall Week 1: a router forwards packets based on its routing table. Routing protocols exist so routers can build that table automatically, by exchanging information with their neighbors instead of relying on manual configuration alone.</a:t>
            </a:r>
          </a:p>
          <a:p>
            <a:pPr marL="201168" indent="-201168">
              <a:spcAft>
                <a:spcPts val="1200"/>
              </a:spcAft>
              <a:buFont typeface="Arial"/>
              <a:buChar char="–"/>
            </a:pPr>
            <a:r>
              <a:rPr sz="1700" b="0" i="0">
                <a:solidFill>
                  <a:srgbClr val="222A33"/>
                </a:solidFill>
                <a:latin typeface="Calibri"/>
              </a:rPr>
              <a:t>This automation is powerful at scale. Large networks and the Internet itself simply couldn't run on manually maintained routes.</a:t>
            </a:r>
          </a:p>
          <a:p>
            <a:pPr marL="201168" indent="-201168">
              <a:spcAft>
                <a:spcPts val="1200"/>
              </a:spcAft>
              <a:buFont typeface="Arial"/>
              <a:buChar char="–"/>
            </a:pPr>
            <a:r>
              <a:rPr sz="1700" b="0" i="0">
                <a:solidFill>
                  <a:srgbClr val="222A33"/>
                </a:solidFill>
                <a:latin typeface="Calibri"/>
              </a:rPr>
              <a:t>But it means every router is placing real trust in whatever its neighbors tell it. Everything in this lecture follows from asking: what happens when that trust is misplaced?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600" b="1" i="0">
                <a:solidFill>
                  <a:srgbClr val="FFFFFF"/>
                </a:solidFill>
                <a:latin typeface="Cambria"/>
              </a:rPr>
              <a:t>RIP: Routing Information Protocol</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FUNDAMENTALS</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200"/>
              </a:spcAft>
              <a:buFont typeface="Arial"/>
              <a:buChar char="–"/>
            </a:pPr>
            <a:r>
              <a:rPr sz="1700" b="0" i="0">
                <a:solidFill>
                  <a:srgbClr val="222A33"/>
                </a:solidFill>
                <a:latin typeface="Calibri"/>
              </a:rPr>
              <a:t>Type: distance-vector. Each router only knows what its direct neighbors tell it, and picks the path with the fewest hops.</a:t>
            </a:r>
          </a:p>
          <a:p>
            <a:pPr marL="201168" indent="-201168">
              <a:spcAft>
                <a:spcPts val="1200"/>
              </a:spcAft>
              <a:buFont typeface="Arial"/>
              <a:buChar char="–"/>
            </a:pPr>
            <a:r>
              <a:rPr sz="1700" b="0" i="0">
                <a:solidFill>
                  <a:srgbClr val="222A33"/>
                </a:solidFill>
                <a:latin typeface="Calibri"/>
              </a:rPr>
              <a:t>Simple to configure, but scales poorly and converges slowly on larger networks.</a:t>
            </a:r>
          </a:p>
          <a:p>
            <a:pPr marL="201168" indent="-201168">
              <a:spcAft>
                <a:spcPts val="1200"/>
              </a:spcAft>
              <a:buFont typeface="Arial"/>
              <a:buChar char="–"/>
            </a:pPr>
            <a:r>
              <a:rPr sz="1700" b="0" i="0">
                <a:solidFill>
                  <a:srgbClr val="222A33"/>
                </a:solidFill>
                <a:latin typeface="Calibri"/>
              </a:rPr>
              <a:t>No authentication in RIPv1 at all; RIPv2 added optional plaintext or MD5 authentication, but it's frequently left disabled in practice.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600" b="1" i="0">
                <a:solidFill>
                  <a:srgbClr val="FFFFFF"/>
                </a:solidFill>
                <a:latin typeface="Cambria"/>
              </a:rPr>
              <a:t>RIP: Metric and Messages</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FUNDAMENTALS</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200"/>
              </a:spcAft>
              <a:buFont typeface="Arial"/>
              <a:buChar char="–"/>
            </a:pPr>
            <a:r>
              <a:rPr sz="1700" b="0" i="0">
                <a:solidFill>
                  <a:srgbClr val="222A33"/>
                </a:solidFill>
                <a:latin typeface="Calibri"/>
              </a:rPr>
              <a:t>Metric: hop count only. Every link counts as 1 hop regardless of its actual bandwidth or reliability, capped at a maximum of 15. A route needing 16 hops is treated as unreachable, which is part of why RIP struggles on larger networks.</a:t>
            </a:r>
          </a:p>
          <a:p>
            <a:pPr marL="201168" indent="-201168">
              <a:spcAft>
                <a:spcPts val="1200"/>
              </a:spcAft>
              <a:buFont typeface="Arial"/>
              <a:buChar char="–"/>
            </a:pPr>
            <a:r>
              <a:rPr sz="1700" b="0" i="0">
                <a:solidFill>
                  <a:srgbClr val="222A33"/>
                </a:solidFill>
                <a:latin typeface="Calibri"/>
              </a:rPr>
              <a:t>Messages: RIP Request (a router asking for routing information) and RIP Response (the reply, also sent unsolicited every 30 seconds by default to advertise the full routing table).</a:t>
            </a:r>
          </a:p>
          <a:p>
            <a:pPr marL="201168" indent="-201168">
              <a:spcAft>
                <a:spcPts val="1200"/>
              </a:spcAft>
              <a:buFont typeface="Arial"/>
              <a:buChar char="–"/>
            </a:pPr>
            <a:r>
              <a:rPr sz="1700" b="0" i="0">
                <a:solidFill>
                  <a:srgbClr val="222A33"/>
                </a:solidFill>
                <a:latin typeface="Calibri"/>
              </a:rPr>
              <a:t>Transport: runs directly over UDP, port 520, using broadcast in RIPv1 and multicast (224.0.0.9) in RIPv2.</a:t>
            </a:r>
          </a:p>
          <a:p>
            <a:pPr marL="201168" indent="-201168">
              <a:spcAft>
                <a:spcPts val="1200"/>
              </a:spcAft>
              <a:buFont typeface="Arial"/>
              <a:buChar char="–"/>
            </a:pPr>
            <a:r>
              <a:rPr sz="1700" b="0" i="0">
                <a:solidFill>
                  <a:srgbClr val="222A33"/>
                </a:solidFill>
                <a:latin typeface="Calibri"/>
              </a:rPr>
              <a:t>Security angle: because full routing table updates go out every 30 seconds to anyone listening on the segment, an attacker doesn't need to do anything sophisticated to see the whole picture, or to inject a convincing-looking Response of their own.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600" b="1" i="0">
                <a:solidFill>
                  <a:srgbClr val="FFFFFF"/>
                </a:solidFill>
                <a:latin typeface="Cambria"/>
              </a:rPr>
              <a:t>OSPF: Open Shortest Path First</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FUNDAMENTALS</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200"/>
              </a:spcAft>
              <a:buFont typeface="Arial"/>
              <a:buChar char="–"/>
            </a:pPr>
            <a:r>
              <a:rPr sz="1700" b="0" i="0">
                <a:solidFill>
                  <a:srgbClr val="222A33"/>
                </a:solidFill>
                <a:latin typeface="Calibri"/>
              </a:rPr>
              <a:t>Type: link-state. Every router builds a full map of the network topology (within its area) and calculates the best path itself, rather than trusting a neighbor's summary.</a:t>
            </a:r>
          </a:p>
          <a:p>
            <a:pPr marL="201168" indent="-201168">
              <a:spcAft>
                <a:spcPts val="1200"/>
              </a:spcAft>
              <a:buFont typeface="Arial"/>
              <a:buChar char="–"/>
            </a:pPr>
            <a:r>
              <a:rPr sz="1700" b="0" i="0">
                <a:solidFill>
                  <a:srgbClr val="222A33"/>
                </a:solidFill>
                <a:latin typeface="Calibri"/>
              </a:rPr>
              <a:t>Organised into areas for scalability, with Area 0 (the backbone) connecting all others.</a:t>
            </a:r>
          </a:p>
          <a:p>
            <a:pPr marL="201168" indent="-201168">
              <a:spcAft>
                <a:spcPts val="1200"/>
              </a:spcAft>
              <a:buFont typeface="Arial"/>
              <a:buChar char="–"/>
            </a:pPr>
            <a:r>
              <a:rPr sz="1700" b="0" i="0">
                <a:solidFill>
                  <a:srgbClr val="222A33"/>
                </a:solidFill>
                <a:latin typeface="Calibri"/>
              </a:rPr>
              <a:t>Supports MD5 authentication between neighbors. This is one of the two protocols you'll actually configure and harden in this week's lab.</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600" b="1" i="0">
                <a:solidFill>
                  <a:srgbClr val="FFFFFF"/>
                </a:solidFill>
                <a:latin typeface="Cambria"/>
              </a:rPr>
              <a:t>OSPF: Metric and Messages</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FUNDAMENTALS</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200"/>
              </a:spcAft>
              <a:buFont typeface="Arial"/>
              <a:buChar char="–"/>
            </a:pPr>
            <a:r>
              <a:rPr sz="1700" b="0" i="0">
                <a:solidFill>
                  <a:srgbClr val="222A33"/>
                </a:solidFill>
                <a:latin typeface="Calibri"/>
              </a:rPr>
              <a:t>Metric: cost, calculated from interface bandwidth (a reference bandwidth divided by the interface's actual bandwidth). Faster links get a lower cost, so OSPF's path selection reflects real link speed, unlike RIP's flat hop count.</a:t>
            </a:r>
          </a:p>
          <a:p>
            <a:pPr marL="201168" indent="-201168">
              <a:spcAft>
                <a:spcPts val="1200"/>
              </a:spcAft>
              <a:buFont typeface="Arial"/>
              <a:buChar char="–"/>
            </a:pPr>
            <a:r>
              <a:rPr sz="1700" b="0" i="0">
                <a:solidFill>
                  <a:srgbClr val="222A33"/>
                </a:solidFill>
                <a:latin typeface="Calibri"/>
              </a:rPr>
              <a:t>Messages: Hello (discovers and maintains neighbor relationships), Database Description or DBD (summarises the link-state database during initial sync), Link State Request or LSR (asks for missing details), Link State Update or LSU (carries the actual Link State Advertisements), and Link State Acknowledgment or LSAck.</a:t>
            </a:r>
          </a:p>
          <a:p>
            <a:pPr marL="201168" indent="-201168">
              <a:spcAft>
                <a:spcPts val="1200"/>
              </a:spcAft>
              <a:buFont typeface="Arial"/>
              <a:buChar char="–"/>
            </a:pPr>
            <a:r>
              <a:rPr sz="1700" b="0" i="0">
                <a:solidFill>
                  <a:srgbClr val="222A33"/>
                </a:solidFill>
                <a:latin typeface="Calibri"/>
              </a:rPr>
              <a:t>Transport: runs directly over IP, protocol number 89 (not over UDP or TCP), using multicast addresses 224.0.0.5 (all OSPF routers) and 224.0.0.6 (designated routers).</a:t>
            </a:r>
          </a:p>
          <a:p>
            <a:pPr marL="201168" indent="-201168">
              <a:spcAft>
                <a:spcPts val="1200"/>
              </a:spcAft>
              <a:buFont typeface="Arial"/>
              <a:buChar char="–"/>
            </a:pPr>
            <a:r>
              <a:rPr sz="1700" b="0" i="0">
                <a:solidFill>
                  <a:srgbClr val="222A33"/>
                </a:solidFill>
                <a:latin typeface="Calibri"/>
              </a:rPr>
              <a:t>Security angle: because Hello packets are how OSPF forms a neighbor relationship in the first place, that's exactly the message MD5 authentication has to protect before any topology information is ever exchanged.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600" b="1" i="0">
                <a:solidFill>
                  <a:srgbClr val="FFFFFF"/>
                </a:solidFill>
                <a:latin typeface="Cambria"/>
              </a:rPr>
              <a:t>EIGRP: Enhanced Interior Gateway Routing Protocol</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FUNDAMENTALS</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200"/>
              </a:spcAft>
              <a:buFont typeface="Arial"/>
              <a:buChar char="–"/>
            </a:pPr>
            <a:r>
              <a:rPr sz="1700" b="0" i="0">
                <a:solidFill>
                  <a:srgbClr val="222A33"/>
                </a:solidFill>
                <a:latin typeface="Calibri"/>
              </a:rPr>
              <a:t>Type: advanced distance-vector (Cisco calls it ‘hybrid’). Uses the DUAL algorithm to converge faster than classic distance-vector protocols like RIP, while staying simpler to configure than OSPF.</a:t>
            </a:r>
          </a:p>
          <a:p>
            <a:pPr marL="201168" indent="-201168">
              <a:spcAft>
                <a:spcPts val="1200"/>
              </a:spcAft>
              <a:buFont typeface="Arial"/>
              <a:buChar char="–"/>
            </a:pPr>
            <a:r>
              <a:rPr sz="1700" b="0" i="0">
                <a:solidFill>
                  <a:srgbClr val="222A33"/>
                </a:solidFill>
                <a:latin typeface="Calibri"/>
              </a:rPr>
              <a:t>Metric factors in bandwidth and delay, not just hop count, giving more realistic path selection.</a:t>
            </a:r>
          </a:p>
          <a:p>
            <a:pPr marL="201168" indent="-201168">
              <a:spcAft>
                <a:spcPts val="1200"/>
              </a:spcAft>
              <a:buFont typeface="Arial"/>
              <a:buChar char="–"/>
            </a:pPr>
            <a:r>
              <a:rPr sz="1700" b="0" i="0">
                <a:solidFill>
                  <a:srgbClr val="222A33"/>
                </a:solidFill>
                <a:latin typeface="Calibri"/>
              </a:rPr>
              <a:t>Also supports MD5 authentication between neighbors: the second protocol you'll configure and harden this week.</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600" b="1" i="0">
                <a:solidFill>
                  <a:srgbClr val="FFFFFF"/>
                </a:solidFill>
                <a:latin typeface="Cambria"/>
              </a:rPr>
              <a:t>EIGRP: Metric and Messages</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FUNDAMENTALS</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200"/>
              </a:spcAft>
              <a:buFont typeface="Arial"/>
              <a:buChar char="–"/>
            </a:pPr>
            <a:r>
              <a:rPr sz="1700" b="0" i="0">
                <a:solidFill>
                  <a:srgbClr val="222A33"/>
                </a:solidFill>
                <a:latin typeface="Calibri"/>
              </a:rPr>
              <a:t>Metric: a composite value combining bandwidth and delay by default (reliability and load are also part of the formula but disabled by default). This gives EIGRP a more realistic picture of path quality than a simple hop count.</a:t>
            </a:r>
          </a:p>
          <a:p>
            <a:pPr marL="201168" indent="-201168">
              <a:spcAft>
                <a:spcPts val="1200"/>
              </a:spcAft>
              <a:buFont typeface="Arial"/>
              <a:buChar char="–"/>
            </a:pPr>
            <a:r>
              <a:rPr sz="1700" b="0" i="0">
                <a:solidFill>
                  <a:srgbClr val="222A33"/>
                </a:solidFill>
                <a:latin typeface="Calibri"/>
              </a:rPr>
              <a:t>Messages: Hello (maintains neighbor adjacency, similar role to OSPF's), Update (carries actual routing information), Query and Reply (used by the DUAL algorithm to find a new loop-free path when a route fails), and Acknowledgment.</a:t>
            </a:r>
          </a:p>
          <a:p>
            <a:pPr marL="201168" indent="-201168">
              <a:spcAft>
                <a:spcPts val="1200"/>
              </a:spcAft>
              <a:buFont typeface="Arial"/>
              <a:buChar char="–"/>
            </a:pPr>
            <a:r>
              <a:rPr sz="1700" b="0" i="0">
                <a:solidFill>
                  <a:srgbClr val="222A33"/>
                </a:solidFill>
                <a:latin typeface="Calibri"/>
              </a:rPr>
              <a:t>Transport: runs directly over IP, protocol number 88, using multicast address 224.0.0.10.</a:t>
            </a:r>
          </a:p>
          <a:p>
            <a:pPr marL="201168" indent="-201168">
              <a:spcAft>
                <a:spcPts val="1200"/>
              </a:spcAft>
              <a:buFont typeface="Arial"/>
              <a:buChar char="–"/>
            </a:pPr>
            <a:r>
              <a:rPr sz="1700" b="0" i="0">
                <a:solidFill>
                  <a:srgbClr val="222A33"/>
                </a:solidFill>
                <a:latin typeface="Calibri"/>
              </a:rPr>
              <a:t>Security angle: DUAL's Query/Reply exchange is exactly what an attacker's false advertisements interact with during Routing Table Poisoning, since a convincing false route can trigger the same recalculation process a genuine link failure would.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600" b="1" i="0">
                <a:solidFill>
                  <a:srgbClr val="FFFFFF"/>
                </a:solidFill>
                <a:latin typeface="Cambria"/>
              </a:rPr>
              <a:t>BGP: Border Gateway Protocol</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FUNDAMENTALS</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200"/>
              </a:spcAft>
              <a:buFont typeface="Arial"/>
              <a:buChar char="–"/>
            </a:pPr>
            <a:r>
              <a:rPr sz="1700" b="0" i="0">
                <a:solidFill>
                  <a:srgbClr val="222A33"/>
                </a:solidFill>
                <a:latin typeface="Calibri"/>
              </a:rPr>
              <a:t>Type: path-vector. The only exterior gateway protocol in this list, used to route between Autonomous Systems (AS), not within one. This is the protocol that holds the entire Internet together.</a:t>
            </a:r>
          </a:p>
          <a:p>
            <a:pPr marL="201168" indent="-201168">
              <a:spcAft>
                <a:spcPts val="1200"/>
              </a:spcAft>
              <a:buFont typeface="Arial"/>
              <a:buChar char="–"/>
            </a:pPr>
            <a:r>
              <a:rPr sz="1700" b="0" i="0">
                <a:solidFill>
                  <a:srgbClr val="222A33"/>
                </a:solidFill>
                <a:latin typeface="Calibri"/>
              </a:rPr>
              <a:t>A router advertises which prefixes (address blocks) it can reach and via which AS path; neighbors largely take that advertisement on trust.</a:t>
            </a:r>
          </a:p>
          <a:p>
            <a:pPr marL="201168" indent="-201168">
              <a:spcAft>
                <a:spcPts val="1200"/>
              </a:spcAft>
              <a:buFont typeface="Arial"/>
              <a:buChar char="–"/>
            </a:pPr>
            <a:r>
              <a:rPr sz="1700" b="0" i="0">
                <a:solidFill>
                  <a:srgbClr val="222A33"/>
                </a:solidFill>
                <a:latin typeface="Calibri"/>
              </a:rPr>
              <a:t>Supports MD5 authentication (a password per neighbor session), but Packet Tracer's BGP support is limited enough that we won't rely on configuring it hands-on this week.</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600" b="1" i="0">
                <a:solidFill>
                  <a:srgbClr val="FFFFFF"/>
                </a:solidFill>
                <a:latin typeface="Cambria"/>
              </a:rPr>
              <a:t>BGP: Metric and Messages</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FUNDAMENTALS</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200"/>
              </a:spcAft>
              <a:buFont typeface="Arial"/>
              <a:buChar char="–"/>
            </a:pPr>
            <a:r>
              <a:rPr sz="1700" b="0" i="0">
                <a:solidFill>
                  <a:srgbClr val="222A33"/>
                </a:solidFill>
                <a:latin typeface="Calibri"/>
              </a:rPr>
              <a:t>Metric: BGP doesn't use a single simple metric the way the other three do. Path selection runs through an ordered list of path attributes (weight, local preference, AS-path length, origin, and others), with AS-path length being the simplest to reason about: a shorter path through fewer Autonomous Systems is generally preferred.</a:t>
            </a:r>
          </a:p>
          <a:p>
            <a:pPr marL="201168" indent="-201168">
              <a:spcAft>
                <a:spcPts val="1200"/>
              </a:spcAft>
              <a:buFont typeface="Arial"/>
              <a:buChar char="–"/>
            </a:pPr>
            <a:r>
              <a:rPr sz="1700" b="0" i="0">
                <a:solidFill>
                  <a:srgbClr val="222A33"/>
                </a:solidFill>
                <a:latin typeface="Calibri"/>
              </a:rPr>
              <a:t>Messages: OPEN (establishes a session with a neighbor), UPDATE (advertises new routes or withdraws ones no longer valid, exactly the message type involved in a prefix hijack), KEEPALIVE (confirms the session is still alive), and NOTIFICATION (reports an error and closes the session).</a:t>
            </a:r>
          </a:p>
          <a:p>
            <a:pPr marL="201168" indent="-201168">
              <a:spcAft>
                <a:spcPts val="1200"/>
              </a:spcAft>
              <a:buFont typeface="Arial"/>
              <a:buChar char="–"/>
            </a:pPr>
            <a:r>
              <a:rPr sz="1700" b="0" i="0">
                <a:solidFill>
                  <a:srgbClr val="222A33"/>
                </a:solidFill>
                <a:latin typeface="Calibri"/>
              </a:rPr>
              <a:t>Transport: unlike the other three protocols, BGP runs over TCP, port 179, rather than directly over IP or UDP. This is also why BGP's MD5 authentication is technically a TCP-level protection (an MD5 signature carried in the TCP header), not a routing-protocol-level one.</a:t>
            </a:r>
          </a:p>
          <a:p>
            <a:pPr marL="201168" indent="-201168">
              <a:spcAft>
                <a:spcPts val="1200"/>
              </a:spcAft>
              <a:buFont typeface="Arial"/>
              <a:buChar char="–"/>
            </a:pPr>
            <a:r>
              <a:rPr sz="1700" b="0" i="0">
                <a:solidFill>
                  <a:srgbClr val="222A33"/>
                </a:solidFill>
                <a:latin typeface="Calibri"/>
              </a:rPr>
              <a:t>Security angle: the UPDATE message is the entire attack surface for prefix hijacking. Whoever can get an UPDATE accepted, truthfully or not, controls where that traffic goes next.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600" b="1" i="0">
                <a:solidFill>
                  <a:srgbClr val="FFFFFF"/>
                </a:solidFill>
                <a:latin typeface="Cambria"/>
              </a:rPr>
              <a:t>The Four Protocols at a Glance</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FUNDAMENTALS</a:t>
            </a:r>
          </a:p>
        </p:txBody>
      </p:sp>
      <p:graphicFrame>
        <p:nvGraphicFramePr>
          <p:cNvPr id="4" name="Table 3"/>
          <p:cNvGraphicFramePr>
            <a:graphicFrameLocks noGrp="1"/>
          </p:cNvGraphicFramePr>
          <p:nvPr/>
        </p:nvGraphicFramePr>
        <p:xfrm>
          <a:off x="320040" y="1691640"/>
          <a:ext cx="11521440" cy="3977639"/>
        </p:xfrm>
        <a:graphic>
          <a:graphicData uri="http://schemas.openxmlformats.org/drawingml/2006/table">
            <a:tbl>
              <a:tblPr firstRow="1" bandRow="1">
                <a:tableStyleId>{5C22544A-7EE6-4342-B048-85BDC9FD1C3A}</a:tableStyleId>
              </a:tblPr>
              <a:tblGrid>
                <a:gridCol w="155448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gridCol w="1920240">
                  <a:extLst>
                    <a:ext uri="{9D8B030D-6E8A-4147-A177-3AD203B41FA5}">
                      <a16:colId xmlns:a16="http://schemas.microsoft.com/office/drawing/2014/main" val="20003"/>
                    </a:ext>
                  </a:extLst>
                </a:gridCol>
                <a:gridCol w="3017520">
                  <a:extLst>
                    <a:ext uri="{9D8B030D-6E8A-4147-A177-3AD203B41FA5}">
                      <a16:colId xmlns:a16="http://schemas.microsoft.com/office/drawing/2014/main" val="20004"/>
                    </a:ext>
                  </a:extLst>
                </a:gridCol>
              </a:tblGrid>
              <a:tr h="795527">
                <a:tc>
                  <a:txBody>
                    <a:bodyPr/>
                    <a:lstStyle/>
                    <a:p>
                      <a:r>
                        <a:rPr sz="1300" b="1" i="0">
                          <a:solidFill>
                            <a:srgbClr val="FFFFFF"/>
                          </a:solidFill>
                          <a:latin typeface="Calibri"/>
                        </a:rPr>
                        <a:t>Protocol</a:t>
                      </a:r>
                    </a:p>
                  </a:txBody>
                  <a:tcPr marL="73152" marR="73152" marT="27432" marB="27432" anchor="ctr">
                    <a:solidFill>
                      <a:srgbClr val="003054"/>
                    </a:solidFill>
                  </a:tcPr>
                </a:tc>
                <a:tc>
                  <a:txBody>
                    <a:bodyPr/>
                    <a:lstStyle/>
                    <a:p>
                      <a:r>
                        <a:rPr sz="1300" b="1" i="0">
                          <a:solidFill>
                            <a:srgbClr val="FFFFFF"/>
                          </a:solidFill>
                          <a:latin typeface="Calibri"/>
                        </a:rPr>
                        <a:t>Type</a:t>
                      </a:r>
                    </a:p>
                  </a:txBody>
                  <a:tcPr marL="73152" marR="73152" marT="27432" marB="27432" anchor="ctr">
                    <a:solidFill>
                      <a:srgbClr val="003054"/>
                    </a:solidFill>
                  </a:tcPr>
                </a:tc>
                <a:tc>
                  <a:txBody>
                    <a:bodyPr/>
                    <a:lstStyle/>
                    <a:p>
                      <a:r>
                        <a:rPr sz="1300" b="1" i="0">
                          <a:solidFill>
                            <a:srgbClr val="FFFFFF"/>
                          </a:solidFill>
                          <a:latin typeface="Calibri"/>
                        </a:rPr>
                        <a:t>Metric</a:t>
                      </a:r>
                    </a:p>
                  </a:txBody>
                  <a:tcPr marL="73152" marR="73152" marT="27432" marB="27432" anchor="ctr">
                    <a:solidFill>
                      <a:srgbClr val="003054"/>
                    </a:solidFill>
                  </a:tcPr>
                </a:tc>
                <a:tc>
                  <a:txBody>
                    <a:bodyPr/>
                    <a:lstStyle/>
                    <a:p>
                      <a:r>
                        <a:rPr sz="1300" b="1" i="0">
                          <a:solidFill>
                            <a:srgbClr val="FFFFFF"/>
                          </a:solidFill>
                          <a:latin typeface="Calibri"/>
                        </a:rPr>
                        <a:t>Transport</a:t>
                      </a:r>
                    </a:p>
                  </a:txBody>
                  <a:tcPr marL="73152" marR="73152" marT="27432" marB="27432" anchor="ctr">
                    <a:solidFill>
                      <a:srgbClr val="003054"/>
                    </a:solidFill>
                  </a:tcPr>
                </a:tc>
                <a:tc>
                  <a:txBody>
                    <a:bodyPr/>
                    <a:lstStyle/>
                    <a:p>
                      <a:r>
                        <a:rPr sz="1300" b="1" i="0">
                          <a:solidFill>
                            <a:srgbClr val="FFFFFF"/>
                          </a:solidFill>
                          <a:latin typeface="Calibri"/>
                        </a:rPr>
                        <a:t>Authentication</a:t>
                      </a:r>
                    </a:p>
                  </a:txBody>
                  <a:tcPr marL="73152" marR="73152" marT="27432" marB="27432" anchor="ctr">
                    <a:solidFill>
                      <a:srgbClr val="003054"/>
                    </a:solidFill>
                  </a:tcPr>
                </a:tc>
                <a:extLst>
                  <a:ext uri="{0D108BD9-81ED-4DB2-BD59-A6C34878D82A}">
                    <a16:rowId xmlns:a16="http://schemas.microsoft.com/office/drawing/2014/main" val="10000"/>
                  </a:ext>
                </a:extLst>
              </a:tr>
              <a:tr h="795527">
                <a:tc>
                  <a:txBody>
                    <a:bodyPr/>
                    <a:lstStyle/>
                    <a:p>
                      <a:r>
                        <a:rPr sz="1200" b="0" i="0">
                          <a:solidFill>
                            <a:srgbClr val="222A33"/>
                          </a:solidFill>
                          <a:latin typeface="Calibri"/>
                        </a:rPr>
                        <a:t>RIP</a:t>
                      </a:r>
                    </a:p>
                  </a:txBody>
                  <a:tcPr marL="73152" marR="73152" marT="27432" marB="27432" anchor="ctr">
                    <a:solidFill>
                      <a:srgbClr val="FFFFFF"/>
                    </a:solidFill>
                  </a:tcPr>
                </a:tc>
                <a:tc>
                  <a:txBody>
                    <a:bodyPr/>
                    <a:lstStyle/>
                    <a:p>
                      <a:r>
                        <a:rPr sz="1200" b="0" i="0">
                          <a:solidFill>
                            <a:srgbClr val="222A33"/>
                          </a:solidFill>
                          <a:latin typeface="Calibri"/>
                        </a:rPr>
                        <a:t>Distance-vector</a:t>
                      </a:r>
                    </a:p>
                  </a:txBody>
                  <a:tcPr marL="73152" marR="73152" marT="27432" marB="27432" anchor="ctr">
                    <a:solidFill>
                      <a:srgbClr val="FFFFFF"/>
                    </a:solidFill>
                  </a:tcPr>
                </a:tc>
                <a:tc>
                  <a:txBody>
                    <a:bodyPr/>
                    <a:lstStyle/>
                    <a:p>
                      <a:r>
                        <a:rPr sz="1200" b="0" i="0">
                          <a:solidFill>
                            <a:srgbClr val="222A33"/>
                          </a:solidFill>
                          <a:latin typeface="Calibri"/>
                        </a:rPr>
                        <a:t>Hop count (max 15)</a:t>
                      </a:r>
                    </a:p>
                  </a:txBody>
                  <a:tcPr marL="73152" marR="73152" marT="27432" marB="27432" anchor="ctr">
                    <a:solidFill>
                      <a:srgbClr val="FFFFFF"/>
                    </a:solidFill>
                  </a:tcPr>
                </a:tc>
                <a:tc>
                  <a:txBody>
                    <a:bodyPr/>
                    <a:lstStyle/>
                    <a:p>
                      <a:r>
                        <a:rPr sz="1200" b="0" i="0">
                          <a:solidFill>
                            <a:srgbClr val="222A33"/>
                          </a:solidFill>
                          <a:latin typeface="Calibri"/>
                        </a:rPr>
                        <a:t>UDP 520</a:t>
                      </a:r>
                    </a:p>
                  </a:txBody>
                  <a:tcPr marL="73152" marR="73152" marT="27432" marB="27432" anchor="ctr">
                    <a:solidFill>
                      <a:srgbClr val="FFFFFF"/>
                    </a:solidFill>
                  </a:tcPr>
                </a:tc>
                <a:tc>
                  <a:txBody>
                    <a:bodyPr/>
                    <a:lstStyle/>
                    <a:p>
                      <a:r>
                        <a:rPr sz="1200" b="0" i="0">
                          <a:solidFill>
                            <a:srgbClr val="222A33"/>
                          </a:solidFill>
                          <a:latin typeface="Calibri"/>
                        </a:rPr>
                        <a:t>Optional, rarely enabled</a:t>
                      </a:r>
                    </a:p>
                  </a:txBody>
                  <a:tcPr marL="73152" marR="73152" marT="27432" marB="27432" anchor="ctr">
                    <a:solidFill>
                      <a:srgbClr val="FFFFFF"/>
                    </a:solidFill>
                  </a:tcPr>
                </a:tc>
                <a:extLst>
                  <a:ext uri="{0D108BD9-81ED-4DB2-BD59-A6C34878D82A}">
                    <a16:rowId xmlns:a16="http://schemas.microsoft.com/office/drawing/2014/main" val="10001"/>
                  </a:ext>
                </a:extLst>
              </a:tr>
              <a:tr h="795527">
                <a:tc>
                  <a:txBody>
                    <a:bodyPr/>
                    <a:lstStyle/>
                    <a:p>
                      <a:r>
                        <a:rPr sz="1200" b="0" i="0">
                          <a:solidFill>
                            <a:srgbClr val="222A33"/>
                          </a:solidFill>
                          <a:latin typeface="Calibri"/>
                        </a:rPr>
                        <a:t>OSPF</a:t>
                      </a:r>
                    </a:p>
                  </a:txBody>
                  <a:tcPr marL="73152" marR="73152" marT="27432" marB="27432" anchor="ctr">
                    <a:solidFill>
                      <a:srgbClr val="F2F4F7"/>
                    </a:solidFill>
                  </a:tcPr>
                </a:tc>
                <a:tc>
                  <a:txBody>
                    <a:bodyPr/>
                    <a:lstStyle/>
                    <a:p>
                      <a:r>
                        <a:rPr sz="1200" b="0" i="0">
                          <a:solidFill>
                            <a:srgbClr val="222A33"/>
                          </a:solidFill>
                          <a:latin typeface="Calibri"/>
                        </a:rPr>
                        <a:t>Link-state</a:t>
                      </a:r>
                    </a:p>
                  </a:txBody>
                  <a:tcPr marL="73152" marR="73152" marT="27432" marB="27432" anchor="ctr">
                    <a:solidFill>
                      <a:srgbClr val="F2F4F7"/>
                    </a:solidFill>
                  </a:tcPr>
                </a:tc>
                <a:tc>
                  <a:txBody>
                    <a:bodyPr/>
                    <a:lstStyle/>
                    <a:p>
                      <a:r>
                        <a:rPr sz="1200" b="0" i="0">
                          <a:solidFill>
                            <a:srgbClr val="222A33"/>
                          </a:solidFill>
                          <a:latin typeface="Calibri"/>
                        </a:rPr>
                        <a:t>Cost (bandwidth-based)</a:t>
                      </a:r>
                    </a:p>
                  </a:txBody>
                  <a:tcPr marL="73152" marR="73152" marT="27432" marB="27432" anchor="ctr">
                    <a:solidFill>
                      <a:srgbClr val="F2F4F7"/>
                    </a:solidFill>
                  </a:tcPr>
                </a:tc>
                <a:tc>
                  <a:txBody>
                    <a:bodyPr/>
                    <a:lstStyle/>
                    <a:p>
                      <a:r>
                        <a:rPr sz="1200" b="0" i="0">
                          <a:solidFill>
                            <a:srgbClr val="222A33"/>
                          </a:solidFill>
                          <a:latin typeface="Calibri"/>
                        </a:rPr>
                        <a:t>IP protocol 89</a:t>
                      </a:r>
                    </a:p>
                  </a:txBody>
                  <a:tcPr marL="73152" marR="73152" marT="27432" marB="27432" anchor="ctr">
                    <a:solidFill>
                      <a:srgbClr val="F2F4F7"/>
                    </a:solidFill>
                  </a:tcPr>
                </a:tc>
                <a:tc>
                  <a:txBody>
                    <a:bodyPr/>
                    <a:lstStyle/>
                    <a:p>
                      <a:r>
                        <a:rPr sz="1200" b="0" i="0">
                          <a:solidFill>
                            <a:srgbClr val="222A33"/>
                          </a:solidFill>
                          <a:latin typeface="Calibri"/>
                        </a:rPr>
                        <a:t>MD5, well supported</a:t>
                      </a:r>
                    </a:p>
                  </a:txBody>
                  <a:tcPr marL="73152" marR="73152" marT="27432" marB="27432" anchor="ctr">
                    <a:solidFill>
                      <a:srgbClr val="F2F4F7"/>
                    </a:solidFill>
                  </a:tcPr>
                </a:tc>
                <a:extLst>
                  <a:ext uri="{0D108BD9-81ED-4DB2-BD59-A6C34878D82A}">
                    <a16:rowId xmlns:a16="http://schemas.microsoft.com/office/drawing/2014/main" val="10002"/>
                  </a:ext>
                </a:extLst>
              </a:tr>
              <a:tr h="795527">
                <a:tc>
                  <a:txBody>
                    <a:bodyPr/>
                    <a:lstStyle/>
                    <a:p>
                      <a:r>
                        <a:rPr sz="1200" b="0" i="0">
                          <a:solidFill>
                            <a:srgbClr val="222A33"/>
                          </a:solidFill>
                          <a:latin typeface="Calibri"/>
                        </a:rPr>
                        <a:t>EIGRP</a:t>
                      </a:r>
                    </a:p>
                  </a:txBody>
                  <a:tcPr marL="73152" marR="73152" marT="27432" marB="27432" anchor="ctr">
                    <a:solidFill>
                      <a:srgbClr val="FFFFFF"/>
                    </a:solidFill>
                  </a:tcPr>
                </a:tc>
                <a:tc>
                  <a:txBody>
                    <a:bodyPr/>
                    <a:lstStyle/>
                    <a:p>
                      <a:r>
                        <a:rPr sz="1200" b="0" i="0">
                          <a:solidFill>
                            <a:srgbClr val="222A33"/>
                          </a:solidFill>
                          <a:latin typeface="Calibri"/>
                        </a:rPr>
                        <a:t>Advanced distance-vector</a:t>
                      </a:r>
                    </a:p>
                  </a:txBody>
                  <a:tcPr marL="73152" marR="73152" marT="27432" marB="27432" anchor="ctr">
                    <a:solidFill>
                      <a:srgbClr val="FFFFFF"/>
                    </a:solidFill>
                  </a:tcPr>
                </a:tc>
                <a:tc>
                  <a:txBody>
                    <a:bodyPr/>
                    <a:lstStyle/>
                    <a:p>
                      <a:r>
                        <a:rPr sz="1200" b="0" i="0">
                          <a:solidFill>
                            <a:srgbClr val="222A33"/>
                          </a:solidFill>
                          <a:latin typeface="Calibri"/>
                        </a:rPr>
                        <a:t>Bandwidth + delay composite</a:t>
                      </a:r>
                    </a:p>
                  </a:txBody>
                  <a:tcPr marL="73152" marR="73152" marT="27432" marB="27432" anchor="ctr">
                    <a:solidFill>
                      <a:srgbClr val="FFFFFF"/>
                    </a:solidFill>
                  </a:tcPr>
                </a:tc>
                <a:tc>
                  <a:txBody>
                    <a:bodyPr/>
                    <a:lstStyle/>
                    <a:p>
                      <a:r>
                        <a:rPr sz="1200" b="0" i="0">
                          <a:solidFill>
                            <a:srgbClr val="222A33"/>
                          </a:solidFill>
                          <a:latin typeface="Calibri"/>
                        </a:rPr>
                        <a:t>IP protocol 88</a:t>
                      </a:r>
                    </a:p>
                  </a:txBody>
                  <a:tcPr marL="73152" marR="73152" marT="27432" marB="27432" anchor="ctr">
                    <a:solidFill>
                      <a:srgbClr val="FFFFFF"/>
                    </a:solidFill>
                  </a:tcPr>
                </a:tc>
                <a:tc>
                  <a:txBody>
                    <a:bodyPr/>
                    <a:lstStyle/>
                    <a:p>
                      <a:r>
                        <a:rPr sz="1200" b="0" i="0">
                          <a:solidFill>
                            <a:srgbClr val="222A33"/>
                          </a:solidFill>
                          <a:latin typeface="Calibri"/>
                        </a:rPr>
                        <a:t>MD5, well supported</a:t>
                      </a:r>
                    </a:p>
                  </a:txBody>
                  <a:tcPr marL="73152" marR="73152" marT="27432" marB="27432" anchor="ctr">
                    <a:solidFill>
                      <a:srgbClr val="FFFFFF"/>
                    </a:solidFill>
                  </a:tcPr>
                </a:tc>
                <a:extLst>
                  <a:ext uri="{0D108BD9-81ED-4DB2-BD59-A6C34878D82A}">
                    <a16:rowId xmlns:a16="http://schemas.microsoft.com/office/drawing/2014/main" val="10003"/>
                  </a:ext>
                </a:extLst>
              </a:tr>
              <a:tr h="795531">
                <a:tc>
                  <a:txBody>
                    <a:bodyPr/>
                    <a:lstStyle/>
                    <a:p>
                      <a:r>
                        <a:rPr sz="1200" b="0" i="0">
                          <a:solidFill>
                            <a:srgbClr val="222A33"/>
                          </a:solidFill>
                          <a:latin typeface="Calibri"/>
                        </a:rPr>
                        <a:t>BGP</a:t>
                      </a:r>
                    </a:p>
                  </a:txBody>
                  <a:tcPr marL="73152" marR="73152" marT="27432" marB="27432" anchor="ctr">
                    <a:solidFill>
                      <a:srgbClr val="F2F4F7"/>
                    </a:solidFill>
                  </a:tcPr>
                </a:tc>
                <a:tc>
                  <a:txBody>
                    <a:bodyPr/>
                    <a:lstStyle/>
                    <a:p>
                      <a:r>
                        <a:rPr sz="1200" b="0" i="0">
                          <a:solidFill>
                            <a:srgbClr val="222A33"/>
                          </a:solidFill>
                          <a:latin typeface="Calibri"/>
                        </a:rPr>
                        <a:t>Path-vector</a:t>
                      </a:r>
                    </a:p>
                  </a:txBody>
                  <a:tcPr marL="73152" marR="73152" marT="27432" marB="27432" anchor="ctr">
                    <a:solidFill>
                      <a:srgbClr val="F2F4F7"/>
                    </a:solidFill>
                  </a:tcPr>
                </a:tc>
                <a:tc>
                  <a:txBody>
                    <a:bodyPr/>
                    <a:lstStyle/>
                    <a:p>
                      <a:r>
                        <a:rPr sz="1200" b="0" i="0">
                          <a:solidFill>
                            <a:srgbClr val="222A33"/>
                          </a:solidFill>
                          <a:latin typeface="Calibri"/>
                        </a:rPr>
                        <a:t>AS-path length + attributes</a:t>
                      </a:r>
                    </a:p>
                  </a:txBody>
                  <a:tcPr marL="73152" marR="73152" marT="27432" marB="27432" anchor="ctr">
                    <a:solidFill>
                      <a:srgbClr val="F2F4F7"/>
                    </a:solidFill>
                  </a:tcPr>
                </a:tc>
                <a:tc>
                  <a:txBody>
                    <a:bodyPr/>
                    <a:lstStyle/>
                    <a:p>
                      <a:r>
                        <a:rPr sz="1200" b="0" i="0">
                          <a:solidFill>
                            <a:srgbClr val="222A33"/>
                          </a:solidFill>
                          <a:latin typeface="Calibri"/>
                        </a:rPr>
                        <a:t>TCP 179</a:t>
                      </a:r>
                    </a:p>
                  </a:txBody>
                  <a:tcPr marL="73152" marR="73152" marT="27432" marB="27432" anchor="ctr">
                    <a:solidFill>
                      <a:srgbClr val="F2F4F7"/>
                    </a:solidFill>
                  </a:tcPr>
                </a:tc>
                <a:tc>
                  <a:txBody>
                    <a:bodyPr/>
                    <a:lstStyle/>
                    <a:p>
                      <a:r>
                        <a:rPr sz="1200" b="0" i="0">
                          <a:solidFill>
                            <a:srgbClr val="222A33"/>
                          </a:solidFill>
                          <a:latin typeface="Calibri"/>
                        </a:rPr>
                        <a:t>MD5 possible, limited adoption</a:t>
                      </a:r>
                    </a:p>
                  </a:txBody>
                  <a:tcPr marL="73152" marR="73152" marT="27432" marB="27432" anchor="ctr">
                    <a:solidFill>
                      <a:srgbClr val="F2F4F7"/>
                    </a:solidFill>
                  </a:tcPr>
                </a:tc>
                <a:extLst>
                  <a:ext uri="{0D108BD9-81ED-4DB2-BD59-A6C34878D82A}">
                    <a16:rowId xmlns:a16="http://schemas.microsoft.com/office/drawing/2014/main" val="10004"/>
                  </a:ext>
                </a:extLst>
              </a:tr>
            </a:tbl>
          </a:graphicData>
        </a:graphic>
      </p:graphicFrame>
      <p:sp>
        <p:nvSpPr>
          <p:cNvPr id="5" name="TextBox 4"/>
          <p:cNvSpPr txBox="1"/>
          <p:nvPr/>
        </p:nvSpPr>
        <p:spPr>
          <a:xfrm>
            <a:off x="320040" y="5760720"/>
            <a:ext cx="11521440" cy="365760"/>
          </a:xfrm>
          <a:prstGeom prst="rect">
            <a:avLst/>
          </a:prstGeom>
          <a:noFill/>
        </p:spPr>
        <p:txBody>
          <a:bodyPr wrap="square">
            <a:spAutoFit/>
          </a:bodyPr>
          <a:lstStyle/>
          <a:p>
            <a:r>
              <a:rPr sz="1200" b="0" i="1">
                <a:solidFill>
                  <a:srgbClr val="6B7682"/>
                </a:solidFill>
                <a:latin typeface="Calibri"/>
              </a:rPr>
              <a:t>Notice BGP is the only one running over TCP rather than directly over IP or UDP, which is exactly why its MD5 authentication works differently to the others.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600" b="1" i="0">
                <a:solidFill>
                  <a:srgbClr val="FFFFFF"/>
                </a:solidFill>
                <a:latin typeface="Cambria"/>
              </a:rPr>
              <a:t>Why Routing Trust Is Exploitable</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FUNDAMENTALS</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200"/>
              </a:spcAft>
              <a:buFont typeface="Arial"/>
              <a:buChar char="–"/>
            </a:pPr>
            <a:r>
              <a:rPr sz="1700" b="0" i="0">
                <a:solidFill>
                  <a:srgbClr val="222A33"/>
                </a:solidFill>
                <a:latin typeface="Calibri"/>
              </a:rPr>
              <a:t>Same theme as every week so far: by default, none of these protocols verify that a neighbor advertising routes is actually authorised to do so.</a:t>
            </a:r>
          </a:p>
          <a:p>
            <a:pPr marL="201168" indent="-201168">
              <a:spcAft>
                <a:spcPts val="1200"/>
              </a:spcAft>
              <a:buFont typeface="Arial"/>
              <a:buChar char="–"/>
            </a:pPr>
            <a:r>
              <a:rPr sz="1700" b="0" i="0">
                <a:solidFill>
                  <a:srgbClr val="222A33"/>
                </a:solidFill>
                <a:latin typeface="Calibri"/>
              </a:rPr>
              <a:t>A router that accepts a routing update has no built-in way to check whether the advertised route is truthful, current, or even physically plausible.</a:t>
            </a:r>
          </a:p>
          <a:p>
            <a:pPr marL="201168" indent="-201168">
              <a:spcAft>
                <a:spcPts val="1200"/>
              </a:spcAft>
              <a:buFont typeface="Arial"/>
              <a:buChar char="–"/>
            </a:pPr>
            <a:r>
              <a:rPr sz="1700" b="0" i="0">
                <a:solidFill>
                  <a:srgbClr val="222A33"/>
                </a:solidFill>
                <a:latin typeface="Calibri"/>
              </a:rPr>
              <a:t>The consequences scale with the protocol's reach: a bad RIP route affects one small network, while a bad BGP announcement can affect the global Internet, as today's real-world example will show.</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lgn="ctr"/>
            <a:r>
              <a:rPr sz="4000" b="1" i="0">
                <a:solidFill>
                  <a:srgbClr val="003054"/>
                </a:solidFill>
                <a:latin typeface="Cambria"/>
              </a:rPr>
              <a:t>Routing Attacks</a:t>
            </a:r>
          </a:p>
        </p:txBody>
      </p:sp>
      <p:sp>
        <p:nvSpPr>
          <p:cNvPr id="3" name="Text Placeholder 2"/>
          <p:cNvSpPr>
            <a:spLocks noGrp="1"/>
          </p:cNvSpPr>
          <p:nvPr>
            <p:ph type="body" idx="1"/>
          </p:nvPr>
        </p:nvSpPr>
        <p:spPr/>
        <p:txBody>
          <a:bodyPr wrap="square"/>
          <a:lstStyle/>
          <a:p>
            <a:pPr algn="ctr"/>
            <a:r>
              <a:rPr sz="1800" b="0" i="1">
                <a:solidFill>
                  <a:srgbClr val="6B7682"/>
                </a:solidFill>
                <a:latin typeface="Calibri"/>
              </a:rPr>
              <a:t>Five ways trust in a routing protocol can be abused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600" b="1" i="0">
                <a:solidFill>
                  <a:srgbClr val="FFFFFF"/>
                </a:solidFill>
                <a:latin typeface="Cambria"/>
              </a:rPr>
              <a:t>Five Attacks at a Glance</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ATTACKS OVERVIEW</a:t>
            </a:r>
          </a:p>
        </p:txBody>
      </p:sp>
      <p:graphicFrame>
        <p:nvGraphicFramePr>
          <p:cNvPr id="4" name="Table 3"/>
          <p:cNvGraphicFramePr>
            <a:graphicFrameLocks noGrp="1"/>
          </p:cNvGraphicFramePr>
          <p:nvPr/>
        </p:nvGraphicFramePr>
        <p:xfrm>
          <a:off x="457200" y="1783080"/>
          <a:ext cx="11247120" cy="3931920"/>
        </p:xfrm>
        <a:graphic>
          <a:graphicData uri="http://schemas.openxmlformats.org/drawingml/2006/table">
            <a:tbl>
              <a:tblPr firstRow="1" bandRow="1">
                <a:tableStyleId>{5C22544A-7EE6-4342-B048-85BDC9FD1C3A}</a:tableStyleId>
              </a:tblPr>
              <a:tblGrid>
                <a:gridCol w="4206240">
                  <a:extLst>
                    <a:ext uri="{9D8B030D-6E8A-4147-A177-3AD203B41FA5}">
                      <a16:colId xmlns:a16="http://schemas.microsoft.com/office/drawing/2014/main" val="20000"/>
                    </a:ext>
                  </a:extLst>
                </a:gridCol>
                <a:gridCol w="7040880">
                  <a:extLst>
                    <a:ext uri="{9D8B030D-6E8A-4147-A177-3AD203B41FA5}">
                      <a16:colId xmlns:a16="http://schemas.microsoft.com/office/drawing/2014/main" val="20001"/>
                    </a:ext>
                  </a:extLst>
                </a:gridCol>
              </a:tblGrid>
              <a:tr h="655320">
                <a:tc>
                  <a:txBody>
                    <a:bodyPr/>
                    <a:lstStyle/>
                    <a:p>
                      <a:r>
                        <a:rPr sz="1300" b="1" i="0">
                          <a:solidFill>
                            <a:srgbClr val="FFFFFF"/>
                          </a:solidFill>
                          <a:latin typeface="Calibri"/>
                        </a:rPr>
                        <a:t>Attack</a:t>
                      </a:r>
                    </a:p>
                  </a:txBody>
                  <a:tcPr marL="73152" marR="73152" marT="27432" marB="27432" anchor="ctr">
                    <a:solidFill>
                      <a:srgbClr val="003054"/>
                    </a:solidFill>
                  </a:tcPr>
                </a:tc>
                <a:tc>
                  <a:txBody>
                    <a:bodyPr/>
                    <a:lstStyle/>
                    <a:p>
                      <a:r>
                        <a:rPr sz="1300" b="1" i="0">
                          <a:solidFill>
                            <a:srgbClr val="FFFFFF"/>
                          </a:solidFill>
                          <a:latin typeface="Calibri"/>
                        </a:rPr>
                        <a:t>What it targets</a:t>
                      </a:r>
                    </a:p>
                  </a:txBody>
                  <a:tcPr marL="73152" marR="73152" marT="27432" marB="27432" anchor="ctr">
                    <a:solidFill>
                      <a:srgbClr val="003054"/>
                    </a:solidFill>
                  </a:tcPr>
                </a:tc>
                <a:extLst>
                  <a:ext uri="{0D108BD9-81ED-4DB2-BD59-A6C34878D82A}">
                    <a16:rowId xmlns:a16="http://schemas.microsoft.com/office/drawing/2014/main" val="10000"/>
                  </a:ext>
                </a:extLst>
              </a:tr>
              <a:tr h="655320">
                <a:tc>
                  <a:txBody>
                    <a:bodyPr/>
                    <a:lstStyle/>
                    <a:p>
                      <a:r>
                        <a:rPr sz="1400" b="0" i="0">
                          <a:solidFill>
                            <a:srgbClr val="222A33"/>
                          </a:solidFill>
                          <a:latin typeface="Calibri"/>
                        </a:rPr>
                        <a:t>Routing Table Poisoning</a:t>
                      </a:r>
                    </a:p>
                  </a:txBody>
                  <a:tcPr marL="73152" marR="73152" marT="27432" marB="27432" anchor="ctr">
                    <a:solidFill>
                      <a:srgbClr val="FFFFFF"/>
                    </a:solidFill>
                  </a:tcPr>
                </a:tc>
                <a:tc>
                  <a:txBody>
                    <a:bodyPr/>
                    <a:lstStyle/>
                    <a:p>
                      <a:r>
                        <a:rPr sz="1400" b="0" i="0">
                          <a:solidFill>
                            <a:srgbClr val="222A33"/>
                          </a:solidFill>
                          <a:latin typeface="Calibri"/>
                        </a:rPr>
                        <a:t>Injecting false routes into a distance-vector protocol</a:t>
                      </a:r>
                    </a:p>
                  </a:txBody>
                  <a:tcPr marL="73152" marR="73152" marT="27432" marB="27432" anchor="ctr">
                    <a:solidFill>
                      <a:srgbClr val="FFFFFF"/>
                    </a:solidFill>
                  </a:tcPr>
                </a:tc>
                <a:extLst>
                  <a:ext uri="{0D108BD9-81ED-4DB2-BD59-A6C34878D82A}">
                    <a16:rowId xmlns:a16="http://schemas.microsoft.com/office/drawing/2014/main" val="10001"/>
                  </a:ext>
                </a:extLst>
              </a:tr>
              <a:tr h="655320">
                <a:tc>
                  <a:txBody>
                    <a:bodyPr/>
                    <a:lstStyle/>
                    <a:p>
                      <a:r>
                        <a:rPr sz="1400" b="0" i="0">
                          <a:solidFill>
                            <a:srgbClr val="222A33"/>
                          </a:solidFill>
                          <a:latin typeface="Calibri"/>
                        </a:rPr>
                        <a:t>Unauthorised Route Injection</a:t>
                      </a:r>
                    </a:p>
                  </a:txBody>
                  <a:tcPr marL="73152" marR="73152" marT="27432" marB="27432" anchor="ctr">
                    <a:solidFill>
                      <a:srgbClr val="F2F4F7"/>
                    </a:solidFill>
                  </a:tcPr>
                </a:tc>
                <a:tc>
                  <a:txBody>
                    <a:bodyPr/>
                    <a:lstStyle/>
                    <a:p>
                      <a:r>
                        <a:rPr sz="1400" b="0" i="0">
                          <a:solidFill>
                            <a:srgbClr val="222A33"/>
                          </a:solidFill>
                          <a:latin typeface="Calibri"/>
                        </a:rPr>
                        <a:t>A rogue router joining the routing domain uninvited</a:t>
                      </a:r>
                    </a:p>
                  </a:txBody>
                  <a:tcPr marL="73152" marR="73152" marT="27432" marB="27432" anchor="ctr">
                    <a:solidFill>
                      <a:srgbClr val="F2F4F7"/>
                    </a:solidFill>
                  </a:tcPr>
                </a:tc>
                <a:extLst>
                  <a:ext uri="{0D108BD9-81ED-4DB2-BD59-A6C34878D82A}">
                    <a16:rowId xmlns:a16="http://schemas.microsoft.com/office/drawing/2014/main" val="10002"/>
                  </a:ext>
                </a:extLst>
              </a:tr>
              <a:tr h="655320">
                <a:tc>
                  <a:txBody>
                    <a:bodyPr/>
                    <a:lstStyle/>
                    <a:p>
                      <a:r>
                        <a:rPr sz="1400" b="0" i="0">
                          <a:solidFill>
                            <a:srgbClr val="222A33"/>
                          </a:solidFill>
                          <a:latin typeface="Calibri"/>
                        </a:rPr>
                        <a:t>Route/Prefix Hijacking</a:t>
                      </a:r>
                    </a:p>
                  </a:txBody>
                  <a:tcPr marL="73152" marR="73152" marT="27432" marB="27432" anchor="ctr">
                    <a:solidFill>
                      <a:srgbClr val="FFFFFF"/>
                    </a:solidFill>
                  </a:tcPr>
                </a:tc>
                <a:tc>
                  <a:txBody>
                    <a:bodyPr/>
                    <a:lstStyle/>
                    <a:p>
                      <a:r>
                        <a:rPr sz="1400" b="0" i="0">
                          <a:solidFill>
                            <a:srgbClr val="222A33"/>
                          </a:solidFill>
                          <a:latin typeface="Calibri"/>
                        </a:rPr>
                        <a:t>Advertising ownership of address space that isn't yours (BGP)</a:t>
                      </a:r>
                    </a:p>
                  </a:txBody>
                  <a:tcPr marL="73152" marR="73152" marT="27432" marB="27432" anchor="ctr">
                    <a:solidFill>
                      <a:srgbClr val="FFFFFF"/>
                    </a:solidFill>
                  </a:tcPr>
                </a:tc>
                <a:extLst>
                  <a:ext uri="{0D108BD9-81ED-4DB2-BD59-A6C34878D82A}">
                    <a16:rowId xmlns:a16="http://schemas.microsoft.com/office/drawing/2014/main" val="10003"/>
                  </a:ext>
                </a:extLst>
              </a:tr>
              <a:tr h="655320">
                <a:tc>
                  <a:txBody>
                    <a:bodyPr/>
                    <a:lstStyle/>
                    <a:p>
                      <a:r>
                        <a:rPr sz="1400" b="0" i="0">
                          <a:solidFill>
                            <a:srgbClr val="222A33"/>
                          </a:solidFill>
                          <a:latin typeface="Calibri"/>
                        </a:rPr>
                        <a:t>Blackhole / Sinkhole Attack</a:t>
                      </a:r>
                    </a:p>
                  </a:txBody>
                  <a:tcPr marL="73152" marR="73152" marT="27432" marB="27432" anchor="ctr">
                    <a:solidFill>
                      <a:srgbClr val="F2F4F7"/>
                    </a:solidFill>
                  </a:tcPr>
                </a:tc>
                <a:tc>
                  <a:txBody>
                    <a:bodyPr/>
                    <a:lstStyle/>
                    <a:p>
                      <a:r>
                        <a:rPr sz="1400" b="0" i="0">
                          <a:solidFill>
                            <a:srgbClr val="222A33"/>
                          </a:solidFill>
                          <a:latin typeface="Calibri"/>
                        </a:rPr>
                        <a:t>Redirecting traffic to a dead end or attacker-controlled device</a:t>
                      </a:r>
                    </a:p>
                  </a:txBody>
                  <a:tcPr marL="73152" marR="73152" marT="27432" marB="27432" anchor="ctr">
                    <a:solidFill>
                      <a:srgbClr val="F2F4F7"/>
                    </a:solidFill>
                  </a:tcPr>
                </a:tc>
                <a:extLst>
                  <a:ext uri="{0D108BD9-81ED-4DB2-BD59-A6C34878D82A}">
                    <a16:rowId xmlns:a16="http://schemas.microsoft.com/office/drawing/2014/main" val="10004"/>
                  </a:ext>
                </a:extLst>
              </a:tr>
              <a:tr h="655320">
                <a:tc>
                  <a:txBody>
                    <a:bodyPr/>
                    <a:lstStyle/>
                    <a:p>
                      <a:r>
                        <a:rPr sz="1400" b="0" i="0">
                          <a:solidFill>
                            <a:srgbClr val="222A33"/>
                          </a:solidFill>
                          <a:latin typeface="Calibri"/>
                        </a:rPr>
                        <a:t>Routing DoS / Instability Attack</a:t>
                      </a:r>
                    </a:p>
                  </a:txBody>
                  <a:tcPr marL="73152" marR="73152" marT="27432" marB="27432" anchor="ctr">
                    <a:solidFill>
                      <a:srgbClr val="FFFFFF"/>
                    </a:solidFill>
                  </a:tcPr>
                </a:tc>
                <a:tc>
                  <a:txBody>
                    <a:bodyPr/>
                    <a:lstStyle/>
                    <a:p>
                      <a:r>
                        <a:rPr sz="1400" b="0" i="0">
                          <a:solidFill>
                            <a:srgbClr val="222A33"/>
                          </a:solidFill>
                          <a:latin typeface="Calibri"/>
                        </a:rPr>
                        <a:t>Flooding updates to force constant recalculation</a:t>
                      </a:r>
                    </a:p>
                  </a:txBody>
                  <a:tcPr marL="73152" marR="73152" marT="27432" marB="27432" anchor="ct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600" b="1" i="0">
                <a:solidFill>
                  <a:srgbClr val="FFFFFF"/>
                </a:solidFill>
                <a:latin typeface="Cambria"/>
              </a:rPr>
              <a:t>Routing Table Poisoning: Overview &amp; Technique</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ATTACK 1</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200"/>
              </a:spcAft>
              <a:buFont typeface="Arial"/>
              <a:buChar char="–"/>
            </a:pPr>
            <a:r>
              <a:rPr sz="1700" b="0" i="0">
                <a:solidFill>
                  <a:srgbClr val="222A33"/>
                </a:solidFill>
                <a:latin typeface="Calibri"/>
              </a:rPr>
              <a:t>Overview: the attacker injects false route advertisements into a distance-vector protocol, convincing routers to update their tables with incorrect paths.</a:t>
            </a:r>
          </a:p>
          <a:p>
            <a:pPr marL="201168" indent="-201168">
              <a:spcAft>
                <a:spcPts val="1200"/>
              </a:spcAft>
              <a:buFont typeface="Arial"/>
              <a:buChar char="–"/>
            </a:pPr>
            <a:r>
              <a:rPr sz="1700" b="0" i="0">
                <a:solidFill>
                  <a:srgbClr val="222A33"/>
                </a:solidFill>
                <a:latin typeface="Calibri"/>
              </a:rPr>
              <a:t>Vulnerability exploited: distance-vector protocols like RIP propagate route information hop-by-hop based on what a neighbor claims, with no independent way to verify the claim.</a:t>
            </a:r>
          </a:p>
          <a:p>
            <a:pPr marL="201168" indent="-201168">
              <a:spcAft>
                <a:spcPts val="1200"/>
              </a:spcAft>
              <a:buFont typeface="Arial"/>
              <a:buChar char="–"/>
            </a:pPr>
            <a:r>
              <a:rPr sz="1700" b="0" i="0">
                <a:solidFill>
                  <a:srgbClr val="222A33"/>
                </a:solidFill>
                <a:latin typeface="Calibri"/>
              </a:rPr>
              <a:t>Technique: a compromised or rogue device connected to the network advertises a very attractive-looking (low hop count) but false route to a target network, and legitimate routers propagate it further.</a:t>
            </a:r>
          </a:p>
          <a:p>
            <a:pPr marL="201168" indent="-201168">
              <a:spcAft>
                <a:spcPts val="1200"/>
              </a:spcAft>
              <a:buFont typeface="Arial"/>
              <a:buChar char="–"/>
            </a:pPr>
            <a:r>
              <a:rPr sz="1700" b="0" i="0">
                <a:solidFill>
                  <a:srgbClr val="222A33"/>
                </a:solidFill>
                <a:latin typeface="Calibri"/>
              </a:rPr>
              <a:t>Impact: traffic intended for the real destination gets misrouted, enabling denial of service, interception, or both, depending on where the false route actually points.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600" b="1" i="0">
                <a:solidFill>
                  <a:srgbClr val="FFFFFF"/>
                </a:solidFill>
                <a:latin typeface="Cambria"/>
              </a:rPr>
              <a:t>Routing Table Poisoning: Mitigation</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ATTACK 1</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200"/>
              </a:spcAft>
              <a:buFont typeface="Arial"/>
              <a:buChar char="–"/>
            </a:pPr>
            <a:r>
              <a:rPr sz="1700" b="0" i="0">
                <a:solidFill>
                  <a:srgbClr val="222A33"/>
                </a:solidFill>
                <a:latin typeface="Calibri"/>
              </a:rPr>
              <a:t>Route authentication (MD5) on neighbor relationships stops an unauthenticated device from having its advertisements accepted at all.</a:t>
            </a:r>
          </a:p>
          <a:p>
            <a:pPr marL="201168" indent="-201168">
              <a:spcAft>
                <a:spcPts val="1200"/>
              </a:spcAft>
              <a:buFont typeface="Arial"/>
              <a:buChar char="–"/>
            </a:pPr>
            <a:r>
              <a:rPr sz="1700" b="0" i="0">
                <a:solidFill>
                  <a:srgbClr val="222A33"/>
                </a:solidFill>
                <a:latin typeface="Calibri"/>
              </a:rPr>
              <a:t>Route filtering / distribute-lists: explicitly define which routes are acceptable to learn or advertise on a given interface, rejecting anything implausible.</a:t>
            </a:r>
          </a:p>
          <a:p>
            <a:pPr marL="201168" indent="-201168">
              <a:spcAft>
                <a:spcPts val="1200"/>
              </a:spcAft>
              <a:buFont typeface="Arial"/>
              <a:buChar char="–"/>
            </a:pPr>
            <a:r>
              <a:rPr sz="1700" b="0" i="0">
                <a:solidFill>
                  <a:srgbClr val="222A33"/>
                </a:solidFill>
                <a:latin typeface="Calibri"/>
              </a:rPr>
              <a:t>Passive-interface on any interface that doesn't need to participate in the routing protocol at all removes the attack surface outright on those links.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600" b="1" i="0">
                <a:solidFill>
                  <a:srgbClr val="FFFFFF"/>
                </a:solidFill>
                <a:latin typeface="Cambria"/>
              </a:rPr>
              <a:t>Unauthorised Route Injection: Overview &amp; Technique</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ATTACK 2</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200"/>
              </a:spcAft>
              <a:buFont typeface="Arial"/>
              <a:buChar char="–"/>
            </a:pPr>
            <a:r>
              <a:rPr sz="1700" b="0" i="0">
                <a:solidFill>
                  <a:srgbClr val="222A33"/>
                </a:solidFill>
                <a:latin typeface="Calibri"/>
              </a:rPr>
              <a:t>Overview: an attacker connects a rogue router (or a device impersonating one) directly into the routing domain and forms a full neighbor relationship, not just a single false advertisement.</a:t>
            </a:r>
          </a:p>
          <a:p>
            <a:pPr marL="201168" indent="-201168">
              <a:spcAft>
                <a:spcPts val="1200"/>
              </a:spcAft>
              <a:buFont typeface="Arial"/>
              <a:buChar char="–"/>
            </a:pPr>
            <a:r>
              <a:rPr sz="1700" b="0" i="0">
                <a:solidFill>
                  <a:srgbClr val="222A33"/>
                </a:solidFill>
                <a:latin typeface="Calibri"/>
              </a:rPr>
              <a:t>Vulnerability exploited: without authentication, any device speaking the right routing protocol on the right network segment can become a fully trusted neighbor.</a:t>
            </a:r>
          </a:p>
          <a:p>
            <a:pPr marL="201168" indent="-201168">
              <a:spcAft>
                <a:spcPts val="1200"/>
              </a:spcAft>
              <a:buFont typeface="Arial"/>
              <a:buChar char="–"/>
            </a:pPr>
            <a:r>
              <a:rPr sz="1700" b="0" i="0">
                <a:solidFill>
                  <a:srgbClr val="222A33"/>
                </a:solidFill>
                <a:latin typeface="Calibri"/>
              </a:rPr>
              <a:t>Technique: the rogue router advertises itself as a legitimate participant, then either injects false routes continuously or simply gains visibility into the entire routing domain's topology.</a:t>
            </a:r>
          </a:p>
          <a:p>
            <a:pPr marL="201168" indent="-201168">
              <a:spcAft>
                <a:spcPts val="1200"/>
              </a:spcAft>
              <a:buFont typeface="Arial"/>
              <a:buChar char="–"/>
            </a:pPr>
            <a:r>
              <a:rPr sz="1700" b="0" i="0">
                <a:solidFill>
                  <a:srgbClr val="222A33"/>
                </a:solidFill>
                <a:latin typeface="Calibri"/>
              </a:rPr>
              <a:t>Impact: broader and more persistent than a single poisoning attempt: the attacker has an ongoing foothold, not a one-time injection.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600" b="1" i="0">
                <a:solidFill>
                  <a:srgbClr val="FFFFFF"/>
                </a:solidFill>
                <a:latin typeface="Cambria"/>
              </a:rPr>
              <a:t>Unauthorised Route Injection: Mitigation</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ATTACK 2</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200"/>
              </a:spcAft>
              <a:buFont typeface="Arial"/>
              <a:buChar char="–"/>
            </a:pPr>
            <a:r>
              <a:rPr sz="1700" b="0" i="0">
                <a:solidFill>
                  <a:srgbClr val="222A33"/>
                </a:solidFill>
                <a:latin typeface="Calibri"/>
              </a:rPr>
              <a:t>Neighbor authentication (MD5) is the direct fix: a rogue device without the correct key simply cannot form a neighbor relationship in the first place.</a:t>
            </a:r>
          </a:p>
          <a:p>
            <a:pPr marL="201168" indent="-201168">
              <a:spcAft>
                <a:spcPts val="1200"/>
              </a:spcAft>
              <a:buFont typeface="Arial"/>
              <a:buChar char="–"/>
            </a:pPr>
            <a:r>
              <a:rPr sz="1700" b="0" i="0">
                <a:solidFill>
                  <a:srgbClr val="222A33"/>
                </a:solidFill>
                <a:latin typeface="Calibri"/>
              </a:rPr>
              <a:t>Passive-interface on access-layer and other non-router-facing interfaces prevents a rogue device plugged into the wrong port from ever seeing routing traffic at all.</a:t>
            </a:r>
          </a:p>
          <a:p>
            <a:pPr marL="201168" indent="-201168">
              <a:spcAft>
                <a:spcPts val="1200"/>
              </a:spcAft>
              <a:buFont typeface="Arial"/>
              <a:buChar char="–"/>
            </a:pPr>
            <a:r>
              <a:rPr sz="1700" b="0" i="0">
                <a:solidFill>
                  <a:srgbClr val="222A33"/>
                </a:solidFill>
                <a:latin typeface="Calibri"/>
              </a:rPr>
              <a:t>Physical port security (recall Week 3) is a genuine complementary control here. If the rogue device can't reach a routing-capable interface physically, it can't attempt this attack regardless of protocol-level defenses.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600" b="1" i="0">
                <a:solidFill>
                  <a:srgbClr val="FFFFFF"/>
                </a:solidFill>
                <a:latin typeface="Cambria"/>
              </a:rPr>
              <a:t>Route/Prefix Hijacking: Overview &amp; Technique</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ATTACK 3</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200"/>
              </a:spcAft>
              <a:buFont typeface="Arial"/>
              <a:buChar char="–"/>
            </a:pPr>
            <a:r>
              <a:rPr sz="1700" b="0" i="0">
                <a:solidFill>
                  <a:srgbClr val="222A33"/>
                </a:solidFill>
                <a:latin typeface="Calibri"/>
              </a:rPr>
              <a:t>Overview: an AS advertises a route for an IP prefix it doesn't actually own or isn't authorised to originate. A BGP-specific attack, given BGP is what governs address space ownership across the Internet.</a:t>
            </a:r>
          </a:p>
          <a:p>
            <a:pPr marL="201168" indent="-201168">
              <a:spcAft>
                <a:spcPts val="1200"/>
              </a:spcAft>
              <a:buFont typeface="Arial"/>
              <a:buChar char="–"/>
            </a:pPr>
            <a:r>
              <a:rPr sz="1700" b="0" i="0">
                <a:solidFill>
                  <a:srgbClr val="222A33"/>
                </a:solidFill>
                <a:latin typeface="Calibri"/>
              </a:rPr>
              <a:t>Vulnerability exploited: BGP has no built-in mechanism to verify that an AS advertising a prefix is its legitimate owner. Neighbors, and their neighbors in turn, largely accept advertisements on trust.</a:t>
            </a:r>
          </a:p>
          <a:p>
            <a:pPr marL="201168" indent="-201168">
              <a:spcAft>
                <a:spcPts val="1200"/>
              </a:spcAft>
              <a:buFont typeface="Arial"/>
              <a:buChar char="–"/>
            </a:pPr>
            <a:r>
              <a:rPr sz="1700" b="0" i="0">
                <a:solidFill>
                  <a:srgbClr val="222A33"/>
                </a:solidFill>
                <a:latin typeface="Calibri"/>
              </a:rPr>
              <a:t>Technique: the attacker (or a misconfigured legitimate network) announces a route for someone else's address block, often a more specific prefix, since BGP prefers the most specific match available.</a:t>
            </a:r>
          </a:p>
          <a:p>
            <a:pPr marL="201168" indent="-201168">
              <a:spcAft>
                <a:spcPts val="1200"/>
              </a:spcAft>
              <a:buFont typeface="Arial"/>
              <a:buChar char="–"/>
            </a:pPr>
            <a:r>
              <a:rPr sz="1700" b="0" i="0">
                <a:solidFill>
                  <a:srgbClr val="222A33"/>
                </a:solidFill>
                <a:latin typeface="Calibri"/>
              </a:rPr>
              <a:t>Impact: traffic meant for the real owner gets redirected globally, not just locally, exactly what happened in a well-documented real-world incident, next.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600" b="1" i="0">
                <a:solidFill>
                  <a:srgbClr val="FFFFFF"/>
                </a:solidFill>
                <a:latin typeface="Cambria"/>
              </a:rPr>
              <a:t>Real-World Example: The 2008 YouTube Hijack</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ATTACK 3</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200"/>
              </a:spcAft>
              <a:buFont typeface="Arial"/>
              <a:buChar char="–"/>
            </a:pPr>
            <a:r>
              <a:rPr sz="1700" b="0" i="0">
                <a:solidFill>
                  <a:srgbClr val="222A33"/>
                </a:solidFill>
                <a:latin typeface="Calibri"/>
              </a:rPr>
              <a:t>On 24 February 2008, Pakistan Telecom (AS17557) was ordered by its government to block YouTube domestically, and attempted this by advertising a route for part of YouTube's address block (208.65.153.0/24, a more specific slice of YouTube's actual 208.65.152.0/22).</a:t>
            </a:r>
          </a:p>
          <a:p>
            <a:pPr marL="201168" indent="-201168">
              <a:spcAft>
                <a:spcPts val="1200"/>
              </a:spcAft>
              <a:buFont typeface="Arial"/>
              <a:buChar char="–"/>
            </a:pPr>
            <a:r>
              <a:rPr sz="1700" b="0" i="0">
                <a:solidFill>
                  <a:srgbClr val="222A33"/>
                </a:solidFill>
                <a:latin typeface="Calibri"/>
              </a:rPr>
              <a:t>This was only ever meant to be visible inside Pakistan, but Pakistan Telecom's upstream provider, PCCW (AS3491), did not validate the advertisement and propagated it to the rest of the Internet.</a:t>
            </a:r>
          </a:p>
          <a:p>
            <a:pPr marL="201168" indent="-201168">
              <a:spcAft>
                <a:spcPts val="1200"/>
              </a:spcAft>
              <a:buFont typeface="Arial"/>
              <a:buChar char="–"/>
            </a:pPr>
            <a:r>
              <a:rPr sz="1700" b="0" i="0">
                <a:solidFill>
                  <a:srgbClr val="222A33"/>
                </a:solidFill>
                <a:latin typeface="Calibri"/>
              </a:rPr>
              <a:t>Because BGP prefers more specific routes, most of the global Internet started sending YouTube-bound traffic to Pakistan Telecom instead, effectively taking YouTube offline worldwide for roughly two hours, until PCCW disconnected Pakistan Telecom.</a:t>
            </a:r>
          </a:p>
          <a:p>
            <a:pPr marL="201168" indent="-201168">
              <a:spcAft>
                <a:spcPts val="1200"/>
              </a:spcAft>
              <a:buFont typeface="Arial"/>
              <a:buChar char="–"/>
            </a:pPr>
            <a:r>
              <a:rPr sz="1700" b="0" i="0">
                <a:solidFill>
                  <a:srgbClr val="222A33"/>
                </a:solidFill>
                <a:latin typeface="Calibri"/>
              </a:rPr>
              <a:t>This wasn't even a deliberate global attack. It was a local censorship attempt with no malicious intent to hijack anything outside Pakistan. That's exactly what makes it such a powerful illustration of how little verification BGP does by default.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600" b="1" i="0">
                <a:solidFill>
                  <a:srgbClr val="FFFFFF"/>
                </a:solidFill>
                <a:latin typeface="Cambria"/>
              </a:rPr>
              <a:t>Route/Prefix Hijacking: Mitigation</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ATTACK 3</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200"/>
              </a:spcAft>
              <a:buFont typeface="Arial"/>
              <a:buChar char="–"/>
            </a:pPr>
            <a:r>
              <a:rPr sz="1700" b="0" i="0">
                <a:solidFill>
                  <a:srgbClr val="222A33"/>
                </a:solidFill>
                <a:latin typeface="Calibri"/>
              </a:rPr>
              <a:t>RPKI (Resource Public Key Infrastructure) lets an address block's legitimate owner cryptographically sign a Route Origin Authorisation (ROA), so other networks can verify an advertisement before accepting it. This is the real-world fix that emerged after incidents like the YouTube hijack.</a:t>
            </a:r>
          </a:p>
          <a:p>
            <a:pPr marL="201168" indent="-201168">
              <a:spcAft>
                <a:spcPts val="1200"/>
              </a:spcAft>
              <a:buFont typeface="Arial"/>
              <a:buChar char="–"/>
            </a:pPr>
            <a:r>
              <a:rPr sz="1700" b="0" i="0">
                <a:solidFill>
                  <a:srgbClr val="222A33"/>
                </a:solidFill>
                <a:latin typeface="Calibri"/>
              </a:rPr>
              <a:t>Route filtering at provider boundaries: an upstream provider should only accept the specific prefixes it has agreed a customer is authorised to announce, exactly the validation PCCW skipped in 2008.</a:t>
            </a:r>
          </a:p>
          <a:p>
            <a:pPr marL="201168" indent="-201168">
              <a:spcAft>
                <a:spcPts val="1200"/>
              </a:spcAft>
              <a:buFont typeface="Arial"/>
              <a:buChar char="–"/>
            </a:pPr>
            <a:r>
              <a:rPr sz="1700" b="0" i="0">
                <a:solidFill>
                  <a:srgbClr val="222A33"/>
                </a:solidFill>
                <a:latin typeface="Calibri"/>
              </a:rPr>
              <a:t>This is theory-only for our purposes: RPKI and provider-level BGP filtering aren't things we can configure in Packet Tracer, but understanding why they exist is directly relevant to LO2's evaluation skill.</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600" b="1" i="0">
                <a:solidFill>
                  <a:srgbClr val="FFFFFF"/>
                </a:solidFill>
                <a:latin typeface="Cambria"/>
              </a:rPr>
              <a:t>Blackhole / Sinkhole Attack: Overview &amp; Technique</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ATTACK 4</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200"/>
              </a:spcAft>
              <a:buFont typeface="Arial"/>
              <a:buChar char="–"/>
            </a:pPr>
            <a:r>
              <a:rPr sz="1700" b="0" i="0">
                <a:solidFill>
                  <a:srgbClr val="222A33"/>
                </a:solidFill>
                <a:latin typeface="Calibri"/>
              </a:rPr>
              <a:t>Overview: the attacker manipulates routing so that traffic for a target is directed to a dead end (blackholed: silently dropped) or to a device they control (sinkholed: captured for analysis or further attack).</a:t>
            </a:r>
          </a:p>
          <a:p>
            <a:pPr marL="201168" indent="-201168">
              <a:spcAft>
                <a:spcPts val="1200"/>
              </a:spcAft>
              <a:buFont typeface="Arial"/>
              <a:buChar char="–"/>
            </a:pPr>
            <a:r>
              <a:rPr sz="1700" b="0" i="0">
                <a:solidFill>
                  <a:srgbClr val="222A33"/>
                </a:solidFill>
                <a:latin typeface="Calibri"/>
              </a:rPr>
              <a:t>Vulnerability exploited: the same lack of route verification as the other attacks in this section. The difference here is entirely in what the attacker does with the misdirected traffic, not in how they achieve the misdirection.</a:t>
            </a:r>
          </a:p>
          <a:p>
            <a:pPr marL="201168" indent="-201168">
              <a:spcAft>
                <a:spcPts val="1200"/>
              </a:spcAft>
              <a:buFont typeface="Arial"/>
              <a:buChar char="–"/>
            </a:pPr>
            <a:r>
              <a:rPr sz="1700" b="0" i="0">
                <a:solidFill>
                  <a:srgbClr val="222A33"/>
                </a:solidFill>
                <a:latin typeface="Calibri"/>
              </a:rPr>
              <a:t>Technique: often achieved via the same mechanisms as poisoning or unauthorised injection, just aimed specifically at creating a non-existent or attacker-controlled next hop for a target network.</a:t>
            </a:r>
          </a:p>
          <a:p>
            <a:pPr marL="201168" indent="-201168">
              <a:spcAft>
                <a:spcPts val="1200"/>
              </a:spcAft>
              <a:buFont typeface="Arial"/>
              <a:buChar char="–"/>
            </a:pPr>
            <a:r>
              <a:rPr sz="1700" b="0" i="0">
                <a:solidFill>
                  <a:srgbClr val="222A33"/>
                </a:solidFill>
                <a:latin typeface="Calibri"/>
              </a:rPr>
              <a:t>Impact: a blackhole is a denial of service; a sinkhole additionally lets the attacker inspect (and potentially tamper with) traffic before optionally forwarding it on, which can make the attack harder to notice.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600" b="1" i="0">
                <a:solidFill>
                  <a:srgbClr val="FFFFFF"/>
                </a:solidFill>
                <a:latin typeface="Cambria"/>
              </a:rPr>
              <a:t>Blackhole / Sinkhole Attack: Mitigation</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ATTACK 4</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200"/>
              </a:spcAft>
              <a:buFont typeface="Arial"/>
              <a:buChar char="–"/>
            </a:pPr>
            <a:r>
              <a:rPr sz="1700" b="0" i="0">
                <a:solidFill>
                  <a:srgbClr val="222A33"/>
                </a:solidFill>
                <a:latin typeface="Calibri"/>
              </a:rPr>
              <a:t>The same core defenses apply as for the attacks that enable it: route authentication, route filtering, and passive-interface all reduce the attacker's ability to influence next-hop selection in the first place.</a:t>
            </a:r>
          </a:p>
          <a:p>
            <a:pPr marL="201168" indent="-201168">
              <a:spcAft>
                <a:spcPts val="1200"/>
              </a:spcAft>
              <a:buFont typeface="Arial"/>
              <a:buChar char="–"/>
            </a:pPr>
            <a:r>
              <a:rPr sz="1700" b="0" i="0">
                <a:solidFill>
                  <a:srgbClr val="222A33"/>
                </a:solidFill>
                <a:latin typeface="Calibri"/>
              </a:rPr>
              <a:t>Monitoring for unexpected traffic drops or unusual latency/path changes is a useful detective control: a legitimate destination silently becoming unreachable is a strong signal worth alerting on.</a:t>
            </a:r>
          </a:p>
          <a:p>
            <a:pPr marL="201168" indent="-201168">
              <a:spcAft>
                <a:spcPts val="1200"/>
              </a:spcAft>
              <a:buFont typeface="Arial"/>
              <a:buChar char="–"/>
            </a:pPr>
            <a:r>
              <a:rPr sz="1700" b="0" i="0">
                <a:solidFill>
                  <a:srgbClr val="222A33"/>
                </a:solidFill>
                <a:latin typeface="Calibri"/>
              </a:rPr>
              <a:t>This attack is a good reminder that a single root cause (unverified routing trust) can be aimed at different outcomes, echoing Week 3's multi-function attack discussion.</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600" b="1" i="0">
                <a:solidFill>
                  <a:srgbClr val="FFFFFF"/>
                </a:solidFill>
                <a:latin typeface="Cambria"/>
              </a:rPr>
              <a:t>Routing DoS / Instability Attack: Overview &amp; Technique</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ATTACK 5</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200"/>
              </a:spcAft>
              <a:buFont typeface="Arial"/>
              <a:buChar char="–"/>
            </a:pPr>
            <a:r>
              <a:rPr sz="1700" b="0" i="0">
                <a:solidFill>
                  <a:srgbClr val="222A33"/>
                </a:solidFill>
                <a:latin typeface="Calibri"/>
              </a:rPr>
              <a:t>Overview: rather than trying to redirect traffic anywhere specific, the attacker floods the network with routing updates to force constant recalculation, degrading or breaking routing entirely.</a:t>
            </a:r>
          </a:p>
          <a:p>
            <a:pPr marL="201168" indent="-201168">
              <a:spcAft>
                <a:spcPts val="1200"/>
              </a:spcAft>
              <a:buFont typeface="Arial"/>
              <a:buChar char="–"/>
            </a:pPr>
            <a:r>
              <a:rPr sz="1700" b="0" i="0">
                <a:solidFill>
                  <a:srgbClr val="222A33"/>
                </a:solidFill>
                <a:latin typeface="Calibri"/>
              </a:rPr>
              <a:t>Vulnerability exploited: routers must process every routing update they receive from a trusted neighbor. Without authentication, an attacker can generate a high volume of updates cheaply.</a:t>
            </a:r>
          </a:p>
          <a:p>
            <a:pPr marL="201168" indent="-201168">
              <a:spcAft>
                <a:spcPts val="1200"/>
              </a:spcAft>
              <a:buFont typeface="Arial"/>
              <a:buChar char="–"/>
            </a:pPr>
            <a:r>
              <a:rPr sz="1700" b="0" i="0">
                <a:solidFill>
                  <a:srgbClr val="222A33"/>
                </a:solidFill>
                <a:latin typeface="Calibri"/>
              </a:rPr>
              <a:t>Technique: repeatedly advertising and withdrawing routes, or flooding a high volume of route changes, keeps affected routers permanently busy recalculating instead of forwarding traffic.</a:t>
            </a:r>
          </a:p>
          <a:p>
            <a:pPr marL="201168" indent="-201168">
              <a:spcAft>
                <a:spcPts val="1200"/>
              </a:spcAft>
              <a:buFont typeface="Arial"/>
              <a:buChar char="–"/>
            </a:pPr>
            <a:r>
              <a:rPr sz="1700" b="0" i="0">
                <a:solidFill>
                  <a:srgbClr val="222A33"/>
                </a:solidFill>
                <a:latin typeface="Calibri"/>
              </a:rPr>
              <a:t>Impact: a routing-layer denial of service, the same underlying goal as Week 4's STP DoS attack, just aimed at the routing protocol instead of the spanning tree.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600" b="1" i="0">
                <a:solidFill>
                  <a:srgbClr val="FFFFFF"/>
                </a:solidFill>
                <a:latin typeface="Cambria"/>
              </a:rPr>
              <a:t>Routing DoS / Instability Attack: Mitigation</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ATTACK 5</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200"/>
              </a:spcAft>
              <a:buFont typeface="Arial"/>
              <a:buChar char="–"/>
            </a:pPr>
            <a:r>
              <a:rPr sz="1700" b="0" i="0">
                <a:solidFill>
                  <a:srgbClr val="222A33"/>
                </a:solidFill>
                <a:latin typeface="Calibri"/>
              </a:rPr>
              <a:t>Route authentication remains the primary fix: an unauthenticated flood of updates is simply rejected before it can force any recalculation at all.</a:t>
            </a:r>
          </a:p>
          <a:p>
            <a:pPr marL="201168" indent="-201168">
              <a:spcAft>
                <a:spcPts val="1200"/>
              </a:spcAft>
              <a:buFont typeface="Arial"/>
              <a:buChar char="–"/>
            </a:pPr>
            <a:r>
              <a:rPr sz="1700" b="0" i="0">
                <a:solidFill>
                  <a:srgbClr val="222A33"/>
                </a:solidFill>
                <a:latin typeface="Calibri"/>
              </a:rPr>
              <a:t>Route dampening (suppressing a route that flaps repeatedly, so it's temporarily ignored instead of triggering fresh recalculation every time) is a standard operational defense on protocols like BGP.</a:t>
            </a:r>
          </a:p>
          <a:p>
            <a:pPr marL="201168" indent="-201168">
              <a:spcAft>
                <a:spcPts val="1200"/>
              </a:spcAft>
              <a:buFont typeface="Arial"/>
              <a:buChar char="–"/>
            </a:pPr>
            <a:r>
              <a:rPr sz="1700" b="0" i="0">
                <a:solidFill>
                  <a:srgbClr val="222A33"/>
                </a:solidFill>
                <a:latin typeface="Calibri"/>
              </a:rPr>
              <a:t>Rate-limiting how frequently routing updates are processed provides a backstop even when authentication is somehow bypassed or misconfigured.</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600" b="1" i="0">
                <a:solidFill>
                  <a:srgbClr val="FFFFFF"/>
                </a:solidFill>
                <a:latin typeface="Cambria"/>
              </a:rPr>
              <a:t>Which Attacks Apply to Which Protocols</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ATTACKS OVERVIEW</a:t>
            </a:r>
          </a:p>
        </p:txBody>
      </p:sp>
      <p:graphicFrame>
        <p:nvGraphicFramePr>
          <p:cNvPr id="4" name="Table 3"/>
          <p:cNvGraphicFramePr>
            <a:graphicFrameLocks noGrp="1"/>
          </p:cNvGraphicFramePr>
          <p:nvPr>
            <p:extLst>
              <p:ext uri="{D42A27DB-BD31-4B8C-83A1-F6EECF244321}">
                <p14:modId xmlns:p14="http://schemas.microsoft.com/office/powerpoint/2010/main" val="1667998755"/>
              </p:ext>
            </p:extLst>
          </p:nvPr>
        </p:nvGraphicFramePr>
        <p:xfrm>
          <a:off x="274320" y="1691640"/>
          <a:ext cx="11612880" cy="448056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gridCol w="2377440">
                  <a:extLst>
                    <a:ext uri="{9D8B030D-6E8A-4147-A177-3AD203B41FA5}">
                      <a16:colId xmlns:a16="http://schemas.microsoft.com/office/drawing/2014/main" val="20003"/>
                    </a:ext>
                  </a:extLst>
                </a:gridCol>
                <a:gridCol w="2377440">
                  <a:extLst>
                    <a:ext uri="{9D8B030D-6E8A-4147-A177-3AD203B41FA5}">
                      <a16:colId xmlns:a16="http://schemas.microsoft.com/office/drawing/2014/main" val="20004"/>
                    </a:ext>
                  </a:extLst>
                </a:gridCol>
              </a:tblGrid>
              <a:tr h="746760">
                <a:tc>
                  <a:txBody>
                    <a:bodyPr/>
                    <a:lstStyle/>
                    <a:p>
                      <a:r>
                        <a:rPr sz="1300" b="1" i="0">
                          <a:solidFill>
                            <a:srgbClr val="FFFFFF"/>
                          </a:solidFill>
                          <a:latin typeface="Calibri"/>
                        </a:rPr>
                        <a:t>Attack</a:t>
                      </a:r>
                    </a:p>
                  </a:txBody>
                  <a:tcPr marL="73152" marR="73152" marT="27432" marB="27432" anchor="ctr">
                    <a:solidFill>
                      <a:srgbClr val="003054"/>
                    </a:solidFill>
                  </a:tcPr>
                </a:tc>
                <a:tc>
                  <a:txBody>
                    <a:bodyPr/>
                    <a:lstStyle/>
                    <a:p>
                      <a:r>
                        <a:rPr sz="1300" b="1" i="0">
                          <a:solidFill>
                            <a:srgbClr val="FFFFFF"/>
                          </a:solidFill>
                          <a:latin typeface="Calibri"/>
                        </a:rPr>
                        <a:t>RIP</a:t>
                      </a:r>
                    </a:p>
                  </a:txBody>
                  <a:tcPr marL="73152" marR="73152" marT="27432" marB="27432" anchor="ctr">
                    <a:solidFill>
                      <a:srgbClr val="003054"/>
                    </a:solidFill>
                  </a:tcPr>
                </a:tc>
                <a:tc>
                  <a:txBody>
                    <a:bodyPr/>
                    <a:lstStyle/>
                    <a:p>
                      <a:r>
                        <a:rPr sz="1300" b="1" i="0">
                          <a:solidFill>
                            <a:srgbClr val="FFFFFF"/>
                          </a:solidFill>
                          <a:latin typeface="Calibri"/>
                        </a:rPr>
                        <a:t>OSPF</a:t>
                      </a:r>
                    </a:p>
                  </a:txBody>
                  <a:tcPr marL="73152" marR="73152" marT="27432" marB="27432" anchor="ctr">
                    <a:solidFill>
                      <a:srgbClr val="003054"/>
                    </a:solidFill>
                  </a:tcPr>
                </a:tc>
                <a:tc>
                  <a:txBody>
                    <a:bodyPr/>
                    <a:lstStyle/>
                    <a:p>
                      <a:r>
                        <a:rPr sz="1300" b="1" i="0">
                          <a:solidFill>
                            <a:srgbClr val="FFFFFF"/>
                          </a:solidFill>
                          <a:latin typeface="Calibri"/>
                        </a:rPr>
                        <a:t>EIGRP</a:t>
                      </a:r>
                    </a:p>
                  </a:txBody>
                  <a:tcPr marL="73152" marR="73152" marT="27432" marB="27432" anchor="ctr">
                    <a:solidFill>
                      <a:srgbClr val="003054"/>
                    </a:solidFill>
                  </a:tcPr>
                </a:tc>
                <a:tc>
                  <a:txBody>
                    <a:bodyPr/>
                    <a:lstStyle/>
                    <a:p>
                      <a:r>
                        <a:rPr sz="1300" b="1" i="0">
                          <a:solidFill>
                            <a:srgbClr val="FFFFFF"/>
                          </a:solidFill>
                          <a:latin typeface="Calibri"/>
                        </a:rPr>
                        <a:t>BGP</a:t>
                      </a:r>
                    </a:p>
                  </a:txBody>
                  <a:tcPr marL="73152" marR="73152" marT="27432" marB="27432" anchor="ctr">
                    <a:solidFill>
                      <a:srgbClr val="003054"/>
                    </a:solidFill>
                  </a:tcPr>
                </a:tc>
                <a:extLst>
                  <a:ext uri="{0D108BD9-81ED-4DB2-BD59-A6C34878D82A}">
                    <a16:rowId xmlns:a16="http://schemas.microsoft.com/office/drawing/2014/main" val="10000"/>
                  </a:ext>
                </a:extLst>
              </a:tr>
              <a:tr h="746760">
                <a:tc>
                  <a:txBody>
                    <a:bodyPr/>
                    <a:lstStyle/>
                    <a:p>
                      <a:r>
                        <a:rPr sz="1600" b="0" i="0">
                          <a:solidFill>
                            <a:srgbClr val="222A33"/>
                          </a:solidFill>
                          <a:latin typeface="Calibri"/>
                        </a:rPr>
                        <a:t>Routing Table
Poisoning</a:t>
                      </a:r>
                    </a:p>
                  </a:txBody>
                  <a:tcPr marL="73152" marR="73152" marT="27432" marB="27432" anchor="ctr">
                    <a:solidFill>
                      <a:srgbClr val="FFFFFF"/>
                    </a:solidFill>
                  </a:tcPr>
                </a:tc>
                <a:tc>
                  <a:txBody>
                    <a:bodyPr/>
                    <a:lstStyle/>
                    <a:p>
                      <a:r>
                        <a:rPr sz="1600" b="0" i="0">
                          <a:solidFill>
                            <a:srgbClr val="222A33"/>
                          </a:solidFill>
                          <a:latin typeface="Calibri"/>
                        </a:rPr>
                        <a:t>False Response,
low hop count</a:t>
                      </a:r>
                    </a:p>
                  </a:txBody>
                  <a:tcPr marL="73152" marR="73152" marT="27432" marB="27432" anchor="ctr">
                    <a:solidFill>
                      <a:srgbClr val="FFFFFF"/>
                    </a:solidFill>
                  </a:tcPr>
                </a:tc>
                <a:tc>
                  <a:txBody>
                    <a:bodyPr/>
                    <a:lstStyle/>
                    <a:p>
                      <a:r>
                        <a:rPr sz="1600" b="0" i="0">
                          <a:solidFill>
                            <a:srgbClr val="222A33"/>
                          </a:solidFill>
                          <a:latin typeface="Calibri"/>
                        </a:rPr>
                        <a:t>Rogue LSA
flooded domain-wide</a:t>
                      </a:r>
                    </a:p>
                  </a:txBody>
                  <a:tcPr marL="73152" marR="73152" marT="27432" marB="27432" anchor="ctr">
                    <a:solidFill>
                      <a:srgbClr val="FFFFFF"/>
                    </a:solidFill>
                  </a:tcPr>
                </a:tc>
                <a:tc>
                  <a:txBody>
                    <a:bodyPr/>
                    <a:lstStyle/>
                    <a:p>
                      <a:r>
                        <a:rPr sz="1600" b="0" i="0">
                          <a:solidFill>
                            <a:srgbClr val="222A33"/>
                          </a:solidFill>
                          <a:latin typeface="Calibri"/>
                        </a:rPr>
                        <a:t>False Update,
attractive metric</a:t>
                      </a:r>
                    </a:p>
                  </a:txBody>
                  <a:tcPr marL="73152" marR="73152" marT="27432" marB="27432" anchor="ctr">
                    <a:solidFill>
                      <a:srgbClr val="FFFFFF"/>
                    </a:solidFill>
                  </a:tcPr>
                </a:tc>
                <a:tc>
                  <a:txBody>
                    <a:bodyPr/>
                    <a:lstStyle/>
                    <a:p>
                      <a:r>
                        <a:rPr sz="1600" b="0" i="0">
                          <a:solidFill>
                            <a:srgbClr val="222A33"/>
                          </a:solidFill>
                          <a:latin typeface="Calibri"/>
                        </a:rPr>
                        <a:t>False UPDATE,
favourable attributes</a:t>
                      </a:r>
                    </a:p>
                  </a:txBody>
                  <a:tcPr marL="73152" marR="73152" marT="27432" marB="27432" anchor="ctr">
                    <a:solidFill>
                      <a:srgbClr val="FFFFFF"/>
                    </a:solidFill>
                  </a:tcPr>
                </a:tc>
                <a:extLst>
                  <a:ext uri="{0D108BD9-81ED-4DB2-BD59-A6C34878D82A}">
                    <a16:rowId xmlns:a16="http://schemas.microsoft.com/office/drawing/2014/main" val="10001"/>
                  </a:ext>
                </a:extLst>
              </a:tr>
              <a:tr h="746760">
                <a:tc>
                  <a:txBody>
                    <a:bodyPr/>
                    <a:lstStyle/>
                    <a:p>
                      <a:r>
                        <a:rPr sz="1600" b="0" i="0">
                          <a:solidFill>
                            <a:srgbClr val="222A33"/>
                          </a:solidFill>
                          <a:latin typeface="Calibri"/>
                        </a:rPr>
                        <a:t>Unauthorised
Route Injection</a:t>
                      </a:r>
                    </a:p>
                  </a:txBody>
                  <a:tcPr marL="73152" marR="73152" marT="27432" marB="27432" anchor="ctr">
                    <a:solidFill>
                      <a:srgbClr val="F2F4F7"/>
                    </a:solidFill>
                  </a:tcPr>
                </a:tc>
                <a:tc>
                  <a:txBody>
                    <a:bodyPr/>
                    <a:lstStyle/>
                    <a:p>
                      <a:r>
                        <a:rPr sz="1600" b="0" i="0">
                          <a:solidFill>
                            <a:srgbClr val="222A33"/>
                          </a:solidFill>
                          <a:latin typeface="Calibri"/>
                        </a:rPr>
                        <a:t>No adjacency
needed, just send</a:t>
                      </a:r>
                    </a:p>
                  </a:txBody>
                  <a:tcPr marL="73152" marR="73152" marT="27432" marB="27432" anchor="ctr">
                    <a:solidFill>
                      <a:srgbClr val="F2F4F7"/>
                    </a:solidFill>
                  </a:tcPr>
                </a:tc>
                <a:tc>
                  <a:txBody>
                    <a:bodyPr/>
                    <a:lstStyle/>
                    <a:p>
                      <a:r>
                        <a:rPr sz="1600" b="0" i="0">
                          <a:solidFill>
                            <a:srgbClr val="222A33"/>
                          </a:solidFill>
                          <a:latin typeface="Calibri"/>
                        </a:rPr>
                        <a:t>Hello-based
adjacency, then flood</a:t>
                      </a:r>
                    </a:p>
                  </a:txBody>
                  <a:tcPr marL="73152" marR="73152" marT="27432" marB="27432" anchor="ctr">
                    <a:solidFill>
                      <a:srgbClr val="F2F4F7"/>
                    </a:solidFill>
                  </a:tcPr>
                </a:tc>
                <a:tc>
                  <a:txBody>
                    <a:bodyPr/>
                    <a:lstStyle/>
                    <a:p>
                      <a:r>
                        <a:rPr sz="1600" b="0" i="0">
                          <a:solidFill>
                            <a:srgbClr val="222A33"/>
                          </a:solidFill>
                          <a:latin typeface="Calibri"/>
                        </a:rPr>
                        <a:t>Hello-based
adjacency, then send</a:t>
                      </a:r>
                    </a:p>
                  </a:txBody>
                  <a:tcPr marL="73152" marR="73152" marT="27432" marB="27432" anchor="ctr">
                    <a:solidFill>
                      <a:srgbClr val="F2F4F7"/>
                    </a:solidFill>
                  </a:tcPr>
                </a:tc>
                <a:tc>
                  <a:txBody>
                    <a:bodyPr/>
                    <a:lstStyle/>
                    <a:p>
                      <a:r>
                        <a:rPr sz="1600" b="0" i="0">
                          <a:solidFill>
                            <a:srgbClr val="222A33"/>
                          </a:solidFill>
                          <a:latin typeface="Calibri"/>
                        </a:rPr>
                        <a:t>Must spoof a
configured neighbor</a:t>
                      </a:r>
                    </a:p>
                  </a:txBody>
                  <a:tcPr marL="73152" marR="73152" marT="27432" marB="27432" anchor="ctr">
                    <a:solidFill>
                      <a:srgbClr val="F2F4F7"/>
                    </a:solidFill>
                  </a:tcPr>
                </a:tc>
                <a:extLst>
                  <a:ext uri="{0D108BD9-81ED-4DB2-BD59-A6C34878D82A}">
                    <a16:rowId xmlns:a16="http://schemas.microsoft.com/office/drawing/2014/main" val="10002"/>
                  </a:ext>
                </a:extLst>
              </a:tr>
              <a:tr h="746760">
                <a:tc>
                  <a:txBody>
                    <a:bodyPr/>
                    <a:lstStyle/>
                    <a:p>
                      <a:r>
                        <a:rPr sz="1600" b="0" i="0">
                          <a:solidFill>
                            <a:srgbClr val="222A33"/>
                          </a:solidFill>
                          <a:latin typeface="Calibri"/>
                        </a:rPr>
                        <a:t>Route/Prefix
Hijacking</a:t>
                      </a:r>
                    </a:p>
                  </a:txBody>
                  <a:tcPr marL="73152" marR="73152" marT="27432" marB="27432" anchor="ctr">
                    <a:solidFill>
                      <a:srgbClr val="FFFFFF"/>
                    </a:solidFill>
                  </a:tcPr>
                </a:tc>
                <a:tc>
                  <a:txBody>
                    <a:bodyPr/>
                    <a:lstStyle/>
                    <a:p>
                      <a:r>
                        <a:rPr sz="1600" b="0" i="0">
                          <a:solidFill>
                            <a:srgbClr val="222A33"/>
                          </a:solidFill>
                          <a:latin typeface="Calibri"/>
                        </a:rPr>
                        <a:t>Local scope
only</a:t>
                      </a:r>
                    </a:p>
                  </a:txBody>
                  <a:tcPr marL="73152" marR="73152" marT="27432" marB="27432" anchor="ctr">
                    <a:solidFill>
                      <a:srgbClr val="FFFFFF"/>
                    </a:solidFill>
                  </a:tcPr>
                </a:tc>
                <a:tc>
                  <a:txBody>
                    <a:bodyPr/>
                    <a:lstStyle/>
                    <a:p>
                      <a:r>
                        <a:rPr sz="1600" b="0" i="0">
                          <a:solidFill>
                            <a:srgbClr val="222A33"/>
                          </a:solidFill>
                          <a:latin typeface="Calibri"/>
                        </a:rPr>
                        <a:t>Local scope
only</a:t>
                      </a:r>
                    </a:p>
                  </a:txBody>
                  <a:tcPr marL="73152" marR="73152" marT="27432" marB="27432" anchor="ctr">
                    <a:solidFill>
                      <a:srgbClr val="FFFFFF"/>
                    </a:solidFill>
                  </a:tcPr>
                </a:tc>
                <a:tc>
                  <a:txBody>
                    <a:bodyPr/>
                    <a:lstStyle/>
                    <a:p>
                      <a:r>
                        <a:rPr sz="1600" b="0" i="0">
                          <a:solidFill>
                            <a:srgbClr val="222A33"/>
                          </a:solidFill>
                          <a:latin typeface="Calibri"/>
                        </a:rPr>
                        <a:t>Local scope
only</a:t>
                      </a:r>
                    </a:p>
                  </a:txBody>
                  <a:tcPr marL="73152" marR="73152" marT="27432" marB="27432" anchor="ctr">
                    <a:solidFill>
                      <a:srgbClr val="FFFFFF"/>
                    </a:solidFill>
                  </a:tcPr>
                </a:tc>
                <a:tc>
                  <a:txBody>
                    <a:bodyPr/>
                    <a:lstStyle/>
                    <a:p>
                      <a:r>
                        <a:rPr sz="1600" b="0" i="0">
                          <a:solidFill>
                            <a:srgbClr val="222A33"/>
                          </a:solidFill>
                          <a:latin typeface="Calibri"/>
                        </a:rPr>
                        <a:t>Primary case:
UPDATE claims a prefix</a:t>
                      </a:r>
                    </a:p>
                  </a:txBody>
                  <a:tcPr marL="73152" marR="73152" marT="27432" marB="27432" anchor="ctr">
                    <a:solidFill>
                      <a:srgbClr val="FFFFFF"/>
                    </a:solidFill>
                  </a:tcPr>
                </a:tc>
                <a:extLst>
                  <a:ext uri="{0D108BD9-81ED-4DB2-BD59-A6C34878D82A}">
                    <a16:rowId xmlns:a16="http://schemas.microsoft.com/office/drawing/2014/main" val="10003"/>
                  </a:ext>
                </a:extLst>
              </a:tr>
              <a:tr h="746760">
                <a:tc>
                  <a:txBody>
                    <a:bodyPr/>
                    <a:lstStyle/>
                    <a:p>
                      <a:r>
                        <a:rPr sz="1600" b="0" i="0">
                          <a:solidFill>
                            <a:srgbClr val="222A33"/>
                          </a:solidFill>
                          <a:latin typeface="Calibri"/>
                        </a:rPr>
                        <a:t>Blackhole /
Sinkhole</a:t>
                      </a:r>
                    </a:p>
                  </a:txBody>
                  <a:tcPr marL="73152" marR="73152" marT="27432" marB="27432" anchor="ctr">
                    <a:solidFill>
                      <a:srgbClr val="F2F4F7"/>
                    </a:solidFill>
                  </a:tcPr>
                </a:tc>
                <a:tc>
                  <a:txBody>
                    <a:bodyPr/>
                    <a:lstStyle/>
                    <a:p>
                      <a:r>
                        <a:rPr sz="1600" b="0" i="0">
                          <a:solidFill>
                            <a:srgbClr val="222A33"/>
                          </a:solidFill>
                          <a:latin typeface="Calibri"/>
                        </a:rPr>
                        <a:t>Via poisoning
above</a:t>
                      </a:r>
                    </a:p>
                  </a:txBody>
                  <a:tcPr marL="73152" marR="73152" marT="27432" marB="27432" anchor="ctr">
                    <a:solidFill>
                      <a:srgbClr val="F2F4F7"/>
                    </a:solidFill>
                  </a:tcPr>
                </a:tc>
                <a:tc>
                  <a:txBody>
                    <a:bodyPr/>
                    <a:lstStyle/>
                    <a:p>
                      <a:r>
                        <a:rPr sz="1600" b="0" i="0">
                          <a:solidFill>
                            <a:srgbClr val="222A33"/>
                          </a:solidFill>
                          <a:latin typeface="Calibri"/>
                        </a:rPr>
                        <a:t>Via poisoning
above</a:t>
                      </a:r>
                    </a:p>
                  </a:txBody>
                  <a:tcPr marL="73152" marR="73152" marT="27432" marB="27432" anchor="ctr">
                    <a:solidFill>
                      <a:srgbClr val="F2F4F7"/>
                    </a:solidFill>
                  </a:tcPr>
                </a:tc>
                <a:tc>
                  <a:txBody>
                    <a:bodyPr/>
                    <a:lstStyle/>
                    <a:p>
                      <a:r>
                        <a:rPr sz="1600" b="0" i="0">
                          <a:solidFill>
                            <a:srgbClr val="222A33"/>
                          </a:solidFill>
                          <a:latin typeface="Calibri"/>
                        </a:rPr>
                        <a:t>Via poisoning
above</a:t>
                      </a:r>
                    </a:p>
                  </a:txBody>
                  <a:tcPr marL="73152" marR="73152" marT="27432" marB="27432" anchor="ctr">
                    <a:solidFill>
                      <a:srgbClr val="F2F4F7"/>
                    </a:solidFill>
                  </a:tcPr>
                </a:tc>
                <a:tc>
                  <a:txBody>
                    <a:bodyPr/>
                    <a:lstStyle/>
                    <a:p>
                      <a:r>
                        <a:rPr sz="1600" b="0" i="0">
                          <a:solidFill>
                            <a:srgbClr val="222A33"/>
                          </a:solidFill>
                          <a:latin typeface="Calibri"/>
                        </a:rPr>
                        <a:t>Via hijacking
above</a:t>
                      </a:r>
                    </a:p>
                  </a:txBody>
                  <a:tcPr marL="73152" marR="73152" marT="27432" marB="27432" anchor="ctr">
                    <a:solidFill>
                      <a:srgbClr val="F2F4F7"/>
                    </a:solidFill>
                  </a:tcPr>
                </a:tc>
                <a:extLst>
                  <a:ext uri="{0D108BD9-81ED-4DB2-BD59-A6C34878D82A}">
                    <a16:rowId xmlns:a16="http://schemas.microsoft.com/office/drawing/2014/main" val="10004"/>
                  </a:ext>
                </a:extLst>
              </a:tr>
              <a:tr h="746760">
                <a:tc>
                  <a:txBody>
                    <a:bodyPr/>
                    <a:lstStyle/>
                    <a:p>
                      <a:r>
                        <a:rPr sz="1600" b="0" i="0">
                          <a:solidFill>
                            <a:srgbClr val="222A33"/>
                          </a:solidFill>
                          <a:latin typeface="Calibri"/>
                        </a:rPr>
                        <a:t>Routing DoS /
Instability</a:t>
                      </a:r>
                    </a:p>
                  </a:txBody>
                  <a:tcPr marL="73152" marR="73152" marT="27432" marB="27432" anchor="ctr">
                    <a:solidFill>
                      <a:srgbClr val="FFFFFF"/>
                    </a:solidFill>
                  </a:tcPr>
                </a:tc>
                <a:tc>
                  <a:txBody>
                    <a:bodyPr/>
                    <a:lstStyle/>
                    <a:p>
                      <a:r>
                        <a:rPr sz="1600" b="0" i="0">
                          <a:solidFill>
                            <a:srgbClr val="222A33"/>
                          </a:solidFill>
                          <a:latin typeface="Calibri"/>
                        </a:rPr>
                        <a:t>Response flood,
repeated recalc</a:t>
                      </a:r>
                    </a:p>
                  </a:txBody>
                  <a:tcPr marL="73152" marR="73152" marT="27432" marB="27432" anchor="ctr">
                    <a:solidFill>
                      <a:srgbClr val="FFFFFF"/>
                    </a:solidFill>
                  </a:tcPr>
                </a:tc>
                <a:tc>
                  <a:txBody>
                    <a:bodyPr/>
                    <a:lstStyle/>
                    <a:p>
                      <a:r>
                        <a:rPr sz="1600" b="0" i="0">
                          <a:solidFill>
                            <a:srgbClr val="222A33"/>
                          </a:solidFill>
                          <a:latin typeface="Calibri"/>
                        </a:rPr>
                        <a:t>LSA flood/flap,
repeated SPF runs</a:t>
                      </a:r>
                    </a:p>
                  </a:txBody>
                  <a:tcPr marL="73152" marR="73152" marT="27432" marB="27432" anchor="ctr">
                    <a:solidFill>
                      <a:srgbClr val="FFFFFF"/>
                    </a:solidFill>
                  </a:tcPr>
                </a:tc>
                <a:tc>
                  <a:txBody>
                    <a:bodyPr/>
                    <a:lstStyle/>
                    <a:p>
                      <a:r>
                        <a:rPr sz="1600" b="0" i="0">
                          <a:solidFill>
                            <a:srgbClr val="222A33"/>
                          </a:solidFill>
                          <a:latin typeface="Calibri"/>
                        </a:rPr>
                        <a:t>Query flood,
repeated DUAL runs</a:t>
                      </a:r>
                    </a:p>
                  </a:txBody>
                  <a:tcPr marL="73152" marR="73152" marT="27432" marB="27432" anchor="ctr">
                    <a:solidFill>
                      <a:srgbClr val="FFFFFF"/>
                    </a:solidFill>
                  </a:tcPr>
                </a:tc>
                <a:tc>
                  <a:txBody>
                    <a:bodyPr/>
                    <a:lstStyle/>
                    <a:p>
                      <a:r>
                        <a:rPr sz="1600" b="0" i="0" dirty="0">
                          <a:solidFill>
                            <a:srgbClr val="222A33"/>
                          </a:solidFill>
                          <a:latin typeface="Calibri"/>
                        </a:rPr>
                        <a:t>Route flapping,
global </a:t>
                      </a:r>
                      <a:r>
                        <a:rPr sz="1600" b="0" i="0" dirty="0" err="1">
                          <a:solidFill>
                            <a:srgbClr val="222A33"/>
                          </a:solidFill>
                          <a:latin typeface="Calibri"/>
                        </a:rPr>
                        <a:t>recalc</a:t>
                      </a:r>
                      <a:endParaRPr sz="1600" b="0" i="0" dirty="0">
                        <a:solidFill>
                          <a:srgbClr val="222A33"/>
                        </a:solidFill>
                        <a:latin typeface="Calibri"/>
                      </a:endParaRPr>
                    </a:p>
                  </a:txBody>
                  <a:tcPr marL="73152" marR="73152" marT="27432" marB="27432" anchor="ctr">
                    <a:solidFill>
                      <a:srgbClr val="FFFFFF"/>
                    </a:solidFill>
                  </a:tcPr>
                </a:tc>
                <a:extLst>
                  <a:ext uri="{0D108BD9-81ED-4DB2-BD59-A6C34878D82A}">
                    <a16:rowId xmlns:a16="http://schemas.microsoft.com/office/drawing/2014/main" val="10005"/>
                  </a:ext>
                </a:extLst>
              </a:tr>
            </a:tbl>
          </a:graphicData>
        </a:graphic>
      </p:graphicFrame>
      <p:sp>
        <p:nvSpPr>
          <p:cNvPr id="5" name="TextBox 4"/>
          <p:cNvSpPr txBox="1"/>
          <p:nvPr/>
        </p:nvSpPr>
        <p:spPr>
          <a:xfrm>
            <a:off x="274320" y="6263640"/>
            <a:ext cx="11612880" cy="320040"/>
          </a:xfrm>
          <a:prstGeom prst="rect">
            <a:avLst/>
          </a:prstGeom>
          <a:noFill/>
        </p:spPr>
        <p:txBody>
          <a:bodyPr wrap="square">
            <a:spAutoFit/>
          </a:bodyPr>
          <a:lstStyle/>
          <a:p>
            <a:r>
              <a:rPr sz="1100" b="0" i="1">
                <a:solidFill>
                  <a:srgbClr val="6B7682"/>
                </a:solidFill>
                <a:latin typeface="Calibri"/>
              </a:rPr>
              <a:t>Prefix hijacking is the one attack that's genuinely BGP-specific; the other four have an analog on every protocol, just via a different exact mechanism.</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lgn="ctr"/>
            <a:r>
              <a:rPr sz="4000" b="1" i="0">
                <a:solidFill>
                  <a:srgbClr val="003054"/>
                </a:solidFill>
                <a:latin typeface="Cambria"/>
              </a:rPr>
              <a:t>Defenses in Detail</a:t>
            </a:r>
          </a:p>
        </p:txBody>
      </p:sp>
      <p:sp>
        <p:nvSpPr>
          <p:cNvPr id="3" name="Text Placeholder 2"/>
          <p:cNvSpPr>
            <a:spLocks noGrp="1"/>
          </p:cNvSpPr>
          <p:nvPr>
            <p:ph type="body" idx="1"/>
          </p:nvPr>
        </p:nvSpPr>
        <p:spPr/>
        <p:txBody>
          <a:bodyPr wrap="square"/>
          <a:lstStyle/>
          <a:p>
            <a:pPr algn="ctr"/>
            <a:r>
              <a:rPr sz="1800" b="0" i="1">
                <a:solidFill>
                  <a:srgbClr val="6B7682"/>
                </a:solidFill>
                <a:latin typeface="Calibri"/>
              </a:rPr>
              <a:t>The mechanisms behind this week's mitigations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600" b="1" i="0">
                <a:solidFill>
                  <a:srgbClr val="FFFFFF"/>
                </a:solidFill>
                <a:latin typeface="Cambria"/>
              </a:rPr>
              <a:t>A Note on Scope</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DEFENSES</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200"/>
              </a:spcAft>
              <a:buFont typeface="Arial"/>
              <a:buChar char="–"/>
            </a:pPr>
            <a:r>
              <a:rPr sz="1700" b="0" i="0">
                <a:solidFill>
                  <a:srgbClr val="222A33"/>
                </a:solidFill>
                <a:latin typeface="Calibri"/>
              </a:rPr>
              <a:t>From here, implementation detail focuses specifically on two protocols: OSPF and EIGRP.</a:t>
            </a:r>
          </a:p>
          <a:p>
            <a:pPr marL="201168" indent="-201168">
              <a:spcAft>
                <a:spcPts val="1200"/>
              </a:spcAft>
              <a:buFont typeface="Arial"/>
              <a:buChar char="–"/>
            </a:pPr>
            <a:r>
              <a:rPr sz="1700" b="0" i="0">
                <a:solidFill>
                  <a:srgbClr val="222A33"/>
                </a:solidFill>
                <a:latin typeface="Calibri"/>
              </a:rPr>
              <a:t>This isn't an arbitrary choice. These are the two protocols with confirmed, reliable MD5 authentication support in Packet Tracer, which is exactly what you'll configure hands-on in this week's lab.</a:t>
            </a:r>
          </a:p>
          <a:p>
            <a:pPr marL="201168" indent="-201168">
              <a:spcAft>
                <a:spcPts val="1200"/>
              </a:spcAft>
              <a:buFont typeface="Arial"/>
              <a:buChar char="–"/>
            </a:pPr>
            <a:r>
              <a:rPr sz="1700" b="0" i="0">
                <a:solidFill>
                  <a:srgbClr val="222A33"/>
                </a:solidFill>
                <a:latin typeface="Calibri"/>
              </a:rPr>
              <a:t>RIPv2's authentication support is inconsistent across Packet Tracer versions, and BGP's overall protocol support in Packet Tracer is limited enough that we won't rely on it. Both remain relevant in theory, but neither is something we'll configure and verify this week.</a:t>
            </a:r>
          </a:p>
          <a:p>
            <a:pPr marL="201168" indent="-201168">
              <a:spcAft>
                <a:spcPts val="1200"/>
              </a:spcAft>
              <a:buFont typeface="Arial"/>
              <a:buChar char="–"/>
            </a:pPr>
            <a:r>
              <a:rPr sz="1700" b="0" i="0">
                <a:solidFill>
                  <a:srgbClr val="222A33"/>
                </a:solidFill>
                <a:latin typeface="Calibri"/>
              </a:rPr>
              <a:t>Where a defense mechanism behaves differently between OSPF and EIGRP specifically, the following slides call that out explicitly, since spotting that kind of difference is exactly the LO2 evaluation skill this module is building.</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600" b="1" i="0">
                <a:solidFill>
                  <a:srgbClr val="FFFFFF"/>
                </a:solidFill>
                <a:latin typeface="Cambria"/>
              </a:rPr>
              <a:t>Neighbor Authentication (MD5)</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DEFENSES</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200"/>
              </a:spcAft>
              <a:buFont typeface="Arial"/>
              <a:buChar char="–"/>
            </a:pPr>
            <a:r>
              <a:rPr sz="1700" b="0" i="0">
                <a:solidFill>
                  <a:srgbClr val="222A33"/>
                </a:solidFill>
                <a:latin typeface="Calibri"/>
              </a:rPr>
              <a:t>The core defense across almost every attack this week: routers only form a neighbor relationship, and only accept routing updates, from a device that can prove it holds the correct shared key.</a:t>
            </a:r>
          </a:p>
          <a:p>
            <a:pPr marL="201168" indent="-201168">
              <a:spcAft>
                <a:spcPts val="1200"/>
              </a:spcAft>
              <a:buFont typeface="Arial"/>
              <a:buChar char="–"/>
            </a:pPr>
            <a:r>
              <a:rPr sz="1700" b="0" i="0">
                <a:solidFill>
                  <a:srgbClr val="222A33"/>
                </a:solidFill>
                <a:latin typeface="Calibri"/>
              </a:rPr>
              <a:t>This is exactly what you'll configure hands-on in this week's lab, on both OSPF and EIGRP.</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600" b="1" i="0">
                <a:solidFill>
                  <a:srgbClr val="FFFFFF"/>
                </a:solidFill>
                <a:latin typeface="Cambria"/>
              </a:rPr>
              <a:t>Authentication: OSPF vs EIGRP Implementation</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DEFENSES</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200"/>
              </a:spcAft>
              <a:buFont typeface="Arial"/>
              <a:buChar char="–"/>
            </a:pPr>
            <a:r>
              <a:rPr sz="1700" b="0" i="0">
                <a:solidFill>
                  <a:srgbClr val="222A33"/>
                </a:solidFill>
                <a:latin typeface="Calibri"/>
              </a:rPr>
              <a:t>OSPF: authentication is enabled per area (area 0 authentication message-digest) or per interface, with a single MD5 key configured directly on that interface. Straightforward, but only one active key at a time.</a:t>
            </a:r>
          </a:p>
          <a:p>
            <a:pPr marL="201168" indent="-201168">
              <a:spcAft>
                <a:spcPts val="1200"/>
              </a:spcAft>
              <a:buFont typeface="Arial"/>
              <a:buChar char="–"/>
            </a:pPr>
            <a:r>
              <a:rPr sz="1700" b="0" i="0">
                <a:solidFill>
                  <a:srgbClr val="222A33"/>
                </a:solidFill>
                <a:latin typeface="Calibri"/>
              </a:rPr>
              <a:t>EIGRP: authentication requires defining a key chain first (a named object holding one or more keys), then applying both the authentication mode and the key chain to an interface. More setup steps, but key chains support multiple keys with defined lifetimes, enabling scheduled key rotation without downtime.</a:t>
            </a:r>
          </a:p>
          <a:p>
            <a:pPr marL="201168" indent="-201168">
              <a:spcAft>
                <a:spcPts val="1200"/>
              </a:spcAft>
              <a:buFont typeface="Arial"/>
              <a:buChar char="–"/>
            </a:pPr>
            <a:r>
              <a:rPr sz="1700" b="0" i="0">
                <a:solidFill>
                  <a:srgbClr val="222A33"/>
                </a:solidFill>
                <a:latin typeface="Calibri"/>
              </a:rPr>
              <a:t>The LO2 takeaway: EIGRP's extra configuration complexity buys a real operational capability (key rotation) that OSPF's simpler mechanism doesn't offer out of the box. That's a genuine cost/capability trade-off, not just implementation trivia.</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600" b="1" i="0">
                <a:solidFill>
                  <a:srgbClr val="FFFFFF"/>
                </a:solidFill>
                <a:latin typeface="Cambria"/>
              </a:rPr>
              <a:t>Passive-Interface</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DEFENSES</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200"/>
              </a:spcAft>
              <a:buFont typeface="Arial"/>
              <a:buChar char="–"/>
            </a:pPr>
            <a:r>
              <a:rPr sz="1700" b="0" i="0">
                <a:solidFill>
                  <a:srgbClr val="222A33"/>
                </a:solidFill>
                <a:latin typeface="Calibri"/>
              </a:rPr>
              <a:t>Stops a router from sending (and in most implementations, also processing received) routing protocol traffic out a specific interface, while that interface's network is still advertised to the rest of the routing domain.</a:t>
            </a:r>
          </a:p>
          <a:p>
            <a:pPr marL="201168" indent="-201168">
              <a:spcAft>
                <a:spcPts val="1200"/>
              </a:spcAft>
              <a:buFont typeface="Arial"/>
              <a:buChar char="–"/>
            </a:pPr>
            <a:r>
              <a:rPr sz="1700" b="0" i="0">
                <a:solidFill>
                  <a:srgbClr val="222A33"/>
                </a:solidFill>
                <a:latin typeface="Calibri"/>
              </a:rPr>
              <a:t>Ideal for interfaces facing end users or other non-router devices. There's no legitimate reason for a routing update to arrive from a printer or a PC.</a:t>
            </a:r>
          </a:p>
          <a:p>
            <a:pPr marL="201168" indent="-201168">
              <a:spcAft>
                <a:spcPts val="1200"/>
              </a:spcAft>
              <a:buFont typeface="Arial"/>
              <a:buChar char="–"/>
            </a:pPr>
            <a:r>
              <a:rPr sz="1700" b="0" i="0">
                <a:solidFill>
                  <a:srgbClr val="222A33"/>
                </a:solidFill>
                <a:latin typeface="Calibri"/>
              </a:rPr>
              <a:t>A simple, low-cost control that directly removes the attack surface on interfaces that never needed to participate in routing in the first place.</a:t>
            </a:r>
          </a:p>
          <a:p>
            <a:pPr marL="201168" indent="-201168">
              <a:spcAft>
                <a:spcPts val="1200"/>
              </a:spcAft>
              <a:buFont typeface="Arial"/>
              <a:buChar char="–"/>
            </a:pPr>
            <a:r>
              <a:rPr sz="1700" b="0" i="0">
                <a:solidFill>
                  <a:srgbClr val="222A33"/>
                </a:solidFill>
                <a:latin typeface="Calibri"/>
              </a:rPr>
              <a:t>OSPF and EIGRP implementation is essentially identical here: the passive-interface command sits under the routing process and names the interface, in both cases. This is one control where there's no meaningful difference to evaluate between the two.</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600" b="1" i="0">
                <a:solidFill>
                  <a:srgbClr val="FFFFFF"/>
                </a:solidFill>
                <a:latin typeface="Cambria"/>
              </a:rPr>
              <a:t>Route Filtering / Distribute-Lists</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DEFENSES</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200"/>
              </a:spcAft>
              <a:buFont typeface="Arial"/>
              <a:buChar char="–"/>
            </a:pPr>
            <a:r>
              <a:rPr sz="1700" b="0" i="0">
                <a:solidFill>
                  <a:srgbClr val="222A33"/>
                </a:solidFill>
                <a:latin typeface="Calibri"/>
              </a:rPr>
              <a:t>Explicitly defines which specific routes are acceptable to learn from, or advertise to, a given neighbor, rather than trusting everything a neighbor sends.</a:t>
            </a:r>
          </a:p>
          <a:p>
            <a:pPr marL="201168" indent="-201168">
              <a:spcAft>
                <a:spcPts val="1200"/>
              </a:spcAft>
              <a:buFont typeface="Arial"/>
              <a:buChar char="–"/>
            </a:pPr>
            <a:r>
              <a:rPr sz="1700" b="0" i="0">
                <a:solidFill>
                  <a:srgbClr val="222A33"/>
                </a:solidFill>
                <a:latin typeface="Calibri"/>
              </a:rPr>
              <a:t>Directly stops implausible or out-of-scope advertisements even from an authenticated neighbor. Authentication proves who's talking; filtering controls what they're allowed to say.</a:t>
            </a:r>
          </a:p>
          <a:p>
            <a:pPr marL="201168" indent="-201168">
              <a:spcAft>
                <a:spcPts val="1200"/>
              </a:spcAft>
              <a:buFont typeface="Arial"/>
              <a:buChar char="–"/>
            </a:pPr>
            <a:r>
              <a:rPr sz="1700" b="0" i="0">
                <a:solidFill>
                  <a:srgbClr val="222A33"/>
                </a:solidFill>
                <a:latin typeface="Calibri"/>
              </a:rPr>
              <a:t>This is exactly the control PCCW should have had in place in the 2008 YouTube hijack: filtering Pakistan Telecom's advertisements to only the prefixes they were actually authorised to announce.</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600" b="1" i="0">
                <a:solidFill>
                  <a:srgbClr val="FFFFFF"/>
                </a:solidFill>
                <a:latin typeface="Cambria"/>
              </a:rPr>
              <a:t>Route Filtering: A Protocol-Type Caveat</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DEFENSES</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200"/>
              </a:spcAft>
              <a:buFont typeface="Arial"/>
              <a:buChar char="–"/>
            </a:pPr>
            <a:r>
              <a:rPr sz="1700" b="0" i="0">
                <a:solidFill>
                  <a:srgbClr val="222A33"/>
                </a:solidFill>
                <a:latin typeface="Calibri"/>
              </a:rPr>
              <a:t>EIGRP: because it's distance-vector, a distribute-list directly controls what actually goes into the Update messages sent to, or accepted from, a neighbor. Filtering here genuinely stops a route from propagating further.</a:t>
            </a:r>
          </a:p>
          <a:p>
            <a:pPr marL="201168" indent="-201168">
              <a:spcAft>
                <a:spcPts val="1200"/>
              </a:spcAft>
              <a:buFont typeface="Arial"/>
              <a:buChar char="–"/>
            </a:pPr>
            <a:r>
              <a:rPr sz="1700" b="0" i="0">
                <a:solidFill>
                  <a:srgbClr val="222A33"/>
                </a:solidFill>
                <a:latin typeface="Calibri"/>
              </a:rPr>
              <a:t>OSPF: because it's link-state, every router in an area needs an identical copy of the link-state database to calculate correct paths. A distribute-list on OSPF only filters what gets installed into the local routing table, not what's flooded on to other routers via LSAs.</a:t>
            </a:r>
          </a:p>
          <a:p>
            <a:pPr marL="201168" indent="-201168">
              <a:spcAft>
                <a:spcPts val="1200"/>
              </a:spcAft>
              <a:buFont typeface="Arial"/>
              <a:buChar char="–"/>
            </a:pPr>
            <a:r>
              <a:rPr sz="1700" b="0" i="0">
                <a:solidFill>
                  <a:srgbClr val="222A33"/>
                </a:solidFill>
                <a:latin typeface="Calibri"/>
              </a:rPr>
              <a:t>The LO2 takeaway: the same control name (‘distribute-list’) does a meaningfully different job depending on the protocol's type. On OSPF, actually stopping propagation needs a different tool (e.g. an area filter-list at an area boundary), not a plain distribute-list.</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600" b="1" i="0" dirty="0">
                <a:solidFill>
                  <a:srgbClr val="FFFFFF"/>
                </a:solidFill>
                <a:latin typeface="Cambria"/>
              </a:rPr>
              <a:t>RPKI (Resource Public Key Infrastructure)</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DEFENSES</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200"/>
              </a:spcAft>
              <a:buFont typeface="Arial"/>
              <a:buChar char="–"/>
            </a:pPr>
            <a:r>
              <a:rPr sz="1700" b="0" i="0" dirty="0">
                <a:solidFill>
                  <a:srgbClr val="222A33"/>
                </a:solidFill>
                <a:latin typeface="Calibri"/>
              </a:rPr>
              <a:t>A cryptographic system letting the legitimate holder of an IP address block publish a signed Route Origin </a:t>
            </a:r>
            <a:r>
              <a:rPr sz="1700" b="0" i="0" dirty="0" err="1">
                <a:solidFill>
                  <a:srgbClr val="222A33"/>
                </a:solidFill>
                <a:latin typeface="Calibri"/>
              </a:rPr>
              <a:t>Authorisation</a:t>
            </a:r>
            <a:r>
              <a:rPr sz="1700" b="0" i="0" dirty="0">
                <a:solidFill>
                  <a:srgbClr val="222A33"/>
                </a:solidFill>
                <a:latin typeface="Calibri"/>
              </a:rPr>
              <a:t> (ROA), stating which AS is allowed to originate routes for it.</a:t>
            </a:r>
          </a:p>
          <a:p>
            <a:pPr marL="201168" indent="-201168">
              <a:spcAft>
                <a:spcPts val="1200"/>
              </a:spcAft>
              <a:buFont typeface="Arial"/>
              <a:buChar char="–"/>
            </a:pPr>
            <a:r>
              <a:rPr sz="1700" b="0" i="0" dirty="0">
                <a:solidFill>
                  <a:srgbClr val="222A33"/>
                </a:solidFill>
                <a:latin typeface="Calibri"/>
              </a:rPr>
              <a:t>Other networks can then validate a BGP advertisement against the ROA before accepting it, directly closing the gap that made the YouTube hijack possible.</a:t>
            </a:r>
          </a:p>
          <a:p>
            <a:pPr marL="201168" indent="-201168">
              <a:spcAft>
                <a:spcPts val="1200"/>
              </a:spcAft>
              <a:buFont typeface="Arial"/>
              <a:buChar char="–"/>
            </a:pPr>
            <a:r>
              <a:rPr sz="1700" b="0" i="0" dirty="0">
                <a:solidFill>
                  <a:srgbClr val="222A33"/>
                </a:solidFill>
                <a:latin typeface="Calibri"/>
              </a:rPr>
              <a:t>BGP-specific, and adopted unevenly across the real Internet even today. Theory-only for this module, since it isn't something Packet Tracer can demonstrate.</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500" b="1" i="0">
                <a:solidFill>
                  <a:srgbClr val="FFFFFF"/>
                </a:solidFill>
                <a:latin typeface="Cambria"/>
              </a:rPr>
              <a:t>RPKI: How the Trust Chain Works</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DEFENSES</a:t>
            </a:r>
          </a:p>
        </p:txBody>
      </p:sp>
      <p:sp>
        <p:nvSpPr>
          <p:cNvPr id="4" name="Rounded Rectangle 3"/>
          <p:cNvSpPr/>
          <p:nvPr/>
        </p:nvSpPr>
        <p:spPr>
          <a:xfrm>
            <a:off x="457200" y="1828800"/>
            <a:ext cx="2286000" cy="640080"/>
          </a:xfrm>
          <a:prstGeom prst="roundRect">
            <a:avLst/>
          </a:prstGeom>
          <a:solidFill>
            <a:srgbClr val="003054"/>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1" i="0">
                <a:solidFill>
                  <a:srgbClr val="FFFFFF"/>
                </a:solidFill>
                <a:latin typeface="Calibri"/>
              </a:rPr>
              <a:t>RIR
(e.g. RIPE NCC)</a:t>
            </a:r>
          </a:p>
        </p:txBody>
      </p:sp>
      <p:cxnSp>
        <p:nvCxnSpPr>
          <p:cNvPr id="5" name="Connector 4"/>
          <p:cNvCxnSpPr/>
          <p:nvPr/>
        </p:nvCxnSpPr>
        <p:spPr>
          <a:xfrm>
            <a:off x="2743200" y="2148840"/>
            <a:ext cx="822960" cy="0"/>
          </a:xfrm>
          <a:prstGeom prst="line">
            <a:avLst/>
          </a:prstGeom>
          <a:ln w="25400">
            <a:solidFill>
              <a:srgbClr val="003054"/>
            </a:solidFill>
            <a:tailEnd type="triangle" w="med" len="med"/>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3566160" y="1828800"/>
            <a:ext cx="2377440" cy="640080"/>
          </a:xfrm>
          <a:prstGeom prst="round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1" i="0">
                <a:solidFill>
                  <a:srgbClr val="FFFFFF"/>
                </a:solidFill>
                <a:latin typeface="Calibri"/>
              </a:rPr>
              <a:t>Resource
Certificate</a:t>
            </a:r>
          </a:p>
        </p:txBody>
      </p:sp>
      <p:cxnSp>
        <p:nvCxnSpPr>
          <p:cNvPr id="7" name="Connector 6"/>
          <p:cNvCxnSpPr/>
          <p:nvPr/>
        </p:nvCxnSpPr>
        <p:spPr>
          <a:xfrm>
            <a:off x="5943600" y="2148840"/>
            <a:ext cx="822960" cy="0"/>
          </a:xfrm>
          <a:prstGeom prst="line">
            <a:avLst/>
          </a:prstGeom>
          <a:ln w="25400">
            <a:solidFill>
              <a:srgbClr val="003054"/>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766560" y="1828800"/>
            <a:ext cx="2194560" cy="640080"/>
          </a:xfrm>
          <a:prstGeom prst="round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i="0">
                <a:solidFill>
                  <a:srgbClr val="FFFFFF"/>
                </a:solidFill>
                <a:latin typeface="Calibri"/>
              </a:rPr>
              <a:t>ROA</a:t>
            </a:r>
          </a:p>
        </p:txBody>
      </p:sp>
      <p:cxnSp>
        <p:nvCxnSpPr>
          <p:cNvPr id="9" name="Connector 8"/>
          <p:cNvCxnSpPr/>
          <p:nvPr/>
        </p:nvCxnSpPr>
        <p:spPr>
          <a:xfrm>
            <a:off x="8961120" y="2148840"/>
            <a:ext cx="822960" cy="0"/>
          </a:xfrm>
          <a:prstGeom prst="line">
            <a:avLst/>
          </a:prstGeom>
          <a:ln w="25400">
            <a:solidFill>
              <a:srgbClr val="00305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9784080" y="1828800"/>
            <a:ext cx="1965960" cy="640080"/>
          </a:xfrm>
          <a:prstGeom prst="round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i="0">
                <a:solidFill>
                  <a:srgbClr val="222A33"/>
                </a:solidFill>
                <a:latin typeface="Calibri"/>
              </a:rPr>
              <a:t>RPKI
Repository</a:t>
            </a:r>
          </a:p>
        </p:txBody>
      </p:sp>
      <p:sp>
        <p:nvSpPr>
          <p:cNvPr id="11" name="TextBox 10"/>
          <p:cNvSpPr txBox="1"/>
          <p:nvPr/>
        </p:nvSpPr>
        <p:spPr>
          <a:xfrm>
            <a:off x="457200" y="2514600"/>
            <a:ext cx="2286000" cy="365760"/>
          </a:xfrm>
          <a:prstGeom prst="rect">
            <a:avLst/>
          </a:prstGeom>
          <a:noFill/>
        </p:spPr>
        <p:txBody>
          <a:bodyPr wrap="square">
            <a:spAutoFit/>
          </a:bodyPr>
          <a:lstStyle/>
          <a:p>
            <a:r>
              <a:rPr sz="1100" b="0" i="1">
                <a:solidFill>
                  <a:srgbClr val="6B7682"/>
                </a:solidFill>
                <a:latin typeface="Calibri"/>
              </a:rPr>
              <a:t>Trust anchor</a:t>
            </a:r>
          </a:p>
        </p:txBody>
      </p:sp>
      <p:sp>
        <p:nvSpPr>
          <p:cNvPr id="12" name="TextBox 11"/>
          <p:cNvSpPr txBox="1"/>
          <p:nvPr/>
        </p:nvSpPr>
        <p:spPr>
          <a:xfrm>
            <a:off x="3566160" y="2514600"/>
            <a:ext cx="2377440" cy="365760"/>
          </a:xfrm>
          <a:prstGeom prst="rect">
            <a:avLst/>
          </a:prstGeom>
          <a:noFill/>
        </p:spPr>
        <p:txBody>
          <a:bodyPr wrap="square">
            <a:spAutoFit/>
          </a:bodyPr>
          <a:lstStyle/>
          <a:p>
            <a:r>
              <a:rPr sz="1100" b="0" i="1">
                <a:solidFill>
                  <a:srgbClr val="6B7682"/>
                </a:solidFill>
                <a:latin typeface="Calibri"/>
              </a:rPr>
              <a:t>Issued to the prefix holder</a:t>
            </a:r>
          </a:p>
        </p:txBody>
      </p:sp>
      <p:sp>
        <p:nvSpPr>
          <p:cNvPr id="13" name="TextBox 12"/>
          <p:cNvSpPr txBox="1"/>
          <p:nvPr/>
        </p:nvSpPr>
        <p:spPr>
          <a:xfrm>
            <a:off x="6766560" y="2514600"/>
            <a:ext cx="2194560" cy="365760"/>
          </a:xfrm>
          <a:prstGeom prst="rect">
            <a:avLst/>
          </a:prstGeom>
          <a:noFill/>
        </p:spPr>
        <p:txBody>
          <a:bodyPr wrap="square">
            <a:spAutoFit/>
          </a:bodyPr>
          <a:lstStyle/>
          <a:p>
            <a:r>
              <a:rPr sz="1100" b="0" i="1">
                <a:solidFill>
                  <a:srgbClr val="6B7682"/>
                </a:solidFill>
                <a:latin typeface="Calibri"/>
              </a:rPr>
              <a:t>Signed by prefix holder</a:t>
            </a:r>
          </a:p>
        </p:txBody>
      </p:sp>
      <p:sp>
        <p:nvSpPr>
          <p:cNvPr id="14" name="TextBox 13"/>
          <p:cNvSpPr txBox="1"/>
          <p:nvPr/>
        </p:nvSpPr>
        <p:spPr>
          <a:xfrm>
            <a:off x="9692640" y="2514600"/>
            <a:ext cx="2103120" cy="365760"/>
          </a:xfrm>
          <a:prstGeom prst="rect">
            <a:avLst/>
          </a:prstGeom>
          <a:noFill/>
        </p:spPr>
        <p:txBody>
          <a:bodyPr wrap="square">
            <a:spAutoFit/>
          </a:bodyPr>
          <a:lstStyle/>
          <a:p>
            <a:r>
              <a:rPr sz="1100" b="0" i="1">
                <a:solidFill>
                  <a:srgbClr val="6B7682"/>
                </a:solidFill>
                <a:latin typeface="Calibri"/>
              </a:rPr>
              <a:t>Published, downloadable</a:t>
            </a:r>
          </a:p>
        </p:txBody>
      </p:sp>
      <p:sp>
        <p:nvSpPr>
          <p:cNvPr id="15" name="TextBox 14"/>
          <p:cNvSpPr txBox="1"/>
          <p:nvPr/>
        </p:nvSpPr>
        <p:spPr>
          <a:xfrm>
            <a:off x="731520" y="3063240"/>
            <a:ext cx="10698480" cy="2834640"/>
          </a:xfrm>
          <a:prstGeom prst="rect">
            <a:avLst/>
          </a:prstGeom>
          <a:noFill/>
        </p:spPr>
        <p:txBody>
          <a:bodyPr wrap="square">
            <a:spAutoFit/>
          </a:bodyPr>
          <a:lstStyle/>
          <a:p>
            <a:pPr marL="201168" indent="-201168">
              <a:spcAft>
                <a:spcPts val="1000"/>
              </a:spcAft>
              <a:buFont typeface="Arial"/>
              <a:buChar char="–"/>
            </a:pPr>
            <a:r>
              <a:rPr sz="1350" b="0" i="0">
                <a:solidFill>
                  <a:srgbClr val="222A33"/>
                </a:solidFill>
                <a:latin typeface="Calibri"/>
              </a:rPr>
              <a:t>RIRs (Regional Internet Registries, e.g. RIPE NCC, ARIN, APNIC) act as trust anchors. Each one issues an X.509 resource certificate that cryptographically binds an IP prefix to whichever organisation was legitimately allocated it.</a:t>
            </a:r>
          </a:p>
          <a:p>
            <a:pPr marL="201168" indent="-201168">
              <a:spcAft>
                <a:spcPts val="1000"/>
              </a:spcAft>
              <a:buFont typeface="Arial"/>
              <a:buChar char="–"/>
            </a:pPr>
            <a:r>
              <a:rPr sz="1350" b="0" i="0">
                <a:solidFill>
                  <a:srgbClr val="222A33"/>
                </a:solidFill>
                <a:latin typeface="Calibri"/>
              </a:rPr>
              <a:t>The prefix holder then creates and signs a Route Origin Authorisation (ROA): a small, specific statement declaring exactly which AS number is authorised to originate routes for that prefix, and the maximum prefix length allowed.</a:t>
            </a:r>
          </a:p>
          <a:p>
            <a:pPr marL="201168" indent="-201168">
              <a:spcAft>
                <a:spcPts val="1000"/>
              </a:spcAft>
              <a:buFont typeface="Arial"/>
              <a:buChar char="–"/>
            </a:pPr>
            <a:r>
              <a:rPr sz="1350" b="0" i="0">
                <a:solidFill>
                  <a:srgbClr val="222A33"/>
                </a:solidFill>
                <a:latin typeface="Calibri"/>
              </a:rPr>
              <a:t>ROAs are published into a distributed set of RPKI repositories that any network operator can download and cryptographically verify, using the RIR's certificate as the root of trust.</a:t>
            </a:r>
          </a:p>
          <a:p>
            <a:pPr marL="201168" indent="-201168">
              <a:spcAft>
                <a:spcPts val="1000"/>
              </a:spcAft>
              <a:buFont typeface="Arial"/>
              <a:buChar char="–"/>
            </a:pPr>
            <a:r>
              <a:rPr sz="1350" b="0" i="0">
                <a:solidFill>
                  <a:srgbClr val="222A33"/>
                </a:solidFill>
                <a:latin typeface="Calibri"/>
              </a:rPr>
              <a:t>This is genuinely different from just trusting a BGP announcement: a ROA is a signed, independently verifiable statement made in advance, not something an attacker can fake without the real prefix holder's private key.</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500" b="1" i="0">
                <a:solidFill>
                  <a:srgbClr val="FFFFFF"/>
                </a:solidFill>
                <a:latin typeface="Cambria"/>
              </a:rPr>
              <a:t>RPKI: Route Origin Validation in Action</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DEFENSES</a:t>
            </a:r>
          </a:p>
        </p:txBody>
      </p:sp>
      <p:sp>
        <p:nvSpPr>
          <p:cNvPr id="4" name="TextBox 3"/>
          <p:cNvSpPr txBox="1"/>
          <p:nvPr/>
        </p:nvSpPr>
        <p:spPr>
          <a:xfrm>
            <a:off x="731520" y="1783080"/>
            <a:ext cx="10698480" cy="594360"/>
          </a:xfrm>
          <a:prstGeom prst="rect">
            <a:avLst/>
          </a:prstGeom>
          <a:noFill/>
        </p:spPr>
        <p:txBody>
          <a:bodyPr wrap="square">
            <a:spAutoFit/>
          </a:bodyPr>
          <a:lstStyle/>
          <a:p>
            <a:pPr marL="201168" indent="-201168">
              <a:spcAft>
                <a:spcPts val="1000"/>
              </a:spcAft>
              <a:buFont typeface="Arial"/>
              <a:buChar char="–"/>
            </a:pPr>
            <a:r>
              <a:rPr sz="1400" b="0" i="0">
                <a:solidFill>
                  <a:srgbClr val="222A33"/>
                </a:solidFill>
                <a:latin typeface="Calibri"/>
              </a:rPr>
              <a:t>A router (or dedicated validator software feeding it) checks every incoming BGP announcement against its local cache of validated ROAs, producing one of three outcomes.</a:t>
            </a:r>
          </a:p>
        </p:txBody>
      </p:sp>
      <p:sp>
        <p:nvSpPr>
          <p:cNvPr id="5" name="Rounded Rectangle 4"/>
          <p:cNvSpPr/>
          <p:nvPr/>
        </p:nvSpPr>
        <p:spPr>
          <a:xfrm>
            <a:off x="548640" y="2423160"/>
            <a:ext cx="3566160" cy="502920"/>
          </a:xfrm>
          <a:prstGeom prst="roundRect">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i="0">
                <a:solidFill>
                  <a:srgbClr val="FFFFFF"/>
                </a:solidFill>
                <a:latin typeface="Calibri"/>
              </a:rPr>
              <a:t>Valid</a:t>
            </a:r>
          </a:p>
        </p:txBody>
      </p:sp>
      <p:sp>
        <p:nvSpPr>
          <p:cNvPr id="6" name="TextBox 5"/>
          <p:cNvSpPr txBox="1"/>
          <p:nvPr/>
        </p:nvSpPr>
        <p:spPr>
          <a:xfrm>
            <a:off x="548640" y="3017520"/>
            <a:ext cx="3566160" cy="640080"/>
          </a:xfrm>
          <a:prstGeom prst="rect">
            <a:avLst/>
          </a:prstGeom>
          <a:noFill/>
        </p:spPr>
        <p:txBody>
          <a:bodyPr wrap="square">
            <a:spAutoFit/>
          </a:bodyPr>
          <a:lstStyle/>
          <a:p>
            <a:r>
              <a:rPr sz="1150" b="0" i="0">
                <a:solidFill>
                  <a:srgbClr val="222A33"/>
                </a:solidFill>
                <a:latin typeface="Calibri"/>
              </a:rPr>
              <a:t>Announced AS and prefix length both match a ROA</a:t>
            </a:r>
          </a:p>
        </p:txBody>
      </p:sp>
      <p:sp>
        <p:nvSpPr>
          <p:cNvPr id="7" name="TextBox 6"/>
          <p:cNvSpPr txBox="1"/>
          <p:nvPr/>
        </p:nvSpPr>
        <p:spPr>
          <a:xfrm>
            <a:off x="548640" y="3657600"/>
            <a:ext cx="3566160" cy="548640"/>
          </a:xfrm>
          <a:prstGeom prst="rect">
            <a:avLst/>
          </a:prstGeom>
          <a:noFill/>
        </p:spPr>
        <p:txBody>
          <a:bodyPr wrap="square">
            <a:spAutoFit/>
          </a:bodyPr>
          <a:lstStyle/>
          <a:p>
            <a:r>
              <a:rPr sz="1150" b="0" i="1">
                <a:solidFill>
                  <a:srgbClr val="6B7682"/>
                </a:solidFill>
                <a:latin typeface="Calibri"/>
              </a:rPr>
              <a:t>Accepted normally</a:t>
            </a:r>
          </a:p>
        </p:txBody>
      </p:sp>
      <p:sp>
        <p:nvSpPr>
          <p:cNvPr id="8" name="Rounded Rectangle 7"/>
          <p:cNvSpPr/>
          <p:nvPr/>
        </p:nvSpPr>
        <p:spPr>
          <a:xfrm>
            <a:off x="4343400" y="2423160"/>
            <a:ext cx="3566160" cy="502920"/>
          </a:xfrm>
          <a:prstGeom prst="round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i="0">
                <a:solidFill>
                  <a:srgbClr val="FFFFFF"/>
                </a:solidFill>
                <a:latin typeface="Calibri"/>
              </a:rPr>
              <a:t>Invalid</a:t>
            </a:r>
          </a:p>
        </p:txBody>
      </p:sp>
      <p:sp>
        <p:nvSpPr>
          <p:cNvPr id="9" name="TextBox 8"/>
          <p:cNvSpPr txBox="1"/>
          <p:nvPr/>
        </p:nvSpPr>
        <p:spPr>
          <a:xfrm>
            <a:off x="4343400" y="3017520"/>
            <a:ext cx="3566160" cy="640080"/>
          </a:xfrm>
          <a:prstGeom prst="rect">
            <a:avLst/>
          </a:prstGeom>
          <a:noFill/>
        </p:spPr>
        <p:txBody>
          <a:bodyPr wrap="square">
            <a:spAutoFit/>
          </a:bodyPr>
          <a:lstStyle/>
          <a:p>
            <a:r>
              <a:rPr sz="1150" b="0" i="0">
                <a:solidFill>
                  <a:srgbClr val="222A33"/>
                </a:solidFill>
                <a:latin typeface="Calibri"/>
              </a:rPr>
              <a:t>A ROA exists, but the AS or length doesn't match it</a:t>
            </a:r>
          </a:p>
        </p:txBody>
      </p:sp>
      <p:sp>
        <p:nvSpPr>
          <p:cNvPr id="10" name="TextBox 9"/>
          <p:cNvSpPr txBox="1"/>
          <p:nvPr/>
        </p:nvSpPr>
        <p:spPr>
          <a:xfrm>
            <a:off x="4343400" y="3657600"/>
            <a:ext cx="3566160" cy="548640"/>
          </a:xfrm>
          <a:prstGeom prst="rect">
            <a:avLst/>
          </a:prstGeom>
          <a:noFill/>
        </p:spPr>
        <p:txBody>
          <a:bodyPr wrap="square">
            <a:spAutoFit/>
          </a:bodyPr>
          <a:lstStyle/>
          <a:p>
            <a:r>
              <a:rPr sz="1150" b="0" i="1">
                <a:solidFill>
                  <a:srgbClr val="6B7682"/>
                </a:solidFill>
                <a:latin typeface="Calibri"/>
              </a:rPr>
              <a:t>Rejected. This is exactly what a hijack looks like</a:t>
            </a:r>
          </a:p>
        </p:txBody>
      </p:sp>
      <p:sp>
        <p:nvSpPr>
          <p:cNvPr id="11" name="Rounded Rectangle 10"/>
          <p:cNvSpPr/>
          <p:nvPr/>
        </p:nvSpPr>
        <p:spPr>
          <a:xfrm>
            <a:off x="8138160" y="2423160"/>
            <a:ext cx="3566160" cy="502920"/>
          </a:xfrm>
          <a:prstGeom prst="roundRect">
            <a:avLst/>
          </a:prstGeom>
          <a:solidFill>
            <a:srgbClr val="6B768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i="0">
                <a:solidFill>
                  <a:srgbClr val="FFFFFF"/>
                </a:solidFill>
                <a:latin typeface="Calibri"/>
              </a:rPr>
              <a:t>NotFound</a:t>
            </a:r>
          </a:p>
        </p:txBody>
      </p:sp>
      <p:sp>
        <p:nvSpPr>
          <p:cNvPr id="12" name="TextBox 11"/>
          <p:cNvSpPr txBox="1"/>
          <p:nvPr/>
        </p:nvSpPr>
        <p:spPr>
          <a:xfrm>
            <a:off x="8138160" y="3017520"/>
            <a:ext cx="3566160" cy="640080"/>
          </a:xfrm>
          <a:prstGeom prst="rect">
            <a:avLst/>
          </a:prstGeom>
          <a:noFill/>
        </p:spPr>
        <p:txBody>
          <a:bodyPr wrap="square">
            <a:spAutoFit/>
          </a:bodyPr>
          <a:lstStyle/>
          <a:p>
            <a:r>
              <a:rPr sz="1150" b="0" i="0">
                <a:solidFill>
                  <a:srgbClr val="222A33"/>
                </a:solidFill>
                <a:latin typeface="Calibri"/>
              </a:rPr>
              <a:t>No ROA exists for this prefix at all</a:t>
            </a:r>
          </a:p>
        </p:txBody>
      </p:sp>
      <p:sp>
        <p:nvSpPr>
          <p:cNvPr id="13" name="TextBox 12"/>
          <p:cNvSpPr txBox="1"/>
          <p:nvPr/>
        </p:nvSpPr>
        <p:spPr>
          <a:xfrm>
            <a:off x="8138160" y="3657600"/>
            <a:ext cx="3566160" cy="548640"/>
          </a:xfrm>
          <a:prstGeom prst="rect">
            <a:avLst/>
          </a:prstGeom>
          <a:noFill/>
        </p:spPr>
        <p:txBody>
          <a:bodyPr wrap="square">
            <a:spAutoFit/>
          </a:bodyPr>
          <a:lstStyle/>
          <a:p>
            <a:r>
              <a:rPr sz="1150" b="0" i="1">
                <a:solidFill>
                  <a:srgbClr val="6B7682"/>
                </a:solidFill>
                <a:latin typeface="Calibri"/>
              </a:rPr>
              <a:t>Treated as normal, unvalidated routing</a:t>
            </a:r>
          </a:p>
        </p:txBody>
      </p:sp>
      <p:sp>
        <p:nvSpPr>
          <p:cNvPr id="14" name="TextBox 13"/>
          <p:cNvSpPr txBox="1"/>
          <p:nvPr/>
        </p:nvSpPr>
        <p:spPr>
          <a:xfrm>
            <a:off x="731520" y="4343400"/>
            <a:ext cx="10698480" cy="1600200"/>
          </a:xfrm>
          <a:prstGeom prst="rect">
            <a:avLst/>
          </a:prstGeom>
          <a:noFill/>
        </p:spPr>
        <p:txBody>
          <a:bodyPr wrap="square">
            <a:spAutoFit/>
          </a:bodyPr>
          <a:lstStyle/>
          <a:p>
            <a:pPr marL="201168" indent="-201168">
              <a:spcAft>
                <a:spcPts val="1000"/>
              </a:spcAft>
              <a:buFont typeface="Arial"/>
              <a:buChar char="–"/>
            </a:pPr>
            <a:r>
              <a:rPr sz="1300" b="0" i="0">
                <a:solidFill>
                  <a:srgbClr val="222A33"/>
                </a:solidFill>
                <a:latin typeface="Calibri"/>
              </a:rPr>
              <a:t>Applied to 2008: had PCCW validated Pakistan Telecom's announcement of 208.65.153.0/24 against a ROA showing AS36561 as the only authorised origin, the announcement would have come back Invalid and simply been dropped, never reaching the rest of the Internet.</a:t>
            </a:r>
          </a:p>
          <a:p>
            <a:pPr marL="201168" indent="-201168">
              <a:spcAft>
                <a:spcPts val="1000"/>
              </a:spcAft>
              <a:buFont typeface="Arial"/>
              <a:buChar char="–"/>
            </a:pPr>
            <a:r>
              <a:rPr sz="1300" b="0" i="0">
                <a:solidFill>
                  <a:srgbClr val="222A33"/>
                </a:solidFill>
                <a:latin typeface="Calibri"/>
              </a:rPr>
              <a:t>Two honest limitations: RPKI only validates the origin AS, not the full AS-path, so it doesn't stop every possible manipulation. And it only works where operators have both registered ROAs and actually enabled validation, adoption remains uneven across the real Internet even today.</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Attack Summary: Vulnerability, Exploit, Impact, and Mitigation</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ATTACKS OVERVIEW</a:t>
            </a:r>
          </a:p>
        </p:txBody>
      </p:sp>
      <p:graphicFrame>
        <p:nvGraphicFramePr>
          <p:cNvPr id="4" name="Table 3"/>
          <p:cNvGraphicFramePr>
            <a:graphicFrameLocks noGrp="1"/>
          </p:cNvGraphicFramePr>
          <p:nvPr/>
        </p:nvGraphicFramePr>
        <p:xfrm>
          <a:off x="228600" y="1788625"/>
          <a:ext cx="11704320" cy="4343400"/>
        </p:xfrm>
        <a:graphic>
          <a:graphicData uri="http://schemas.openxmlformats.org/drawingml/2006/table">
            <a:tbl>
              <a:tblPr firstRow="1" bandRow="1">
                <a:tableStyleId>{5C22544A-7EE6-4342-B048-85BDC9FD1C3A}</a:tableStyleId>
              </a:tblPr>
              <a:tblGrid>
                <a:gridCol w="1691640">
                  <a:extLst>
                    <a:ext uri="{9D8B030D-6E8A-4147-A177-3AD203B41FA5}">
                      <a16:colId xmlns:a16="http://schemas.microsoft.com/office/drawing/2014/main" val="20000"/>
                    </a:ext>
                  </a:extLst>
                </a:gridCol>
                <a:gridCol w="2331720">
                  <a:extLst>
                    <a:ext uri="{9D8B030D-6E8A-4147-A177-3AD203B41FA5}">
                      <a16:colId xmlns:a16="http://schemas.microsoft.com/office/drawing/2014/main" val="20001"/>
                    </a:ext>
                  </a:extLst>
                </a:gridCol>
                <a:gridCol w="2423160">
                  <a:extLst>
                    <a:ext uri="{9D8B030D-6E8A-4147-A177-3AD203B41FA5}">
                      <a16:colId xmlns:a16="http://schemas.microsoft.com/office/drawing/2014/main" val="20002"/>
                    </a:ext>
                  </a:extLst>
                </a:gridCol>
                <a:gridCol w="2606040">
                  <a:extLst>
                    <a:ext uri="{9D8B030D-6E8A-4147-A177-3AD203B41FA5}">
                      <a16:colId xmlns:a16="http://schemas.microsoft.com/office/drawing/2014/main" val="20003"/>
                    </a:ext>
                  </a:extLst>
                </a:gridCol>
                <a:gridCol w="2651760">
                  <a:extLst>
                    <a:ext uri="{9D8B030D-6E8A-4147-A177-3AD203B41FA5}">
                      <a16:colId xmlns:a16="http://schemas.microsoft.com/office/drawing/2014/main" val="20004"/>
                    </a:ext>
                  </a:extLst>
                </a:gridCol>
              </a:tblGrid>
              <a:tr h="723900">
                <a:tc>
                  <a:txBody>
                    <a:bodyPr/>
                    <a:lstStyle/>
                    <a:p>
                      <a:r>
                        <a:rPr sz="1400" b="1" i="0">
                          <a:solidFill>
                            <a:srgbClr val="FFFFFF"/>
                          </a:solidFill>
                          <a:latin typeface="Calibri"/>
                        </a:rPr>
                        <a:t>Attack</a:t>
                      </a:r>
                    </a:p>
                  </a:txBody>
                  <a:tcPr marL="73152" marR="73152" marT="27432" marB="27432" anchor="ctr">
                    <a:solidFill>
                      <a:srgbClr val="003054"/>
                    </a:solidFill>
                  </a:tcPr>
                </a:tc>
                <a:tc>
                  <a:txBody>
                    <a:bodyPr/>
                    <a:lstStyle/>
                    <a:p>
                      <a:r>
                        <a:rPr sz="1400" b="1" i="0">
                          <a:solidFill>
                            <a:srgbClr val="FFFFFF"/>
                          </a:solidFill>
                          <a:latin typeface="Calibri"/>
                        </a:rPr>
                        <a:t>Vulnerability</a:t>
                      </a:r>
                    </a:p>
                  </a:txBody>
                  <a:tcPr marL="73152" marR="73152" marT="27432" marB="27432" anchor="ctr">
                    <a:solidFill>
                      <a:srgbClr val="003054"/>
                    </a:solidFill>
                  </a:tcPr>
                </a:tc>
                <a:tc>
                  <a:txBody>
                    <a:bodyPr/>
                    <a:lstStyle/>
                    <a:p>
                      <a:r>
                        <a:rPr sz="1400" b="1" i="0">
                          <a:solidFill>
                            <a:srgbClr val="FFFFFF"/>
                          </a:solidFill>
                          <a:latin typeface="Calibri"/>
                        </a:rPr>
                        <a:t>Exploit</a:t>
                      </a:r>
                    </a:p>
                  </a:txBody>
                  <a:tcPr marL="73152" marR="73152" marT="27432" marB="27432" anchor="ctr">
                    <a:solidFill>
                      <a:srgbClr val="003054"/>
                    </a:solidFill>
                  </a:tcPr>
                </a:tc>
                <a:tc>
                  <a:txBody>
                    <a:bodyPr/>
                    <a:lstStyle/>
                    <a:p>
                      <a:r>
                        <a:rPr sz="1400" b="1" i="0">
                          <a:solidFill>
                            <a:srgbClr val="FFFFFF"/>
                          </a:solidFill>
                          <a:latin typeface="Calibri"/>
                        </a:rPr>
                        <a:t>Impact(s)</a:t>
                      </a:r>
                    </a:p>
                  </a:txBody>
                  <a:tcPr marL="73152" marR="73152" marT="27432" marB="27432" anchor="ctr">
                    <a:solidFill>
                      <a:srgbClr val="003054"/>
                    </a:solidFill>
                  </a:tcPr>
                </a:tc>
                <a:tc>
                  <a:txBody>
                    <a:bodyPr/>
                    <a:lstStyle/>
                    <a:p>
                      <a:r>
                        <a:rPr sz="1400" b="1" i="0">
                          <a:solidFill>
                            <a:srgbClr val="FFFFFF"/>
                          </a:solidFill>
                          <a:latin typeface="Calibri"/>
                        </a:rPr>
                        <a:t>Mitigations</a:t>
                      </a:r>
                    </a:p>
                  </a:txBody>
                  <a:tcPr marL="73152" marR="73152" marT="27432" marB="27432" anchor="ctr">
                    <a:solidFill>
                      <a:srgbClr val="003054"/>
                    </a:solidFill>
                  </a:tcPr>
                </a:tc>
                <a:extLst>
                  <a:ext uri="{0D108BD9-81ED-4DB2-BD59-A6C34878D82A}">
                    <a16:rowId xmlns:a16="http://schemas.microsoft.com/office/drawing/2014/main" val="10000"/>
                  </a:ext>
                </a:extLst>
              </a:tr>
              <a:tr h="723900">
                <a:tc>
                  <a:txBody>
                    <a:bodyPr/>
                    <a:lstStyle/>
                    <a:p>
                      <a:r>
                        <a:rPr sz="1400" b="0" i="0">
                          <a:solidFill>
                            <a:srgbClr val="222A33"/>
                          </a:solidFill>
                          <a:latin typeface="Calibri"/>
                        </a:rPr>
                        <a:t>Routing Table
Poisoning</a:t>
                      </a:r>
                    </a:p>
                  </a:txBody>
                  <a:tcPr marL="73152" marR="73152" marT="27432" marB="27432" anchor="ctr">
                    <a:solidFill>
                      <a:srgbClr val="FFFFFF"/>
                    </a:solidFill>
                  </a:tcPr>
                </a:tc>
                <a:tc>
                  <a:txBody>
                    <a:bodyPr/>
                    <a:lstStyle/>
                    <a:p>
                      <a:r>
                        <a:rPr sz="1400" b="0" i="0">
                          <a:solidFill>
                            <a:srgbClr val="222A33"/>
                          </a:solidFill>
                          <a:latin typeface="Calibri"/>
                        </a:rPr>
                        <a:t>No verification
of neighbor route
claims</a:t>
                      </a:r>
                    </a:p>
                  </a:txBody>
                  <a:tcPr marL="73152" marR="73152" marT="27432" marB="27432" anchor="ctr">
                    <a:solidFill>
                      <a:srgbClr val="FFFFFF"/>
                    </a:solidFill>
                  </a:tcPr>
                </a:tc>
                <a:tc>
                  <a:txBody>
                    <a:bodyPr/>
                    <a:lstStyle/>
                    <a:p>
                      <a:r>
                        <a:rPr sz="1400" b="0" i="0">
                          <a:solidFill>
                            <a:srgbClr val="222A33"/>
                          </a:solidFill>
                          <a:latin typeface="Calibri"/>
                        </a:rPr>
                        <a:t>False advertisement
with an attractive
(low) metric</a:t>
                      </a:r>
                    </a:p>
                  </a:txBody>
                  <a:tcPr marL="73152" marR="73152" marT="27432" marB="27432" anchor="ctr">
                    <a:solidFill>
                      <a:srgbClr val="FFFFFF"/>
                    </a:solidFill>
                  </a:tcPr>
                </a:tc>
                <a:tc>
                  <a:txBody>
                    <a:bodyPr/>
                    <a:lstStyle/>
                    <a:p>
                      <a:r>
                        <a:rPr sz="1400" b="0" i="0">
                          <a:solidFill>
                            <a:srgbClr val="222A33"/>
                          </a:solidFill>
                          <a:latin typeface="Calibri"/>
                        </a:rPr>
                        <a:t>Misrouted traffic;
denial of service;
interception</a:t>
                      </a:r>
                    </a:p>
                  </a:txBody>
                  <a:tcPr marL="73152" marR="73152" marT="27432" marB="27432" anchor="ctr">
                    <a:solidFill>
                      <a:srgbClr val="FFFFFF"/>
                    </a:solidFill>
                  </a:tcPr>
                </a:tc>
                <a:tc>
                  <a:txBody>
                    <a:bodyPr/>
                    <a:lstStyle/>
                    <a:p>
                      <a:r>
                        <a:rPr sz="1400" b="0" i="0">
                          <a:solidFill>
                            <a:srgbClr val="222A33"/>
                          </a:solidFill>
                          <a:latin typeface="Calibri"/>
                        </a:rPr>
                        <a:t>MD5 authentication;
route filtering;
passive-interface</a:t>
                      </a:r>
                    </a:p>
                  </a:txBody>
                  <a:tcPr marL="73152" marR="73152" marT="27432" marB="27432" anchor="ctr">
                    <a:solidFill>
                      <a:srgbClr val="FFFFFF"/>
                    </a:solidFill>
                  </a:tcPr>
                </a:tc>
                <a:extLst>
                  <a:ext uri="{0D108BD9-81ED-4DB2-BD59-A6C34878D82A}">
                    <a16:rowId xmlns:a16="http://schemas.microsoft.com/office/drawing/2014/main" val="10001"/>
                  </a:ext>
                </a:extLst>
              </a:tr>
              <a:tr h="723900">
                <a:tc>
                  <a:txBody>
                    <a:bodyPr/>
                    <a:lstStyle/>
                    <a:p>
                      <a:r>
                        <a:rPr sz="1400" b="0" i="0">
                          <a:solidFill>
                            <a:srgbClr val="222A33"/>
                          </a:solidFill>
                          <a:latin typeface="Calibri"/>
                        </a:rPr>
                        <a:t>Unauthorised
Route Injection</a:t>
                      </a:r>
                    </a:p>
                  </a:txBody>
                  <a:tcPr marL="73152" marR="73152" marT="27432" marB="27432" anchor="ctr">
                    <a:solidFill>
                      <a:srgbClr val="F2F4F7"/>
                    </a:solidFill>
                  </a:tcPr>
                </a:tc>
                <a:tc>
                  <a:txBody>
                    <a:bodyPr/>
                    <a:lstStyle/>
                    <a:p>
                      <a:r>
                        <a:rPr sz="1400" b="0" i="0">
                          <a:solidFill>
                            <a:srgbClr val="222A33"/>
                          </a:solidFill>
                          <a:latin typeface="Calibri"/>
                        </a:rPr>
                        <a:t>No authentication
required to form
a neighbor adjacency</a:t>
                      </a:r>
                    </a:p>
                  </a:txBody>
                  <a:tcPr marL="73152" marR="73152" marT="27432" marB="27432" anchor="ctr">
                    <a:solidFill>
                      <a:srgbClr val="F2F4F7"/>
                    </a:solidFill>
                  </a:tcPr>
                </a:tc>
                <a:tc>
                  <a:txBody>
                    <a:bodyPr/>
                    <a:lstStyle/>
                    <a:p>
                      <a:r>
                        <a:rPr sz="1400" b="0" i="0">
                          <a:solidFill>
                            <a:srgbClr val="222A33"/>
                          </a:solidFill>
                          <a:latin typeface="Calibri"/>
                        </a:rPr>
                        <a:t>Rogue device joins
as a full,
trusted neighbor</a:t>
                      </a:r>
                    </a:p>
                  </a:txBody>
                  <a:tcPr marL="73152" marR="73152" marT="27432" marB="27432" anchor="ctr">
                    <a:solidFill>
                      <a:srgbClr val="F2F4F7"/>
                    </a:solidFill>
                  </a:tcPr>
                </a:tc>
                <a:tc>
                  <a:txBody>
                    <a:bodyPr/>
                    <a:lstStyle/>
                    <a:p>
                      <a:r>
                        <a:rPr sz="1400" b="0" i="0">
                          <a:solidFill>
                            <a:srgbClr val="222A33"/>
                          </a:solidFill>
                          <a:latin typeface="Calibri"/>
                        </a:rPr>
                        <a:t>Persistent foothold;
topology visibility;
ongoing false routes</a:t>
                      </a:r>
                    </a:p>
                  </a:txBody>
                  <a:tcPr marL="73152" marR="73152" marT="27432" marB="27432" anchor="ctr">
                    <a:solidFill>
                      <a:srgbClr val="F2F4F7"/>
                    </a:solidFill>
                  </a:tcPr>
                </a:tc>
                <a:tc>
                  <a:txBody>
                    <a:bodyPr/>
                    <a:lstStyle/>
                    <a:p>
                      <a:r>
                        <a:rPr sz="1400" b="0" i="0">
                          <a:solidFill>
                            <a:srgbClr val="222A33"/>
                          </a:solidFill>
                          <a:latin typeface="Calibri"/>
                        </a:rPr>
                        <a:t>MD5 authentication;
passive-interface;
physical port security</a:t>
                      </a:r>
                    </a:p>
                  </a:txBody>
                  <a:tcPr marL="73152" marR="73152" marT="27432" marB="27432" anchor="ctr">
                    <a:solidFill>
                      <a:srgbClr val="F2F4F7"/>
                    </a:solidFill>
                  </a:tcPr>
                </a:tc>
                <a:extLst>
                  <a:ext uri="{0D108BD9-81ED-4DB2-BD59-A6C34878D82A}">
                    <a16:rowId xmlns:a16="http://schemas.microsoft.com/office/drawing/2014/main" val="10002"/>
                  </a:ext>
                </a:extLst>
              </a:tr>
              <a:tr h="723900">
                <a:tc>
                  <a:txBody>
                    <a:bodyPr/>
                    <a:lstStyle/>
                    <a:p>
                      <a:r>
                        <a:rPr sz="1400" b="0" i="0">
                          <a:solidFill>
                            <a:srgbClr val="222A33"/>
                          </a:solidFill>
                          <a:latin typeface="Calibri"/>
                        </a:rPr>
                        <a:t>Route/Prefix
Hijacking</a:t>
                      </a:r>
                    </a:p>
                  </a:txBody>
                  <a:tcPr marL="73152" marR="73152" marT="27432" marB="27432" anchor="ctr">
                    <a:solidFill>
                      <a:srgbClr val="FFFFFF"/>
                    </a:solidFill>
                  </a:tcPr>
                </a:tc>
                <a:tc>
                  <a:txBody>
                    <a:bodyPr/>
                    <a:lstStyle/>
                    <a:p>
                      <a:r>
                        <a:rPr sz="1400" b="0" i="0">
                          <a:solidFill>
                            <a:srgbClr val="222A33"/>
                          </a:solidFill>
                          <a:latin typeface="Calibri"/>
                        </a:rPr>
                        <a:t>No verification of
prefix ownership
(BGP-specific)</a:t>
                      </a:r>
                    </a:p>
                  </a:txBody>
                  <a:tcPr marL="73152" marR="73152" marT="27432" marB="27432" anchor="ctr">
                    <a:solidFill>
                      <a:srgbClr val="FFFFFF"/>
                    </a:solidFill>
                  </a:tcPr>
                </a:tc>
                <a:tc>
                  <a:txBody>
                    <a:bodyPr/>
                    <a:lstStyle/>
                    <a:p>
                      <a:r>
                        <a:rPr sz="1400" b="0" i="0">
                          <a:solidFill>
                            <a:srgbClr val="222A33"/>
                          </a:solidFill>
                          <a:latin typeface="Calibri"/>
                        </a:rPr>
                        <a:t>Advertise an
unowned, often more
specific, prefix</a:t>
                      </a:r>
                    </a:p>
                  </a:txBody>
                  <a:tcPr marL="73152" marR="73152" marT="27432" marB="27432" anchor="ctr">
                    <a:solidFill>
                      <a:srgbClr val="FFFFFF"/>
                    </a:solidFill>
                  </a:tcPr>
                </a:tc>
                <a:tc>
                  <a:txBody>
                    <a:bodyPr/>
                    <a:lstStyle/>
                    <a:p>
                      <a:r>
                        <a:rPr sz="1400" b="0" i="0">
                          <a:solidFill>
                            <a:srgbClr val="222A33"/>
                          </a:solidFill>
                          <a:latin typeface="Calibri"/>
                        </a:rPr>
                        <a:t>Global traffic
redirection; denial
of service; interception</a:t>
                      </a:r>
                    </a:p>
                  </a:txBody>
                  <a:tcPr marL="73152" marR="73152" marT="27432" marB="27432" anchor="ctr">
                    <a:solidFill>
                      <a:srgbClr val="FFFFFF"/>
                    </a:solidFill>
                  </a:tcPr>
                </a:tc>
                <a:tc>
                  <a:txBody>
                    <a:bodyPr/>
                    <a:lstStyle/>
                    <a:p>
                      <a:r>
                        <a:rPr sz="1400" b="0" i="0">
                          <a:solidFill>
                            <a:srgbClr val="222A33"/>
                          </a:solidFill>
                          <a:latin typeface="Calibri"/>
                        </a:rPr>
                        <a:t>RPKI; provider-level
route filtering</a:t>
                      </a:r>
                    </a:p>
                  </a:txBody>
                  <a:tcPr marL="73152" marR="73152" marT="27432" marB="27432" anchor="ctr">
                    <a:solidFill>
                      <a:srgbClr val="FFFFFF"/>
                    </a:solidFill>
                  </a:tcPr>
                </a:tc>
                <a:extLst>
                  <a:ext uri="{0D108BD9-81ED-4DB2-BD59-A6C34878D82A}">
                    <a16:rowId xmlns:a16="http://schemas.microsoft.com/office/drawing/2014/main" val="10003"/>
                  </a:ext>
                </a:extLst>
              </a:tr>
              <a:tr h="723900">
                <a:tc>
                  <a:txBody>
                    <a:bodyPr/>
                    <a:lstStyle/>
                    <a:p>
                      <a:r>
                        <a:rPr sz="1400" b="0" i="0">
                          <a:solidFill>
                            <a:srgbClr val="222A33"/>
                          </a:solidFill>
                          <a:latin typeface="Calibri"/>
                        </a:rPr>
                        <a:t>Blackhole /
Sinkhole</a:t>
                      </a:r>
                    </a:p>
                  </a:txBody>
                  <a:tcPr marL="73152" marR="73152" marT="27432" marB="27432" anchor="ctr">
                    <a:solidFill>
                      <a:srgbClr val="F2F4F7"/>
                    </a:solidFill>
                  </a:tcPr>
                </a:tc>
                <a:tc>
                  <a:txBody>
                    <a:bodyPr/>
                    <a:lstStyle/>
                    <a:p>
                      <a:r>
                        <a:rPr sz="1400" b="0" i="0">
                          <a:solidFill>
                            <a:srgbClr val="222A33"/>
                          </a:solidFill>
                          <a:latin typeface="Calibri"/>
                        </a:rPr>
                        <a:t>Same lack of route
verification as
poisoning/injection</a:t>
                      </a:r>
                    </a:p>
                  </a:txBody>
                  <a:tcPr marL="73152" marR="73152" marT="27432" marB="27432" anchor="ctr">
                    <a:solidFill>
                      <a:srgbClr val="F2F4F7"/>
                    </a:solidFill>
                  </a:tcPr>
                </a:tc>
                <a:tc>
                  <a:txBody>
                    <a:bodyPr/>
                    <a:lstStyle/>
                    <a:p>
                      <a:r>
                        <a:rPr sz="1400" b="0" i="0">
                          <a:solidFill>
                            <a:srgbClr val="222A33"/>
                          </a:solidFill>
                          <a:latin typeface="Calibri"/>
                        </a:rPr>
                        <a:t>Redirect traffic via
manipulated routing
information</a:t>
                      </a:r>
                    </a:p>
                  </a:txBody>
                  <a:tcPr marL="73152" marR="73152" marT="27432" marB="27432" anchor="ctr">
                    <a:solidFill>
                      <a:srgbClr val="F2F4F7"/>
                    </a:solidFill>
                  </a:tcPr>
                </a:tc>
                <a:tc>
                  <a:txBody>
                    <a:bodyPr/>
                    <a:lstStyle/>
                    <a:p>
                      <a:r>
                        <a:rPr sz="1400" b="0" i="0">
                          <a:solidFill>
                            <a:srgbClr val="222A33"/>
                          </a:solidFill>
                          <a:latin typeface="Calibri"/>
                        </a:rPr>
                        <a:t>Denial of service
(blackhole); interception
and tampering (sinkhole)</a:t>
                      </a:r>
                    </a:p>
                  </a:txBody>
                  <a:tcPr marL="73152" marR="73152" marT="27432" marB="27432" anchor="ctr">
                    <a:solidFill>
                      <a:srgbClr val="F2F4F7"/>
                    </a:solidFill>
                  </a:tcPr>
                </a:tc>
                <a:tc>
                  <a:txBody>
                    <a:bodyPr/>
                    <a:lstStyle/>
                    <a:p>
                      <a:r>
                        <a:rPr sz="1400" b="0" i="0">
                          <a:solidFill>
                            <a:srgbClr val="222A33"/>
                          </a:solidFill>
                          <a:latin typeface="Calibri"/>
                        </a:rPr>
                        <a:t>MD5 authentication;
filtering; passive-interface;
traffic monitoring</a:t>
                      </a:r>
                    </a:p>
                  </a:txBody>
                  <a:tcPr marL="73152" marR="73152" marT="27432" marB="27432" anchor="ctr">
                    <a:solidFill>
                      <a:srgbClr val="F2F4F7"/>
                    </a:solidFill>
                  </a:tcPr>
                </a:tc>
                <a:extLst>
                  <a:ext uri="{0D108BD9-81ED-4DB2-BD59-A6C34878D82A}">
                    <a16:rowId xmlns:a16="http://schemas.microsoft.com/office/drawing/2014/main" val="10004"/>
                  </a:ext>
                </a:extLst>
              </a:tr>
              <a:tr h="723900">
                <a:tc>
                  <a:txBody>
                    <a:bodyPr/>
                    <a:lstStyle/>
                    <a:p>
                      <a:r>
                        <a:rPr sz="1400" b="0" i="0">
                          <a:solidFill>
                            <a:srgbClr val="222A33"/>
                          </a:solidFill>
                          <a:latin typeface="Calibri"/>
                        </a:rPr>
                        <a:t>Routing DoS /
Instability</a:t>
                      </a:r>
                    </a:p>
                  </a:txBody>
                  <a:tcPr marL="73152" marR="73152" marT="27432" marB="27432" anchor="ctr">
                    <a:solidFill>
                      <a:srgbClr val="FFFFFF"/>
                    </a:solidFill>
                  </a:tcPr>
                </a:tc>
                <a:tc>
                  <a:txBody>
                    <a:bodyPr/>
                    <a:lstStyle/>
                    <a:p>
                      <a:r>
                        <a:rPr sz="1400" b="0" i="0">
                          <a:solidFill>
                            <a:srgbClr val="222A33"/>
                          </a:solidFill>
                          <a:latin typeface="Calibri"/>
                        </a:rPr>
                        <a:t>No authentication;
must process every
received update</a:t>
                      </a:r>
                    </a:p>
                  </a:txBody>
                  <a:tcPr marL="73152" marR="73152" marT="27432" marB="27432" anchor="ctr">
                    <a:solidFill>
                      <a:srgbClr val="FFFFFF"/>
                    </a:solidFill>
                  </a:tcPr>
                </a:tc>
                <a:tc>
                  <a:txBody>
                    <a:bodyPr/>
                    <a:lstStyle/>
                    <a:p>
                      <a:r>
                        <a:rPr sz="1400" b="0" i="0">
                          <a:solidFill>
                            <a:srgbClr val="222A33"/>
                          </a:solidFill>
                          <a:latin typeface="Calibri"/>
                        </a:rPr>
                        <a:t>Flood routing updates,
or repeatedly advertise
and withdraw routes</a:t>
                      </a:r>
                    </a:p>
                  </a:txBody>
                  <a:tcPr marL="73152" marR="73152" marT="27432" marB="27432" anchor="ctr">
                    <a:solidFill>
                      <a:srgbClr val="FFFFFF"/>
                    </a:solidFill>
                  </a:tcPr>
                </a:tc>
                <a:tc>
                  <a:txBody>
                    <a:bodyPr/>
                    <a:lstStyle/>
                    <a:p>
                      <a:r>
                        <a:rPr sz="1400" b="0" i="0">
                          <a:solidFill>
                            <a:srgbClr val="222A33"/>
                          </a:solidFill>
                          <a:latin typeface="Calibri"/>
                        </a:rPr>
                        <a:t>Router CPU exhaustion;
network-wide DoS;
unstable forwarding</a:t>
                      </a:r>
                    </a:p>
                  </a:txBody>
                  <a:tcPr marL="73152" marR="73152" marT="27432" marB="27432" anchor="ctr">
                    <a:solidFill>
                      <a:srgbClr val="FFFFFF"/>
                    </a:solidFill>
                  </a:tcPr>
                </a:tc>
                <a:tc>
                  <a:txBody>
                    <a:bodyPr/>
                    <a:lstStyle/>
                    <a:p>
                      <a:r>
                        <a:rPr sz="1400" b="0" i="0" dirty="0">
                          <a:solidFill>
                            <a:srgbClr val="222A33"/>
                          </a:solidFill>
                          <a:latin typeface="Calibri"/>
                        </a:rPr>
                        <a:t>MD5 authentication;
route dampening;
rate-limiting</a:t>
                      </a:r>
                    </a:p>
                  </a:txBody>
                  <a:tcPr marL="73152" marR="73152" marT="27432" marB="27432" anchor="ct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600" b="1" i="0">
                <a:solidFill>
                  <a:srgbClr val="FFFFFF"/>
                </a:solidFill>
                <a:latin typeface="Cambria"/>
              </a:rPr>
              <a:t>Full Mitigation Comparison</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DEFENSES</a:t>
            </a:r>
          </a:p>
        </p:txBody>
      </p:sp>
      <p:graphicFrame>
        <p:nvGraphicFramePr>
          <p:cNvPr id="4" name="Table 3"/>
          <p:cNvGraphicFramePr>
            <a:graphicFrameLocks noGrp="1"/>
          </p:cNvGraphicFramePr>
          <p:nvPr/>
        </p:nvGraphicFramePr>
        <p:xfrm>
          <a:off x="365760" y="1737360"/>
          <a:ext cx="11247120" cy="4023360"/>
        </p:xfrm>
        <a:graphic>
          <a:graphicData uri="http://schemas.openxmlformats.org/drawingml/2006/table">
            <a:tbl>
              <a:tblPr firstRow="1" bandRow="1">
                <a:tableStyleId>{5C22544A-7EE6-4342-B048-85BDC9FD1C3A}</a:tableStyleId>
              </a:tblPr>
              <a:tblGrid>
                <a:gridCol w="4206240">
                  <a:extLst>
                    <a:ext uri="{9D8B030D-6E8A-4147-A177-3AD203B41FA5}">
                      <a16:colId xmlns:a16="http://schemas.microsoft.com/office/drawing/2014/main" val="20000"/>
                    </a:ext>
                  </a:extLst>
                </a:gridCol>
                <a:gridCol w="7040880">
                  <a:extLst>
                    <a:ext uri="{9D8B030D-6E8A-4147-A177-3AD203B41FA5}">
                      <a16:colId xmlns:a16="http://schemas.microsoft.com/office/drawing/2014/main" val="20001"/>
                    </a:ext>
                  </a:extLst>
                </a:gridCol>
              </a:tblGrid>
              <a:tr h="670560">
                <a:tc>
                  <a:txBody>
                    <a:bodyPr/>
                    <a:lstStyle/>
                    <a:p>
                      <a:r>
                        <a:rPr sz="1300" b="1" i="0">
                          <a:solidFill>
                            <a:srgbClr val="FFFFFF"/>
                          </a:solidFill>
                          <a:latin typeface="Calibri"/>
                        </a:rPr>
                        <a:t>Attack</a:t>
                      </a:r>
                    </a:p>
                  </a:txBody>
                  <a:tcPr marL="73152" marR="73152" marT="27432" marB="27432" anchor="ctr">
                    <a:solidFill>
                      <a:srgbClr val="003054"/>
                    </a:solidFill>
                  </a:tcPr>
                </a:tc>
                <a:tc>
                  <a:txBody>
                    <a:bodyPr/>
                    <a:lstStyle/>
                    <a:p>
                      <a:r>
                        <a:rPr sz="1300" b="1" i="0">
                          <a:solidFill>
                            <a:srgbClr val="FFFFFF"/>
                          </a:solidFill>
                          <a:latin typeface="Calibri"/>
                        </a:rPr>
                        <a:t>Primary mitigation</a:t>
                      </a:r>
                    </a:p>
                  </a:txBody>
                  <a:tcPr marL="73152" marR="73152" marT="27432" marB="27432" anchor="ctr">
                    <a:solidFill>
                      <a:srgbClr val="003054"/>
                    </a:solidFill>
                  </a:tcPr>
                </a:tc>
                <a:extLst>
                  <a:ext uri="{0D108BD9-81ED-4DB2-BD59-A6C34878D82A}">
                    <a16:rowId xmlns:a16="http://schemas.microsoft.com/office/drawing/2014/main" val="10000"/>
                  </a:ext>
                </a:extLst>
              </a:tr>
              <a:tr h="670560">
                <a:tc>
                  <a:txBody>
                    <a:bodyPr/>
                    <a:lstStyle/>
                    <a:p>
                      <a:r>
                        <a:rPr sz="1300" b="0" i="0">
                          <a:solidFill>
                            <a:srgbClr val="222A33"/>
                          </a:solidFill>
                          <a:latin typeface="Calibri"/>
                        </a:rPr>
                        <a:t>Routing Table Poisoning</a:t>
                      </a:r>
                    </a:p>
                  </a:txBody>
                  <a:tcPr marL="73152" marR="73152" marT="27432" marB="27432" anchor="ctr">
                    <a:solidFill>
                      <a:srgbClr val="FFFFFF"/>
                    </a:solidFill>
                  </a:tcPr>
                </a:tc>
                <a:tc>
                  <a:txBody>
                    <a:bodyPr/>
                    <a:lstStyle/>
                    <a:p>
                      <a:r>
                        <a:rPr sz="1300" b="0" i="0">
                          <a:solidFill>
                            <a:srgbClr val="222A33"/>
                          </a:solidFill>
                          <a:latin typeface="Calibri"/>
                        </a:rPr>
                        <a:t>Neighbor authentication (MD5), route filtering</a:t>
                      </a:r>
                    </a:p>
                  </a:txBody>
                  <a:tcPr marL="73152" marR="73152" marT="27432" marB="27432" anchor="ctr">
                    <a:solidFill>
                      <a:srgbClr val="FFFFFF"/>
                    </a:solidFill>
                  </a:tcPr>
                </a:tc>
                <a:extLst>
                  <a:ext uri="{0D108BD9-81ED-4DB2-BD59-A6C34878D82A}">
                    <a16:rowId xmlns:a16="http://schemas.microsoft.com/office/drawing/2014/main" val="10001"/>
                  </a:ext>
                </a:extLst>
              </a:tr>
              <a:tr h="670560">
                <a:tc>
                  <a:txBody>
                    <a:bodyPr/>
                    <a:lstStyle/>
                    <a:p>
                      <a:r>
                        <a:rPr sz="1300" b="0" i="0">
                          <a:solidFill>
                            <a:srgbClr val="222A33"/>
                          </a:solidFill>
                          <a:latin typeface="Calibri"/>
                        </a:rPr>
                        <a:t>Unauthorised Route Injection</a:t>
                      </a:r>
                    </a:p>
                  </a:txBody>
                  <a:tcPr marL="73152" marR="73152" marT="27432" marB="27432" anchor="ctr">
                    <a:solidFill>
                      <a:srgbClr val="F2F4F7"/>
                    </a:solidFill>
                  </a:tcPr>
                </a:tc>
                <a:tc>
                  <a:txBody>
                    <a:bodyPr/>
                    <a:lstStyle/>
                    <a:p>
                      <a:r>
                        <a:rPr sz="1300" b="0" i="0">
                          <a:solidFill>
                            <a:srgbClr val="222A33"/>
                          </a:solidFill>
                          <a:latin typeface="Calibri"/>
                        </a:rPr>
                        <a:t>Neighbor authentication (MD5), passive-interface</a:t>
                      </a:r>
                    </a:p>
                  </a:txBody>
                  <a:tcPr marL="73152" marR="73152" marT="27432" marB="27432" anchor="ctr">
                    <a:solidFill>
                      <a:srgbClr val="F2F4F7"/>
                    </a:solidFill>
                  </a:tcPr>
                </a:tc>
                <a:extLst>
                  <a:ext uri="{0D108BD9-81ED-4DB2-BD59-A6C34878D82A}">
                    <a16:rowId xmlns:a16="http://schemas.microsoft.com/office/drawing/2014/main" val="10002"/>
                  </a:ext>
                </a:extLst>
              </a:tr>
              <a:tr h="670560">
                <a:tc>
                  <a:txBody>
                    <a:bodyPr/>
                    <a:lstStyle/>
                    <a:p>
                      <a:r>
                        <a:rPr sz="1300" b="0" i="0">
                          <a:solidFill>
                            <a:srgbClr val="222A33"/>
                          </a:solidFill>
                          <a:latin typeface="Calibri"/>
                        </a:rPr>
                        <a:t>Route/Prefix Hijacking</a:t>
                      </a:r>
                    </a:p>
                  </a:txBody>
                  <a:tcPr marL="73152" marR="73152" marT="27432" marB="27432" anchor="ctr">
                    <a:solidFill>
                      <a:srgbClr val="FFFFFF"/>
                    </a:solidFill>
                  </a:tcPr>
                </a:tc>
                <a:tc>
                  <a:txBody>
                    <a:bodyPr/>
                    <a:lstStyle/>
                    <a:p>
                      <a:r>
                        <a:rPr sz="1300" b="0" i="0">
                          <a:solidFill>
                            <a:srgbClr val="222A33"/>
                          </a:solidFill>
                          <a:latin typeface="Calibri"/>
                        </a:rPr>
                        <a:t>RPKI, provider-level route filtering (theory only)</a:t>
                      </a:r>
                    </a:p>
                  </a:txBody>
                  <a:tcPr marL="73152" marR="73152" marT="27432" marB="27432" anchor="ctr">
                    <a:solidFill>
                      <a:srgbClr val="FFFFFF"/>
                    </a:solidFill>
                  </a:tcPr>
                </a:tc>
                <a:extLst>
                  <a:ext uri="{0D108BD9-81ED-4DB2-BD59-A6C34878D82A}">
                    <a16:rowId xmlns:a16="http://schemas.microsoft.com/office/drawing/2014/main" val="10003"/>
                  </a:ext>
                </a:extLst>
              </a:tr>
              <a:tr h="670560">
                <a:tc>
                  <a:txBody>
                    <a:bodyPr/>
                    <a:lstStyle/>
                    <a:p>
                      <a:r>
                        <a:rPr sz="1300" b="0" i="0">
                          <a:solidFill>
                            <a:srgbClr val="222A33"/>
                          </a:solidFill>
                          <a:latin typeface="Calibri"/>
                        </a:rPr>
                        <a:t>Blackhole / Sinkhole Attack</a:t>
                      </a:r>
                    </a:p>
                  </a:txBody>
                  <a:tcPr marL="73152" marR="73152" marT="27432" marB="27432" anchor="ctr">
                    <a:solidFill>
                      <a:srgbClr val="F2F4F7"/>
                    </a:solidFill>
                  </a:tcPr>
                </a:tc>
                <a:tc>
                  <a:txBody>
                    <a:bodyPr/>
                    <a:lstStyle/>
                    <a:p>
                      <a:r>
                        <a:rPr sz="1300" b="0" i="0">
                          <a:solidFill>
                            <a:srgbClr val="222A33"/>
                          </a:solidFill>
                          <a:latin typeface="Calibri"/>
                        </a:rPr>
                        <a:t>Same as injection/poisoning, plus traffic monitoring</a:t>
                      </a:r>
                    </a:p>
                  </a:txBody>
                  <a:tcPr marL="73152" marR="73152" marT="27432" marB="27432" anchor="ctr">
                    <a:solidFill>
                      <a:srgbClr val="F2F4F7"/>
                    </a:solidFill>
                  </a:tcPr>
                </a:tc>
                <a:extLst>
                  <a:ext uri="{0D108BD9-81ED-4DB2-BD59-A6C34878D82A}">
                    <a16:rowId xmlns:a16="http://schemas.microsoft.com/office/drawing/2014/main" val="10004"/>
                  </a:ext>
                </a:extLst>
              </a:tr>
              <a:tr h="670560">
                <a:tc>
                  <a:txBody>
                    <a:bodyPr/>
                    <a:lstStyle/>
                    <a:p>
                      <a:r>
                        <a:rPr sz="1300" b="0" i="0">
                          <a:solidFill>
                            <a:srgbClr val="222A33"/>
                          </a:solidFill>
                          <a:latin typeface="Calibri"/>
                        </a:rPr>
                        <a:t>Routing DoS / Instability Attack</a:t>
                      </a:r>
                    </a:p>
                  </a:txBody>
                  <a:tcPr marL="73152" marR="73152" marT="27432" marB="27432" anchor="ctr">
                    <a:solidFill>
                      <a:srgbClr val="FFFFFF"/>
                    </a:solidFill>
                  </a:tcPr>
                </a:tc>
                <a:tc>
                  <a:txBody>
                    <a:bodyPr/>
                    <a:lstStyle/>
                    <a:p>
                      <a:r>
                        <a:rPr sz="1300" b="0" i="0">
                          <a:solidFill>
                            <a:srgbClr val="222A33"/>
                          </a:solidFill>
                          <a:latin typeface="Calibri"/>
                        </a:rPr>
                        <a:t>Neighbor authentication (MD5), route dampening, rate-limiting</a:t>
                      </a:r>
                    </a:p>
                  </a:txBody>
                  <a:tcPr marL="73152" marR="73152" marT="27432" marB="27432" anchor="ct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600" b="1" i="0">
                <a:solidFill>
                  <a:srgbClr val="FFFFFF"/>
                </a:solidFill>
                <a:latin typeface="Cambria"/>
              </a:rPr>
              <a:t>Layered Defense for Routing</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DEFENSES</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200"/>
              </a:spcAft>
              <a:buFont typeface="Arial"/>
              <a:buChar char="–"/>
            </a:pPr>
            <a:r>
              <a:rPr sz="1700" b="0" i="0">
                <a:solidFill>
                  <a:srgbClr val="222A33"/>
                </a:solidFill>
                <a:latin typeface="Calibri"/>
              </a:rPr>
              <a:t>Notice how much weight neighbor authentication alone carries here: it's the single control that meaningfully addresses four of the five attacks covered today.</a:t>
            </a:r>
          </a:p>
          <a:p>
            <a:pPr marL="201168" indent="-201168">
              <a:spcAft>
                <a:spcPts val="1200"/>
              </a:spcAft>
              <a:buFont typeface="Arial"/>
              <a:buChar char="–"/>
            </a:pPr>
            <a:r>
              <a:rPr sz="1700" b="0" i="0">
                <a:solidFill>
                  <a:srgbClr val="222A33"/>
                </a:solidFill>
                <a:latin typeface="Calibri"/>
              </a:rPr>
              <a:t>But authentication alone doesn't stop everything: it proves who's talking, not that what they're saying is plausible. That's what filtering adds on top.</a:t>
            </a:r>
          </a:p>
          <a:p>
            <a:pPr marL="201168" indent="-201168">
              <a:spcAft>
                <a:spcPts val="1200"/>
              </a:spcAft>
              <a:buFont typeface="Arial"/>
              <a:buChar char="–"/>
            </a:pPr>
            <a:r>
              <a:rPr sz="1700" b="0" i="0">
                <a:solidFill>
                  <a:srgbClr val="222A33"/>
                </a:solidFill>
                <a:latin typeface="Calibri"/>
              </a:rPr>
              <a:t>Same layered-defense principle from every week so far: authentication, filtering, and passive-interface each close a different gap, and a real network needs more than one of them.</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b="1" i="0">
                <a:solidFill>
                  <a:srgbClr val="FFFFFF"/>
                </a:solidFill>
                <a:latin typeface="Cambria"/>
              </a:rPr>
              <a:t>Summary</a:t>
            </a:r>
          </a:p>
        </p:txBody>
      </p:sp>
      <p:sp>
        <p:nvSpPr>
          <p:cNvPr id="3" name="TextBox 2"/>
          <p:cNvSpPr txBox="1"/>
          <p:nvPr/>
        </p:nvSpPr>
        <p:spPr>
          <a:xfrm>
            <a:off x="731520" y="1828800"/>
            <a:ext cx="10698480" cy="4114800"/>
          </a:xfrm>
          <a:prstGeom prst="rect">
            <a:avLst/>
          </a:prstGeom>
          <a:noFill/>
        </p:spPr>
        <p:txBody>
          <a:bodyPr wrap="square">
            <a:spAutoFit/>
          </a:bodyPr>
          <a:lstStyle/>
          <a:p>
            <a:pPr marL="201168" indent="-201168">
              <a:spcAft>
                <a:spcPts val="1200"/>
              </a:spcAft>
              <a:buFont typeface="Arial"/>
              <a:buChar char="–"/>
            </a:pPr>
            <a:r>
              <a:rPr sz="1500" b="0" i="0">
                <a:solidFill>
                  <a:srgbClr val="222A33"/>
                </a:solidFill>
                <a:latin typeface="Calibri"/>
              </a:rPr>
              <a:t>Routing protocols automate what would otherwise be manual configuration, but that automation runs entirely on trust between neighbors.</a:t>
            </a:r>
          </a:p>
          <a:p>
            <a:pPr marL="201168" indent="-201168">
              <a:spcAft>
                <a:spcPts val="1200"/>
              </a:spcAft>
              <a:buFont typeface="Arial"/>
              <a:buChar char="–"/>
            </a:pPr>
            <a:r>
              <a:rPr sz="1500" b="0" i="0">
                <a:solidFill>
                  <a:srgbClr val="222A33"/>
                </a:solidFill>
                <a:latin typeface="Calibri"/>
              </a:rPr>
              <a:t>RIP, OSPF, EIGRP, and BGP each build that trust differently, but none of them verify it by default.</a:t>
            </a:r>
          </a:p>
          <a:p>
            <a:pPr marL="201168" indent="-201168">
              <a:spcAft>
                <a:spcPts val="1200"/>
              </a:spcAft>
              <a:buFont typeface="Arial"/>
              <a:buChar char="–"/>
            </a:pPr>
            <a:r>
              <a:rPr sz="1500" b="0" i="0">
                <a:solidFill>
                  <a:srgbClr val="222A33"/>
                </a:solidFill>
                <a:latin typeface="Calibri"/>
              </a:rPr>
              <a:t>Five attacks (poisoning, unauthorised injection, hijacking, blackhole/sinkhole, and routing DoS) all trace back to that same unverified trust, aimed at different outcomes.</a:t>
            </a:r>
          </a:p>
          <a:p>
            <a:pPr marL="201168" indent="-201168">
              <a:spcAft>
                <a:spcPts val="1200"/>
              </a:spcAft>
              <a:buFont typeface="Arial"/>
              <a:buChar char="–"/>
            </a:pPr>
            <a:r>
              <a:rPr sz="1500" b="0" i="0">
                <a:solidFill>
                  <a:srgbClr val="222A33"/>
                </a:solidFill>
                <a:latin typeface="Calibri"/>
              </a:rPr>
              <a:t>The 2008 YouTube hijack shows this isn't hypothetical: a local censorship attempt with no malicious global intent still took down a major service worldwide for two hours.</a:t>
            </a:r>
          </a:p>
          <a:p>
            <a:pPr marL="201168" indent="-201168">
              <a:spcAft>
                <a:spcPts val="1200"/>
              </a:spcAft>
              <a:buFont typeface="Arial"/>
              <a:buChar char="–"/>
            </a:pPr>
            <a:r>
              <a:rPr sz="1500" b="0" i="0">
                <a:solidFill>
                  <a:srgbClr val="222A33"/>
                </a:solidFill>
                <a:latin typeface="Calibri"/>
              </a:rPr>
              <a:t>Neighbor authentication (MD5) is this week's strongest single control, and the one you'll actually configure on OSPF and EIGRP in the lab.</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b="1" i="0">
                <a:solidFill>
                  <a:srgbClr val="FFFFFF"/>
                </a:solidFill>
                <a:latin typeface="Cambria"/>
              </a:rPr>
              <a:t>This Week's Lab &amp; Tutorial</a:t>
            </a:r>
          </a:p>
        </p:txBody>
      </p:sp>
      <p:sp>
        <p:nvSpPr>
          <p:cNvPr id="3" name="TextBox 2"/>
          <p:cNvSpPr txBox="1"/>
          <p:nvPr/>
        </p:nvSpPr>
        <p:spPr>
          <a:xfrm>
            <a:off x="731520" y="1828800"/>
            <a:ext cx="10698480" cy="4114800"/>
          </a:xfrm>
          <a:prstGeom prst="rect">
            <a:avLst/>
          </a:prstGeom>
          <a:noFill/>
        </p:spPr>
        <p:txBody>
          <a:bodyPr wrap="square">
            <a:spAutoFit/>
          </a:bodyPr>
          <a:lstStyle/>
          <a:p>
            <a:pPr marL="201168" indent="-201168">
              <a:spcAft>
                <a:spcPts val="1200"/>
              </a:spcAft>
              <a:buFont typeface="Arial"/>
              <a:buChar char="–"/>
            </a:pPr>
            <a:r>
              <a:rPr sz="1700" b="0" i="0">
                <a:solidFill>
                  <a:srgbClr val="222A33"/>
                </a:solidFill>
                <a:latin typeface="Calibri"/>
              </a:rPr>
              <a:t>Lab (runs in the Week 6 session): configure and verify MD5 neighbor authentication on both OSPF and EIGRP in Packet Tracer, the two protocols confirmed to support this reliably.</a:t>
            </a:r>
          </a:p>
          <a:p>
            <a:pPr marL="201168" indent="-201168">
              <a:spcAft>
                <a:spcPts val="1200"/>
              </a:spcAft>
              <a:buFont typeface="Arial"/>
              <a:buChar char="–"/>
            </a:pPr>
            <a:r>
              <a:rPr sz="1700" b="0" i="0">
                <a:solidFill>
                  <a:srgbClr val="222A33"/>
                </a:solidFill>
                <a:latin typeface="Calibri"/>
              </a:rPr>
              <a:t>Tutorial worksheet: study-notes-style questions covering the four protocols, all five attacks, and their mitigations. Use it to prep for the mid-semester test.</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b="1" i="0">
                <a:solidFill>
                  <a:srgbClr val="FFFFFF"/>
                </a:solidFill>
                <a:latin typeface="Cambria"/>
              </a:rPr>
              <a:t>References</a:t>
            </a:r>
          </a:p>
        </p:txBody>
      </p:sp>
      <p:sp>
        <p:nvSpPr>
          <p:cNvPr id="3" name="TextBox 2"/>
          <p:cNvSpPr txBox="1"/>
          <p:nvPr/>
        </p:nvSpPr>
        <p:spPr>
          <a:xfrm>
            <a:off x="731520" y="1828800"/>
            <a:ext cx="10698480" cy="4114800"/>
          </a:xfrm>
          <a:prstGeom prst="rect">
            <a:avLst/>
          </a:prstGeom>
          <a:noFill/>
        </p:spPr>
        <p:txBody>
          <a:bodyPr wrap="square">
            <a:spAutoFit/>
          </a:bodyPr>
          <a:lstStyle/>
          <a:p>
            <a:pPr marL="201168" indent="-201168">
              <a:spcAft>
                <a:spcPts val="1200"/>
              </a:spcAft>
              <a:buFont typeface="Arial"/>
              <a:buChar char="–"/>
            </a:pPr>
            <a:r>
              <a:rPr sz="1600" b="0" i="0">
                <a:solidFill>
                  <a:srgbClr val="222A33"/>
                </a:solidFill>
                <a:latin typeface="Calibri"/>
              </a:rPr>
              <a:t>Santos &amp; Stuppi, CCNA Security 210-260 Official Cert Guide, 1st Ed., Cisco Press.</a:t>
            </a:r>
          </a:p>
          <a:p>
            <a:pPr marL="201168" indent="-201168">
              <a:spcAft>
                <a:spcPts val="1200"/>
              </a:spcAft>
              <a:buFont typeface="Arial"/>
              <a:buChar char="–"/>
            </a:pPr>
            <a:r>
              <a:rPr sz="1600" b="0" i="0">
                <a:solidFill>
                  <a:srgbClr val="222A33"/>
                </a:solidFill>
                <a:latin typeface="Calibri"/>
              </a:rPr>
              <a:t>Kaufman, Perlman, Speciner &amp; Perlner, Network Security: Private Communication in a Public World, 3rd Ed., Prentice Hall.</a:t>
            </a:r>
          </a:p>
          <a:p>
            <a:pPr marL="201168" indent="-201168">
              <a:spcAft>
                <a:spcPts val="1200"/>
              </a:spcAft>
              <a:buFont typeface="Arial"/>
              <a:buChar char="–"/>
            </a:pPr>
            <a:r>
              <a:rPr sz="1600" b="0" i="0">
                <a:solidFill>
                  <a:srgbClr val="222A33"/>
                </a:solidFill>
                <a:latin typeface="Calibri"/>
              </a:rPr>
              <a:t>RIPE NCC, ‘YouTube Hijacking: A RIPE NCC RIS Case Study’, 2008.</a:t>
            </a:r>
          </a:p>
          <a:p>
            <a:pPr marL="201168" indent="-201168">
              <a:spcAft>
                <a:spcPts val="1200"/>
              </a:spcAft>
              <a:buFont typeface="Arial"/>
              <a:buChar char="–"/>
            </a:pPr>
            <a:r>
              <a:rPr sz="1600" b="0" i="0">
                <a:solidFill>
                  <a:srgbClr val="222A33"/>
                </a:solidFill>
                <a:latin typeface="Calibri"/>
              </a:rPr>
              <a:t>Cisco Networking Academy, CCNA Security curriculum (routing protocol security chapters).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1337832b-e06e-4e87-85f5-ecfde68f9c8e}" enabled="1" method="Standard" siteId="{44e3cf94-19c9-4e32-96c3-14f5bf01391a}" contentBits="1" removed="0"/>
</clbl:labelList>
</file>

<file path=docProps/app.xml><?xml version="1.0" encoding="utf-8"?>
<Properties xmlns="http://schemas.openxmlformats.org/officeDocument/2006/extended-properties" xmlns:vt="http://schemas.openxmlformats.org/officeDocument/2006/docPropsVTypes">
  <TotalTime>571</TotalTime>
  <Words>4854</Words>
  <Application>Microsoft Office PowerPoint</Application>
  <PresentationFormat>Widescreen</PresentationFormat>
  <Paragraphs>340</Paragraphs>
  <Slides>45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45</vt:i4>
      </vt:variant>
    </vt:vector>
  </HeadingPairs>
  <TitlesOfParts>
    <vt:vector size="51" baseType="lpstr">
      <vt:lpstr>Aptos</vt:lpstr>
      <vt:lpstr>Aptos Display</vt:lpstr>
      <vt:lpstr>Arial</vt:lpstr>
      <vt:lpstr>Calibri</vt:lpstr>
      <vt:lpstr>Cambria</vt:lpstr>
      <vt:lpstr>Office Theme</vt:lpstr>
      <vt:lpstr>PowerPoint Presentation</vt:lpstr>
      <vt:lpstr>Today's Agenda</vt:lpstr>
      <vt:lpstr>Learning Outcomes for Today</vt:lpstr>
      <vt:lpstr>Routing Protocol Fundamentals</vt:lpstr>
      <vt:lpstr>Why Routing Protocols Matter</vt:lpstr>
      <vt:lpstr>RIP: Routing Information Protocol</vt:lpstr>
      <vt:lpstr>RIP: Metric and Messages</vt:lpstr>
      <vt:lpstr>OSPF: Open Shortest Path First</vt:lpstr>
      <vt:lpstr>OSPF: Metric and Messages</vt:lpstr>
      <vt:lpstr>EIGRP: Enhanced Interior Gateway Routing Protocol</vt:lpstr>
      <vt:lpstr>EIGRP: Metric and Messages</vt:lpstr>
      <vt:lpstr>BGP: Border Gateway Protocol</vt:lpstr>
      <vt:lpstr>BGP: Metric and Messages</vt:lpstr>
      <vt:lpstr>The Four Protocols at a Glance</vt:lpstr>
      <vt:lpstr>Why Routing Trust Is Exploitable</vt:lpstr>
      <vt:lpstr>Routing Attacks</vt:lpstr>
      <vt:lpstr>Five Attacks at a Glance</vt:lpstr>
      <vt:lpstr>Routing Table Poisoning: Overview &amp; Technique</vt:lpstr>
      <vt:lpstr>Routing Table Poisoning: Mitigation</vt:lpstr>
      <vt:lpstr>Unauthorised Route Injection: Overview &amp; Technique</vt:lpstr>
      <vt:lpstr>Unauthorised Route Injection: Mitigation</vt:lpstr>
      <vt:lpstr>Route/Prefix Hijacking: Overview &amp; Technique</vt:lpstr>
      <vt:lpstr>Real-World Example: The 2008 YouTube Hijack</vt:lpstr>
      <vt:lpstr>Route/Prefix Hijacking: Mitigation</vt:lpstr>
      <vt:lpstr>Blackhole / Sinkhole Attack: Overview &amp; Technique</vt:lpstr>
      <vt:lpstr>Blackhole / Sinkhole Attack: Mitigation</vt:lpstr>
      <vt:lpstr>Routing DoS / Instability Attack: Overview &amp; Technique</vt:lpstr>
      <vt:lpstr>Routing DoS / Instability Attack: Mitigation</vt:lpstr>
      <vt:lpstr>Which Attacks Apply to Which Protocols</vt:lpstr>
      <vt:lpstr>Defenses in Detail</vt:lpstr>
      <vt:lpstr>A Note on Scope</vt:lpstr>
      <vt:lpstr>Neighbor Authentication (MD5)</vt:lpstr>
      <vt:lpstr>Authentication: OSPF vs EIGRP Implementation</vt:lpstr>
      <vt:lpstr>Passive-Interface</vt:lpstr>
      <vt:lpstr>Route Filtering / Distribute-Lists</vt:lpstr>
      <vt:lpstr>Route Filtering: A Protocol-Type Caveat</vt:lpstr>
      <vt:lpstr>RPKI (Resource Public Key Infrastructure)</vt:lpstr>
      <vt:lpstr>RPKI: How the Trust Chain Works</vt:lpstr>
      <vt:lpstr>RPKI: Route Origin Validation in Action</vt:lpstr>
      <vt:lpstr>Attack Summary: Vulnerability, Exploit, Impact, and Mitigation</vt:lpstr>
      <vt:lpstr>Full Mitigation Comparison</vt:lpstr>
      <vt:lpstr>Layered Defense for Routing</vt:lpstr>
      <vt:lpstr>Summary</vt:lpstr>
      <vt:lpstr>This Week's Lab &amp; Tutorial</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Chathurangika Kahandawaarachchi</dc:creator>
  <cp:lastModifiedBy>Harinda Fernando</cp:lastModifiedBy>
  <cp:revision>202</cp:revision>
  <dcterms:created xsi:type="dcterms:W3CDTF">2026-02-25T14:32:17Z</dcterms:created>
  <dcterms:modified xsi:type="dcterms:W3CDTF">2026-08-13T10:47:20Z</dcterms:modified>
</cp:coreProperties>
</file>