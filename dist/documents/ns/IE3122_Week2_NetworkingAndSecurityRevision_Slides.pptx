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300" r:id="rId8"/>
    <p:sldId id="297" r:id="rId9"/>
    <p:sldId id="298" r:id="rId10"/>
    <p:sldId id="299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60AE"/>
    <a:srgbClr val="EBEFF6"/>
    <a:srgbClr val="FDFDFE"/>
    <a:srgbClr val="C8ECFC"/>
    <a:srgbClr val="003054"/>
    <a:srgbClr val="0070C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D6B11A-2BB5-4561-8C72-33616C9E7F65}" v="1" dt="2026-07-28T09:19:10.050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3969" autoAdjust="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nda Fernando" userId="be4c618b-01eb-4ea5-9d4b-17596987021b" providerId="ADAL" clId="{1E0ABD71-AB93-41F5-8129-2081E38250EC}"/>
    <pc:docChg chg="undo custSel addSld modSld sldOrd">
      <pc:chgData name="Harinda Fernando" userId="be4c618b-01eb-4ea5-9d4b-17596987021b" providerId="ADAL" clId="{1E0ABD71-AB93-41F5-8129-2081E38250EC}" dt="2026-07-28T09:22:30.982" v="117" actId="14100"/>
      <pc:docMkLst>
        <pc:docMk/>
      </pc:docMkLst>
      <pc:sldChg chg="ord">
        <pc:chgData name="Harinda Fernando" userId="be4c618b-01eb-4ea5-9d4b-17596987021b" providerId="ADAL" clId="{1E0ABD71-AB93-41F5-8129-2081E38250EC}" dt="2026-07-28T09:19:15.369" v="2"/>
        <pc:sldMkLst>
          <pc:docMk/>
          <pc:sldMk cId="0" sldId="262"/>
        </pc:sldMkLst>
      </pc:sldChg>
      <pc:sldChg chg="modSp mod">
        <pc:chgData name="Harinda Fernando" userId="be4c618b-01eb-4ea5-9d4b-17596987021b" providerId="ADAL" clId="{1E0ABD71-AB93-41F5-8129-2081E38250EC}" dt="2026-07-28T09:20:54.211" v="80" actId="313"/>
        <pc:sldMkLst>
          <pc:docMk/>
          <pc:sldMk cId="0" sldId="265"/>
        </pc:sldMkLst>
        <pc:spChg chg="mod">
          <ac:chgData name="Harinda Fernando" userId="be4c618b-01eb-4ea5-9d4b-17596987021b" providerId="ADAL" clId="{1E0ABD71-AB93-41F5-8129-2081E38250EC}" dt="2026-07-28T09:20:54.211" v="80" actId="313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Harinda Fernando" userId="be4c618b-01eb-4ea5-9d4b-17596987021b" providerId="ADAL" clId="{1E0ABD71-AB93-41F5-8129-2081E38250EC}" dt="2026-07-28T09:21:37.216" v="112" actId="1037"/>
        <pc:sldMkLst>
          <pc:docMk/>
          <pc:sldMk cId="0" sldId="266"/>
        </pc:sldMkLst>
        <pc:graphicFrameChg chg="mod modGraphic">
          <ac:chgData name="Harinda Fernando" userId="be4c618b-01eb-4ea5-9d4b-17596987021b" providerId="ADAL" clId="{1E0ABD71-AB93-41F5-8129-2081E38250EC}" dt="2026-07-28T09:21:37.216" v="112" actId="1037"/>
          <ac:graphicFrameMkLst>
            <pc:docMk/>
            <pc:sldMk cId="0" sldId="266"/>
            <ac:graphicFrameMk id="4" creationId="{00000000-0000-0000-0000-000000000000}"/>
          </ac:graphicFrameMkLst>
        </pc:graphicFrameChg>
      </pc:sldChg>
      <pc:sldChg chg="modSp mod">
        <pc:chgData name="Harinda Fernando" userId="be4c618b-01eb-4ea5-9d4b-17596987021b" providerId="ADAL" clId="{1E0ABD71-AB93-41F5-8129-2081E38250EC}" dt="2026-07-28T09:22:30.982" v="117" actId="14100"/>
        <pc:sldMkLst>
          <pc:docMk/>
          <pc:sldMk cId="0" sldId="291"/>
        </pc:sldMkLst>
        <pc:spChg chg="mod">
          <ac:chgData name="Harinda Fernando" userId="be4c618b-01eb-4ea5-9d4b-17596987021b" providerId="ADAL" clId="{1E0ABD71-AB93-41F5-8129-2081E38250EC}" dt="2026-07-28T09:22:30.982" v="117" actId="14100"/>
          <ac:spMkLst>
            <pc:docMk/>
            <pc:sldMk cId="0" sldId="291"/>
            <ac:spMk id="5" creationId="{00000000-0000-0000-0000-000000000000}"/>
          </ac:spMkLst>
        </pc:spChg>
        <pc:spChg chg="mod">
          <ac:chgData name="Harinda Fernando" userId="be4c618b-01eb-4ea5-9d4b-17596987021b" providerId="ADAL" clId="{1E0ABD71-AB93-41F5-8129-2081E38250EC}" dt="2026-07-28T09:22:21.894" v="113" actId="14100"/>
          <ac:spMkLst>
            <pc:docMk/>
            <pc:sldMk cId="0" sldId="291"/>
            <ac:spMk id="6" creationId="{00000000-0000-0000-0000-000000000000}"/>
          </ac:spMkLst>
        </pc:spChg>
        <pc:spChg chg="mod">
          <ac:chgData name="Harinda Fernando" userId="be4c618b-01eb-4ea5-9d4b-17596987021b" providerId="ADAL" clId="{1E0ABD71-AB93-41F5-8129-2081E38250EC}" dt="2026-07-28T09:22:30.271" v="116" actId="1076"/>
          <ac:spMkLst>
            <pc:docMk/>
            <pc:sldMk cId="0" sldId="291"/>
            <ac:spMk id="7" creationId="{00000000-0000-0000-0000-000000000000}"/>
          </ac:spMkLst>
        </pc:spChg>
      </pc:sldChg>
      <pc:sldChg chg="add">
        <pc:chgData name="Harinda Fernando" userId="be4c618b-01eb-4ea5-9d4b-17596987021b" providerId="ADAL" clId="{1E0ABD71-AB93-41F5-8129-2081E38250EC}" dt="2026-07-28T09:19:10.034" v="0"/>
        <pc:sldMkLst>
          <pc:docMk/>
          <pc:sldMk cId="0" sldId="297"/>
        </pc:sldMkLst>
      </pc:sldChg>
      <pc:sldChg chg="add">
        <pc:chgData name="Harinda Fernando" userId="be4c618b-01eb-4ea5-9d4b-17596987021b" providerId="ADAL" clId="{1E0ABD71-AB93-41F5-8129-2081E38250EC}" dt="2026-07-28T09:19:10.034" v="0"/>
        <pc:sldMkLst>
          <pc:docMk/>
          <pc:sldMk cId="0" sldId="298"/>
        </pc:sldMkLst>
      </pc:sldChg>
      <pc:sldChg chg="add">
        <pc:chgData name="Harinda Fernando" userId="be4c618b-01eb-4ea5-9d4b-17596987021b" providerId="ADAL" clId="{1E0ABD71-AB93-41F5-8129-2081E38250EC}" dt="2026-07-28T09:19:10.034" v="0"/>
        <pc:sldMkLst>
          <pc:docMk/>
          <pc:sldMk cId="0" sldId="299"/>
        </pc:sldMkLst>
      </pc:sldChg>
      <pc:sldChg chg="modSp add mod ord">
        <pc:chgData name="Harinda Fernando" userId="be4c618b-01eb-4ea5-9d4b-17596987021b" providerId="ADAL" clId="{1E0ABD71-AB93-41F5-8129-2081E38250EC}" dt="2026-07-28T09:20:03.221" v="79" actId="20577"/>
        <pc:sldMkLst>
          <pc:docMk/>
          <pc:sldMk cId="2786235723" sldId="300"/>
        </pc:sldMkLst>
        <pc:spChg chg="mod">
          <ac:chgData name="Harinda Fernando" userId="be4c618b-01eb-4ea5-9d4b-17596987021b" providerId="ADAL" clId="{1E0ABD71-AB93-41F5-8129-2081E38250EC}" dt="2026-07-28T09:19:39.090" v="31" actId="20577"/>
          <ac:spMkLst>
            <pc:docMk/>
            <pc:sldMk cId="2786235723" sldId="300"/>
            <ac:spMk id="2" creationId="{1385DC2B-D9CB-7677-2216-792FEF118B63}"/>
          </ac:spMkLst>
        </pc:spChg>
        <pc:spChg chg="mod">
          <ac:chgData name="Harinda Fernando" userId="be4c618b-01eb-4ea5-9d4b-17596987021b" providerId="ADAL" clId="{1E0ABD71-AB93-41F5-8129-2081E38250EC}" dt="2026-07-28T09:20:03.221" v="79" actId="20577"/>
          <ac:spMkLst>
            <pc:docMk/>
            <pc:sldMk cId="2786235723" sldId="300"/>
            <ac:spMk id="3" creationId="{E5168B6A-1C38-9FD4-E54F-B2C8ECD582D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5A265B-85F9-4AB9-A7F7-F201F3EC612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EDF255-290D-41DE-BD04-0A7C06A1BC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636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C36BA-4D0C-582A-D90D-A5050C3B57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835A14-CC45-415E-91D7-B390853369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3511F-336C-5F04-B406-EAC188B39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9E3F6-6859-4CA3-A09E-D0F7F72ACFE0}" type="datetime1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44DD8-8DE2-49BF-2256-D6C974530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 (Hons) in Information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E118B-A9C0-2539-EE0E-7F976FEA3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C659-408D-4781-A84D-B150AC404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033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D9DBE-034D-F88C-332A-467E245C0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6D88A-9AB2-CE18-CCE1-4CE93CF5F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E28A8-BA96-F50D-807E-BE9AFD5BB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F9165-B718-4A05-ABEA-493F7CF226F4}" type="datetime1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172DB-9131-6C85-8238-09E061156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 (Hons) in Information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35A60-C9F7-6C8C-1CB6-26C1644CF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C659-408D-4781-A84D-B150AC404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620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6D231-9473-3376-B7F9-2B9B0001B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98136-DBDE-3025-06A8-1C273FCE0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3572A-62DD-CA9F-E4DD-D035DA296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99AE2-4C36-4768-AD66-E53AE3B69896}" type="datetime1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06F99-EECF-A28B-02D8-6E9260C98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 (Hons) in Information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97C3B-FDFB-646C-AA5A-1D48D6DB0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C659-408D-4781-A84D-B150AC404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166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D8290-BA90-4A7A-864A-9F9331466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88928-35DF-C4DA-EEF3-AF71B4FDE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324945-DF26-5646-D08A-6A42E8E1E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4C70D-C5D2-DE0E-5A4D-5C54D957B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1E677-F796-43F6-BC96-25B1E0E4BB94}" type="datetime1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36F4D-2522-DF44-1C34-3B60B4B4B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 (Hons) in Information Technology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36A2C-43F6-FE22-6DC6-758D53EBA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C659-408D-4781-A84D-B150AC404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063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B5137-4489-DD84-A8A0-C614F15F1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41754-800C-4717-0512-67D3739D2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8F263-D07C-28BF-3BB6-9B6527945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DEA40D-AAC1-9598-D1AF-7635335E1F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06D1A6-36AD-89AE-1A4F-1E8B9A77E7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E20158-925C-A7E9-5222-5E66069D1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C14BC-1BD6-4166-8FDC-A0F77CFEB6BC}" type="datetime1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889187-3B4A-58A4-0C3B-C7E850F66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 (Hons) in Information Technology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8F996D-4AE8-BB7F-D3A1-995EE7542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C659-408D-4781-A84D-B150AC404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834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80101-22BA-32E5-2060-4A9C785AC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593B0A-96D8-DA75-C76E-DA71825A0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FD351-5A68-4A1F-946B-20C3567895CF}" type="datetime1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881D16-288F-8034-9059-C666E54D7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 (Hons) in Information Technology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065B0D-78DE-91A7-D803-150A4D18B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C659-408D-4781-A84D-B150AC404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684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7D95D1-8997-87CC-14A9-30F3E28ED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7CCCF-53CF-49A2-8E4E-6C875B11F612}" type="datetime1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5F0F5-689E-656C-326C-0DF47574D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BSc (Hons) in Information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8FF23-2E61-3111-9C42-8D84E4817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DC659-408D-4781-A84D-B150AC404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882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0A2505E-CFD5-8901-B1E4-35E1DFF8B637}"/>
              </a:ext>
            </a:extLst>
          </p:cNvPr>
          <p:cNvSpPr/>
          <p:nvPr userDrawn="1"/>
        </p:nvSpPr>
        <p:spPr>
          <a:xfrm>
            <a:off x="3048000" y="6176963"/>
            <a:ext cx="9143994" cy="667612"/>
          </a:xfrm>
          <a:prstGeom prst="rect">
            <a:avLst/>
          </a:prstGeom>
          <a:solidFill>
            <a:srgbClr val="003054"/>
          </a:solidFill>
          <a:ln>
            <a:solidFill>
              <a:srgbClr val="0000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A7784B-71B0-4A27-69C4-436C1E401103}"/>
              </a:ext>
            </a:extLst>
          </p:cNvPr>
          <p:cNvSpPr/>
          <p:nvPr userDrawn="1"/>
        </p:nvSpPr>
        <p:spPr>
          <a:xfrm>
            <a:off x="0" y="1"/>
            <a:ext cx="12192000" cy="1690688"/>
          </a:xfrm>
          <a:prstGeom prst="rect">
            <a:avLst/>
          </a:prstGeom>
          <a:solidFill>
            <a:srgbClr val="003054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1F2622-3876-DB58-BA22-E1EC5EDCE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5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546EC-E134-9B17-EE99-C27C18DC9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2DB5F-A581-B2FE-E227-EF8B4134FA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ADC54051-F9E3-4634-8E2D-FEE7EC79C47F}" type="datetime1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CB4C9-6F98-0B0C-A82A-07D2BA3BC1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BSc (Hons) in Information Technology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E30B7-3975-EABC-A921-0B090B3CE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05DC659-408D-4781-A84D-B150AC404B9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7B7A56-4602-F3E4-33AF-7961B3348122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3" y="6221220"/>
            <a:ext cx="2850179" cy="59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184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Networking and Security Revision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FFFFFF"/>
                </a:solidFill>
                <a:latin typeface="Calibri"/>
              </a:rPr>
              <a:t>IE3122 – Network Security | Week 2</a:t>
            </a:r>
          </a:p>
          <a:p>
            <a:r>
              <a:rPr sz="1600" b="0" i="1">
                <a:solidFill>
                  <a:srgbClr val="FFFFFF"/>
                </a:solidFill>
                <a:latin typeface="Calibri"/>
              </a:rPr>
              <a:t>The threat landscape: actors, attacks, and defenses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Today's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800"/>
              </a:spcAft>
              <a:buFont typeface="Arial"/>
              <a:buChar char="–"/>
            </a:pPr>
            <a:r>
              <a:rPr sz="1900" b="0" i="0">
                <a:solidFill>
                  <a:srgbClr val="222A33"/>
                </a:solidFill>
                <a:latin typeface="Calibri"/>
              </a:rPr>
              <a:t>Why network security matters</a:t>
            </a:r>
          </a:p>
          <a:p>
            <a:pPr marL="201168" indent="-201168">
              <a:spcAft>
                <a:spcPts val="1800"/>
              </a:spcAft>
              <a:buFont typeface="Arial"/>
              <a:buChar char="–"/>
            </a:pPr>
            <a:r>
              <a:rPr sz="1900" b="0" i="0">
                <a:solidFill>
                  <a:srgbClr val="222A33"/>
                </a:solidFill>
                <a:latin typeface="Calibri"/>
              </a:rPr>
              <a:t>Key terms and threat modeling</a:t>
            </a:r>
          </a:p>
          <a:p>
            <a:pPr marL="201168" indent="-201168">
              <a:spcAft>
                <a:spcPts val="1800"/>
              </a:spcAft>
              <a:buFont typeface="Arial"/>
              <a:buChar char="–"/>
            </a:pPr>
            <a:r>
              <a:rPr sz="1900" b="0" i="0">
                <a:solidFill>
                  <a:srgbClr val="222A33"/>
                </a:solidFill>
                <a:latin typeface="Calibri"/>
              </a:rPr>
              <a:t>How networking — and its threats — have evolved</a:t>
            </a:r>
          </a:p>
          <a:p>
            <a:pPr marL="201168" indent="-201168">
              <a:spcAft>
                <a:spcPts val="1800"/>
              </a:spcAft>
              <a:buFont typeface="Arial"/>
              <a:buChar char="–"/>
            </a:pPr>
            <a:r>
              <a:rPr sz="1900" b="0" i="0">
                <a:solidFill>
                  <a:srgbClr val="222A33"/>
                </a:solidFill>
                <a:latin typeface="Calibri"/>
              </a:rPr>
              <a:t>Types of hackers and their motivations</a:t>
            </a:r>
          </a:p>
          <a:p>
            <a:pPr marL="201168" indent="-201168">
              <a:spcAft>
                <a:spcPts val="1800"/>
              </a:spcAft>
              <a:buFont typeface="Arial"/>
              <a:buChar char="–"/>
            </a:pPr>
            <a:r>
              <a:rPr sz="1900" b="0" i="0">
                <a:solidFill>
                  <a:srgbClr val="222A33"/>
                </a:solidFill>
                <a:latin typeface="Calibri"/>
              </a:rPr>
              <a:t>Main types of attacks</a:t>
            </a:r>
          </a:p>
          <a:p>
            <a:pPr marL="201168" indent="-201168">
              <a:spcAft>
                <a:spcPts val="1800"/>
              </a:spcAft>
              <a:buFont typeface="Arial"/>
              <a:buChar char="–"/>
            </a:pPr>
            <a:r>
              <a:rPr sz="1900" b="0" i="0">
                <a:solidFill>
                  <a:srgbClr val="222A33"/>
                </a:solidFill>
                <a:latin typeface="Calibri"/>
              </a:rPr>
              <a:t>Security controls and layered defense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Learning Outcomes for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700" b="1" i="0">
                <a:solidFill>
                  <a:srgbClr val="003054"/>
                </a:solidFill>
                <a:latin typeface="Calibri"/>
              </a:rPr>
              <a:t>LO1</a:t>
            </a:r>
          </a:p>
          <a:p>
            <a:pPr marL="201168" indent="-201168">
              <a:spcAft>
                <a:spcPts val="18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Describe common network vulnerabilities and attacks.</a:t>
            </a:r>
          </a:p>
          <a:p>
            <a:pPr marL="0" indent="0">
              <a:spcAft>
                <a:spcPts val="400"/>
              </a:spcAft>
              <a:buNone/>
            </a:pPr>
            <a:r>
              <a:rPr sz="1700" b="1" i="0">
                <a:solidFill>
                  <a:srgbClr val="003054"/>
                </a:solidFill>
                <a:latin typeface="Calibri"/>
              </a:rPr>
              <a:t>LO3</a:t>
            </a:r>
          </a:p>
          <a:p>
            <a:pPr marL="201168" indent="-201168">
              <a:spcAft>
                <a:spcPts val="18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Analyse a company's network and communication requirements and communicate security requirements.</a:t>
            </a:r>
          </a:p>
          <a:p>
            <a:pPr marL="201168" indent="-201168">
              <a:spcAft>
                <a:spcPts val="800"/>
              </a:spcAft>
              <a:buFont typeface="Arial"/>
              <a:buChar char="–"/>
            </a:pPr>
            <a:r>
              <a:rPr sz="1600" b="0" i="1">
                <a:solidFill>
                  <a:srgbClr val="6B7682"/>
                </a:solidFill>
                <a:latin typeface="Calibri"/>
              </a:rPr>
              <a:t>By the end of this session you should be able to name the major categories of attackers and attacks, and explain why layered defense matters — the foundation for everything from Week 3 onward.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4000" b="1" i="0">
                <a:solidFill>
                  <a:srgbClr val="003054"/>
                </a:solidFill>
                <a:latin typeface="Cambria"/>
              </a:rPr>
              <a:t>Why Network Security Matters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sz="1800" b="0" i="1">
                <a:solidFill>
                  <a:srgbClr val="6B7682"/>
                </a:solidFill>
                <a:latin typeface="Calibri"/>
              </a:rPr>
              <a:t>Setting the stage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What Is Network Security?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The practice of protecting the confidentiality, integrity, and availability of data as it moves across and is stored on a network.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Covers people, process, and technology — not just firewalls and passwords.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Applies at every layer we revised in Week 1: physical cabling, switches/routers, protocols, and the applications running on top.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This module builds toward being able to identify weaknesses (LO1) and recommend/configure defenses (LO2, LO4, LO5).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Modern organisations run on networks — a compromised network can mean stolen data, halted operations, financial loss, and reputational damage.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Attacks aren't rare or abstract: recall the real 2025–2026 breaches from Week 1's lab (retail ransomware, VPN zero-days, exposed devices, vendor breaches).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Security is not a one-time setup — the threat landscape keeps changing, which is exactly why this lecture exists before we get into specific technologies.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As a future network/security professional, understanding *why* an attack works is what lets you recommend the right defense — not just follow a checklist.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3525A-8259-B4B4-05D2-D6E4E5EE4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5DC2B-D9CB-7677-2216-792FEF1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lang="en-US" sz="4000" b="1" i="0" dirty="0">
                <a:solidFill>
                  <a:srgbClr val="003054"/>
                </a:solidFill>
                <a:latin typeface="Cambria"/>
              </a:rPr>
              <a:t>The Extended CIA Triad</a:t>
            </a:r>
            <a:endParaRPr sz="4000" b="1" i="0" dirty="0">
              <a:solidFill>
                <a:srgbClr val="003054"/>
              </a:solidFill>
              <a:latin typeface="Cambri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68B6A-1C38-9FD4-E54F-B2C8ECD58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lang="en-US" sz="1800" b="0" i="1" dirty="0">
                <a:solidFill>
                  <a:srgbClr val="6B7682"/>
                </a:solidFill>
                <a:latin typeface="Calibri"/>
              </a:rPr>
              <a:t>Fundamental Information  Security Controls</a:t>
            </a:r>
            <a:endParaRPr sz="1800" b="0" i="1" dirty="0">
              <a:solidFill>
                <a:srgbClr val="6B7682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86235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The CIA Triad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SECURITY PRINCIPLES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520440" cy="777240"/>
          </a:xfrm>
          <a:prstGeom prst="roundRect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Confidentiality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A33"/>
                </a:solidFill>
                <a:latin typeface="Calibri"/>
              </a:rPr>
              <a:t>Only authorised people/systems can access the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828800"/>
            <a:ext cx="3520440" cy="77724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2743200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A33"/>
                </a:solidFill>
                <a:latin typeface="Calibri"/>
              </a:rPr>
              <a:t>Data is accurate and hasn't been altered without authorisation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828800"/>
            <a:ext cx="3520440" cy="77724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Availability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0" y="2743200"/>
            <a:ext cx="3520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A33"/>
                </a:solidFill>
                <a:latin typeface="Calibri"/>
              </a:rPr>
              <a:t>Data and systems are accessible to legitimate users when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4340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800"/>
              </a:spcAft>
              <a:buFont typeface="Arial"/>
              <a:buChar char="–"/>
            </a:pPr>
            <a:r>
              <a:rPr sz="1600" b="0" i="0" dirty="0">
                <a:solidFill>
                  <a:srgbClr val="222A33"/>
                </a:solidFill>
                <a:latin typeface="Calibri"/>
              </a:rPr>
              <a:t>The CIA Triad is the foundational model for what ‘security’ actually means — almost every control we cover this semester protects one or more of these three properties.</a:t>
            </a:r>
          </a:p>
          <a:p>
            <a:pPr marL="201168" indent="-201168">
              <a:spcAft>
                <a:spcPts val="800"/>
              </a:spcAft>
              <a:buFont typeface="Arial"/>
              <a:buChar char="–"/>
            </a:pPr>
            <a:r>
              <a:rPr sz="1600" b="0" i="0" dirty="0">
                <a:solidFill>
                  <a:srgbClr val="222A33"/>
                </a:solidFill>
                <a:latin typeface="Calibri"/>
              </a:rPr>
              <a:t>An attack usually targets one corner specifically: theft/eavesdropping breaks confidentiality, tampering breaks integrity, and a DoS/DDoS attack breaks availability.</a:t>
            </a:r>
          </a:p>
          <a:p>
            <a:pPr marL="201168" indent="-201168">
              <a:spcAft>
                <a:spcPts val="800"/>
              </a:spcAft>
              <a:buFont typeface="Arial"/>
              <a:buChar char="–"/>
            </a:pPr>
            <a:r>
              <a:rPr sz="1600" b="0" i="0" dirty="0">
                <a:solidFill>
                  <a:srgbClr val="222A33"/>
                </a:solidFill>
                <a:latin typeface="Calibri"/>
              </a:rPr>
              <a:t>Trade-offs are common — stronger confidentiality controls (e.g. heavy encryption, strict access checks) can sometimes reduce availability if overdone. Good security design balances all three, not </a:t>
            </a:r>
            <a:r>
              <a:rPr sz="1600" b="0" i="0" dirty="0" err="1">
                <a:solidFill>
                  <a:srgbClr val="222A33"/>
                </a:solidFill>
                <a:latin typeface="Calibri"/>
              </a:rPr>
              <a:t>maximises</a:t>
            </a:r>
            <a:r>
              <a:rPr sz="1600" b="0" i="0" dirty="0">
                <a:solidFill>
                  <a:srgbClr val="222A33"/>
                </a:solidFill>
                <a:latin typeface="Calibri"/>
              </a:rPr>
              <a:t> 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SECURITY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Authentication answers one question: is this person/device really who they claim to be?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It's distinct from authorisation (what you're allowed to do once verified) — authentication comes first.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Three general factor categories: something you know (password, PIN), something you have (a token, a phone, a smart card), something you are (biometrics — fingerprint, face).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Multi-Factor Authentication (MFA) combines two or more of these categories — significantly harder to defeat than any single factor alone, since compromising a password alone is no longer enough.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This is a preview: we'll cover authentication systems (RADIUS, TACACS+) in full under AAA in Week 8 — for now, just recognise it as one of the core security principles everything else builds 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Non-Repudiation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SECURITY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Non-repudiation means a party can't credibly deny having performed an action — sent a message, approved a transaction, accessed a system — once there's verifiable proof they did.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It's what makes an action accountable after the fact, not just secure in the moment — confidentiality and integrity protect the data itself, non-repudiation protects the record of who did what.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Achieved through mechanisms like digital signatures and audit logging — a digital signature cryptographically ties an action to a specific identity in a way that identity can't later disown.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Real-world relevance: this is why financial transactions, legal documents, and security-critical system changes rely on digitally signed records rather than just usernames in a log file.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Another preview: we'll cover the cryptographic mechanisms behind this — hash functions, digital certificates, PKI — in full in Week 12.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4000" b="1" i="0">
                <a:solidFill>
                  <a:srgbClr val="003054"/>
                </a:solidFill>
                <a:latin typeface="Cambria"/>
              </a:rPr>
              <a:t>Key Terms &amp; Threat Modeling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sz="1800" b="0" i="1">
                <a:solidFill>
                  <a:srgbClr val="6B7682"/>
                </a:solidFill>
                <a:latin typeface="Calibri"/>
              </a:rPr>
              <a:t>The vocabulary we'll use all semester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Key Terms —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TERMINOLOGY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8813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22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Asset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Anything of value worth protecting — data, a server, a service, even reputation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Vulnerability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A weakness that could be exploited (a bug, misconfiguration, missing patch)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Threat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Anything with the potential to exploit a vulnerability and cause harm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Exploit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The specific method/tool used to take advantage of a vulnerability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Attack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The actual event of a threat using an exploit against a vulnerability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The real-world consequence of a successful attack — data loss, downtime, cost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The likelihood and impact of a threat actually exploiting a vulnerability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The control or action taken to reduce a vulnerability, threat, or its impact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How These Terms Fit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TERMINOLOGY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2468880" cy="640080"/>
          </a:xfrm>
          <a:prstGeom prst="roundRect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 · Asset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108960" y="2194560"/>
            <a:ext cx="182880" cy="0"/>
          </a:xfrm>
          <a:prstGeom prst="line">
            <a:avLst/>
          </a:prstGeom>
          <a:ln w="25400">
            <a:solidFill>
              <a:srgbClr val="0030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91840" y="1874519"/>
            <a:ext cx="2468880" cy="6400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 · Vulnerability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60720" y="2194560"/>
            <a:ext cx="182880" cy="0"/>
          </a:xfrm>
          <a:prstGeom prst="line">
            <a:avLst/>
          </a:prstGeom>
          <a:ln w="25400">
            <a:solidFill>
              <a:srgbClr val="0030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943600" y="1874519"/>
            <a:ext cx="2468880" cy="6400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 · Threat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12480" y="2194560"/>
            <a:ext cx="182880" cy="0"/>
          </a:xfrm>
          <a:prstGeom prst="line">
            <a:avLst/>
          </a:prstGeom>
          <a:ln w="25400">
            <a:solidFill>
              <a:srgbClr val="0030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595360" y="1874519"/>
            <a:ext cx="2468880" cy="6400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 · Exploit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46120"/>
            <a:ext cx="2468880" cy="6400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 · Attack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08960" y="3566160"/>
            <a:ext cx="182880" cy="0"/>
          </a:xfrm>
          <a:prstGeom prst="line">
            <a:avLst/>
          </a:prstGeom>
          <a:ln w="25400">
            <a:solidFill>
              <a:srgbClr val="0030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91840" y="3246120"/>
            <a:ext cx="2468880" cy="6400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 · Impact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60720" y="3566160"/>
            <a:ext cx="182880" cy="0"/>
          </a:xfrm>
          <a:prstGeom prst="line">
            <a:avLst/>
          </a:prstGeom>
          <a:ln w="25400">
            <a:solidFill>
              <a:srgbClr val="0030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943600" y="3246120"/>
            <a:ext cx="2468880" cy="640080"/>
          </a:xfrm>
          <a:prstGeom prst="roundRect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 · Risk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0" y="3566160"/>
            <a:ext cx="182880" cy="0"/>
          </a:xfrm>
          <a:prstGeom prst="line">
            <a:avLst/>
          </a:prstGeom>
          <a:ln w="25400">
            <a:solidFill>
              <a:srgbClr val="0030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595360" y="3246120"/>
            <a:ext cx="2468880" cy="640080"/>
          </a:xfrm>
          <a:prstGeom prst="roundRect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800"/>
              </a:spcAft>
              <a:buFont typeface="Arial"/>
              <a:buChar char="–"/>
            </a:pPr>
            <a:r>
              <a:rPr sz="1500" b="0" i="0">
                <a:solidFill>
                  <a:srgbClr val="222A33"/>
                </a:solidFill>
                <a:latin typeface="Calibri"/>
              </a:rPr>
              <a:t>Read left-to-right, top row then bottom row: a threat uses an exploit against a vulnerability to carry out an attack, which causes an impact — together these determine the risk.</a:t>
            </a:r>
          </a:p>
          <a:p>
            <a:pPr marL="201168" indent="-201168">
              <a:spcAft>
                <a:spcPts val="800"/>
              </a:spcAft>
              <a:buFont typeface="Arial"/>
              <a:buChar char="–"/>
            </a:pPr>
            <a:r>
              <a:rPr sz="1500" b="0" i="0">
                <a:solidFill>
                  <a:srgbClr val="222A33"/>
                </a:solidFill>
                <a:latin typeface="Calibri"/>
              </a:rPr>
              <a:t>Mitigation is the response: a control that reduces the vulnerability, blocks the exploit, or limits the impact — lowering the overall risk.</a:t>
            </a:r>
          </a:p>
          <a:p>
            <a:pPr marL="201168" indent="-201168">
              <a:spcAft>
                <a:spcPts val="800"/>
              </a:spcAft>
              <a:buFont typeface="Arial"/>
              <a:buChar char="–"/>
            </a:pPr>
            <a:r>
              <a:rPr sz="1500" b="0" i="0">
                <a:solidFill>
                  <a:srgbClr val="222A33"/>
                </a:solidFill>
                <a:latin typeface="Calibri"/>
              </a:rPr>
              <a:t>Risk is what security professionals actually manage — you can rarely eliminate every vulnerability, so you prioritise mitigations by risk.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What Is Threat Modeling?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TERMINOLOGY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 dirty="0">
                <a:solidFill>
                  <a:srgbClr val="222A33"/>
                </a:solidFill>
                <a:latin typeface="Calibri"/>
              </a:rPr>
              <a:t>A structured way of asking: what are we protecting, who might attack it, how might they do it, and what should we do about it?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 dirty="0">
                <a:solidFill>
                  <a:srgbClr val="222A33"/>
                </a:solidFill>
                <a:latin typeface="Calibri"/>
              </a:rPr>
              <a:t>A simple, repeatable process: identify assets → identify likely threats → assess vulnerabilities → </a:t>
            </a:r>
            <a:r>
              <a:rPr sz="1700" b="0" i="0" dirty="0" err="1">
                <a:solidFill>
                  <a:srgbClr val="222A33"/>
                </a:solidFill>
                <a:latin typeface="Calibri"/>
              </a:rPr>
              <a:t>prioritise</a:t>
            </a:r>
            <a:r>
              <a:rPr sz="1700" b="0" i="0" dirty="0">
                <a:solidFill>
                  <a:srgbClr val="222A33"/>
                </a:solidFill>
                <a:latin typeface="Calibri"/>
              </a:rPr>
              <a:t> and mitigate by risk.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 dirty="0">
                <a:solidFill>
                  <a:srgbClr val="222A33"/>
                </a:solidFill>
                <a:latin typeface="Calibri"/>
              </a:rPr>
              <a:t>This is exactly the reasoning LO3 asks of you — analyzing a company's network/communication requirements starts with a threat model, not a product list.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 dirty="0">
                <a:solidFill>
                  <a:srgbClr val="222A33"/>
                </a:solidFill>
                <a:latin typeface="Calibri"/>
              </a:rPr>
              <a:t>We'll come back to this process every time we look at a new attack category or technology for the rest of the module.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Worked Example: A Small Online Retailer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TERMINOLOGY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824165"/>
              </p:ext>
            </p:extLst>
          </p:nvPr>
        </p:nvGraphicFramePr>
        <p:xfrm>
          <a:off x="1947939" y="1773381"/>
          <a:ext cx="8373687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9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1300" b="1" i="0" dirty="0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Applied to this company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A33"/>
                          </a:solidFill>
                          <a:latin typeface="Calibri"/>
                        </a:rPr>
                        <a:t>Asset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A33"/>
                          </a:solidFill>
                          <a:latin typeface="Calibri"/>
                        </a:rPr>
                        <a:t>Customer payment data, the order-processing database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A33"/>
                          </a:solidFill>
                          <a:latin typeface="Calibri"/>
                        </a:rPr>
                        <a:t>Vulnerability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A33"/>
                          </a:solidFill>
                          <a:latin typeface="Calibri"/>
                        </a:rPr>
                        <a:t>Unpatched web server, weak admin password policy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A33"/>
                          </a:solidFill>
                          <a:latin typeface="Calibri"/>
                        </a:rPr>
                        <a:t>Threat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A33"/>
                          </a:solidFill>
                          <a:latin typeface="Calibri"/>
                        </a:rPr>
                        <a:t>Financially motivated attackers (black hats, criminal groups)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A33"/>
                          </a:solidFill>
                          <a:latin typeface="Calibri"/>
                        </a:rPr>
                        <a:t>Exploit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A33"/>
                          </a:solidFill>
                          <a:latin typeface="Calibri"/>
                        </a:rPr>
                        <a:t>A known, unpatched web-server vulnerability with public exploit code available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A33"/>
                          </a:solidFill>
                          <a:latin typeface="Calibri"/>
                        </a:rPr>
                        <a:t>Attack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A33"/>
                          </a:solidFill>
                          <a:latin typeface="Calibri"/>
                        </a:rPr>
                        <a:t>Attackers use the exploit to gain admin access and copy the payment database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A33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A33"/>
                          </a:solidFill>
                          <a:latin typeface="Calibri"/>
                        </a:rPr>
                        <a:t>Stolen customer payment data, regulatory fines, loss of customer trust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A33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A33"/>
                          </a:solidFill>
                          <a:latin typeface="Calibri"/>
                        </a:rPr>
                        <a:t>High — valuable data + known weaknesses + attackers actively interested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1967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A33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dirty="0">
                          <a:solidFill>
                            <a:srgbClr val="222A33"/>
                          </a:solidFill>
                          <a:latin typeface="Calibri"/>
                        </a:rPr>
                        <a:t>Patch the web server promptly, enforce strong admin passwords + MFA, encrypt stored data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682"/>
                </a:solidFill>
                <a:latin typeface="Calibri"/>
              </a:rPr>
              <a:t>This is the exact reasoning you'll apply in this week's lab — and in the group assignment later in the semester.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4000" b="1" i="0">
                <a:solidFill>
                  <a:srgbClr val="003054"/>
                </a:solidFill>
                <a:latin typeface="Cambria"/>
              </a:rPr>
              <a:t>How Networking — and Its Threats — Have Evolved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sz="1800" b="0" i="1">
                <a:solidFill>
                  <a:srgbClr val="6B7682"/>
                </a:solidFill>
                <a:latin typeface="Calibri"/>
              </a:rPr>
              <a:t>Same principles, a much bigger attack surface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From Isolated Systems to Everything Connected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EVOLUTION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2651760" cy="822960"/>
          </a:xfrm>
          <a:prstGeom prst="roundRect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1980s–90s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8036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400" b="1" i="0">
                <a:solidFill>
                  <a:srgbClr val="003054"/>
                </a:solidFill>
                <a:latin typeface="Calibri"/>
              </a:rPr>
              <a:t>Isolated LANs</a:t>
            </a:r>
          </a:p>
          <a:p>
            <a:pPr marL="0" indent="0">
              <a:spcAft>
                <a:spcPts val="800"/>
              </a:spcAft>
              <a:buNone/>
            </a:pPr>
            <a:r>
              <a:rPr sz="1200" b="0" i="0">
                <a:solidFill>
                  <a:srgbClr val="6B7682"/>
                </a:solidFill>
                <a:latin typeface="Calibri"/>
              </a:rPr>
              <a:t>Physical access was the main risk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08960" y="2331720"/>
            <a:ext cx="182880" cy="0"/>
          </a:xfrm>
          <a:prstGeom prst="line">
            <a:avLst/>
          </a:prstGeom>
          <a:ln w="25400">
            <a:solidFill>
              <a:srgbClr val="0030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91840" y="1920240"/>
            <a:ext cx="2651760" cy="82296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2000s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88036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400" b="1" i="0">
                <a:solidFill>
                  <a:srgbClr val="003054"/>
                </a:solidFill>
                <a:latin typeface="Calibri"/>
              </a:rPr>
              <a:t>Internet-connected</a:t>
            </a:r>
          </a:p>
          <a:p>
            <a:pPr marL="0" indent="0">
              <a:spcAft>
                <a:spcPts val="800"/>
              </a:spcAft>
              <a:buNone/>
            </a:pPr>
            <a:r>
              <a:rPr sz="1200" b="0" i="0">
                <a:solidFill>
                  <a:srgbClr val="6B7682"/>
                </a:solidFill>
                <a:latin typeface="Calibri"/>
              </a:rPr>
              <a:t>Remote attacks become possible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0" y="2331720"/>
            <a:ext cx="182880" cy="0"/>
          </a:xfrm>
          <a:prstGeom prst="line">
            <a:avLst/>
          </a:prstGeom>
          <a:ln w="25400">
            <a:solidFill>
              <a:srgbClr val="0030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26480" y="1920240"/>
            <a:ext cx="2651760" cy="822960"/>
          </a:xfrm>
          <a:prstGeom prst="roundRect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2010s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88036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400" b="1" i="0">
                <a:solidFill>
                  <a:srgbClr val="003054"/>
                </a:solidFill>
                <a:latin typeface="Calibri"/>
              </a:rPr>
              <a:t>Cloud &amp; mobile</a:t>
            </a:r>
          </a:p>
          <a:p>
            <a:pPr marL="0" indent="0">
              <a:spcAft>
                <a:spcPts val="800"/>
              </a:spcAft>
              <a:buNone/>
            </a:pPr>
            <a:r>
              <a:rPr sz="1200" b="0" i="0">
                <a:solidFill>
                  <a:srgbClr val="6B7682"/>
                </a:solidFill>
                <a:latin typeface="Calibri"/>
              </a:rPr>
              <a:t>Data leaves the building; more entry points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0" y="2331720"/>
            <a:ext cx="182880" cy="0"/>
          </a:xfrm>
          <a:prstGeom prst="line">
            <a:avLst/>
          </a:prstGeom>
          <a:ln w="25400">
            <a:solidFill>
              <a:srgbClr val="0030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961120" y="1920240"/>
            <a:ext cx="2651760" cy="82296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2020s+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88036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400" b="1" i="0">
                <a:solidFill>
                  <a:srgbClr val="003054"/>
                </a:solidFill>
                <a:latin typeface="Calibri"/>
              </a:rPr>
              <a:t>IoT &amp; remote work</a:t>
            </a:r>
          </a:p>
          <a:p>
            <a:pPr marL="0" indent="0">
              <a:spcAft>
                <a:spcPts val="800"/>
              </a:spcAft>
              <a:buNone/>
            </a:pPr>
            <a:r>
              <a:rPr sz="1200" b="0" i="0">
                <a:solidFill>
                  <a:srgbClr val="6B7682"/>
                </a:solidFill>
                <a:latin typeface="Calibri"/>
              </a:rPr>
              <a:t>Billions of devices, no fixed perimeter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The Threat Landscape Evolved Alongside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More connectivity has always meant more attack surface — every new capability (remote access, cloud storage, IoT sensors) is also a new way in.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Attacks have professionalised: from lone hobbyists to organised criminal groups, data brokers, and state-sponsored operations (more on this shortly).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The targets have changed too — attackers now go after cloud misconfigurations, VPN appliances, and supply-chain/vendor relationships, not just a single office firewall (recall Week 1's Ivanti VPN and SonicWall vendor-breach case studies).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The core lesson: the fundamentals we revised in Week 1 (layers, protocols) still apply — but the scale and sophistication of who's attacking them has grown enormously.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4000" b="1" i="0">
                <a:solidFill>
                  <a:srgbClr val="003054"/>
                </a:solidFill>
                <a:latin typeface="Cambria"/>
              </a:rPr>
              <a:t>Types of Hackers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sz="1800" b="0" i="1">
                <a:solidFill>
                  <a:srgbClr val="6B7682"/>
                </a:solidFill>
                <a:latin typeface="Calibri"/>
              </a:rPr>
              <a:t>Knowing who you're defending against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Hackers Aren't All the Same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THREAT 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‘Hacker’ just means someone with the skill to find and exploit weaknesses in a system — it says nothing about their intent.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Understanding who's likely to target a given organisation is part of LO3's ‘analyse requirements’ — a bank and a small blog face very different threat actors.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Two common ways to categorise attackers: the ‘hat’ spectrum (intent/ethics) and role-based categories (how they operate or who they work for).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The Hat Spectrum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THREAT ACTORS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642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702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Hat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Who they are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White Hat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Ethical hackers authorised to test systems and report weaknesses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Black Hat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Malicious attackers exploiting systems for personal or financial gain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Grey Hat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Find vulnerabilities without permission but without malicious intent — legally ambiguous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Blue Hat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Security professionals (often external/outsourced) who test an organisation's own systems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2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Red Hat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Aggressively target black hats directly, sometimes using illegal methods themselves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Green Hat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Newcomers still learning — enthusiastic but limited skill, can cause accidental harm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Beyond the Hats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THREAT ACTORS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defines them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Script Kiddies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Little technical skill — run existing tools/scripts written by others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Access &amp; Data Brokers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Sell stolen access or data to other attackers rather than exploiting it themselves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State-Sponsored Hackers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Funded by governments; highly resourced, target high-value/strategic systems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Hacktivists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Motivated by political or social causes, not money — aim to expose or disrupt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B7682"/>
                </a:solidFill>
                <a:latin typeface="Calibri"/>
              </a:rPr>
              <a:t>These aren't mutually exclusive with the hat spectrum — a state-sponsored hacker, for instance, is still operating with black-hat intent.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Key Motivations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THREAT ACTORS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377440" cy="621792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Financial gain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828800"/>
            <a:ext cx="795527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222A33"/>
                </a:solidFill>
                <a:latin typeface="Calibri"/>
              </a:rPr>
              <a:t>Ransomware, fraud, selling stolen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2377440" cy="621792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Ideology / politics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606040"/>
            <a:ext cx="795527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222A33"/>
                </a:solidFill>
                <a:latin typeface="Calibri"/>
              </a:rPr>
              <a:t>Hacktivism — expose or disrupt a cause's opponents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2377440" cy="621792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Espionage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383280"/>
            <a:ext cx="795527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222A33"/>
                </a:solidFill>
                <a:latin typeface="Calibri"/>
              </a:rPr>
              <a:t>State-sponsored theft of intelligence or 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2377440" cy="621792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Revenge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4160520"/>
            <a:ext cx="795527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222A33"/>
                </a:solidFill>
                <a:latin typeface="Calibri"/>
              </a:rPr>
              <a:t>Targeting a specific person or organisation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2377440" cy="621792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Curiosity / 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937760"/>
            <a:ext cx="795527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222A33"/>
                </a:solidFill>
                <a:latin typeface="Calibri"/>
              </a:rPr>
              <a:t>Proving a skill, sometimes with no clear malicious goal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4000" b="1" i="0">
                <a:solidFill>
                  <a:srgbClr val="003054"/>
                </a:solidFill>
                <a:latin typeface="Cambria"/>
              </a:rPr>
              <a:t>Main Types of Attacks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sz="1800" b="0" i="1">
                <a:solidFill>
                  <a:srgbClr val="6B7682"/>
                </a:solidFill>
                <a:latin typeface="Calibri"/>
              </a:rPr>
              <a:t>Malware, social engineering, DoS/DDoS, and reconnaissance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Four Broad Attack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ATTACKS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212080" cy="16459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700" b="1" i="0">
                <a:solidFill>
                  <a:srgbClr val="003054"/>
                </a:solidFill>
                <a:latin typeface="Calibri"/>
              </a:rPr>
              <a:t>Malware</a:t>
            </a:r>
          </a:p>
          <a:p>
            <a:pPr marL="0" indent="0">
              <a:spcAft>
                <a:spcPts val="800"/>
              </a:spcAft>
              <a:buNone/>
            </a:pPr>
            <a:r>
              <a:rPr sz="1400" b="0" i="0">
                <a:solidFill>
                  <a:srgbClr val="222A33"/>
                </a:solidFill>
                <a:latin typeface="Calibri"/>
              </a:rPr>
              <a:t>Malicious software that runs on a target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79" y="1828800"/>
            <a:ext cx="5212080" cy="16459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799" y="196596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700" b="1" i="0">
                <a:solidFill>
                  <a:srgbClr val="003054"/>
                </a:solidFill>
                <a:latin typeface="Calibri"/>
              </a:rPr>
              <a:t>Social Engineering</a:t>
            </a:r>
          </a:p>
          <a:p>
            <a:pPr marL="0" indent="0">
              <a:spcAft>
                <a:spcPts val="800"/>
              </a:spcAft>
              <a:buNone/>
            </a:pPr>
            <a:r>
              <a:rPr sz="1400" b="0" i="0">
                <a:solidFill>
                  <a:srgbClr val="222A33"/>
                </a:solidFill>
                <a:latin typeface="Calibri"/>
              </a:rPr>
              <a:t>Manipulating people rather than exploiting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5212080" cy="16459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886199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700" b="1" i="0">
                <a:solidFill>
                  <a:srgbClr val="003054"/>
                </a:solidFill>
                <a:latin typeface="Calibri"/>
              </a:rPr>
              <a:t>DoS / DDoS</a:t>
            </a:r>
          </a:p>
          <a:p>
            <a:pPr marL="0" indent="0">
              <a:spcAft>
                <a:spcPts val="800"/>
              </a:spcAft>
              <a:buNone/>
            </a:pPr>
            <a:r>
              <a:rPr sz="1400" b="0" i="0">
                <a:solidFill>
                  <a:srgbClr val="222A33"/>
                </a:solidFill>
                <a:latin typeface="Calibri"/>
              </a:rPr>
              <a:t>Overwhelming a system so legitimate users can't use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79" y="3749039"/>
            <a:ext cx="5212080" cy="16459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3886199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sz="1700" b="1" i="0">
                <a:solidFill>
                  <a:srgbClr val="003054"/>
                </a:solidFill>
                <a:latin typeface="Calibri"/>
              </a:rPr>
              <a:t>Access &amp; Reconnaissance</a:t>
            </a:r>
          </a:p>
          <a:p>
            <a:pPr marL="0" indent="0">
              <a:spcAft>
                <a:spcPts val="800"/>
              </a:spcAft>
              <a:buNone/>
            </a:pPr>
            <a:r>
              <a:rPr sz="1400" b="0" i="0">
                <a:solidFill>
                  <a:srgbClr val="222A33"/>
                </a:solidFill>
                <a:latin typeface="Calibri"/>
              </a:rPr>
              <a:t>Gathering information or gaining unauthorised entry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Malware: 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MALWARE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Malware = ‘malicious software’ — any program designed to damage, disrupt, or gain unauthorised access to a system.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Delivered via email attachments, malicious downloads, infected removable media, or exploiting a software vulnerability directly.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Different malware types are defined by *how they spread* and *what they do* once they're running — both matter for choosing a defense.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Malware Types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MALWARE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How it behaves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Virus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Attaches to a legitimate file/program; spreads when that file is run or shared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Worm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Self-replicating; spreads across a network on its own, no user action needed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Trojan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Disguised as legitimate software; relies on the user installing it themselves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Malware Types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MALWARE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How it behaves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Ransomware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Encrypts the victim's files/systems and demands payment for the decryption key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Spyware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Secretly monitors activity and exfiltrates data (keystrokes, credentials, browsing)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Rootkit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Hides deep in the system to maintain long-term, privileged, hard-to-detect access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8463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6B7682"/>
                </a:solidFill>
                <a:latin typeface="Calibri"/>
              </a:rPr>
              <a:t>Real-world example: WannaCry (2017) was ransomware that spread using a worm-like mechanism — a reminder that these categories often combine in a single real attack.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Malware Types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MALWARE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How it behaves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Adware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Automatically displays or downloads unwanted advertising; often bundled with free software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Keylogger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Records keystrokes to capture passwords, card numbers, and other sensitive input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Bot / Botnet malware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Enrolls an infected device into a remotely controlled network of ‘bots’ (recall Mirai) used for DDoS, spam, or further attacks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Logic Bomb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Malicious code that lies dormant until triggered by a specific condition or date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Social Engineering: 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SOCIAL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Attacks that manipulate people rather than exploiting a technical flaw — often the easiest way into an otherwise well-defended network.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Exploits trust, urgency, authority, or fear — recall Week 1's UK retail ransomware case, which began with a help-desk social-engineering compromise, not a technical exploit.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This is exactly why LO1's ‘network vulnerabilities and attacks’ has to include people and process, not just code and configuration.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Social Engineering Attack Types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SOCIAL ENGINEERING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Phishing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Fraudulent email/message impersonating a trusted source to steal credentials or install malware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Spear Phishing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Phishing tailored to a specific individual or organisation using researched personal details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Whaling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Spear phishing targeted specifically at senior executives or other high-value individuals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Smishing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Phishing delivered via SMS/text message rather than email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Vishing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Voice-call version of phishing — often impersonating a bank or help desk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Social Engineering Attack Types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SOCIAL ENGINEERING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Pretexting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Inventing a false scenario/identity to obtain information (e.g. posing as IT support)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Baiting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Offering something enticing (free download, USB drive) that delivers malware when used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Quid Pro Quo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Offering a fake service or benefit (e.g. ‘free IT support’) in exchange for information or access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Tailgating / Piggybacking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Physically following an authorised person into a restricted area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Shoulder Surfing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Directly observing someone entering a password or PIN, or viewing sensitive info on their screen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DoS and DDoS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DOS/DDOS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108960" cy="640080"/>
          </a:xfrm>
          <a:prstGeom prst="roundRect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Single Attacker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0" y="2148840"/>
            <a:ext cx="1280160" cy="0"/>
          </a:xfrm>
          <a:prstGeom prst="line">
            <a:avLst/>
          </a:prstGeom>
          <a:ln w="25400">
            <a:solidFill>
              <a:srgbClr val="0030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120640" y="1828800"/>
            <a:ext cx="2377440" cy="6400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Target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737360"/>
            <a:ext cx="3566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1">
                <a:solidFill>
                  <a:srgbClr val="6B7682"/>
                </a:solidFill>
                <a:latin typeface="Calibri"/>
              </a:rPr>
              <a:t>DoS — one source overwhelms the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1463040" cy="502920"/>
          </a:xfrm>
          <a:prstGeom prst="roundRect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20440"/>
            <a:ext cx="1463040" cy="502920"/>
          </a:xfrm>
          <a:prstGeom prst="roundRect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14800"/>
            <a:ext cx="1463040" cy="502920"/>
          </a:xfrm>
          <a:prstGeom prst="roundRect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Bot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11680" y="3177540"/>
            <a:ext cx="3108960" cy="480060"/>
          </a:xfrm>
          <a:prstGeom prst="line">
            <a:avLst/>
          </a:prstGeom>
          <a:ln w="19050">
            <a:solidFill>
              <a:srgbClr val="0030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011680" y="3657600"/>
            <a:ext cx="3108960" cy="114300"/>
          </a:xfrm>
          <a:prstGeom prst="line">
            <a:avLst/>
          </a:prstGeom>
          <a:ln w="19050">
            <a:solidFill>
              <a:srgbClr val="0030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011680" y="3657600"/>
            <a:ext cx="3108960" cy="708660"/>
          </a:xfrm>
          <a:prstGeom prst="line">
            <a:avLst/>
          </a:prstGeom>
          <a:ln w="19050">
            <a:solidFill>
              <a:srgbClr val="0030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20640" y="3429000"/>
            <a:ext cx="2377440" cy="640080"/>
          </a:xfrm>
          <a:prstGeom prst="round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Target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337560"/>
            <a:ext cx="35661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 i="1">
                <a:solidFill>
                  <a:srgbClr val="6B7682"/>
                </a:solidFill>
                <a:latin typeface="Calibri"/>
              </a:rPr>
              <a:t>DDoS — many distributed bots (a botnet) flood the target at once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222A33"/>
                </a:solidFill>
                <a:latin typeface="Calibri"/>
              </a:rPr>
              <a:t>Goal: exhaust bandwidth, processing power, or connection limits so legitimate users can't get through — an attack on Availability.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DoS/DDoS: Real-World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DOS/DDOS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Mirai botnet (2016): malware infected huge numbers of insecure IoT devices (cameras, routers) and used them to launch massive DDoS attacks, including one that took down major internet services via a DNS provider.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GitHub (2018): hit by one of the largest recorded DDoS attacks at the time, peaking at 1.35 Tbps — mitigated through a dedicated DDoS-protection service.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The common thread: DDoS scales with however many devices an attacker can compromise — which is why insecure IoT devices are such an attractive target.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Access &amp; Reconnaissance Attacks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ACCESS/RECON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Reconnaissance: gathering information about a target before attacking — scanning for open ports, mapping network topology, identifying software versions.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Access attacks: attempts to gain unauthorised entry to a system or account once a weakness is found.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Often the *first phase* of a larger attack — recon tells an attacker where to focus, access attacks get them in the door.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Access &amp; Reconnaissance: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ACCESS/RECON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Technique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Port scanning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Probes a host for open ports/services to identify potential entry points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Password/credential attacks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Brute-force or dictionary attacks, or reusing credentials leaked elsewhere (credential stuffing)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Footprinting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Passively gathering public info about a target (DNS records, employee info, tech stack)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Man-in-the-Middle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Intercepting communication between two parties, often after gaining network access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ctr"/>
            <a:r>
              <a:rPr sz="4000" b="1" i="0">
                <a:solidFill>
                  <a:srgbClr val="003054"/>
                </a:solidFill>
                <a:latin typeface="Cambria"/>
              </a:rPr>
              <a:t>Security Controls &amp; Layered Defense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sz="1800" b="0" i="1">
                <a:solidFill>
                  <a:srgbClr val="6B7682"/>
                </a:solidFill>
                <a:latin typeface="Calibri"/>
              </a:rPr>
              <a:t>No single control stops everything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Types of Security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CONTROLS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Examples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Administrative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Policies, training, background checks, security awareness programs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Technical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Firewalls, encryption, access control lists, IDS/IPS (later weeks)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Physical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Locked server rooms, badge access, security cameras, cable locks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Controls by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CONTROLS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Preventive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Stop an incident before it happens (e.g. firewall rules, training)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Deterrent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Discourage an attack without necessarily stopping it (e.g. warning banners, visible cameras)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Detective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Identify an incident that's happening or already happened (e.g. logging, IDS)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Corrective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Actively fix the immediate problem once detected (e.g. quarantining infected hosts, patching)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Recovery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Restore systems, data, and operations to normal after an incident (e.g. backups, disaster recovery plans)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Compensating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22A33"/>
                          </a:solidFill>
                          <a:latin typeface="Calibri"/>
                        </a:rPr>
                        <a:t>An alternative control used when the ideal control isn't feasible (e.g. extra monitoring where patching isn't yet possible)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682"/>
                </a:solidFill>
                <a:latin typeface="Calibri"/>
              </a:rPr>
              <a:t>Corrective and Recovery are related but distinct: corrective stops the bleeding, recovery gets you back to normal.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Defense in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CONTROLS</a:t>
            </a:r>
          </a:p>
        </p:txBody>
      </p:sp>
      <p:sp>
        <p:nvSpPr>
          <p:cNvPr id="4" name="Oval 3"/>
          <p:cNvSpPr/>
          <p:nvPr/>
        </p:nvSpPr>
        <p:spPr>
          <a:xfrm>
            <a:off x="3840480" y="1645919"/>
            <a:ext cx="4206240" cy="4206240"/>
          </a:xfrm>
          <a:prstGeom prst="ellipse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251960" y="2057399"/>
            <a:ext cx="3383280" cy="338328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663440" y="2673927"/>
            <a:ext cx="2402378" cy="2355272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074920" y="2880359"/>
            <a:ext cx="1737360" cy="173736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Application</a:t>
            </a:r>
          </a:p>
        </p:txBody>
      </p:sp>
      <p:sp>
        <p:nvSpPr>
          <p:cNvPr id="8" name="Oval 7"/>
          <p:cNvSpPr/>
          <p:nvPr/>
        </p:nvSpPr>
        <p:spPr>
          <a:xfrm>
            <a:off x="5486400" y="3291839"/>
            <a:ext cx="914400" cy="914400"/>
          </a:xfrm>
          <a:prstGeom prst="ellipse">
            <a:avLst/>
          </a:prstGeom>
          <a:solidFill>
            <a:srgbClr val="0030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B7682"/>
                </a:solidFill>
                <a:latin typeface="Calibri"/>
              </a:rPr>
              <a:t>Perimeter → Network → Host → App →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4924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rgbClr val="222A33"/>
                </a:solidFill>
                <a:latin typeface="Calibri"/>
              </a:rPr>
              <a:t>Each ring is a control an attacker must get through — if one layer fails, the next one can still stop or slow them down.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Why Layered Defense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No single control stops every attack category we covered today — a firewall doesn't stop phishing; security training doesn't stop a DDoS flood.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Layering different control types (administrative + technical + physical, preventive + detective + corrective) means one failure doesn't mean total compromise.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This is the mindset the rest of the module builds on: each remaining technology (firewalls, AAA, VPN, IPS/IDS, cryptography) is one layer in this bigger picture, not a silver bullet on its own.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sz="2700" b="1" i="0">
                <a:solidFill>
                  <a:srgbClr val="FFFFFF"/>
                </a:solidFill>
                <a:latin typeface="Cambria"/>
              </a:rPr>
              <a:t>Matching Controls to Today's Attack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E97132"/>
                </a:solidFill>
                <a:latin typeface="Calibri"/>
              </a:rPr>
              <a:t>CONTROLS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82880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Attack category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Controls that help (preview)</a:t>
                      </a:r>
                    </a:p>
                  </a:txBody>
                  <a:tcPr marL="73152" marR="73152" marT="27432" marB="27432" anchor="ctr">
                    <a:solidFill>
                      <a:srgbClr val="0030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Malware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Technical: endpoint protection, patching. Administrative: safe-download policy.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Social engineering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Administrative: security-awareness training. Technical: email filtering.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DoS / DDoS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Technical: rate limiting, DDoS-protection services, redundant capacity.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Access &amp; reconnaissance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222A33"/>
                          </a:solidFill>
                          <a:latin typeface="Calibri"/>
                        </a:rPr>
                        <a:t>Technical: firewalls, strong authentication (AAA, Week 8). Detective: logging/IDS (Week 10).</a:t>
                      </a:r>
                    </a:p>
                  </a:txBody>
                  <a:tcPr marL="73152" marR="73152"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6B7682"/>
                </a:solidFill>
                <a:latin typeface="Calibri"/>
              </a:rPr>
              <a:t>This mapping is exactly what this week's lab asks you to build for a scenario company — no need to memorise it, just understand the logic.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600" b="0" i="0">
                <a:solidFill>
                  <a:srgbClr val="222A33"/>
                </a:solidFill>
                <a:latin typeface="Calibri"/>
              </a:rPr>
              <a:t>Network security protects confidentiality, integrity, and availability — and depends on people and process as much as technology.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600" b="0" i="0">
                <a:solidFill>
                  <a:srgbClr val="222A33"/>
                </a:solidFill>
                <a:latin typeface="Calibri"/>
              </a:rPr>
              <a:t>Threat modeling (asset → threat → vulnerability → risk) is the reasoning behind every security decision we'll make this semester.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600" b="0" i="0">
                <a:solidFill>
                  <a:srgbClr val="222A33"/>
                </a:solidFill>
                <a:latin typeface="Calibri"/>
              </a:rPr>
              <a:t>Threat actors range from curious green hats to organised, state-sponsored operations — and their motivations shape what they target.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600" b="0" i="0">
                <a:solidFill>
                  <a:srgbClr val="222A33"/>
                </a:solidFill>
                <a:latin typeface="Calibri"/>
              </a:rPr>
              <a:t>Attacks fall into four broad categories: malware, social engineering, DoS/DDoS, and access/reconnaissance — often combined in a real incident.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600" b="0" i="0">
                <a:solidFill>
                  <a:srgbClr val="222A33"/>
                </a:solidFill>
                <a:latin typeface="Calibri"/>
              </a:rPr>
              <a:t>No single control is enough — layered defense across administrative, technical, and physical controls is the foundation for everything from Week 3 onward.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This Week's Lab &amp; Tutorial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Lab (runs in the Week 3 session, based on this lecture): a combined exercise — classify real incidents by threat-actor type and attack category, then design a layered-defense control set for a scenario company.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Tutorial worksheet: 12 study-notes-style questions covering today's terms, threat actors, attack types, and controls — use it to prep for the mid-semester test.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Kaufman, Perlman, Speciner &amp; Perlner, Network Security: Private Communication in a Public World, 3rd Ed., Prentice Hall.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Santos &amp; Stuppi, CCNA Security 210-260 Official Cert Guide, 1st Ed., Cisco Press.</a:t>
            </a:r>
          </a:p>
          <a:p>
            <a:pPr marL="201168" indent="-201168">
              <a:spcAft>
                <a:spcPts val="1200"/>
              </a:spcAft>
              <a:buFont typeface="Arial"/>
              <a:buChar char="–"/>
            </a:pPr>
            <a:r>
              <a:rPr sz="1700" b="0" i="0">
                <a:solidFill>
                  <a:srgbClr val="222A33"/>
                </a:solidFill>
                <a:latin typeface="Calibri"/>
              </a:rPr>
              <a:t>Cisco Networking Academy — Introduction to Cybersecurity / CCNA Security curriculum.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337832b-e06e-4e87-85f5-ecfde68f9c8e}" enabled="1" method="Standard" siteId="{44e3cf94-19c9-4e32-96c3-14f5bf01391a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551</TotalTime>
  <Words>3412</Words>
  <Application>Microsoft Office PowerPoint</Application>
  <PresentationFormat>Widescreen</PresentationFormat>
  <Paragraphs>371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Aptos</vt:lpstr>
      <vt:lpstr>Aptos Display</vt:lpstr>
      <vt:lpstr>Arial</vt:lpstr>
      <vt:lpstr>Calibri</vt:lpstr>
      <vt:lpstr>Cambria</vt:lpstr>
      <vt:lpstr>Office Theme</vt:lpstr>
      <vt:lpstr>PowerPoint Presentation</vt:lpstr>
      <vt:lpstr>Today's Agenda</vt:lpstr>
      <vt:lpstr>Learning Outcomes for Today</vt:lpstr>
      <vt:lpstr>Why Network Security Matters</vt:lpstr>
      <vt:lpstr>What Is Network Security?</vt:lpstr>
      <vt:lpstr>Why It Matters</vt:lpstr>
      <vt:lpstr>The Extended CIA Triad</vt:lpstr>
      <vt:lpstr>The CIA Triad</vt:lpstr>
      <vt:lpstr>Authentication</vt:lpstr>
      <vt:lpstr>Non-Repudiation</vt:lpstr>
      <vt:lpstr>Key Terms &amp; Threat Modeling</vt:lpstr>
      <vt:lpstr>Key Terms — Revision</vt:lpstr>
      <vt:lpstr>How These Terms Fit Together</vt:lpstr>
      <vt:lpstr>What Is Threat Modeling?</vt:lpstr>
      <vt:lpstr>Worked Example: A Small Online Retailer</vt:lpstr>
      <vt:lpstr>How Networking — and Its Threats — Have Evolved</vt:lpstr>
      <vt:lpstr>From Isolated Systems to Everything Connected</vt:lpstr>
      <vt:lpstr>The Threat Landscape Evolved Alongside It</vt:lpstr>
      <vt:lpstr>Types of Hackers</vt:lpstr>
      <vt:lpstr>Hackers Aren't All the Same</vt:lpstr>
      <vt:lpstr>The Hat Spectrum</vt:lpstr>
      <vt:lpstr>Beyond the Hats</vt:lpstr>
      <vt:lpstr>Key Motivations</vt:lpstr>
      <vt:lpstr>Main Types of Attacks</vt:lpstr>
      <vt:lpstr>Four Broad Attack Categories</vt:lpstr>
      <vt:lpstr>Malware: The Basics</vt:lpstr>
      <vt:lpstr>Malware Types (1/3)</vt:lpstr>
      <vt:lpstr>Malware Types (2/3)</vt:lpstr>
      <vt:lpstr>Malware Types (3/3)</vt:lpstr>
      <vt:lpstr>Social Engineering: The Basics</vt:lpstr>
      <vt:lpstr>Social Engineering Attack Types (1/2)</vt:lpstr>
      <vt:lpstr>Social Engineering Attack Types (2/2)</vt:lpstr>
      <vt:lpstr>DoS and DDoS</vt:lpstr>
      <vt:lpstr>DoS/DDoS: Real-World Examples</vt:lpstr>
      <vt:lpstr>Access &amp; Reconnaissance Attacks</vt:lpstr>
      <vt:lpstr>Access &amp; Reconnaissance: Examples</vt:lpstr>
      <vt:lpstr>Security Controls &amp; Layered Defense</vt:lpstr>
      <vt:lpstr>Types of Security Controls</vt:lpstr>
      <vt:lpstr>Controls by Function</vt:lpstr>
      <vt:lpstr>Defense in Depth</vt:lpstr>
      <vt:lpstr>Why Layered Defense Matters</vt:lpstr>
      <vt:lpstr>Matching Controls to Today's Attack Categories</vt:lpstr>
      <vt:lpstr>Summary</vt:lpstr>
      <vt:lpstr>This Week's Lab &amp; Tutorial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Chathurangika Kahandawaarachchi</dc:creator>
  <cp:lastModifiedBy>Harinda Fernando</cp:lastModifiedBy>
  <cp:revision>201</cp:revision>
  <dcterms:created xsi:type="dcterms:W3CDTF">2026-02-25T14:32:17Z</dcterms:created>
  <dcterms:modified xsi:type="dcterms:W3CDTF">2026-07-28T09:22:31Z</dcterms:modified>
</cp:coreProperties>
</file>