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0AE"/>
    <a:srgbClr val="EBEFF6"/>
    <a:srgbClr val="FDFDFE"/>
    <a:srgbClr val="C8ECFC"/>
    <a:srgbClr val="003054"/>
    <a:srgbClr val="0070C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1487A1-A0D6-4348-9CC6-B3D23245C5C8}" v="8" dt="2026-07-14T05:22:03.770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969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nda Fernando" userId="be4c618b-01eb-4ea5-9d4b-17596987021b" providerId="ADAL" clId="{1E0ABD71-AB93-41F5-8129-2081E38250EC}"/>
    <pc:docChg chg="custSel modSld">
      <pc:chgData name="Harinda Fernando" userId="be4c618b-01eb-4ea5-9d4b-17596987021b" providerId="ADAL" clId="{1E0ABD71-AB93-41F5-8129-2081E38250EC}" dt="2026-07-14T05:22:25.411" v="175" actId="20577"/>
      <pc:docMkLst>
        <pc:docMk/>
      </pc:docMkLst>
      <pc:sldChg chg="modSp mod">
        <pc:chgData name="Harinda Fernando" userId="be4c618b-01eb-4ea5-9d4b-17596987021b" providerId="ADAL" clId="{1E0ABD71-AB93-41F5-8129-2081E38250EC}" dt="2026-07-14T05:19:32.687" v="1" actId="20577"/>
        <pc:sldMkLst>
          <pc:docMk/>
          <pc:sldMk cId="0" sldId="265"/>
        </pc:sldMkLst>
        <pc:graphicFrameChg chg="modGraphic">
          <ac:chgData name="Harinda Fernando" userId="be4c618b-01eb-4ea5-9d4b-17596987021b" providerId="ADAL" clId="{1E0ABD71-AB93-41F5-8129-2081E38250EC}" dt="2026-07-14T05:19:32.687" v="1" actId="20577"/>
          <ac:graphicFrameMkLst>
            <pc:docMk/>
            <pc:sldMk cId="0" sldId="265"/>
            <ac:graphicFrameMk id="3" creationId="{00000000-0000-0000-0000-000000000000}"/>
          </ac:graphicFrameMkLst>
        </pc:graphicFrameChg>
      </pc:sldChg>
      <pc:sldChg chg="addSp modSp mod">
        <pc:chgData name="Harinda Fernando" userId="be4c618b-01eb-4ea5-9d4b-17596987021b" providerId="ADAL" clId="{1E0ABD71-AB93-41F5-8129-2081E38250EC}" dt="2026-07-14T05:21:56.003" v="129" actId="6549"/>
        <pc:sldMkLst>
          <pc:docMk/>
          <pc:sldMk cId="0" sldId="268"/>
        </pc:sldMkLst>
        <pc:spChg chg="mod">
          <ac:chgData name="Harinda Fernando" userId="be4c618b-01eb-4ea5-9d4b-17596987021b" providerId="ADAL" clId="{1E0ABD71-AB93-41F5-8129-2081E38250EC}" dt="2026-07-14T05:20:37.179" v="6" actId="14100"/>
          <ac:spMkLst>
            <pc:docMk/>
            <pc:sldMk cId="0" sldId="268"/>
            <ac:spMk id="3" creationId="{00000000-0000-0000-0000-000000000000}"/>
          </ac:spMkLst>
        </pc:spChg>
        <pc:spChg chg="mod">
          <ac:chgData name="Harinda Fernando" userId="be4c618b-01eb-4ea5-9d4b-17596987021b" providerId="ADAL" clId="{1E0ABD71-AB93-41F5-8129-2081E38250EC}" dt="2026-07-14T05:21:56.003" v="129" actId="6549"/>
          <ac:spMkLst>
            <pc:docMk/>
            <pc:sldMk cId="0" sldId="268"/>
            <ac:spMk id="4" creationId="{00000000-0000-0000-0000-000000000000}"/>
          </ac:spMkLst>
        </pc:spChg>
        <pc:picChg chg="add mod">
          <ac:chgData name="Harinda Fernando" userId="be4c618b-01eb-4ea5-9d4b-17596987021b" providerId="ADAL" clId="{1E0ABD71-AB93-41F5-8129-2081E38250EC}" dt="2026-07-14T05:20:46.791" v="8" actId="1076"/>
          <ac:picMkLst>
            <pc:docMk/>
            <pc:sldMk cId="0" sldId="268"/>
            <ac:picMk id="1026" creationId="{39EF47EE-72E4-B559-6D75-E4FD67615C31}"/>
          </ac:picMkLst>
        </pc:picChg>
      </pc:sldChg>
      <pc:sldChg chg="modSp mod">
        <pc:chgData name="Harinda Fernando" userId="be4c618b-01eb-4ea5-9d4b-17596987021b" providerId="ADAL" clId="{1E0ABD71-AB93-41F5-8129-2081E38250EC}" dt="2026-07-14T05:22:25.411" v="175" actId="20577"/>
        <pc:sldMkLst>
          <pc:docMk/>
          <pc:sldMk cId="0" sldId="269"/>
        </pc:sldMkLst>
        <pc:spChg chg="mod">
          <ac:chgData name="Harinda Fernando" userId="be4c618b-01eb-4ea5-9d4b-17596987021b" providerId="ADAL" clId="{1E0ABD71-AB93-41F5-8129-2081E38250EC}" dt="2026-07-14T05:22:03.770" v="130" actId="20578"/>
          <ac:spMkLst>
            <pc:docMk/>
            <pc:sldMk cId="0" sldId="269"/>
            <ac:spMk id="3" creationId="{00000000-0000-0000-0000-000000000000}"/>
          </ac:spMkLst>
        </pc:spChg>
        <pc:spChg chg="mod">
          <ac:chgData name="Harinda Fernando" userId="be4c618b-01eb-4ea5-9d4b-17596987021b" providerId="ADAL" clId="{1E0ABD71-AB93-41F5-8129-2081E38250EC}" dt="2026-07-14T05:22:25.411" v="175" actId="20577"/>
          <ac:spMkLst>
            <pc:docMk/>
            <pc:sldMk cId="0" sldId="269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A265B-85F9-4AB9-A7F7-F201F3EC612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DF255-290D-41DE-BD04-0A7C06A1B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36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C36BA-4D0C-582A-D90D-A5050C3B5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35A14-CC45-415E-91D7-B39085336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3511F-336C-5F04-B406-EAC188B3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9E3F6-6859-4CA3-A09E-D0F7F72ACFE0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44DD8-8DE2-49BF-2256-D6C97453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E118B-A9C0-2539-EE0E-7F976FEA3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33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D9DBE-034D-F88C-332A-467E245C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6D88A-9AB2-CE18-CCE1-4CE93CF5F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E28A8-BA96-F50D-807E-BE9AFD5B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9165-B718-4A05-ABEA-493F7CF226F4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172DB-9131-6C85-8238-09E06115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35A60-C9F7-6C8C-1CB6-26C1644C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2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D231-9473-3376-B7F9-2B9B0001B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98136-DBDE-3025-06A8-1C273FCE0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3572A-62DD-CA9F-E4DD-D035DA296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9AE2-4C36-4768-AD66-E53AE3B69896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06F99-EECF-A28B-02D8-6E9260C9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97C3B-FDFB-646C-AA5A-1D48D6DB0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6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8290-BA90-4A7A-864A-9F933146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88928-35DF-C4DA-EEF3-AF71B4FDE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24945-DF26-5646-D08A-6A42E8E1E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4C70D-C5D2-DE0E-5A4D-5C54D957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E677-F796-43F6-BC96-25B1E0E4BB94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36F4D-2522-DF44-1C34-3B60B4B4B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6A2C-43F6-FE22-6DC6-758D53EB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6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5137-4489-DD84-A8A0-C614F15F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41754-800C-4717-0512-67D3739D2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8F263-D07C-28BF-3BB6-9B6527945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EA40D-AAC1-9598-D1AF-7635335E1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6D1A6-36AD-89AE-1A4F-1E8B9A77E7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E20158-925C-A7E9-5222-5E66069D1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C14BC-1BD6-4166-8FDC-A0F77CFEB6BC}" type="datetime1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889187-3B4A-58A4-0C3B-C7E850F6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8F996D-4AE8-BB7F-D3A1-995EE754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3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80101-22BA-32E5-2060-4A9C785A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593B0A-96D8-DA75-C76E-DA71825A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D351-5A68-4A1F-946B-20C3567895CF}" type="datetime1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81D16-288F-8034-9059-C666E54D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65B0D-78DE-91A7-D803-150A4D18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84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D95D1-8997-87CC-14A9-30F3E28E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CCCF-53CF-49A2-8E4E-6C875B11F612}" type="datetime1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5F0F5-689E-656C-326C-0DF47574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8FF23-2E61-3111-9C42-8D84E4817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8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A2505E-CFD5-8901-B1E4-35E1DFF8B637}"/>
              </a:ext>
            </a:extLst>
          </p:cNvPr>
          <p:cNvSpPr/>
          <p:nvPr userDrawn="1"/>
        </p:nvSpPr>
        <p:spPr>
          <a:xfrm>
            <a:off x="3048000" y="6176963"/>
            <a:ext cx="9143994" cy="667612"/>
          </a:xfrm>
          <a:prstGeom prst="rect">
            <a:avLst/>
          </a:prstGeom>
          <a:solidFill>
            <a:srgbClr val="003054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A7784B-71B0-4A27-69C4-436C1E401103}"/>
              </a:ext>
            </a:extLst>
          </p:cNvPr>
          <p:cNvSpPr/>
          <p:nvPr userDrawn="1"/>
        </p:nvSpPr>
        <p:spPr>
          <a:xfrm>
            <a:off x="0" y="1"/>
            <a:ext cx="12192000" cy="1690688"/>
          </a:xfrm>
          <a:prstGeom prst="rect">
            <a:avLst/>
          </a:prstGeom>
          <a:solidFill>
            <a:srgbClr val="003054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1F2622-3876-DB58-BA22-E1EC5EDC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5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546EC-E134-9B17-EE99-C27C18DC9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2DB5F-A581-B2FE-E227-EF8B4134F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ADC54051-F9E3-4634-8E2D-FEE7EC79C47F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CB4C9-6F98-0B0C-A82A-07D2BA3BC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BSc (Hons) in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E30B7-3975-EABC-A921-0B090B3CE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05DC659-408D-4781-A84D-B150AC404B9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7B7A56-4602-F3E4-33AF-7961B334812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3" y="6221220"/>
            <a:ext cx="2850179" cy="59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184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mbria"/>
              </a:rPr>
              <a:t>IE3122 – Network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Calibri"/>
              </a:rPr>
              <a:t>Week 1: Module &amp; Lecturer Introduction</a:t>
            </a:r>
          </a:p>
          <a:p>
            <a:r>
              <a:rPr sz="1500" b="0" i="1">
                <a:solidFill>
                  <a:srgbClr val="FFFFFF"/>
                </a:solidFill>
                <a:latin typeface="Calibri"/>
              </a:rPr>
              <a:t>Faculty of Computing — BSc (Hons) in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800" b="0" i="0">
                <a:solidFill>
                  <a:srgbClr val="222A33"/>
                </a:solidFill>
                <a:latin typeface="Calibri"/>
              </a:rPr>
              <a:t>Module overview — aim, learning outcomes, delivery structure</a:t>
            </a:r>
          </a:p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800" b="0" i="0">
                <a:solidFill>
                  <a:srgbClr val="222A33"/>
                </a:solidFill>
                <a:latin typeface="Calibri"/>
              </a:rPr>
              <a:t>Assessment structure and grading breakdown</a:t>
            </a:r>
          </a:p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800" b="0" i="0">
                <a:solidFill>
                  <a:srgbClr val="222A33"/>
                </a:solidFill>
                <a:latin typeface="Calibri"/>
              </a:rPr>
              <a:t>Weekly topic roadmap (Weeks 1–14)</a:t>
            </a:r>
          </a:p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800" b="0" i="0">
                <a:solidFill>
                  <a:srgbClr val="222A33"/>
                </a:solidFill>
                <a:latin typeface="Calibri"/>
              </a:rPr>
              <a:t>Meet your lecturer</a:t>
            </a:r>
          </a:p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800" b="0" i="0">
                <a:solidFill>
                  <a:srgbClr val="222A33"/>
                </a:solidFill>
                <a:latin typeface="Calibri"/>
              </a:rPr>
              <a:t>Ground rules and how the module runs</a:t>
            </a:r>
          </a:p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800" b="0" i="0">
                <a:solidFill>
                  <a:srgbClr val="222A33"/>
                </a:solidFill>
                <a:latin typeface="Calibri"/>
              </a:rPr>
              <a:t>What's next: Networking Revision (this session) &amp; Week 2</a:t>
            </a:r>
          </a:p>
        </p:txBody>
      </p:sp>
      <p:sp>
        <p:nvSpPr>
          <p:cNvPr id="4" name="Oval 3"/>
          <p:cNvSpPr/>
          <p:nvPr/>
        </p:nvSpPr>
        <p:spPr>
          <a:xfrm>
            <a:off x="10058400" y="1828800"/>
            <a:ext cx="548640" cy="502920"/>
          </a:xfrm>
          <a:prstGeom prst="ellipse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Oval 4"/>
          <p:cNvSpPr/>
          <p:nvPr/>
        </p:nvSpPr>
        <p:spPr>
          <a:xfrm>
            <a:off x="10058400" y="2487168"/>
            <a:ext cx="54864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Oval 5"/>
          <p:cNvSpPr/>
          <p:nvPr/>
        </p:nvSpPr>
        <p:spPr>
          <a:xfrm>
            <a:off x="10058400" y="3145536"/>
            <a:ext cx="548640" cy="502920"/>
          </a:xfrm>
          <a:prstGeom prst="ellipse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10058400" y="3803904"/>
            <a:ext cx="54864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8" name="Oval 7"/>
          <p:cNvSpPr/>
          <p:nvPr/>
        </p:nvSpPr>
        <p:spPr>
          <a:xfrm>
            <a:off x="10058400" y="4462272"/>
            <a:ext cx="548640" cy="502920"/>
          </a:xfrm>
          <a:prstGeom prst="ellipse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9" name="Oval 8"/>
          <p:cNvSpPr/>
          <p:nvPr/>
        </p:nvSpPr>
        <p:spPr>
          <a:xfrm>
            <a:off x="10058400" y="5120640"/>
            <a:ext cx="54864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Module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What this module is about, and how it's structured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Why This Module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MODULE 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2011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003054"/>
                </a:solidFill>
                <a:latin typeface="Calibri"/>
              </a:rPr>
              <a:t>Enable you to identify security vulnerabilities in a network and recommend suitable mitigation techniques — and to evaluate a company's networking requirements and infrastructure to recommend security solutions that protect its network and communications.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931920"/>
          <a:ext cx="106984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Credits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Delivery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Year 3, Semester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4 Credits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Lectures 2h + Tutorials 1h + Labs 2h / week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Module Learning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1188720" cy="749808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783080"/>
            <a:ext cx="9326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222A33"/>
                </a:solidFill>
                <a:latin typeface="Calibri"/>
              </a:rPr>
              <a:t>Describe common network vulnerabilities and attacks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188720" cy="749808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LO2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651760"/>
            <a:ext cx="9326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222A33"/>
                </a:solidFill>
                <a:latin typeface="Calibri"/>
              </a:rPr>
              <a:t>Evaluate mitigation techniques for vulnerabilities and make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1188720" cy="749808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LO3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520440"/>
            <a:ext cx="9326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222A33"/>
                </a:solidFill>
                <a:latin typeface="Calibri"/>
              </a:rPr>
              <a:t>Analyse a company's network/communication requirements and communicate security requirements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19"/>
            <a:ext cx="1188720" cy="749808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389119"/>
            <a:ext cx="9326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222A33"/>
                </a:solidFill>
                <a:latin typeface="Calibri"/>
              </a:rPr>
              <a:t>Evaluate modern security technologies (Firewalls, AAA, IPS/IDS, VPN, Cryptography)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1188720" cy="749808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LO5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5257800"/>
            <a:ext cx="9326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222A33"/>
                </a:solidFill>
                <a:latin typeface="Calibri"/>
              </a:rPr>
              <a:t>Configure security technologies (ACL, VPN, Switch/Router Security, Zone-Based Firewalls)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Assessment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How You'll Be Assessed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10698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Learning Outcomes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Final Exam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LO1–LO5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MCQ + structured essay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Mid-Semester Test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LO1–LO2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MCQ only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Group Assignment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LO2–LO5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Scenario-based report + presentation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749039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600" b="0" i="0" dirty="0">
                <a:solidFill>
                  <a:srgbClr val="222A33"/>
                </a:solidFill>
                <a:latin typeface="Calibri"/>
              </a:rPr>
              <a:t>Weekly practical exercises (labs) run throughout the semester and build the hands-on configuration skills tested indirectly via LO5.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600" b="0" i="0" dirty="0">
                <a:solidFill>
                  <a:srgbClr val="222A33"/>
                </a:solidFill>
                <a:latin typeface="Calibri"/>
              </a:rPr>
              <a:t>The group assignment is scenario-based: you'll </a:t>
            </a:r>
            <a:r>
              <a:rPr sz="1600" b="0" i="0" dirty="0" err="1">
                <a:solidFill>
                  <a:srgbClr val="222A33"/>
                </a:solidFill>
                <a:latin typeface="Calibri"/>
              </a:rPr>
              <a:t>analyse</a:t>
            </a:r>
            <a:r>
              <a:rPr sz="1600" b="0" i="0" dirty="0">
                <a:solidFill>
                  <a:srgbClr val="222A33"/>
                </a:solidFill>
                <a:latin typeface="Calibri"/>
              </a:rPr>
              <a:t> a company's network and recommend security solutions — directly mirroring LO3–LO5.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600" b="0" i="0" dirty="0">
                <a:solidFill>
                  <a:srgbClr val="222A33"/>
                </a:solidFill>
                <a:latin typeface="Calibri"/>
              </a:rPr>
              <a:t>The final exam mixes MCQ (recall/LO1–LO2) with structured essay questions (evaluation/analysis, LO3–LO5).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Weekly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Weekly Topics — Weeks 1–7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8288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Wk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Module Intro + Networking Revision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Orientation — layered stack, protocols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Networking &amp; Security Revision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Routers/switches, CIA Triad, threat analysis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Network Attacks &amp; Malware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Common attacks, vulnerabilities, malware types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4–5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Layer-Specific Attacks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Layer 2, 3 &amp; 4 attacks (2 lectures)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Network Defense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Security policy, BCP/DR, malware mitigation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Firewalls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Types, stateful inspection, zone-based, placement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Weekly Topics — Weeks 8–14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365832"/>
              </p:ext>
            </p:extLst>
          </p:nvPr>
        </p:nvGraphicFramePr>
        <p:xfrm>
          <a:off x="548640" y="18288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Wk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AAA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Server/device-based auth, RADIUS, TACACS+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VPN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VPN types, tunneling, SSL VPN vs IPSec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IPS and IDS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Functionality, placement, types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222A33"/>
                          </a:solidFill>
                          <a:latin typeface="Calibri"/>
                        </a:rPr>
                        <a:t>Cryptography</a:t>
                      </a:r>
                      <a:r>
                        <a:rPr lang="en-US" sz="1400" b="0" i="0" dirty="0">
                          <a:solidFill>
                            <a:srgbClr val="222A33"/>
                          </a:solidFill>
                          <a:latin typeface="Calibri"/>
                        </a:rPr>
                        <a:t>*</a:t>
                      </a:r>
                      <a:endParaRPr sz="1400" b="0" i="0" dirty="0">
                        <a:solidFill>
                          <a:srgbClr val="222A33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Symmetric/asymmetric, block/stream ciphers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222A33"/>
                          </a:solidFill>
                          <a:latin typeface="Calibri"/>
                        </a:rPr>
                        <a:t>Digital Certificates</a:t>
                      </a:r>
                      <a:r>
                        <a:rPr lang="en-US" sz="1400" b="0" i="0" dirty="0">
                          <a:solidFill>
                            <a:srgbClr val="222A33"/>
                          </a:solidFill>
                          <a:latin typeface="Calibri"/>
                        </a:rPr>
                        <a:t>*</a:t>
                      </a:r>
                      <a:endParaRPr sz="1400" b="0" i="0" dirty="0">
                        <a:solidFill>
                          <a:srgbClr val="222A33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Hash functions, PKI, non-repudiation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Wireless Security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WiFi security, WEP/WPA protocols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Revision / Assignment Vivas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222A33"/>
                          </a:solidFill>
                          <a:latin typeface="Calibri"/>
                        </a:rPr>
                        <a:t>Buffer week — no new lecture content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B7682"/>
                </a:solidFill>
                <a:latin typeface="Calibri"/>
              </a:rPr>
              <a:t>Weekly practicals (20 lab hours) run throughout — switch/router security, ACL, AAA, VPN, zone-based firewalls.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Recommended Texts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822960" cy="13716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800" b="1" i="0">
                <a:solidFill>
                  <a:srgbClr val="003054"/>
                </a:solidFill>
                <a:latin typeface="Calibri"/>
              </a:rPr>
              <a:t>CCNA Security 210-260 Official Cert Guide, 1st Ed.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6B7682"/>
                </a:solidFill>
                <a:latin typeface="Calibri"/>
              </a:rPr>
              <a:t>Omar Santos, John Stuppi</a:t>
            </a:r>
          </a:p>
          <a:p>
            <a:pPr marL="0" indent="0">
              <a:spcAft>
                <a:spcPts val="800"/>
              </a:spcAft>
              <a:buNone/>
            </a:pPr>
            <a:r>
              <a:rPr sz="1400" b="0" i="1">
                <a:solidFill>
                  <a:srgbClr val="6B7682"/>
                </a:solidFill>
                <a:latin typeface="Calibri"/>
              </a:rPr>
              <a:t>Cisco 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822960" cy="13716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800" b="1" i="0">
                <a:solidFill>
                  <a:srgbClr val="003054"/>
                </a:solidFill>
                <a:latin typeface="Calibri"/>
              </a:rPr>
              <a:t>Network Security: Private Communication in a Public World, 3rd Ed.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6B7682"/>
                </a:solidFill>
                <a:latin typeface="Calibri"/>
              </a:rPr>
              <a:t>Charlie Kaufman, Radia Perlman, Mike Speciner, Ray Perlner</a:t>
            </a:r>
          </a:p>
          <a:p>
            <a:pPr marL="0" indent="0">
              <a:spcAft>
                <a:spcPts val="800"/>
              </a:spcAft>
              <a:buNone/>
            </a:pPr>
            <a:r>
              <a:rPr sz="1400" b="0" i="1">
                <a:solidFill>
                  <a:srgbClr val="6B7682"/>
                </a:solidFill>
                <a:latin typeface="Calibri"/>
              </a:rPr>
              <a:t>Prentice Hall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Meet Your Lecturer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Prof. Harinda Fernando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828800"/>
            <a:ext cx="2377440" cy="2377440"/>
          </a:xfrm>
          <a:prstGeom prst="ellipse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6B7682"/>
                </a:solidFill>
                <a:latin typeface="Calibri"/>
              </a:rPr>
              <a:t>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828800"/>
            <a:ext cx="7955279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700" b="1" i="0" dirty="0">
                <a:solidFill>
                  <a:srgbClr val="003054"/>
                </a:solidFill>
                <a:latin typeface="Calibri"/>
              </a:rPr>
              <a:t>Professor, Dept. of Computer Systems Engineering</a:t>
            </a:r>
            <a:endParaRPr lang="en-US" sz="1700" b="1" i="0" dirty="0">
              <a:solidFill>
                <a:srgbClr val="003054"/>
              </a:solidFill>
              <a:latin typeface="Calibri"/>
            </a:endParaRPr>
          </a:p>
          <a:p>
            <a:pPr marL="201168" indent="-201168">
              <a:spcAft>
                <a:spcPts val="1000"/>
              </a:spcAft>
              <a:buFont typeface="Arial"/>
              <a:buChar char="–"/>
            </a:pPr>
            <a:endParaRPr lang="en-US" sz="1600" b="0" i="0" dirty="0">
              <a:solidFill>
                <a:srgbClr val="222A33"/>
              </a:solidFill>
              <a:latin typeface="Calibri"/>
            </a:endParaRPr>
          </a:p>
          <a:p>
            <a:pPr marL="201168" indent="-201168">
              <a:spcAft>
                <a:spcPts val="1000"/>
              </a:spcAft>
              <a:buFont typeface="Arial"/>
              <a:buChar char="–"/>
            </a:pPr>
            <a:r>
              <a:rPr sz="1600" b="0" i="0" dirty="0">
                <a:solidFill>
                  <a:srgbClr val="222A33"/>
                </a:solidFill>
                <a:latin typeface="Calibri"/>
              </a:rPr>
              <a:t>18 years in tertiary education across Australia and Sri Lanka</a:t>
            </a:r>
          </a:p>
          <a:p>
            <a:pPr marL="201168" indent="-201168">
              <a:spcAft>
                <a:spcPts val="1000"/>
              </a:spcAft>
              <a:buFont typeface="Arial"/>
              <a:buChar char="–"/>
            </a:pPr>
            <a:r>
              <a:rPr sz="1600" b="0" i="0" dirty="0">
                <a:solidFill>
                  <a:srgbClr val="222A33"/>
                </a:solidFill>
                <a:latin typeface="Calibri"/>
              </a:rPr>
              <a:t>Core expertise: Cybersecurity, Networking, and Machine Learning</a:t>
            </a:r>
          </a:p>
          <a:p>
            <a:pPr marL="201168" indent="-201168">
              <a:spcAft>
                <a:spcPts val="1000"/>
              </a:spcAft>
              <a:buFont typeface="Arial"/>
              <a:buChar char="–"/>
            </a:pPr>
            <a:r>
              <a:rPr sz="1600" b="0" i="0" dirty="0">
                <a:solidFill>
                  <a:srgbClr val="222A33"/>
                </a:solidFill>
                <a:latin typeface="Calibri"/>
              </a:rPr>
              <a:t>PhD in Computing, Deakin University (2012)</a:t>
            </a:r>
          </a:p>
        </p:txBody>
      </p:sp>
      <p:pic>
        <p:nvPicPr>
          <p:cNvPr id="1026" name="Picture 2" descr="Profile Image">
            <a:extLst>
              <a:ext uri="{FF2B5EF4-FFF2-40B4-BE49-F238E27FC236}">
                <a16:creationId xmlns:a16="http://schemas.microsoft.com/office/drawing/2014/main" id="{39EF47EE-72E4-B559-6D75-E4FD67615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1828800"/>
            <a:ext cx="2341418" cy="234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Current Roles &amp;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120640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sz="1800" b="1" i="0" dirty="0">
                <a:solidFill>
                  <a:srgbClr val="003054"/>
                </a:solidFill>
                <a:latin typeface="Calibri"/>
              </a:rPr>
              <a:t>Current Roles</a:t>
            </a:r>
          </a:p>
          <a:p>
            <a:pPr marL="201168" indent="-201168">
              <a:spcAft>
                <a:spcPts val="1000"/>
              </a:spcAft>
              <a:buFont typeface="Arial"/>
              <a:buChar char="–"/>
            </a:pPr>
            <a:r>
              <a:rPr lang="en-US" sz="1500" dirty="0">
                <a:solidFill>
                  <a:srgbClr val="222A33"/>
                </a:solidFill>
                <a:latin typeface="Calibri"/>
              </a:rPr>
              <a:t>Full Professor</a:t>
            </a:r>
          </a:p>
          <a:p>
            <a:pPr marL="201168" indent="-201168">
              <a:spcAft>
                <a:spcPts val="1000"/>
              </a:spcAft>
              <a:buFont typeface="Arial"/>
              <a:buChar char="–"/>
            </a:pPr>
            <a:r>
              <a:rPr sz="1500" b="0" i="0" dirty="0">
                <a:solidFill>
                  <a:srgbClr val="222A33"/>
                </a:solidFill>
                <a:latin typeface="Calibri"/>
              </a:rPr>
              <a:t>Cluster Lead — Information Assurance &amp; Security Research Cluster</a:t>
            </a:r>
          </a:p>
          <a:p>
            <a:pPr marL="201168" indent="-201168">
              <a:spcAft>
                <a:spcPts val="1000"/>
              </a:spcAft>
              <a:buFont typeface="Arial"/>
              <a:buChar char="–"/>
            </a:pPr>
            <a:r>
              <a:rPr sz="1500" b="0" i="0" dirty="0">
                <a:solidFill>
                  <a:srgbClr val="222A33"/>
                </a:solidFill>
                <a:latin typeface="Calibri"/>
              </a:rPr>
              <a:t>Program Coordinator, MSc in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828800"/>
            <a:ext cx="5212080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sz="1800" b="1" i="0" dirty="0">
                <a:solidFill>
                  <a:srgbClr val="003054"/>
                </a:solidFill>
                <a:latin typeface="Calibri"/>
              </a:rPr>
              <a:t>Research Domains</a:t>
            </a:r>
          </a:p>
          <a:p>
            <a:pPr marL="201168" indent="-201168">
              <a:spcAft>
                <a:spcPts val="1000"/>
              </a:spcAft>
              <a:buFont typeface="Arial"/>
              <a:buChar char="–"/>
            </a:pPr>
            <a:r>
              <a:rPr sz="1500" b="0" i="0" dirty="0">
                <a:solidFill>
                  <a:srgbClr val="222A33"/>
                </a:solidFill>
                <a:latin typeface="Calibri"/>
              </a:rPr>
              <a:t>Cybersecurity</a:t>
            </a:r>
          </a:p>
          <a:p>
            <a:pPr marL="201168" indent="-201168">
              <a:spcAft>
                <a:spcPts val="1000"/>
              </a:spcAft>
              <a:buFont typeface="Arial"/>
              <a:buChar char="–"/>
            </a:pPr>
            <a:r>
              <a:rPr sz="1500" b="0" i="0" dirty="0">
                <a:solidFill>
                  <a:srgbClr val="222A33"/>
                </a:solidFill>
                <a:latin typeface="Calibri"/>
              </a:rPr>
              <a:t>Networking</a:t>
            </a:r>
          </a:p>
          <a:p>
            <a:pPr marL="201168" indent="-201168">
              <a:spcAft>
                <a:spcPts val="1000"/>
              </a:spcAft>
              <a:buFont typeface="Arial"/>
              <a:buChar char="–"/>
            </a:pPr>
            <a:r>
              <a:rPr sz="1500" b="0" i="0" dirty="0">
                <a:solidFill>
                  <a:srgbClr val="222A33"/>
                </a:solidFill>
                <a:latin typeface="Calibri"/>
              </a:rPr>
              <a:t>Internet of Things (IoT)</a:t>
            </a:r>
            <a:endParaRPr lang="en-US" sz="1500" b="0" i="0" dirty="0">
              <a:solidFill>
                <a:srgbClr val="222A33"/>
              </a:solidFill>
              <a:latin typeface="Calibri"/>
            </a:endParaRPr>
          </a:p>
          <a:p>
            <a:pPr marL="201168" indent="-201168">
              <a:spcAft>
                <a:spcPts val="1000"/>
              </a:spcAft>
              <a:buFont typeface="Arial"/>
              <a:buChar char="–"/>
            </a:pPr>
            <a:r>
              <a:rPr lang="en-US" sz="1500" dirty="0">
                <a:solidFill>
                  <a:srgbClr val="222A33"/>
                </a:solidFill>
                <a:latin typeface="Calibri"/>
              </a:rPr>
              <a:t>Applied AI</a:t>
            </a:r>
            <a:endParaRPr sz="1500" b="0" i="0" dirty="0">
              <a:solidFill>
                <a:srgbClr val="222A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Recognitions &amp; Supervision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18288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70C0"/>
                </a:solidFill>
                <a:latin typeface="Cambria"/>
              </a:rPr>
              <a:t>200+</a:t>
            </a:r>
          </a:p>
          <a:p>
            <a:r>
              <a:rPr sz="1500" b="0" i="0">
                <a:solidFill>
                  <a:srgbClr val="222A33"/>
                </a:solidFill>
                <a:latin typeface="Calibri"/>
              </a:rPr>
              <a:t>Undergraduate dissertations supervised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120640" cy="18288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9659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70C0"/>
                </a:solidFill>
                <a:latin typeface="Cambria"/>
              </a:rPr>
              <a:t>30+</a:t>
            </a:r>
          </a:p>
          <a:p>
            <a:r>
              <a:rPr sz="1500" b="0" i="0">
                <a:solidFill>
                  <a:srgbClr val="222A33"/>
                </a:solidFill>
                <a:latin typeface="Calibri"/>
              </a:rPr>
              <a:t>Postgraduate dissertations supervised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18288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0690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70C0"/>
                </a:solidFill>
                <a:latin typeface="Cambria"/>
              </a:rPr>
              <a:t>FHEA</a:t>
            </a:r>
          </a:p>
          <a:p>
            <a:r>
              <a:rPr sz="1500" b="0" i="0">
                <a:solidFill>
                  <a:srgbClr val="222A33"/>
                </a:solidFill>
                <a:latin typeface="Calibri"/>
              </a:rPr>
              <a:t>Fellow of the Higher Education Academy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120640" cy="18288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40690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70C0"/>
                </a:solidFill>
                <a:latin typeface="Cambria"/>
              </a:rPr>
              <a:t>SMIEEE</a:t>
            </a:r>
          </a:p>
          <a:p>
            <a:r>
              <a:rPr sz="1500" b="0" i="0">
                <a:solidFill>
                  <a:srgbClr val="222A33"/>
                </a:solidFill>
                <a:latin typeface="Calibri"/>
              </a:rPr>
              <a:t>Senior Member, IEEE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Getting in Touch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400"/>
              </a:spcAft>
              <a:buFont typeface="Arial"/>
              <a:buChar char="–"/>
            </a:pPr>
            <a:r>
              <a:rPr sz="1600" b="1" i="0">
                <a:solidFill>
                  <a:srgbClr val="003054"/>
                </a:solidFill>
                <a:latin typeface="Calibri"/>
              </a:rPr>
              <a:t>Email</a:t>
            </a:r>
          </a:p>
          <a:p>
            <a:pPr marL="201168" indent="-201168">
              <a:spcAft>
                <a:spcPts val="2000"/>
              </a:spcAft>
              <a:buFont typeface="Arial"/>
              <a:buChar char="–"/>
            </a:pPr>
            <a:r>
              <a:rPr sz="1800" b="0" i="0">
                <a:solidFill>
                  <a:srgbClr val="0070C0"/>
                </a:solidFill>
                <a:latin typeface="Calibri"/>
              </a:rPr>
              <a:t>harinda.f@sliit.lk</a:t>
            </a:r>
          </a:p>
          <a:p>
            <a:pPr marL="201168" indent="-201168">
              <a:spcAft>
                <a:spcPts val="400"/>
              </a:spcAft>
              <a:buFont typeface="Arial"/>
              <a:buChar char="–"/>
            </a:pPr>
            <a:r>
              <a:rPr sz="1600" b="1" i="0">
                <a:solidFill>
                  <a:srgbClr val="003054"/>
                </a:solidFill>
                <a:latin typeface="Calibri"/>
              </a:rPr>
              <a:t>Best way to reach me</a:t>
            </a:r>
          </a:p>
          <a:p>
            <a:pPr marL="201168" indent="-201168">
              <a:spcAft>
                <a:spcPts val="2000"/>
              </a:spcAft>
              <a:buFont typeface="Arial"/>
              <a:buChar char="–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Email first for anything not urgent; consultation slot details will be shared on the course page.</a:t>
            </a:r>
          </a:p>
          <a:p>
            <a:pPr marL="201168" indent="-201168">
              <a:spcAft>
                <a:spcPts val="400"/>
              </a:spcAft>
              <a:buFont typeface="Arial"/>
              <a:buChar char="–"/>
            </a:pPr>
            <a:r>
              <a:rPr sz="1600" b="1" i="0">
                <a:solidFill>
                  <a:srgbClr val="003054"/>
                </a:solidFill>
                <a:latin typeface="Calibri"/>
              </a:rPr>
              <a:t>Please include</a:t>
            </a:r>
          </a:p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Your student ID and IE3122 in the subject line for faster routing.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Getting Started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How This Module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400"/>
              </a:spcAft>
              <a:buFont typeface="Arial"/>
              <a:buChar char="–"/>
            </a:pPr>
            <a:r>
              <a:rPr sz="1600" b="1" i="0">
                <a:solidFill>
                  <a:srgbClr val="003054"/>
                </a:solidFill>
                <a:latin typeface="Calibri"/>
              </a:rPr>
              <a:t>Attendance</a:t>
            </a:r>
          </a:p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Lectures, tutorials, and labs are all part of the learning cycle — labs build the configuration skills examined under LO5.</a:t>
            </a:r>
          </a:p>
          <a:p>
            <a:pPr marL="201168" indent="-201168">
              <a:spcAft>
                <a:spcPts val="400"/>
              </a:spcAft>
              <a:buFont typeface="Arial"/>
              <a:buChar char="–"/>
            </a:pPr>
            <a:r>
              <a:rPr sz="1600" b="1" i="0">
                <a:solidFill>
                  <a:srgbClr val="003054"/>
                </a:solidFill>
                <a:latin typeface="Calibri"/>
              </a:rPr>
              <a:t>Submissions</a:t>
            </a:r>
          </a:p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Deadlines for the group assignment will be posted on the course page; late policy follows faculty regulations.</a:t>
            </a:r>
          </a:p>
          <a:p>
            <a:pPr marL="201168" indent="-201168">
              <a:spcAft>
                <a:spcPts val="400"/>
              </a:spcAft>
              <a:buFont typeface="Arial"/>
              <a:buChar char="–"/>
            </a:pPr>
            <a:r>
              <a:rPr sz="1600" b="1" i="0">
                <a:solidFill>
                  <a:srgbClr val="003054"/>
                </a:solidFill>
                <a:latin typeface="Calibri"/>
              </a:rPr>
              <a:t>Communication</a:t>
            </a:r>
          </a:p>
          <a:p>
            <a:pPr marL="201168" indent="-201168">
              <a:spcAft>
                <a:spcPts val="1600"/>
              </a:spcAft>
              <a:buFont typeface="Arial"/>
              <a:buChar char="–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Course announcements and materials go through the official course page; email for individual queries.</a:t>
            </a:r>
          </a:p>
          <a:p>
            <a:pPr marL="201168" indent="-201168">
              <a:spcAft>
                <a:spcPts val="400"/>
              </a:spcAft>
              <a:buFont typeface="Arial"/>
              <a:buChar char="–"/>
            </a:pPr>
            <a:r>
              <a:rPr sz="1600" b="1" i="0">
                <a:solidFill>
                  <a:srgbClr val="003054"/>
                </a:solidFill>
                <a:latin typeface="Calibri"/>
              </a:rPr>
              <a:t>Academic Integrity</a:t>
            </a:r>
          </a:p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Group assignment work must be your own team's analysis — standard SLIIT academic integrity policy applies.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Tools You'll Need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Cisco Packet Tracer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Switch/router config, ACLs, VPN, firewall labs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From the lab sessions onward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GNS3 (optional)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More advanced topology simulation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As needed for later labs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114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0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No lab session accompanies this Week 1 lecture — instead, this week's practical is an incident-analysis exercise (see the Week 1 lab guide).</a:t>
            </a:r>
          </a:p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Get Packet Tracer installed before Week 2's session so we can move straight into hands-on work.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400"/>
              </a:spcAft>
              <a:buFont typeface="Arial"/>
              <a:buChar char="–"/>
            </a:pPr>
            <a:r>
              <a:rPr sz="1600" b="1" i="0">
                <a:solidFill>
                  <a:srgbClr val="003054"/>
                </a:solidFill>
                <a:latin typeface="Calibri"/>
              </a:rPr>
              <a:t>Right now</a:t>
            </a:r>
          </a:p>
          <a:p>
            <a:pPr marL="201168" indent="-201168">
              <a:spcAft>
                <a:spcPts val="18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Networking Revision — a quick refresher of the layered stack and core protocols (Ethernet, IP, DHCP, ARP, TCP, UDP, HTTP) before we build on them.</a:t>
            </a:r>
          </a:p>
          <a:p>
            <a:pPr marL="201168" indent="-201168">
              <a:spcAft>
                <a:spcPts val="400"/>
              </a:spcAft>
              <a:buFont typeface="Arial"/>
              <a:buChar char="–"/>
            </a:pPr>
            <a:r>
              <a:rPr sz="1600" b="1" i="0">
                <a:solidFill>
                  <a:srgbClr val="003054"/>
                </a:solidFill>
                <a:latin typeface="Calibri"/>
              </a:rPr>
              <a:t>This week's lab</a:t>
            </a:r>
          </a:p>
          <a:p>
            <a:pPr marL="201168" indent="-201168">
              <a:spcAft>
                <a:spcPts val="18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Recent network security breach case studies — analyse real incidents and answer scenario questions.</a:t>
            </a:r>
          </a:p>
          <a:p>
            <a:pPr marL="201168" indent="-201168">
              <a:spcAft>
                <a:spcPts val="400"/>
              </a:spcAft>
              <a:buFont typeface="Arial"/>
              <a:buChar char="–"/>
            </a:pPr>
            <a:r>
              <a:rPr sz="1600" b="1" i="0">
                <a:solidFill>
                  <a:srgbClr val="003054"/>
                </a:solidFill>
                <a:latin typeface="Calibri"/>
              </a:rPr>
              <a:t>Week 2</a:t>
            </a:r>
          </a:p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Networking and Security Revision — router/switch functionality, the CIA Triad, and threat analysis (LO1, LO3).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4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IE3122 builds skills across 5 LOs: describing threats, evaluating mitigations, analysing requirements, evaluating security technologies, and configuring them.</a:t>
            </a:r>
          </a:p>
          <a:p>
            <a:pPr marL="201168" indent="-201168">
              <a:spcAft>
                <a:spcPts val="14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Assessment blends MCQ, structured essay, and a scenario-based group assignment — all tied to specific LOs.</a:t>
            </a:r>
          </a:p>
          <a:p>
            <a:pPr marL="201168" indent="-201168">
              <a:spcAft>
                <a:spcPts val="14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14 teaching weeks: this orientation week, 12 core topic weeks, and a revision/viva week.</a:t>
            </a:r>
          </a:p>
          <a:p>
            <a:pPr marL="201168" indent="-201168">
              <a:spcAft>
                <a:spcPts val="14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Reach out early and often — harinda.f@sliit.lk.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600" b="1" i="0">
                <a:solidFill>
                  <a:srgbClr val="003054"/>
                </a:solidFill>
                <a:latin typeface="Cambria"/>
              </a:rPr>
              <a:t>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harinda.f@sliit.lk  —  Let's move into the Networking Revision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1054</Words>
  <Application>Microsoft Office PowerPoint</Application>
  <PresentationFormat>Widescreen</PresentationFormat>
  <Paragraphs>187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Today's Agenda</vt:lpstr>
      <vt:lpstr>Module Overview</vt:lpstr>
      <vt:lpstr>Why This Module Exists</vt:lpstr>
      <vt:lpstr>Module Learning Outcomes</vt:lpstr>
      <vt:lpstr>Assessment</vt:lpstr>
      <vt:lpstr>How You'll Be Assessed</vt:lpstr>
      <vt:lpstr>Weekly Roadmap</vt:lpstr>
      <vt:lpstr>Weekly Topics — Weeks 1–7</vt:lpstr>
      <vt:lpstr>Weekly Topics — Weeks 8–14</vt:lpstr>
      <vt:lpstr>Recommended Texts</vt:lpstr>
      <vt:lpstr>Meet Your Lecturer</vt:lpstr>
      <vt:lpstr>Prof. Harinda Fernando</vt:lpstr>
      <vt:lpstr>Current Roles &amp; Research</vt:lpstr>
      <vt:lpstr>Recognitions &amp; Supervision</vt:lpstr>
      <vt:lpstr>Getting in Touch</vt:lpstr>
      <vt:lpstr>Getting Started</vt:lpstr>
      <vt:lpstr>How This Module Runs</vt:lpstr>
      <vt:lpstr>Tools You'll Need</vt:lpstr>
      <vt:lpstr>What's Next</vt:lpstr>
      <vt:lpstr>Summary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Chathurangika Kahandawaarachchi</dc:creator>
  <cp:lastModifiedBy>Harinda Fernando</cp:lastModifiedBy>
  <cp:revision>201</cp:revision>
  <dcterms:created xsi:type="dcterms:W3CDTF">2026-02-25T14:32:17Z</dcterms:created>
  <dcterms:modified xsi:type="dcterms:W3CDTF">2026-07-14T05:22:30Z</dcterms:modified>
</cp:coreProperties>
</file>