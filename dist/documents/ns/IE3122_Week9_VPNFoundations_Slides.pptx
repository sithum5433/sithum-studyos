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9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9/23/2026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9/23/2026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9/23/2026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9/23/2026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9/23/2026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9/23/2026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9/23/2026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9/23/2026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Virtual Private Networks</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9</a:t>
            </a:r>
          </a:p>
          <a:p>
            <a:r>
              <a:rPr sz="1500" b="0" i="1">
                <a:solidFill>
                  <a:srgbClr val="FFFFFF"/>
                </a:solidFill>
                <a:latin typeface="Calibri"/>
              </a:rPr>
              <a:t>Communicating confidentially over a network built for neither privacy nor trust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The nature of the internet, and why confidentiality has to be added, not assumed</a:t>
            </a:r>
          </a:p>
          <a:p>
            <a:pPr marL="201168" indent="-201168">
              <a:spcAft>
                <a:spcPts val="1000"/>
              </a:spcAft>
              <a:buFont typeface="Arial"/>
              <a:buChar char="–"/>
            </a:pPr>
            <a:r>
              <a:rPr sz="1600" b="0" i="0">
                <a:solidFill>
                  <a:srgbClr val="222A33"/>
                </a:solidFill>
                <a:latin typeface="Calibri"/>
              </a:rPr>
              <a:t>What a VPN is and how it works</a:t>
            </a:r>
          </a:p>
          <a:p>
            <a:pPr marL="201168" indent="-201168">
              <a:spcAft>
                <a:spcPts val="1000"/>
              </a:spcAft>
              <a:buFont typeface="Arial"/>
              <a:buChar char="–"/>
            </a:pPr>
            <a:r>
              <a:rPr sz="1600" b="0" i="0">
                <a:solidFill>
                  <a:srgbClr val="222A33"/>
                </a:solidFill>
                <a:latin typeface="Calibri"/>
              </a:rPr>
              <a:t>The concept of a tunnel, and how it differs from a VPN</a:t>
            </a:r>
          </a:p>
          <a:p>
            <a:pPr marL="201168" indent="-201168">
              <a:spcAft>
                <a:spcPts val="1000"/>
              </a:spcAft>
              <a:buFont typeface="Arial"/>
              <a:buChar char="–"/>
            </a:pPr>
            <a:r>
              <a:rPr sz="1600" b="0" i="0">
                <a:solidFill>
                  <a:srgbClr val="222A33"/>
                </a:solidFill>
                <a:latin typeface="Calibri"/>
              </a:rPr>
              <a:t>Software versus hardware VPNs, and the five VPN types, each analysed in depth</a:t>
            </a:r>
          </a:p>
          <a:p>
            <a:pPr marL="201168" indent="-201168">
              <a:spcAft>
                <a:spcPts val="1000"/>
              </a:spcAft>
              <a:buFont typeface="Arial"/>
              <a:buChar char="–"/>
            </a:pPr>
            <a:r>
              <a:rPr sz="1600" b="0" i="0">
                <a:solidFill>
                  <a:srgbClr val="222A33"/>
                </a:solidFill>
                <a:latin typeface="Calibri"/>
              </a:rPr>
              <a:t>IPsec and SSL VPN in detail, including SSL VPN's modular building blocks</a:t>
            </a:r>
          </a:p>
          <a:p>
            <a:pPr marL="201168" indent="-201168">
              <a:spcAft>
                <a:spcPts val="1000"/>
              </a:spcAft>
              <a:buFont typeface="Arial"/>
              <a:buChar char="–"/>
            </a:pPr>
            <a:r>
              <a:rPr sz="1600" b="0" i="0">
                <a:solidFill>
                  <a:srgbClr val="222A33"/>
                </a:solidFill>
                <a:latin typeface="Calibri"/>
              </a:rPr>
              <a:t>An overview of how VPNs and tunnels are actually configured on Cisco devices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201168" indent="-201168">
              <a:spcAft>
                <a:spcPts val="800"/>
              </a:spcAft>
              <a:buFont typeface="Arial"/>
              <a:buChar char="–"/>
            </a:pPr>
            <a:r>
              <a:rPr sz="1400" b="0" i="1">
                <a:solidFill>
                  <a:srgbClr val="6B7682"/>
                </a:solidFill>
                <a:latin typeface="Calibri"/>
              </a:rPr>
              <a:t>By the end of this session you should be able to explain what makes a VPN a VPN and not just a tunnel, recommend the right VPN type for a given scenario, and describe how IPsec and SSL VPN actually differ under the hood.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Foundations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Why confidentiality has to be built in, not assumed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Nature of the Internet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The internet is a public, packet-switched network of interconnected networks, built from the start to </a:t>
            </a:r>
            <a:r>
              <a:rPr sz="1600" b="0" i="0" dirty="0" err="1">
                <a:solidFill>
                  <a:srgbClr val="222A33"/>
                </a:solidFill>
                <a:latin typeface="Calibri"/>
              </a:rPr>
              <a:t>prioritise</a:t>
            </a:r>
            <a:r>
              <a:rPr sz="1600" b="0" i="0" dirty="0">
                <a:solidFill>
                  <a:srgbClr val="222A33"/>
                </a:solidFill>
                <a:latin typeface="Calibri"/>
              </a:rPr>
              <a:t> connectivity and reachability, not privacy.</a:t>
            </a:r>
          </a:p>
          <a:p>
            <a:pPr marL="201168" indent="-201168">
              <a:spcAft>
                <a:spcPts val="1100"/>
              </a:spcAft>
              <a:buFont typeface="Arial"/>
              <a:buChar char="–"/>
            </a:pPr>
            <a:r>
              <a:rPr sz="1600" b="0" i="0" dirty="0">
                <a:solidFill>
                  <a:srgbClr val="222A33"/>
                </a:solidFill>
                <a:latin typeface="Calibri"/>
              </a:rPr>
              <a:t>A packet leaving your device typically crosses many intermediate hops, home router, ISP, internet exchange, another ISP, before reaching its destination, and you control or trust almost none of them.</a:t>
            </a:r>
          </a:p>
          <a:p>
            <a:pPr marL="201168" indent="-201168">
              <a:spcAft>
                <a:spcPts val="1100"/>
              </a:spcAft>
              <a:buFont typeface="Arial"/>
              <a:buChar char="–"/>
            </a:pPr>
            <a:r>
              <a:rPr sz="1600" b="0" i="0" dirty="0">
                <a:solidFill>
                  <a:srgbClr val="222A33"/>
                </a:solidFill>
                <a:latin typeface="Calibri"/>
              </a:rPr>
              <a:t>Recall Week 4 and Week 6: ARP spoofing, TCP hijacking, and simple traffic sniffing are all real, demonstrated ways that data crossing an untrusted segment can be intercepted or altered.</a:t>
            </a:r>
          </a:p>
          <a:p>
            <a:pPr marL="201168" indent="-201168">
              <a:spcAft>
                <a:spcPts val="1100"/>
              </a:spcAft>
              <a:buFont typeface="Arial"/>
              <a:buChar char="–"/>
            </a:pPr>
            <a:r>
              <a:rPr sz="1600" b="0" i="0" dirty="0">
                <a:solidFill>
                  <a:srgbClr val="222A33"/>
                </a:solidFill>
                <a:latin typeface="Calibri"/>
              </a:rPr>
              <a:t>At the same time, </a:t>
            </a:r>
            <a:r>
              <a:rPr sz="1600" b="0" i="0" dirty="0" err="1">
                <a:solidFill>
                  <a:srgbClr val="222A33"/>
                </a:solidFill>
                <a:latin typeface="Calibri"/>
              </a:rPr>
              <a:t>organisations</a:t>
            </a:r>
            <a:r>
              <a:rPr sz="1600" b="0" i="0" dirty="0">
                <a:solidFill>
                  <a:srgbClr val="222A33"/>
                </a:solidFill>
                <a:latin typeface="Calibri"/>
              </a:rPr>
              <a:t> increasingly need to connect branch offices, remote employees, and cloud resources across exactly this same untrusted public infrastructure. That tension is the entire reason VPNs exist.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Need for Communication Confidentiality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Confidentiality means only the intended recipient can read the data, even if someone else captures it in transit.</a:t>
            </a:r>
          </a:p>
          <a:p>
            <a:pPr marL="201168" indent="-201168">
              <a:spcAft>
                <a:spcPts val="1100"/>
              </a:spcAft>
              <a:buFont typeface="Arial"/>
              <a:buChar char="–"/>
            </a:pPr>
            <a:r>
              <a:rPr sz="1600" b="0" i="0" dirty="0">
                <a:solidFill>
                  <a:srgbClr val="222A33"/>
                </a:solidFill>
                <a:latin typeface="Calibri"/>
              </a:rPr>
              <a:t>Without it, financial data, credentials, health records, and ordinary business communication all cross the same public infrastructure in a form anyone positioned along the path could potentially read.</a:t>
            </a:r>
          </a:p>
          <a:p>
            <a:pPr marL="201168" indent="-201168">
              <a:spcAft>
                <a:spcPts val="1100"/>
              </a:spcAft>
              <a:buFont typeface="Arial"/>
              <a:buChar char="–"/>
            </a:pPr>
            <a:r>
              <a:rPr sz="1600" b="0" i="0" dirty="0">
                <a:solidFill>
                  <a:srgbClr val="222A33"/>
                </a:solidFill>
                <a:latin typeface="Calibri"/>
              </a:rPr>
              <a:t>This isn't a hypothetical risk specific to VPNs. It's the same underlying weakness this whole module keeps returning to: protocols and infrastructure designed for connectivity, not verification or secrecy, by default.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What Is a VPN?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 Virtual Private Network (VPN) creates a secure, encrypted connection across a public network, so the connected parties can communicate as if they were on the same private, trusted network.</a:t>
            </a:r>
          </a:p>
          <a:p>
            <a:pPr marL="201168" indent="-201168">
              <a:spcAft>
                <a:spcPts val="1100"/>
              </a:spcAft>
              <a:buFont typeface="Arial"/>
              <a:buChar char="–"/>
            </a:pPr>
            <a:r>
              <a:rPr sz="1600" b="0" i="0" dirty="0">
                <a:solidFill>
                  <a:srgbClr val="222A33"/>
                </a:solidFill>
                <a:latin typeface="Calibri"/>
              </a:rPr>
              <a:t>It achieves this through three things working together: tunneling (encapsulating traffic), encryption (confidentiality), and authentication (verifying the parties involved).</a:t>
            </a:r>
          </a:p>
          <a:p>
            <a:pPr marL="201168" indent="-201168">
              <a:spcAft>
                <a:spcPts val="1100"/>
              </a:spcAft>
              <a:buFont typeface="Arial"/>
              <a:buChar char="–"/>
            </a:pPr>
            <a:r>
              <a:rPr sz="1600" b="0" i="0" dirty="0">
                <a:solidFill>
                  <a:srgbClr val="222A33"/>
                </a:solidFill>
                <a:latin typeface="Calibri"/>
              </a:rPr>
              <a:t>The result typically provides confidentiality, integrity, and authentication all at once, properties the underlying public network never guaranteed on its own.</a:t>
            </a:r>
          </a:p>
        </p:txBody>
      </p:sp>
      <p:pic>
        <p:nvPicPr>
          <p:cNvPr id="5" name="Picture 2">
            <a:extLst>
              <a:ext uri="{FF2B5EF4-FFF2-40B4-BE49-F238E27FC236}">
                <a16:creationId xmlns:a16="http://schemas.microsoft.com/office/drawing/2014/main" id="{FD26875D-4053-F114-DB60-F236A51AE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0647" y="3616037"/>
            <a:ext cx="4123193" cy="25187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How a VPN Actually Works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 VPN client or gateway first establishes a secure session with a VPN server or peer gateway, usually via a key exchange process that authenticates both sides and agrees on cryptographic parameters.</a:t>
            </a:r>
          </a:p>
          <a:p>
            <a:pPr marL="201168" indent="-201168">
              <a:spcAft>
                <a:spcPts val="1100"/>
              </a:spcAft>
              <a:buFont typeface="Arial"/>
              <a:buChar char="–"/>
            </a:pPr>
            <a:r>
              <a:rPr sz="1600" b="0" i="0" dirty="0">
                <a:solidFill>
                  <a:srgbClr val="222A33"/>
                </a:solidFill>
                <a:latin typeface="Calibri"/>
              </a:rPr>
              <a:t>The original packet is encapsulated inside a new packet, giving it a new outer header suited to crossing the public network.</a:t>
            </a:r>
          </a:p>
          <a:p>
            <a:pPr marL="201168" indent="-201168">
              <a:spcAft>
                <a:spcPts val="1100"/>
              </a:spcAft>
              <a:buFont typeface="Arial"/>
              <a:buChar char="–"/>
            </a:pPr>
            <a:r>
              <a:rPr sz="1600" b="0" i="0" dirty="0">
                <a:solidFill>
                  <a:srgbClr val="222A33"/>
                </a:solidFill>
                <a:latin typeface="Calibri"/>
              </a:rPr>
              <a:t>That encapsulated packet is then encrypted, so its contents are unreadable to anything observing the public network in between.</a:t>
            </a:r>
          </a:p>
          <a:p>
            <a:pPr marL="201168" indent="-201168">
              <a:spcAft>
                <a:spcPts val="1100"/>
              </a:spcAft>
              <a:buFont typeface="Arial"/>
              <a:buChar char="–"/>
            </a:pPr>
            <a:r>
              <a:rPr sz="1600" b="0" i="0" dirty="0">
                <a:solidFill>
                  <a:srgbClr val="222A33"/>
                </a:solidFill>
                <a:latin typeface="Calibri"/>
              </a:rPr>
              <a:t>The encrypted, encapsulated packet travels across the public network to the far-end VPN device, which decrypts it, removes the outer encapsulation, and delivers the original packet to its real destination.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8298-F18C-4DFB-0255-FD10C8BDD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872C9-E179-AF60-3E18-80161D825854}"/>
              </a:ext>
            </a:extLst>
          </p:cNvPr>
          <p:cNvSpPr>
            <a:spLocks noGrp="1"/>
          </p:cNvSpPr>
          <p:nvPr>
            <p:ph type="title"/>
          </p:nvPr>
        </p:nvSpPr>
        <p:spPr/>
        <p:txBody>
          <a:bodyPr anchor="b"/>
          <a:lstStyle/>
          <a:p>
            <a:r>
              <a:rPr sz="2500" b="1" i="0">
                <a:solidFill>
                  <a:srgbClr val="FFFFFF"/>
                </a:solidFill>
                <a:latin typeface="Cambria"/>
              </a:rPr>
              <a:t>How a VPN Actually Works</a:t>
            </a:r>
          </a:p>
        </p:txBody>
      </p:sp>
      <p:sp>
        <p:nvSpPr>
          <p:cNvPr id="3" name="TextBox 2">
            <a:extLst>
              <a:ext uri="{FF2B5EF4-FFF2-40B4-BE49-F238E27FC236}">
                <a16:creationId xmlns:a16="http://schemas.microsoft.com/office/drawing/2014/main" id="{C36A5E27-23EA-22EB-9C67-C1FA31F22CAC}"/>
              </a:ext>
            </a:extLst>
          </p:cNvPr>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pic>
        <p:nvPicPr>
          <p:cNvPr id="5" name="Picture 2">
            <a:extLst>
              <a:ext uri="{FF2B5EF4-FFF2-40B4-BE49-F238E27FC236}">
                <a16:creationId xmlns:a16="http://schemas.microsoft.com/office/drawing/2014/main" id="{C94404A1-1F93-3EDF-E0B2-10F3D5D93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195771" y="1828800"/>
            <a:ext cx="10235931" cy="413728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2"/>
                </a:solidFill>
                <a:prstDash val="solid"/>
                <a:miter lim="800000"/>
                <a:headEnd type="none" w="med" len="med"/>
                <a:tailEnd type="none" w="med" len="med"/>
              </a14:hiddenLine>
            </a:ext>
          </a:extLst>
        </p:spPr>
      </p:pic>
    </p:spTree>
    <p:extLst>
      <p:ext uri="{BB962C8B-B14F-4D97-AF65-F5344CB8AC3E}">
        <p14:creationId xmlns:p14="http://schemas.microsoft.com/office/powerpoint/2010/main" val="3506971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Concept of a Tunnel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tunnel is a mechanism for encapsulating one protocol's packets inside another protocol's packets, so they can be carried across a network that might not otherwise support or route them directly.</a:t>
            </a:r>
          </a:p>
          <a:p>
            <a:pPr marL="201168" indent="-201168">
              <a:spcAft>
                <a:spcPts val="1100"/>
              </a:spcAft>
              <a:buFont typeface="Arial"/>
              <a:buChar char="–"/>
            </a:pPr>
            <a:r>
              <a:rPr sz="1600" b="0" i="0">
                <a:solidFill>
                  <a:srgbClr val="222A33"/>
                </a:solidFill>
                <a:latin typeface="Calibri"/>
              </a:rPr>
              <a:t>A tunnel is purely a transport and encapsulation mechanism. On its own, it does not provide encryption, confidentiality, or authentication of any kind.</a:t>
            </a:r>
          </a:p>
          <a:p>
            <a:pPr marL="201168" indent="-201168">
              <a:spcAft>
                <a:spcPts val="1100"/>
              </a:spcAft>
              <a:buFont typeface="Arial"/>
              <a:buChar char="–"/>
            </a:pPr>
            <a:r>
              <a:rPr sz="1600" b="0" i="0">
                <a:solidFill>
                  <a:srgbClr val="222A33"/>
                </a:solidFill>
                <a:latin typeface="Calibri"/>
              </a:rPr>
              <a:t>GRE (Generic Routing Encapsulation) is the classic example: it can carry a wide variety of traffic, including protocols IP itself wouldn't normally route, wrapped inside an ordinary IP packet, entirely in plain 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Tunnel vs VPN: Not the Same Thing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tunnel is just encapsulation. A VPN specifically adds security, encryption, integrity, and authentication, on top of that encapsulation.</a:t>
            </a:r>
          </a:p>
          <a:p>
            <a:pPr marL="201168" indent="-201168">
              <a:spcAft>
                <a:spcPts val="1100"/>
              </a:spcAft>
              <a:buFont typeface="Arial"/>
              <a:buChar char="–"/>
            </a:pPr>
            <a:r>
              <a:rPr sz="1600" b="0" i="0">
                <a:solidFill>
                  <a:srgbClr val="222A33"/>
                </a:solidFill>
                <a:latin typeface="Calibri"/>
              </a:rPr>
              <a:t>This means not every tunnel is a VPN. A plain GRE tunnel carries traffic across the internet, but that traffic is still sitting in plain text the entire way; anyone intercepting it can read it directly.</a:t>
            </a:r>
          </a:p>
          <a:p>
            <a:pPr marL="201168" indent="-201168">
              <a:spcAft>
                <a:spcPts val="1100"/>
              </a:spcAft>
              <a:buFont typeface="Arial"/>
              <a:buChar char="–"/>
            </a:pPr>
            <a:r>
              <a:rPr sz="1600" b="0" i="0">
                <a:solidFill>
                  <a:srgbClr val="222A33"/>
                </a:solidFill>
                <a:latin typeface="Calibri"/>
              </a:rPr>
              <a:t>Every VPN does rely on some form of tunneling to carry traffic, but a VPN is defined by the security layered on top of that tunnel, not by the encapsulation alone.</a:t>
            </a:r>
          </a:p>
          <a:p>
            <a:pPr marL="201168" indent="-201168">
              <a:spcAft>
                <a:spcPts val="1100"/>
              </a:spcAft>
              <a:buFont typeface="Arial"/>
              <a:buChar char="–"/>
            </a:pPr>
            <a:r>
              <a:rPr sz="1600" b="0" i="0">
                <a:solidFill>
                  <a:srgbClr val="222A33"/>
                </a:solidFill>
                <a:latin typeface="Calibri"/>
              </a:rPr>
              <a:t>A very common real-world design combines both deliberately: a GRE tunnel carries traffic (including things plain IPsec alone can't, like dynamic routing protocols or multicast), and IPsec then encrypts that GRE traffic. This is often called GRE over IPsec, and you'll see its configuration later today.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Tunnel vs VPN: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graphicFrame>
        <p:nvGraphicFramePr>
          <p:cNvPr id="4" name="Table 3"/>
          <p:cNvGraphicFramePr>
            <a:graphicFrameLocks noGrp="1"/>
          </p:cNvGraphicFramePr>
          <p:nvPr>
            <p:extLst>
              <p:ext uri="{D42A27DB-BD31-4B8C-83A1-F6EECF244321}">
                <p14:modId xmlns:p14="http://schemas.microsoft.com/office/powerpoint/2010/main" val="4005477869"/>
              </p:ext>
            </p:extLst>
          </p:nvPr>
        </p:nvGraphicFramePr>
        <p:xfrm>
          <a:off x="365760" y="1737360"/>
          <a:ext cx="11430000" cy="32918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8368">
                <a:tc>
                  <a:txBody>
                    <a:bodyPr/>
                    <a:lstStyle/>
                    <a:p>
                      <a:r>
                        <a:rPr sz="1600" b="1" i="0">
                          <a:solidFill>
                            <a:srgbClr val="FFFFFF"/>
                          </a:solidFill>
                          <a:latin typeface="Calibri"/>
                        </a:rPr>
                        <a:t>Aspect</a:t>
                      </a:r>
                    </a:p>
                  </a:txBody>
                  <a:tcPr marL="73152" marR="73152" marT="27432" marB="27432" anchor="ctr">
                    <a:solidFill>
                      <a:srgbClr val="003054"/>
                    </a:solidFill>
                  </a:tcPr>
                </a:tc>
                <a:tc>
                  <a:txBody>
                    <a:bodyPr/>
                    <a:lstStyle/>
                    <a:p>
                      <a:r>
                        <a:rPr sz="1600" b="1" i="0" dirty="0">
                          <a:solidFill>
                            <a:srgbClr val="FFFFFF"/>
                          </a:solidFill>
                          <a:latin typeface="Calibri"/>
                        </a:rPr>
                        <a:t>Tunnel</a:t>
                      </a:r>
                    </a:p>
                  </a:txBody>
                  <a:tcPr marL="73152" marR="73152" marT="27432" marB="27432" anchor="ctr">
                    <a:solidFill>
                      <a:srgbClr val="003054"/>
                    </a:solidFill>
                  </a:tcPr>
                </a:tc>
                <a:tc>
                  <a:txBody>
                    <a:bodyPr/>
                    <a:lstStyle/>
                    <a:p>
                      <a:r>
                        <a:rPr sz="1600" b="1" i="0" dirty="0">
                          <a:solidFill>
                            <a:srgbClr val="FFFFFF"/>
                          </a:solidFill>
                          <a:latin typeface="Calibri"/>
                        </a:rPr>
                        <a:t>VPN</a:t>
                      </a:r>
                    </a:p>
                  </a:txBody>
                  <a:tcPr marL="73152" marR="73152" marT="27432" marB="27432" anchor="ctr">
                    <a:solidFill>
                      <a:srgbClr val="003054"/>
                    </a:solidFill>
                  </a:tcPr>
                </a:tc>
                <a:extLst>
                  <a:ext uri="{0D108BD9-81ED-4DB2-BD59-A6C34878D82A}">
                    <a16:rowId xmlns:a16="http://schemas.microsoft.com/office/drawing/2014/main" val="10000"/>
                  </a:ext>
                </a:extLst>
              </a:tr>
              <a:tr h="658368">
                <a:tc>
                  <a:txBody>
                    <a:bodyPr/>
                    <a:lstStyle/>
                    <a:p>
                      <a:r>
                        <a:rPr sz="1600" b="0" i="0">
                          <a:solidFill>
                            <a:srgbClr val="222A33"/>
                          </a:solidFill>
                          <a:latin typeface="Calibri"/>
                        </a:rPr>
                        <a:t>Primary purpose</a:t>
                      </a:r>
                    </a:p>
                  </a:txBody>
                  <a:tcPr marL="73152" marR="73152" marT="27432" marB="27432" anchor="ctr">
                    <a:solidFill>
                      <a:srgbClr val="FFFFFF"/>
                    </a:solidFill>
                  </a:tcPr>
                </a:tc>
                <a:tc>
                  <a:txBody>
                    <a:bodyPr/>
                    <a:lstStyle/>
                    <a:p>
                      <a:r>
                        <a:rPr sz="1600" b="0" i="0">
                          <a:solidFill>
                            <a:srgbClr val="222A33"/>
                          </a:solidFill>
                          <a:latin typeface="Calibri"/>
                        </a:rPr>
                        <a:t>Encapsulate one protocol inside another for transport</a:t>
                      </a:r>
                    </a:p>
                  </a:txBody>
                  <a:tcPr marL="73152" marR="73152" marT="27432" marB="27432" anchor="ctr">
                    <a:solidFill>
                      <a:srgbClr val="FFFFFF"/>
                    </a:solidFill>
                  </a:tcPr>
                </a:tc>
                <a:tc>
                  <a:txBody>
                    <a:bodyPr/>
                    <a:lstStyle/>
                    <a:p>
                      <a:r>
                        <a:rPr sz="1600" b="0" i="0">
                          <a:solidFill>
                            <a:srgbClr val="222A33"/>
                          </a:solidFill>
                          <a:latin typeface="Calibri"/>
                        </a:rPr>
                        <a:t>Secure, confidential communication over a public network</a:t>
                      </a:r>
                    </a:p>
                  </a:txBody>
                  <a:tcPr marL="73152" marR="73152" marT="27432" marB="27432" anchor="ctr">
                    <a:solidFill>
                      <a:srgbClr val="FFFFFF"/>
                    </a:solidFill>
                  </a:tcPr>
                </a:tc>
                <a:extLst>
                  <a:ext uri="{0D108BD9-81ED-4DB2-BD59-A6C34878D82A}">
                    <a16:rowId xmlns:a16="http://schemas.microsoft.com/office/drawing/2014/main" val="10001"/>
                  </a:ext>
                </a:extLst>
              </a:tr>
              <a:tr h="658368">
                <a:tc>
                  <a:txBody>
                    <a:bodyPr/>
                    <a:lstStyle/>
                    <a:p>
                      <a:r>
                        <a:rPr sz="1600" b="0" i="0">
                          <a:solidFill>
                            <a:srgbClr val="222A33"/>
                          </a:solidFill>
                          <a:latin typeface="Calibri"/>
                        </a:rPr>
                        <a:t>Encryption</a:t>
                      </a:r>
                    </a:p>
                  </a:txBody>
                  <a:tcPr marL="73152" marR="73152" marT="27432" marB="27432" anchor="ctr">
                    <a:solidFill>
                      <a:srgbClr val="F2F4F7"/>
                    </a:solidFill>
                  </a:tcPr>
                </a:tc>
                <a:tc>
                  <a:txBody>
                    <a:bodyPr/>
                    <a:lstStyle/>
                    <a:p>
                      <a:r>
                        <a:rPr sz="1600" b="0" i="0">
                          <a:solidFill>
                            <a:srgbClr val="222A33"/>
                          </a:solidFill>
                          <a:latin typeface="Calibri"/>
                        </a:rPr>
                        <a:t>Not inherent, unless separately added</a:t>
                      </a:r>
                    </a:p>
                  </a:txBody>
                  <a:tcPr marL="73152" marR="73152" marT="27432" marB="27432" anchor="ctr">
                    <a:solidFill>
                      <a:srgbClr val="F2F4F7"/>
                    </a:solidFill>
                  </a:tcPr>
                </a:tc>
                <a:tc>
                  <a:txBody>
                    <a:bodyPr/>
                    <a:lstStyle/>
                    <a:p>
                      <a:r>
                        <a:rPr sz="1600" b="0" i="0">
                          <a:solidFill>
                            <a:srgbClr val="222A33"/>
                          </a:solidFill>
                          <a:latin typeface="Calibri"/>
                        </a:rPr>
                        <a:t>Always included</a:t>
                      </a:r>
                    </a:p>
                  </a:txBody>
                  <a:tcPr marL="73152" marR="73152" marT="27432" marB="27432" anchor="ctr">
                    <a:solidFill>
                      <a:srgbClr val="F2F4F7"/>
                    </a:solidFill>
                  </a:tcPr>
                </a:tc>
                <a:extLst>
                  <a:ext uri="{0D108BD9-81ED-4DB2-BD59-A6C34878D82A}">
                    <a16:rowId xmlns:a16="http://schemas.microsoft.com/office/drawing/2014/main" val="10002"/>
                  </a:ext>
                </a:extLst>
              </a:tr>
              <a:tr h="658368">
                <a:tc>
                  <a:txBody>
                    <a:bodyPr/>
                    <a:lstStyle/>
                    <a:p>
                      <a:r>
                        <a:rPr sz="1600" b="0" i="0">
                          <a:solidFill>
                            <a:srgbClr val="222A33"/>
                          </a:solidFill>
                          <a:latin typeface="Calibri"/>
                        </a:rPr>
                        <a:t>Authentication</a:t>
                      </a:r>
                    </a:p>
                  </a:txBody>
                  <a:tcPr marL="73152" marR="73152" marT="27432" marB="27432" anchor="ctr">
                    <a:solidFill>
                      <a:srgbClr val="FFFFFF"/>
                    </a:solidFill>
                  </a:tcPr>
                </a:tc>
                <a:tc>
                  <a:txBody>
                    <a:bodyPr/>
                    <a:lstStyle/>
                    <a:p>
                      <a:r>
                        <a:rPr sz="1600" b="0" i="0">
                          <a:solidFill>
                            <a:srgbClr val="222A33"/>
                          </a:solidFill>
                          <a:latin typeface="Calibri"/>
                        </a:rPr>
                        <a:t>Not inherent</a:t>
                      </a:r>
                    </a:p>
                  </a:txBody>
                  <a:tcPr marL="73152" marR="73152" marT="27432" marB="27432" anchor="ctr">
                    <a:solidFill>
                      <a:srgbClr val="FFFFFF"/>
                    </a:solidFill>
                  </a:tcPr>
                </a:tc>
                <a:tc>
                  <a:txBody>
                    <a:bodyPr/>
                    <a:lstStyle/>
                    <a:p>
                      <a:r>
                        <a:rPr sz="1600" b="0" i="0">
                          <a:solidFill>
                            <a:srgbClr val="222A33"/>
                          </a:solidFill>
                          <a:latin typeface="Calibri"/>
                        </a:rPr>
                        <a:t>Typically included</a:t>
                      </a:r>
                    </a:p>
                  </a:txBody>
                  <a:tcPr marL="73152" marR="73152" marT="27432" marB="27432" anchor="ctr">
                    <a:solidFill>
                      <a:srgbClr val="FFFFFF"/>
                    </a:solidFill>
                  </a:tcPr>
                </a:tc>
                <a:extLst>
                  <a:ext uri="{0D108BD9-81ED-4DB2-BD59-A6C34878D82A}">
                    <a16:rowId xmlns:a16="http://schemas.microsoft.com/office/drawing/2014/main" val="10003"/>
                  </a:ext>
                </a:extLst>
              </a:tr>
              <a:tr h="658368">
                <a:tc>
                  <a:txBody>
                    <a:bodyPr/>
                    <a:lstStyle/>
                    <a:p>
                      <a:r>
                        <a:rPr sz="1600" b="0" i="0">
                          <a:solidFill>
                            <a:srgbClr val="222A33"/>
                          </a:solidFill>
                          <a:latin typeface="Calibri"/>
                        </a:rPr>
                        <a:t>Example</a:t>
                      </a:r>
                    </a:p>
                  </a:txBody>
                  <a:tcPr marL="73152" marR="73152" marT="27432" marB="27432" anchor="ctr">
                    <a:solidFill>
                      <a:srgbClr val="F2F4F7"/>
                    </a:solidFill>
                  </a:tcPr>
                </a:tc>
                <a:tc>
                  <a:txBody>
                    <a:bodyPr/>
                    <a:lstStyle/>
                    <a:p>
                      <a:r>
                        <a:rPr sz="1600" b="0" i="0">
                          <a:solidFill>
                            <a:srgbClr val="222A33"/>
                          </a:solidFill>
                          <a:latin typeface="Calibri"/>
                        </a:rPr>
                        <a:t>GRE, IP-in-IP</a:t>
                      </a:r>
                    </a:p>
                  </a:txBody>
                  <a:tcPr marL="73152" marR="73152" marT="27432" marB="27432" anchor="ctr">
                    <a:solidFill>
                      <a:srgbClr val="F2F4F7"/>
                    </a:solidFill>
                  </a:tcPr>
                </a:tc>
                <a:tc>
                  <a:txBody>
                    <a:bodyPr/>
                    <a:lstStyle/>
                    <a:p>
                      <a:r>
                        <a:rPr sz="1600" b="0" i="0" dirty="0">
                          <a:solidFill>
                            <a:srgbClr val="222A33"/>
                          </a:solidFill>
                          <a:latin typeface="Calibri"/>
                        </a:rPr>
                        <a:t>IPsec, SSL/TLS VPN, GRE over IPsec</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How VPNs Are Classified</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Two different questions, not one flat list of types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 Taxonomy, Not a Flat List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CLASSIFICATION</a:t>
            </a:r>
          </a:p>
        </p:txBody>
      </p:sp>
      <p:sp>
        <p:nvSpPr>
          <p:cNvPr id="4" name="Rounded Rectangle 3"/>
          <p:cNvSpPr/>
          <p:nvPr/>
        </p:nvSpPr>
        <p:spPr>
          <a:xfrm>
            <a:off x="4480560" y="1737360"/>
            <a:ext cx="3200400" cy="50292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VPN</a:t>
            </a:r>
          </a:p>
        </p:txBody>
      </p:sp>
      <p:cxnSp>
        <p:nvCxnSpPr>
          <p:cNvPr id="5" name="Connector 4"/>
          <p:cNvCxnSpPr/>
          <p:nvPr/>
        </p:nvCxnSpPr>
        <p:spPr>
          <a:xfrm flipH="1">
            <a:off x="2743200" y="2240280"/>
            <a:ext cx="2926080" cy="502920"/>
          </a:xfrm>
          <a:prstGeom prst="line">
            <a:avLst/>
          </a:prstGeom>
          <a:ln w="1905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35040" y="2240280"/>
            <a:ext cx="2926080" cy="502920"/>
          </a:xfrm>
          <a:prstGeom prst="line">
            <a:avLst/>
          </a:prstGeom>
          <a:ln w="19050">
            <a:solidFill>
              <a:srgbClr val="003054"/>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914400" y="2743200"/>
            <a:ext cx="3657600" cy="5029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By Deployment Form</a:t>
            </a:r>
          </a:p>
        </p:txBody>
      </p:sp>
      <p:sp>
        <p:nvSpPr>
          <p:cNvPr id="8" name="Rounded Rectangle 7"/>
          <p:cNvSpPr/>
          <p:nvPr/>
        </p:nvSpPr>
        <p:spPr>
          <a:xfrm>
            <a:off x="7132320" y="2743200"/>
            <a:ext cx="3657600" cy="5029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By Connection Purpose</a:t>
            </a:r>
          </a:p>
        </p:txBody>
      </p:sp>
      <p:sp>
        <p:nvSpPr>
          <p:cNvPr id="9" name="Rounded Rectangle 8"/>
          <p:cNvSpPr/>
          <p:nvPr/>
        </p:nvSpPr>
        <p:spPr>
          <a:xfrm>
            <a:off x="457200" y="3520440"/>
            <a:ext cx="219456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Software</a:t>
            </a:r>
          </a:p>
        </p:txBody>
      </p:sp>
      <p:sp>
        <p:nvSpPr>
          <p:cNvPr id="10" name="Rounded Rectangle 9"/>
          <p:cNvSpPr/>
          <p:nvPr/>
        </p:nvSpPr>
        <p:spPr>
          <a:xfrm>
            <a:off x="2834640" y="3520440"/>
            <a:ext cx="219456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Hardware</a:t>
            </a:r>
          </a:p>
        </p:txBody>
      </p:sp>
      <p:sp>
        <p:nvSpPr>
          <p:cNvPr id="11" name="Rounded Rectangle 10"/>
          <p:cNvSpPr/>
          <p:nvPr/>
        </p:nvSpPr>
        <p:spPr>
          <a:xfrm>
            <a:off x="6309360" y="3520440"/>
            <a:ext cx="237744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Remote Access</a:t>
            </a:r>
          </a:p>
        </p:txBody>
      </p:sp>
      <p:sp>
        <p:nvSpPr>
          <p:cNvPr id="12" name="Rounded Rectangle 11"/>
          <p:cNvSpPr/>
          <p:nvPr/>
        </p:nvSpPr>
        <p:spPr>
          <a:xfrm>
            <a:off x="8961120" y="3520440"/>
            <a:ext cx="237744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Site-to-Site</a:t>
            </a:r>
          </a:p>
        </p:txBody>
      </p:sp>
      <p:cxnSp>
        <p:nvCxnSpPr>
          <p:cNvPr id="13" name="Connector 12"/>
          <p:cNvCxnSpPr/>
          <p:nvPr/>
        </p:nvCxnSpPr>
        <p:spPr>
          <a:xfrm flipH="1">
            <a:off x="6217920" y="3977639"/>
            <a:ext cx="640080" cy="502921"/>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6640" y="3977639"/>
            <a:ext cx="914400" cy="502921"/>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94960" y="4480560"/>
            <a:ext cx="1737360" cy="457200"/>
          </a:xfrm>
          <a:prstGeom prst="round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22A33"/>
                </a:solidFill>
                <a:latin typeface="Calibri"/>
              </a:rPr>
              <a:t>Personal</a:t>
            </a:r>
          </a:p>
        </p:txBody>
      </p:sp>
      <p:sp>
        <p:nvSpPr>
          <p:cNvPr id="16" name="Rounded Rectangle 15"/>
          <p:cNvSpPr/>
          <p:nvPr/>
        </p:nvSpPr>
        <p:spPr>
          <a:xfrm>
            <a:off x="7315200" y="4480560"/>
            <a:ext cx="1737360" cy="457200"/>
          </a:xfrm>
          <a:prstGeom prst="round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22A33"/>
                </a:solidFill>
                <a:latin typeface="Calibri"/>
              </a:rPr>
              <a:t>Mobile</a:t>
            </a:r>
          </a:p>
        </p:txBody>
      </p:sp>
      <p:cxnSp>
        <p:nvCxnSpPr>
          <p:cNvPr id="17" name="Connector 16"/>
          <p:cNvCxnSpPr/>
          <p:nvPr/>
        </p:nvCxnSpPr>
        <p:spPr>
          <a:xfrm>
            <a:off x="9966960" y="3977639"/>
            <a:ext cx="0" cy="502921"/>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52560" y="4480560"/>
            <a:ext cx="1737360" cy="457200"/>
          </a:xfrm>
          <a:prstGeom prst="round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22A33"/>
                </a:solidFill>
                <a:latin typeface="Calibri"/>
              </a:rPr>
              <a:t>Cloud</a:t>
            </a:r>
          </a:p>
        </p:txBody>
      </p:sp>
      <p:sp>
        <p:nvSpPr>
          <p:cNvPr id="19" name="TextBox 18"/>
          <p:cNvSpPr txBox="1"/>
          <p:nvPr/>
        </p:nvSpPr>
        <p:spPr>
          <a:xfrm>
            <a:off x="457200" y="5166360"/>
            <a:ext cx="11247120" cy="822960"/>
          </a:xfrm>
          <a:prstGeom prst="rect">
            <a:avLst/>
          </a:prstGeom>
          <a:noFill/>
        </p:spPr>
        <p:txBody>
          <a:bodyPr wrap="square">
            <a:spAutoFit/>
          </a:bodyPr>
          <a:lstStyle/>
          <a:p>
            <a:r>
              <a:rPr sz="1300" b="0" i="1">
                <a:solidFill>
                  <a:srgbClr val="6B7682"/>
                </a:solidFill>
                <a:latin typeface="Calibri"/>
              </a:rPr>
              <a:t>Deployment form and connection purpose are independent questions. Personal and Mobile VPNs are variants of Remote Access; Cloud VPN is mostly a variant of Site-to-Site. Keep this in mind through the next section, since it explains why some of the five types will sound familiar once you've seen the two they build 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Software VPN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 FORM</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Implemented as a software application or client running on a general-purpose device, or as software-based functionality on a standard server, rather than on dedicated purpose-built hardware.</a:t>
            </a:r>
          </a:p>
          <a:p>
            <a:pPr marL="201168" indent="-201168">
              <a:spcAft>
                <a:spcPts val="1100"/>
              </a:spcAft>
              <a:buFont typeface="Arial"/>
              <a:buChar char="–"/>
            </a:pPr>
            <a:r>
              <a:rPr sz="1600" b="0" i="0">
                <a:solidFill>
                  <a:srgbClr val="222A33"/>
                </a:solidFill>
                <a:latin typeface="Calibri"/>
              </a:rPr>
              <a:t>Examples: OpenVPN client software, the Cisco AnyConnect client, built-in operating system VPN clients, and software-based VPN server applications running on ordinary servers.</a:t>
            </a:r>
          </a:p>
          <a:p>
            <a:pPr marL="201168" indent="-201168">
              <a:spcAft>
                <a:spcPts val="1100"/>
              </a:spcAft>
              <a:buFont typeface="Arial"/>
              <a:buChar char="–"/>
            </a:pPr>
            <a:r>
              <a:rPr sz="1600" b="0" i="0">
                <a:solidFill>
                  <a:srgbClr val="222A33"/>
                </a:solidFill>
                <a:latin typeface="Calibri"/>
              </a:rPr>
              <a:t>Flexible and comparatively cheap to deploy widely, but relies on the host device's own processor for encryption, which can become a real performance bottleneck on underpowered devices.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Hardware VPN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 FORM</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Implemented via a dedicated physical appliance, a VPN concentrator, or a router or firewall with VPN capability built into dedicated hardware, often including cryptographic acceleration chips.</a:t>
            </a:r>
          </a:p>
          <a:p>
            <a:pPr marL="201168" indent="-201168">
              <a:spcAft>
                <a:spcPts val="1100"/>
              </a:spcAft>
              <a:buFont typeface="Arial"/>
              <a:buChar char="–"/>
            </a:pPr>
            <a:r>
              <a:rPr sz="1600" b="0" i="0">
                <a:solidFill>
                  <a:srgbClr val="222A33"/>
                </a:solidFill>
                <a:latin typeface="Calibri"/>
              </a:rPr>
              <a:t>Examples: Cisco ISR or ASR routers with VPN support, dedicated VPN concentrators, and ASA firewalls.</a:t>
            </a:r>
          </a:p>
          <a:p>
            <a:pPr marL="201168" indent="-201168">
              <a:spcAft>
                <a:spcPts val="1100"/>
              </a:spcAft>
              <a:buFont typeface="Arial"/>
              <a:buChar char="–"/>
            </a:pPr>
            <a:r>
              <a:rPr sz="1600" b="0" i="0">
                <a:solidFill>
                  <a:srgbClr val="222A33"/>
                </a:solidFill>
                <a:latin typeface="Calibri"/>
              </a:rPr>
              <a:t>Higher upfront cost, but significantly higher sustained throughput thanks to dedicated crypto hardware, and centralises management at the network edge rather than on every individual device.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Software vs Hardware VPN: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 FORM</a:t>
            </a:r>
          </a:p>
        </p:txBody>
      </p:sp>
      <p:graphicFrame>
        <p:nvGraphicFramePr>
          <p:cNvPr id="4" name="Table 3"/>
          <p:cNvGraphicFramePr>
            <a:graphicFrameLocks noGrp="1"/>
          </p:cNvGraphicFramePr>
          <p:nvPr>
            <p:extLst>
              <p:ext uri="{D42A27DB-BD31-4B8C-83A1-F6EECF244321}">
                <p14:modId xmlns:p14="http://schemas.microsoft.com/office/powerpoint/2010/main" val="3778927589"/>
              </p:ext>
            </p:extLst>
          </p:nvPr>
        </p:nvGraphicFramePr>
        <p:xfrm>
          <a:off x="365760" y="1737360"/>
          <a:ext cx="11430000" cy="32918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8368">
                <a:tc>
                  <a:txBody>
                    <a:bodyPr/>
                    <a:lstStyle/>
                    <a:p>
                      <a:r>
                        <a:rPr sz="1600" b="1" i="0">
                          <a:solidFill>
                            <a:srgbClr val="FFFFFF"/>
                          </a:solidFill>
                          <a:latin typeface="Calibri"/>
                        </a:rPr>
                        <a:t>Aspect</a:t>
                      </a:r>
                    </a:p>
                  </a:txBody>
                  <a:tcPr marL="73152" marR="73152" marT="27432" marB="27432" anchor="ctr">
                    <a:solidFill>
                      <a:srgbClr val="003054"/>
                    </a:solidFill>
                  </a:tcPr>
                </a:tc>
                <a:tc>
                  <a:txBody>
                    <a:bodyPr/>
                    <a:lstStyle/>
                    <a:p>
                      <a:r>
                        <a:rPr sz="1600" b="1" i="0">
                          <a:solidFill>
                            <a:srgbClr val="FFFFFF"/>
                          </a:solidFill>
                          <a:latin typeface="Calibri"/>
                        </a:rPr>
                        <a:t>Software VPN</a:t>
                      </a:r>
                    </a:p>
                  </a:txBody>
                  <a:tcPr marL="73152" marR="73152" marT="27432" marB="27432" anchor="ctr">
                    <a:solidFill>
                      <a:srgbClr val="003054"/>
                    </a:solidFill>
                  </a:tcPr>
                </a:tc>
                <a:tc>
                  <a:txBody>
                    <a:bodyPr/>
                    <a:lstStyle/>
                    <a:p>
                      <a:r>
                        <a:rPr sz="1600" b="1" i="0">
                          <a:solidFill>
                            <a:srgbClr val="FFFFFF"/>
                          </a:solidFill>
                          <a:latin typeface="Calibri"/>
                        </a:rPr>
                        <a:t>Hardware VPN</a:t>
                      </a:r>
                    </a:p>
                  </a:txBody>
                  <a:tcPr marL="73152" marR="73152" marT="27432" marB="27432" anchor="ctr">
                    <a:solidFill>
                      <a:srgbClr val="003054"/>
                    </a:solidFill>
                  </a:tcPr>
                </a:tc>
                <a:extLst>
                  <a:ext uri="{0D108BD9-81ED-4DB2-BD59-A6C34878D82A}">
                    <a16:rowId xmlns:a16="http://schemas.microsoft.com/office/drawing/2014/main" val="10000"/>
                  </a:ext>
                </a:extLst>
              </a:tr>
              <a:tr h="658368">
                <a:tc>
                  <a:txBody>
                    <a:bodyPr/>
                    <a:lstStyle/>
                    <a:p>
                      <a:r>
                        <a:rPr sz="1600" b="0" i="0">
                          <a:solidFill>
                            <a:srgbClr val="222A33"/>
                          </a:solidFill>
                          <a:latin typeface="Calibri"/>
                        </a:rPr>
                        <a:t>Cost</a:t>
                      </a:r>
                    </a:p>
                  </a:txBody>
                  <a:tcPr marL="73152" marR="73152" marT="27432" marB="27432" anchor="ctr">
                    <a:solidFill>
                      <a:srgbClr val="FFFFFF"/>
                    </a:solidFill>
                  </a:tcPr>
                </a:tc>
                <a:tc>
                  <a:txBody>
                    <a:bodyPr/>
                    <a:lstStyle/>
                    <a:p>
                      <a:r>
                        <a:rPr sz="1600" b="0" i="0">
                          <a:solidFill>
                            <a:srgbClr val="222A33"/>
                          </a:solidFill>
                          <a:latin typeface="Calibri"/>
                        </a:rPr>
                        <a:t>Lower upfront cost</a:t>
                      </a:r>
                    </a:p>
                  </a:txBody>
                  <a:tcPr marL="73152" marR="73152" marT="27432" marB="27432" anchor="ctr">
                    <a:solidFill>
                      <a:srgbClr val="FFFFFF"/>
                    </a:solidFill>
                  </a:tcPr>
                </a:tc>
                <a:tc>
                  <a:txBody>
                    <a:bodyPr/>
                    <a:lstStyle/>
                    <a:p>
                      <a:r>
                        <a:rPr sz="1600" b="0" i="0">
                          <a:solidFill>
                            <a:srgbClr val="222A33"/>
                          </a:solidFill>
                          <a:latin typeface="Calibri"/>
                        </a:rPr>
                        <a:t>Higher upfront cost</a:t>
                      </a:r>
                    </a:p>
                  </a:txBody>
                  <a:tcPr marL="73152" marR="73152" marT="27432" marB="27432" anchor="ctr">
                    <a:solidFill>
                      <a:srgbClr val="FFFFFF"/>
                    </a:solidFill>
                  </a:tcPr>
                </a:tc>
                <a:extLst>
                  <a:ext uri="{0D108BD9-81ED-4DB2-BD59-A6C34878D82A}">
                    <a16:rowId xmlns:a16="http://schemas.microsoft.com/office/drawing/2014/main" val="10001"/>
                  </a:ext>
                </a:extLst>
              </a:tr>
              <a:tr h="658368">
                <a:tc>
                  <a:txBody>
                    <a:bodyPr/>
                    <a:lstStyle/>
                    <a:p>
                      <a:r>
                        <a:rPr sz="1600" b="0" i="0">
                          <a:solidFill>
                            <a:srgbClr val="222A33"/>
                          </a:solidFill>
                          <a:latin typeface="Calibri"/>
                        </a:rPr>
                        <a:t>Performance</a:t>
                      </a:r>
                    </a:p>
                  </a:txBody>
                  <a:tcPr marL="73152" marR="73152" marT="27432" marB="27432" anchor="ctr">
                    <a:solidFill>
                      <a:srgbClr val="F2F4F7"/>
                    </a:solidFill>
                  </a:tcPr>
                </a:tc>
                <a:tc>
                  <a:txBody>
                    <a:bodyPr/>
                    <a:lstStyle/>
                    <a:p>
                      <a:r>
                        <a:rPr sz="1600" b="0" i="0">
                          <a:solidFill>
                            <a:srgbClr val="222A33"/>
                          </a:solidFill>
                          <a:latin typeface="Calibri"/>
                        </a:rPr>
                        <a:t>Limited by the host device's own CPU</a:t>
                      </a:r>
                    </a:p>
                  </a:txBody>
                  <a:tcPr marL="73152" marR="73152" marT="27432" marB="27432" anchor="ctr">
                    <a:solidFill>
                      <a:srgbClr val="F2F4F7"/>
                    </a:solidFill>
                  </a:tcPr>
                </a:tc>
                <a:tc>
                  <a:txBody>
                    <a:bodyPr/>
                    <a:lstStyle/>
                    <a:p>
                      <a:r>
                        <a:rPr sz="1600" b="0" i="0">
                          <a:solidFill>
                            <a:srgbClr val="222A33"/>
                          </a:solidFill>
                          <a:latin typeface="Calibri"/>
                        </a:rPr>
                        <a:t>High, with dedicated crypto acceleration</a:t>
                      </a:r>
                    </a:p>
                  </a:txBody>
                  <a:tcPr marL="73152" marR="73152" marT="27432" marB="27432" anchor="ctr">
                    <a:solidFill>
                      <a:srgbClr val="F2F4F7"/>
                    </a:solidFill>
                  </a:tcPr>
                </a:tc>
                <a:extLst>
                  <a:ext uri="{0D108BD9-81ED-4DB2-BD59-A6C34878D82A}">
                    <a16:rowId xmlns:a16="http://schemas.microsoft.com/office/drawing/2014/main" val="10002"/>
                  </a:ext>
                </a:extLst>
              </a:tr>
              <a:tr h="658368">
                <a:tc>
                  <a:txBody>
                    <a:bodyPr/>
                    <a:lstStyle/>
                    <a:p>
                      <a:r>
                        <a:rPr sz="1600" b="0" i="0">
                          <a:solidFill>
                            <a:srgbClr val="222A33"/>
                          </a:solidFill>
                          <a:latin typeface="Calibri"/>
                        </a:rPr>
                        <a:t>Scalability</a:t>
                      </a:r>
                    </a:p>
                  </a:txBody>
                  <a:tcPr marL="73152" marR="73152" marT="27432" marB="27432" anchor="ctr">
                    <a:solidFill>
                      <a:srgbClr val="FFFFFF"/>
                    </a:solidFill>
                  </a:tcPr>
                </a:tc>
                <a:tc>
                  <a:txBody>
                    <a:bodyPr/>
                    <a:lstStyle/>
                    <a:p>
                      <a:r>
                        <a:rPr sz="1600" b="0" i="0">
                          <a:solidFill>
                            <a:srgbClr val="222A33"/>
                          </a:solidFill>
                          <a:latin typeface="Calibri"/>
                        </a:rPr>
                        <a:t>Easy to deploy across many individual endpoints</a:t>
                      </a:r>
                    </a:p>
                  </a:txBody>
                  <a:tcPr marL="73152" marR="73152" marT="27432" marB="27432" anchor="ctr">
                    <a:solidFill>
                      <a:srgbClr val="FFFFFF"/>
                    </a:solidFill>
                  </a:tcPr>
                </a:tc>
                <a:tc>
                  <a:txBody>
                    <a:bodyPr/>
                    <a:lstStyle/>
                    <a:p>
                      <a:r>
                        <a:rPr sz="1600" b="0" i="0">
                          <a:solidFill>
                            <a:srgbClr val="222A33"/>
                          </a:solidFill>
                          <a:latin typeface="Calibri"/>
                        </a:rPr>
                        <a:t>Centralised; fewer devices, each handling more traffic</a:t>
                      </a:r>
                    </a:p>
                  </a:txBody>
                  <a:tcPr marL="73152" marR="73152" marT="27432" marB="27432" anchor="ctr">
                    <a:solidFill>
                      <a:srgbClr val="FFFFFF"/>
                    </a:solidFill>
                  </a:tcPr>
                </a:tc>
                <a:extLst>
                  <a:ext uri="{0D108BD9-81ED-4DB2-BD59-A6C34878D82A}">
                    <a16:rowId xmlns:a16="http://schemas.microsoft.com/office/drawing/2014/main" val="10003"/>
                  </a:ext>
                </a:extLst>
              </a:tr>
              <a:tr h="658368">
                <a:tc>
                  <a:txBody>
                    <a:bodyPr/>
                    <a:lstStyle/>
                    <a:p>
                      <a:r>
                        <a:rPr sz="1600" b="0" i="0">
                          <a:solidFill>
                            <a:srgbClr val="222A33"/>
                          </a:solidFill>
                          <a:latin typeface="Calibri"/>
                        </a:rPr>
                        <a:t>Typical fit</a:t>
                      </a:r>
                    </a:p>
                  </a:txBody>
                  <a:tcPr marL="73152" marR="73152" marT="27432" marB="27432" anchor="ctr">
                    <a:solidFill>
                      <a:srgbClr val="F2F4F7"/>
                    </a:solidFill>
                  </a:tcPr>
                </a:tc>
                <a:tc>
                  <a:txBody>
                    <a:bodyPr/>
                    <a:lstStyle/>
                    <a:p>
                      <a:r>
                        <a:rPr sz="1600" b="0" i="0">
                          <a:solidFill>
                            <a:srgbClr val="222A33"/>
                          </a:solidFill>
                          <a:latin typeface="Calibri"/>
                        </a:rPr>
                        <a:t>Remote Access, individual users</a:t>
                      </a:r>
                    </a:p>
                  </a:txBody>
                  <a:tcPr marL="73152" marR="73152" marT="27432" marB="27432" anchor="ctr">
                    <a:solidFill>
                      <a:srgbClr val="F2F4F7"/>
                    </a:solidFill>
                  </a:tcPr>
                </a:tc>
                <a:tc>
                  <a:txBody>
                    <a:bodyPr/>
                    <a:lstStyle/>
                    <a:p>
                      <a:r>
                        <a:rPr sz="1600" b="0" i="0" dirty="0">
                          <a:solidFill>
                            <a:srgbClr val="222A33"/>
                          </a:solidFill>
                          <a:latin typeface="Calibri"/>
                        </a:rPr>
                        <a:t>Site-to-Site, whole-network connections</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Five VPN Types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Remote Access and Site-to-Site, and three variants that build on them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Remote Access VPN: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Connects a single remote user's device to a private </a:t>
            </a:r>
            <a:r>
              <a:rPr sz="1600" b="0" i="0" dirty="0" err="1">
                <a:solidFill>
                  <a:srgbClr val="222A33"/>
                </a:solidFill>
                <a:latin typeface="Calibri"/>
              </a:rPr>
              <a:t>organisational</a:t>
            </a:r>
            <a:r>
              <a:rPr sz="1600" b="0" i="0" dirty="0">
                <a:solidFill>
                  <a:srgbClr val="222A33"/>
                </a:solidFill>
                <a:latin typeface="Calibri"/>
              </a:rPr>
              <a:t> network across the internet, so that device behaves as though it were physically on that network.</a:t>
            </a:r>
          </a:p>
          <a:p>
            <a:pPr marL="201168" indent="-201168">
              <a:spcAft>
                <a:spcPts val="1100"/>
              </a:spcAft>
              <a:buFont typeface="Arial"/>
              <a:buChar char="–"/>
            </a:pPr>
            <a:r>
              <a:rPr sz="1600" b="0" i="0" dirty="0">
                <a:solidFill>
                  <a:srgbClr val="222A33"/>
                </a:solidFill>
                <a:latin typeface="Calibri"/>
              </a:rPr>
              <a:t>The user runs VPN client software, authenticates to a VPN gateway at the </a:t>
            </a:r>
            <a:r>
              <a:rPr sz="1600" b="0" i="0" dirty="0" err="1">
                <a:solidFill>
                  <a:srgbClr val="222A33"/>
                </a:solidFill>
                <a:latin typeface="Calibri"/>
              </a:rPr>
              <a:t>organisation's</a:t>
            </a:r>
            <a:r>
              <a:rPr sz="1600" b="0" i="0" dirty="0">
                <a:solidFill>
                  <a:srgbClr val="222A33"/>
                </a:solidFill>
                <a:latin typeface="Calibri"/>
              </a:rPr>
              <a:t> edge, and an encrypted tunnel is established. Depending on configuration, either all of the device's traffic routes through this tunnel, or only traffic destined for the </a:t>
            </a:r>
            <a:r>
              <a:rPr sz="1600" b="0" i="0" dirty="0" err="1">
                <a:solidFill>
                  <a:srgbClr val="222A33"/>
                </a:solidFill>
                <a:latin typeface="Calibri"/>
              </a:rPr>
              <a:t>organisation's</a:t>
            </a:r>
            <a:r>
              <a:rPr sz="1600" b="0" i="0" dirty="0">
                <a:solidFill>
                  <a:srgbClr val="222A33"/>
                </a:solidFill>
                <a:latin typeface="Calibri"/>
              </a:rPr>
              <a:t> own network does (split tunneling).</a:t>
            </a:r>
          </a:p>
          <a:p>
            <a:pPr marL="201168" indent="-201168">
              <a:spcAft>
                <a:spcPts val="1100"/>
              </a:spcAft>
              <a:buFont typeface="Arial"/>
              <a:buChar char="–"/>
            </a:pPr>
            <a:r>
              <a:rPr sz="1600" b="0" i="0" dirty="0">
                <a:solidFill>
                  <a:srgbClr val="222A33"/>
                </a:solidFill>
                <a:latin typeface="Calibri"/>
              </a:rPr>
              <a:t>Typical use case analysis: a mid-sized accounting firm has staff who need to work from home some days, reaching internal file servers and a practice-management application, without the firm buying or managing hardware for every employee's house.</a:t>
            </a:r>
          </a:p>
          <a:p>
            <a:pPr marL="411480" lvl="1" indent="-164592">
              <a:spcAft>
                <a:spcPts val="800"/>
              </a:spcAft>
              <a:buFont typeface="Arial"/>
              <a:buChar char="–"/>
            </a:pPr>
            <a:r>
              <a:rPr sz="1400" b="0" i="0" dirty="0">
                <a:solidFill>
                  <a:srgbClr val="222A33"/>
                </a:solidFill>
                <a:latin typeface="Calibri"/>
              </a:rPr>
              <a:t>Many unpredictable individual locations, not fixed sites, needs a VPN type built around individual client-initiated connections rather than fixed gateway-to-gateway links.</a:t>
            </a:r>
          </a:p>
          <a:p>
            <a:pPr marL="411480" lvl="1" indent="-164592">
              <a:spcAft>
                <a:spcPts val="800"/>
              </a:spcAft>
              <a:buFont typeface="Arial"/>
              <a:buChar char="–"/>
            </a:pPr>
            <a:r>
              <a:rPr sz="1400" b="0" i="0" dirty="0">
                <a:solidFill>
                  <a:srgbClr val="222A33"/>
                </a:solidFill>
                <a:latin typeface="Calibri"/>
              </a:rPr>
              <a:t>Low upfront cost, since there's no dedicated office to equip, needs a mostly software-based client rather than hardware at every location.</a:t>
            </a:r>
          </a:p>
          <a:p>
            <a:pPr marL="411480" lvl="1" indent="-164592">
              <a:spcAft>
                <a:spcPts val="800"/>
              </a:spcAft>
              <a:buFont typeface="Arial"/>
              <a:buChar char="–"/>
            </a:pPr>
            <a:r>
              <a:rPr sz="1400" b="0" i="0" dirty="0">
                <a:solidFill>
                  <a:srgbClr val="222A33"/>
                </a:solidFill>
                <a:latin typeface="Calibri"/>
              </a:rPr>
              <a:t>Staff need full access to internal resources as if physically in the office, needs the tunnel to make the remote device behave as though directly on the internal network.</a:t>
            </a:r>
          </a:p>
          <a:p>
            <a:pPr marL="411480" lvl="1" indent="-164592">
              <a:spcAft>
                <a:spcPts val="800"/>
              </a:spcAft>
              <a:buFont typeface="Arial"/>
              <a:buChar char="–"/>
            </a:pPr>
            <a:r>
              <a:rPr sz="1400" b="0" i="0" dirty="0">
                <a:solidFill>
                  <a:srgbClr val="222A33"/>
                </a:solidFill>
                <a:latin typeface="Calibri"/>
              </a:rPr>
              <a:t>IT wants </a:t>
            </a:r>
            <a:r>
              <a:rPr sz="1400" b="0" i="0" dirty="0" err="1">
                <a:solidFill>
                  <a:srgbClr val="222A33"/>
                </a:solidFill>
                <a:latin typeface="Calibri"/>
              </a:rPr>
              <a:t>centralised</a:t>
            </a:r>
            <a:r>
              <a:rPr sz="1400" b="0" i="0" dirty="0">
                <a:solidFill>
                  <a:srgbClr val="222A33"/>
                </a:solidFill>
                <a:latin typeface="Calibri"/>
              </a:rPr>
              <a:t> control over who connects and when, needs authentication to happen at one central gateway, not scattered across many individual devices.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Remote Access VPN: Analysis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Hardware/software: primarily software on the client side; the gateway can be software or a dedicated hardware concentrator or firewall.</a:t>
            </a:r>
          </a:p>
          <a:p>
            <a:pPr marL="201168" indent="-201168">
              <a:spcAft>
                <a:spcPts val="1100"/>
              </a:spcAft>
              <a:buFont typeface="Arial"/>
              <a:buChar char="–"/>
            </a:pPr>
            <a:r>
              <a:rPr sz="1600" b="0" i="0" dirty="0">
                <a:solidFill>
                  <a:srgbClr val="222A33"/>
                </a:solidFill>
                <a:latin typeface="Calibri"/>
              </a:rPr>
              <a:t>Throughput: generally modest per individual user, but the gateway's aggregate capacity across many simultaneous users matters far more than any single connection.</a:t>
            </a:r>
          </a:p>
          <a:p>
            <a:pPr marL="201168" indent="-201168">
              <a:spcAft>
                <a:spcPts val="1100"/>
              </a:spcAft>
              <a:buFont typeface="Arial"/>
              <a:buChar char="–"/>
            </a:pPr>
            <a:r>
              <a:rPr sz="1600" b="0" i="0" dirty="0">
                <a:solidFill>
                  <a:srgbClr val="222A33"/>
                </a:solidFill>
                <a:latin typeface="Calibri"/>
              </a:rPr>
              <a:t>Limitations: entirely dependent on the remote user's own internet connection quality; client software must be installed and kept updated on every device; a compromised remote endpoint extends real trust into the network from a device the </a:t>
            </a:r>
            <a:r>
              <a:rPr sz="1600" b="0" i="0" dirty="0" err="1">
                <a:solidFill>
                  <a:srgbClr val="222A33"/>
                </a:solidFill>
                <a:latin typeface="Calibri"/>
              </a:rPr>
              <a:t>organisation</a:t>
            </a:r>
            <a:r>
              <a:rPr sz="1600" b="0" i="0" dirty="0">
                <a:solidFill>
                  <a:srgbClr val="222A33"/>
                </a:solidFill>
                <a:latin typeface="Calibri"/>
              </a:rPr>
              <a:t> doesn't fully control.</a:t>
            </a:r>
          </a:p>
          <a:p>
            <a:pPr marL="201168" indent="-201168">
              <a:spcAft>
                <a:spcPts val="1100"/>
              </a:spcAft>
              <a:buFont typeface="Arial"/>
              <a:buChar char="–"/>
            </a:pPr>
            <a:r>
              <a:rPr sz="1600" b="0" i="0" dirty="0">
                <a:solidFill>
                  <a:srgbClr val="222A33"/>
                </a:solidFill>
                <a:latin typeface="Calibri"/>
              </a:rPr>
              <a:t>Cost: relatively low per user, scaling mainly with the number of concurrent connections the gateway must support.</a:t>
            </a:r>
          </a:p>
          <a:p>
            <a:pPr marL="201168" indent="-201168">
              <a:spcAft>
                <a:spcPts val="1100"/>
              </a:spcAft>
              <a:buFont typeface="Arial"/>
              <a:buChar char="–"/>
            </a:pPr>
            <a:r>
              <a:rPr sz="1600" b="0" i="0" dirty="0">
                <a:solidFill>
                  <a:srgbClr val="222A33"/>
                </a:solidFill>
                <a:latin typeface="Calibri"/>
              </a:rPr>
              <a:t>Typical use cases: employees working from home or travelling, needing secure access to internal company resources.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Remote Access VPN: Summary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1</a:t>
            </a:r>
          </a:p>
        </p:txBody>
      </p:sp>
      <p:graphicFrame>
        <p:nvGraphicFramePr>
          <p:cNvPr id="4" name="Table 3"/>
          <p:cNvGraphicFramePr>
            <a:graphicFrameLocks noGrp="1"/>
          </p:cNvGraphicFramePr>
          <p:nvPr>
            <p:extLst>
              <p:ext uri="{D42A27DB-BD31-4B8C-83A1-F6EECF244321}">
                <p14:modId xmlns:p14="http://schemas.microsoft.com/office/powerpoint/2010/main" val="3804715663"/>
              </p:ext>
            </p:extLst>
          </p:nvPr>
        </p:nvGraphicFramePr>
        <p:xfrm>
          <a:off x="365760" y="1737360"/>
          <a:ext cx="114300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87680">
                <a:tc>
                  <a:txBody>
                    <a:bodyPr/>
                    <a:lstStyle/>
                    <a:p>
                      <a:r>
                        <a:rPr sz="1600" b="1" i="0">
                          <a:solidFill>
                            <a:srgbClr val="FFFFFF"/>
                          </a:solidFill>
                          <a:latin typeface="Calibri"/>
                        </a:rPr>
                        <a:t>Dimension</a:t>
                      </a:r>
                    </a:p>
                  </a:txBody>
                  <a:tcPr marL="73152" marR="73152" marT="27432" marB="27432" anchor="ctr">
                    <a:solidFill>
                      <a:srgbClr val="003054"/>
                    </a:solidFill>
                  </a:tcPr>
                </a:tc>
                <a:tc>
                  <a:txBody>
                    <a:bodyPr/>
                    <a:lstStyle/>
                    <a:p>
                      <a:r>
                        <a:rPr sz="1600" b="1" i="0">
                          <a:solidFill>
                            <a:srgbClr val="FFFFFF"/>
                          </a:solidFill>
                          <a:latin typeface="Calibri"/>
                        </a:rPr>
                        <a:t>Remote Access VPN</a:t>
                      </a:r>
                    </a:p>
                  </a:txBody>
                  <a:tcPr marL="73152" marR="73152" marT="27432" marB="27432" anchor="ctr">
                    <a:solidFill>
                      <a:srgbClr val="003054"/>
                    </a:solidFill>
                  </a:tcPr>
                </a:tc>
                <a:extLst>
                  <a:ext uri="{0D108BD9-81ED-4DB2-BD59-A6C34878D82A}">
                    <a16:rowId xmlns:a16="http://schemas.microsoft.com/office/drawing/2014/main" val="10000"/>
                  </a:ext>
                </a:extLst>
              </a:tr>
              <a:tr h="487680">
                <a:tc>
                  <a:txBody>
                    <a:bodyPr/>
                    <a:lstStyle/>
                    <a:p>
                      <a:r>
                        <a:rPr sz="1600" b="0" i="0">
                          <a:solidFill>
                            <a:srgbClr val="222A33"/>
                          </a:solidFill>
                          <a:latin typeface="Calibri"/>
                        </a:rPr>
                        <a:t>Hardware/Software</a:t>
                      </a:r>
                    </a:p>
                  </a:txBody>
                  <a:tcPr marL="73152" marR="73152" marT="27432" marB="27432" anchor="ctr">
                    <a:solidFill>
                      <a:srgbClr val="FFFFFF"/>
                    </a:solidFill>
                  </a:tcPr>
                </a:tc>
                <a:tc>
                  <a:txBody>
                    <a:bodyPr/>
                    <a:lstStyle/>
                    <a:p>
                      <a:r>
                        <a:rPr sz="1600" b="0" i="0">
                          <a:solidFill>
                            <a:srgbClr val="222A33"/>
                          </a:solidFill>
                          <a:latin typeface="Calibri"/>
                        </a:rPr>
                        <a:t>Software client; gateway is software or hardware</a:t>
                      </a:r>
                    </a:p>
                  </a:txBody>
                  <a:tcPr marL="73152" marR="73152" marT="27432" marB="27432" anchor="ctr">
                    <a:solidFill>
                      <a:srgbClr val="FFFFFF"/>
                    </a:solidFill>
                  </a:tcPr>
                </a:tc>
                <a:extLst>
                  <a:ext uri="{0D108BD9-81ED-4DB2-BD59-A6C34878D82A}">
                    <a16:rowId xmlns:a16="http://schemas.microsoft.com/office/drawing/2014/main" val="10001"/>
                  </a:ext>
                </a:extLst>
              </a:tr>
              <a:tr h="487680">
                <a:tc>
                  <a:txBody>
                    <a:bodyPr/>
                    <a:lstStyle/>
                    <a:p>
                      <a:r>
                        <a:rPr sz="1600" b="0" i="0">
                          <a:solidFill>
                            <a:srgbClr val="222A33"/>
                          </a:solidFill>
                          <a:latin typeface="Calibri"/>
                        </a:rPr>
                        <a:t>Throughput</a:t>
                      </a:r>
                    </a:p>
                  </a:txBody>
                  <a:tcPr marL="73152" marR="73152" marT="27432" marB="27432" anchor="ctr">
                    <a:solidFill>
                      <a:srgbClr val="F2F4F7"/>
                    </a:solidFill>
                  </a:tcPr>
                </a:tc>
                <a:tc>
                  <a:txBody>
                    <a:bodyPr/>
                    <a:lstStyle/>
                    <a:p>
                      <a:r>
                        <a:rPr sz="1600" b="0" i="0">
                          <a:solidFill>
                            <a:srgbClr val="222A33"/>
                          </a:solidFill>
                          <a:latin typeface="Calibri"/>
                        </a:rPr>
                        <a:t>Modest per user; aggregate capacity matters at scale</a:t>
                      </a:r>
                    </a:p>
                  </a:txBody>
                  <a:tcPr marL="73152" marR="73152" marT="27432" marB="27432" anchor="ctr">
                    <a:solidFill>
                      <a:srgbClr val="F2F4F7"/>
                    </a:solidFill>
                  </a:tcPr>
                </a:tc>
                <a:extLst>
                  <a:ext uri="{0D108BD9-81ED-4DB2-BD59-A6C34878D82A}">
                    <a16:rowId xmlns:a16="http://schemas.microsoft.com/office/drawing/2014/main" val="10002"/>
                  </a:ext>
                </a:extLst>
              </a:tr>
              <a:tr h="487680">
                <a:tc>
                  <a:txBody>
                    <a:bodyPr/>
                    <a:lstStyle/>
                    <a:p>
                      <a:r>
                        <a:rPr sz="1600" b="0" i="0">
                          <a:solidFill>
                            <a:srgbClr val="222A33"/>
                          </a:solidFill>
                          <a:latin typeface="Calibri"/>
                        </a:rPr>
                        <a:t>Limitations</a:t>
                      </a:r>
                    </a:p>
                  </a:txBody>
                  <a:tcPr marL="73152" marR="73152" marT="27432" marB="27432" anchor="ctr">
                    <a:solidFill>
                      <a:srgbClr val="FFFFFF"/>
                    </a:solidFill>
                  </a:tcPr>
                </a:tc>
                <a:tc>
                  <a:txBody>
                    <a:bodyPr/>
                    <a:lstStyle/>
                    <a:p>
                      <a:r>
                        <a:rPr sz="1600" b="0" i="0">
                          <a:solidFill>
                            <a:srgbClr val="222A33"/>
                          </a:solidFill>
                          <a:latin typeface="Calibri"/>
                        </a:rPr>
                        <a:t>Depends on user's connection; extends trust to unmanaged devices</a:t>
                      </a:r>
                    </a:p>
                  </a:txBody>
                  <a:tcPr marL="73152" marR="73152" marT="27432" marB="27432" anchor="ctr">
                    <a:solidFill>
                      <a:srgbClr val="FFFFFF"/>
                    </a:solidFill>
                  </a:tcPr>
                </a:tc>
                <a:extLst>
                  <a:ext uri="{0D108BD9-81ED-4DB2-BD59-A6C34878D82A}">
                    <a16:rowId xmlns:a16="http://schemas.microsoft.com/office/drawing/2014/main" val="10003"/>
                  </a:ext>
                </a:extLst>
              </a:tr>
              <a:tr h="487680">
                <a:tc>
                  <a:txBody>
                    <a:bodyPr/>
                    <a:lstStyle/>
                    <a:p>
                      <a:r>
                        <a:rPr sz="1600" b="0" i="0">
                          <a:solidFill>
                            <a:srgbClr val="222A33"/>
                          </a:solidFill>
                          <a:latin typeface="Calibri"/>
                        </a:rPr>
                        <a:t>Cost</a:t>
                      </a:r>
                    </a:p>
                  </a:txBody>
                  <a:tcPr marL="73152" marR="73152" marT="27432" marB="27432" anchor="ctr">
                    <a:solidFill>
                      <a:srgbClr val="F2F4F7"/>
                    </a:solidFill>
                  </a:tcPr>
                </a:tc>
                <a:tc>
                  <a:txBody>
                    <a:bodyPr/>
                    <a:lstStyle/>
                    <a:p>
                      <a:r>
                        <a:rPr sz="1600" b="0" i="0">
                          <a:solidFill>
                            <a:srgbClr val="222A33"/>
                          </a:solidFill>
                          <a:latin typeface="Calibri"/>
                        </a:rPr>
                        <a:t>Low per user</a:t>
                      </a:r>
                    </a:p>
                  </a:txBody>
                  <a:tcPr marL="73152" marR="73152" marT="27432" marB="27432" anchor="ctr">
                    <a:solidFill>
                      <a:srgbClr val="F2F4F7"/>
                    </a:solidFill>
                  </a:tcPr>
                </a:tc>
                <a:extLst>
                  <a:ext uri="{0D108BD9-81ED-4DB2-BD59-A6C34878D82A}">
                    <a16:rowId xmlns:a16="http://schemas.microsoft.com/office/drawing/2014/main" val="10004"/>
                  </a:ext>
                </a:extLst>
              </a:tr>
              <a:tr h="487680">
                <a:tc>
                  <a:txBody>
                    <a:bodyPr/>
                    <a:lstStyle/>
                    <a:p>
                      <a:r>
                        <a:rPr sz="1600" b="0" i="0">
                          <a:solidFill>
                            <a:srgbClr val="222A33"/>
                          </a:solidFill>
                          <a:latin typeface="Calibri"/>
                        </a:rPr>
                        <a:t>Typical use case</a:t>
                      </a:r>
                    </a:p>
                  </a:txBody>
                  <a:tcPr marL="73152" marR="73152" marT="27432" marB="27432" anchor="ctr">
                    <a:solidFill>
                      <a:srgbClr val="FFFFFF"/>
                    </a:solidFill>
                  </a:tcPr>
                </a:tc>
                <a:tc>
                  <a:txBody>
                    <a:bodyPr/>
                    <a:lstStyle/>
                    <a:p>
                      <a:r>
                        <a:rPr sz="1600" b="0" i="0" dirty="0">
                          <a:solidFill>
                            <a:srgbClr val="222A33"/>
                          </a:solidFill>
                          <a:latin typeface="Calibri"/>
                        </a:rPr>
                        <a:t>Remote and travelling employees</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Site-to-Site VPN: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Connects two entire networks, such as two branch offices, or a branch and a data </a:t>
            </a:r>
            <a:r>
              <a:rPr sz="1600" b="0" i="0" dirty="0" err="1">
                <a:solidFill>
                  <a:srgbClr val="222A33"/>
                </a:solidFill>
                <a:latin typeface="Calibri"/>
              </a:rPr>
              <a:t>centre</a:t>
            </a:r>
            <a:r>
              <a:rPr sz="1600" b="0" i="0" dirty="0">
                <a:solidFill>
                  <a:srgbClr val="222A33"/>
                </a:solidFill>
                <a:latin typeface="Calibri"/>
              </a:rPr>
              <a:t>, permanently across the internet, so devices on either side can reach each other as though on one network.</a:t>
            </a:r>
          </a:p>
          <a:p>
            <a:pPr marL="201168" indent="-201168">
              <a:spcAft>
                <a:spcPts val="1100"/>
              </a:spcAft>
              <a:buFont typeface="Arial"/>
              <a:buChar char="–"/>
            </a:pPr>
            <a:r>
              <a:rPr sz="1600" b="0" i="0" dirty="0">
                <a:solidFill>
                  <a:srgbClr val="222A33"/>
                </a:solidFill>
                <a:latin typeface="Calibri"/>
              </a:rPr>
              <a:t>VPN gateways at each site establish a persistent encrypted tunnel between them. No client software is needed on individual end-user devices; the gateway handles encryption transparently for all traffic crossing between the sites.</a:t>
            </a:r>
          </a:p>
          <a:p>
            <a:pPr marL="201168" indent="-201168">
              <a:spcAft>
                <a:spcPts val="1100"/>
              </a:spcAft>
              <a:buFont typeface="Arial"/>
              <a:buChar char="–"/>
            </a:pPr>
            <a:r>
              <a:rPr sz="1600" b="0" i="0" dirty="0">
                <a:solidFill>
                  <a:srgbClr val="222A33"/>
                </a:solidFill>
                <a:latin typeface="Calibri"/>
              </a:rPr>
              <a:t>Typical use case analysis: a retail chain has 15 branch stores, each needing constant access to the central inventory database and point-of-sale system at headquarters, with no individual staff member expected to separately start a VPN connection.</a:t>
            </a:r>
          </a:p>
          <a:p>
            <a:pPr marL="411480" lvl="1" indent="-164592">
              <a:spcAft>
                <a:spcPts val="800"/>
              </a:spcAft>
              <a:buFont typeface="Arial"/>
              <a:buChar char="–"/>
            </a:pPr>
            <a:r>
              <a:rPr sz="1400" b="0" i="0" dirty="0">
                <a:solidFill>
                  <a:srgbClr val="222A33"/>
                </a:solidFill>
                <a:latin typeface="Calibri"/>
              </a:rPr>
              <a:t>Every device at each branch needs transparent access, needs a gateway-to-gateway tunnel that's invisible to individual devices, not per-device client software.</a:t>
            </a:r>
          </a:p>
          <a:p>
            <a:pPr marL="411480" lvl="1" indent="-164592">
              <a:spcAft>
                <a:spcPts val="800"/>
              </a:spcAft>
              <a:buFont typeface="Arial"/>
              <a:buChar char="–"/>
            </a:pPr>
            <a:r>
              <a:rPr sz="1400" b="0" i="0" dirty="0">
                <a:solidFill>
                  <a:srgbClr val="222A33"/>
                </a:solidFill>
                <a:latin typeface="Calibri"/>
              </a:rPr>
              <a:t>The connection must be permanent, not something staff start and stop, needs a persistent, always-up tunnel between gateways rather than a user-initiated session.</a:t>
            </a:r>
          </a:p>
          <a:p>
            <a:pPr marL="411480" lvl="1" indent="-164592">
              <a:spcAft>
                <a:spcPts val="800"/>
              </a:spcAft>
              <a:buFont typeface="Arial"/>
              <a:buChar char="–"/>
            </a:pPr>
            <a:r>
              <a:rPr sz="1400" b="0" i="0" dirty="0">
                <a:solidFill>
                  <a:srgbClr val="222A33"/>
                </a:solidFill>
                <a:latin typeface="Calibri"/>
              </a:rPr>
              <a:t>Traffic volume is higher, many staff plus continuous POS and inventory data, needs the sustained throughput dedicated gateway hardware provides.</a:t>
            </a:r>
          </a:p>
          <a:p>
            <a:pPr marL="411480" lvl="1" indent="-164592">
              <a:spcAft>
                <a:spcPts val="800"/>
              </a:spcAft>
              <a:buFont typeface="Arial"/>
              <a:buChar char="–"/>
            </a:pPr>
            <a:r>
              <a:rPr sz="1400" b="0" i="0" dirty="0">
                <a:solidFill>
                  <a:srgbClr val="222A33"/>
                </a:solidFill>
                <a:latin typeface="Calibri"/>
              </a:rPr>
              <a:t>15 branches means scaling matters, needs a design that's cost-effective per site rather than per individual user.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Site-to-Site VPN: Analysis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Hardware/software: primarily hardware, dedicated routers, firewalls, or VPN concentrators at each site, though software-based gateways are workable for smaller, lower-traffic sites.</a:t>
            </a:r>
          </a:p>
          <a:p>
            <a:pPr marL="201168" indent="-201168">
              <a:spcAft>
                <a:spcPts val="1100"/>
              </a:spcAft>
              <a:buFont typeface="Arial"/>
              <a:buChar char="–"/>
            </a:pPr>
            <a:r>
              <a:rPr sz="1600" b="0" i="0">
                <a:solidFill>
                  <a:srgbClr val="222A33"/>
                </a:solidFill>
                <a:latin typeface="Calibri"/>
              </a:rPr>
              <a:t>Throughput: must support the aggregate traffic of an entire site, generally a higher and more sustained requirement than a single remote-access user.</a:t>
            </a:r>
          </a:p>
          <a:p>
            <a:pPr marL="201168" indent="-201168">
              <a:spcAft>
                <a:spcPts val="1100"/>
              </a:spcAft>
              <a:buFont typeface="Arial"/>
              <a:buChar char="–"/>
            </a:pPr>
            <a:r>
              <a:rPr sz="1600" b="0" i="0">
                <a:solidFill>
                  <a:srgbClr val="222A33"/>
                </a:solidFill>
                <a:latin typeface="Calibri"/>
              </a:rPr>
              <a:t>Limitations: requires dedicated hardware and configuration at every site; not suited to individual mobile users, that's exactly what Remote Access exists for instead; a single point of failure unless deliberately designed with redundancy.</a:t>
            </a:r>
          </a:p>
          <a:p>
            <a:pPr marL="201168" indent="-201168">
              <a:spcAft>
                <a:spcPts val="1100"/>
              </a:spcAft>
              <a:buFont typeface="Arial"/>
              <a:buChar char="–"/>
            </a:pPr>
            <a:r>
              <a:rPr sz="1600" b="0" i="0">
                <a:solidFill>
                  <a:srgbClr val="222A33"/>
                </a:solidFill>
                <a:latin typeface="Calibri"/>
              </a:rPr>
              <a:t>Cost: higher upfront hardware cost per site, but cost-effective per user at scale, historically far cheaper than dedicated leased lines between sites.</a:t>
            </a:r>
          </a:p>
          <a:p>
            <a:pPr marL="201168" indent="-201168">
              <a:spcAft>
                <a:spcPts val="1100"/>
              </a:spcAft>
              <a:buFont typeface="Arial"/>
              <a:buChar char="–"/>
            </a:pPr>
            <a:r>
              <a:rPr sz="1600" b="0" i="0">
                <a:solidFill>
                  <a:srgbClr val="222A33"/>
                </a:solidFill>
                <a:latin typeface="Calibri"/>
              </a:rPr>
              <a:t>Typical use cases: connecting branch offices to headquarters, or a company's network to a data centre or business partner's network.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Site-to-Site VPN: Summary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2</a:t>
            </a:r>
          </a:p>
        </p:txBody>
      </p:sp>
      <p:graphicFrame>
        <p:nvGraphicFramePr>
          <p:cNvPr id="4" name="Table 3"/>
          <p:cNvGraphicFramePr>
            <a:graphicFrameLocks noGrp="1"/>
          </p:cNvGraphicFramePr>
          <p:nvPr>
            <p:extLst>
              <p:ext uri="{D42A27DB-BD31-4B8C-83A1-F6EECF244321}">
                <p14:modId xmlns:p14="http://schemas.microsoft.com/office/powerpoint/2010/main" val="1246755186"/>
              </p:ext>
            </p:extLst>
          </p:nvPr>
        </p:nvGraphicFramePr>
        <p:xfrm>
          <a:off x="365760" y="1737360"/>
          <a:ext cx="114300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87680">
                <a:tc>
                  <a:txBody>
                    <a:bodyPr/>
                    <a:lstStyle/>
                    <a:p>
                      <a:r>
                        <a:rPr sz="1600" b="1" i="0">
                          <a:solidFill>
                            <a:srgbClr val="FFFFFF"/>
                          </a:solidFill>
                          <a:latin typeface="Calibri"/>
                        </a:rPr>
                        <a:t>Dimension</a:t>
                      </a:r>
                    </a:p>
                  </a:txBody>
                  <a:tcPr marL="73152" marR="73152" marT="27432" marB="27432" anchor="ctr">
                    <a:solidFill>
                      <a:srgbClr val="003054"/>
                    </a:solidFill>
                  </a:tcPr>
                </a:tc>
                <a:tc>
                  <a:txBody>
                    <a:bodyPr/>
                    <a:lstStyle/>
                    <a:p>
                      <a:r>
                        <a:rPr sz="1600" b="1" i="0">
                          <a:solidFill>
                            <a:srgbClr val="FFFFFF"/>
                          </a:solidFill>
                          <a:latin typeface="Calibri"/>
                        </a:rPr>
                        <a:t>Site-to-Site VPN</a:t>
                      </a:r>
                    </a:p>
                  </a:txBody>
                  <a:tcPr marL="73152" marR="73152" marT="27432" marB="27432" anchor="ctr">
                    <a:solidFill>
                      <a:srgbClr val="003054"/>
                    </a:solidFill>
                  </a:tcPr>
                </a:tc>
                <a:extLst>
                  <a:ext uri="{0D108BD9-81ED-4DB2-BD59-A6C34878D82A}">
                    <a16:rowId xmlns:a16="http://schemas.microsoft.com/office/drawing/2014/main" val="10000"/>
                  </a:ext>
                </a:extLst>
              </a:tr>
              <a:tr h="487680">
                <a:tc>
                  <a:txBody>
                    <a:bodyPr/>
                    <a:lstStyle/>
                    <a:p>
                      <a:r>
                        <a:rPr sz="1600" b="0" i="0">
                          <a:solidFill>
                            <a:srgbClr val="222A33"/>
                          </a:solidFill>
                          <a:latin typeface="Calibri"/>
                        </a:rPr>
                        <a:t>Hardware/Software</a:t>
                      </a:r>
                    </a:p>
                  </a:txBody>
                  <a:tcPr marL="73152" marR="73152" marT="27432" marB="27432" anchor="ctr">
                    <a:solidFill>
                      <a:srgbClr val="FFFFFF"/>
                    </a:solidFill>
                  </a:tcPr>
                </a:tc>
                <a:tc>
                  <a:txBody>
                    <a:bodyPr/>
                    <a:lstStyle/>
                    <a:p>
                      <a:r>
                        <a:rPr sz="1600" b="0" i="0">
                          <a:solidFill>
                            <a:srgbClr val="222A33"/>
                          </a:solidFill>
                          <a:latin typeface="Calibri"/>
                        </a:rPr>
                        <a:t>Primarily hardware gateways at each site</a:t>
                      </a:r>
                    </a:p>
                  </a:txBody>
                  <a:tcPr marL="73152" marR="73152" marT="27432" marB="27432" anchor="ctr">
                    <a:solidFill>
                      <a:srgbClr val="FFFFFF"/>
                    </a:solidFill>
                  </a:tcPr>
                </a:tc>
                <a:extLst>
                  <a:ext uri="{0D108BD9-81ED-4DB2-BD59-A6C34878D82A}">
                    <a16:rowId xmlns:a16="http://schemas.microsoft.com/office/drawing/2014/main" val="10001"/>
                  </a:ext>
                </a:extLst>
              </a:tr>
              <a:tr h="487680">
                <a:tc>
                  <a:txBody>
                    <a:bodyPr/>
                    <a:lstStyle/>
                    <a:p>
                      <a:r>
                        <a:rPr sz="1600" b="0" i="0">
                          <a:solidFill>
                            <a:srgbClr val="222A33"/>
                          </a:solidFill>
                          <a:latin typeface="Calibri"/>
                        </a:rPr>
                        <a:t>Throughput</a:t>
                      </a:r>
                    </a:p>
                  </a:txBody>
                  <a:tcPr marL="73152" marR="73152" marT="27432" marB="27432" anchor="ctr">
                    <a:solidFill>
                      <a:srgbClr val="F2F4F7"/>
                    </a:solidFill>
                  </a:tcPr>
                </a:tc>
                <a:tc>
                  <a:txBody>
                    <a:bodyPr/>
                    <a:lstStyle/>
                    <a:p>
                      <a:r>
                        <a:rPr sz="1600" b="0" i="0">
                          <a:solidFill>
                            <a:srgbClr val="222A33"/>
                          </a:solidFill>
                          <a:latin typeface="Calibri"/>
                        </a:rPr>
                        <a:t>High, must support a whole site's aggregate traffic</a:t>
                      </a:r>
                    </a:p>
                  </a:txBody>
                  <a:tcPr marL="73152" marR="73152" marT="27432" marB="27432" anchor="ctr">
                    <a:solidFill>
                      <a:srgbClr val="F2F4F7"/>
                    </a:solidFill>
                  </a:tcPr>
                </a:tc>
                <a:extLst>
                  <a:ext uri="{0D108BD9-81ED-4DB2-BD59-A6C34878D82A}">
                    <a16:rowId xmlns:a16="http://schemas.microsoft.com/office/drawing/2014/main" val="10002"/>
                  </a:ext>
                </a:extLst>
              </a:tr>
              <a:tr h="487680">
                <a:tc>
                  <a:txBody>
                    <a:bodyPr/>
                    <a:lstStyle/>
                    <a:p>
                      <a:r>
                        <a:rPr sz="1600" b="0" i="0">
                          <a:solidFill>
                            <a:srgbClr val="222A33"/>
                          </a:solidFill>
                          <a:latin typeface="Calibri"/>
                        </a:rPr>
                        <a:t>Limitations</a:t>
                      </a:r>
                    </a:p>
                  </a:txBody>
                  <a:tcPr marL="73152" marR="73152" marT="27432" marB="27432" anchor="ctr">
                    <a:solidFill>
                      <a:srgbClr val="FFFFFF"/>
                    </a:solidFill>
                  </a:tcPr>
                </a:tc>
                <a:tc>
                  <a:txBody>
                    <a:bodyPr/>
                    <a:lstStyle/>
                    <a:p>
                      <a:r>
                        <a:rPr sz="1600" b="0" i="0">
                          <a:solidFill>
                            <a:srgbClr val="222A33"/>
                          </a:solidFill>
                          <a:latin typeface="Calibri"/>
                        </a:rPr>
                        <a:t>Needs dedicated setup per site; not suited to mobile individuals</a:t>
                      </a:r>
                    </a:p>
                  </a:txBody>
                  <a:tcPr marL="73152" marR="73152" marT="27432" marB="27432" anchor="ctr">
                    <a:solidFill>
                      <a:srgbClr val="FFFFFF"/>
                    </a:solidFill>
                  </a:tcPr>
                </a:tc>
                <a:extLst>
                  <a:ext uri="{0D108BD9-81ED-4DB2-BD59-A6C34878D82A}">
                    <a16:rowId xmlns:a16="http://schemas.microsoft.com/office/drawing/2014/main" val="10003"/>
                  </a:ext>
                </a:extLst>
              </a:tr>
              <a:tr h="487680">
                <a:tc>
                  <a:txBody>
                    <a:bodyPr/>
                    <a:lstStyle/>
                    <a:p>
                      <a:r>
                        <a:rPr sz="1600" b="0" i="0">
                          <a:solidFill>
                            <a:srgbClr val="222A33"/>
                          </a:solidFill>
                          <a:latin typeface="Calibri"/>
                        </a:rPr>
                        <a:t>Cost</a:t>
                      </a:r>
                    </a:p>
                  </a:txBody>
                  <a:tcPr marL="73152" marR="73152" marT="27432" marB="27432" anchor="ctr">
                    <a:solidFill>
                      <a:srgbClr val="F2F4F7"/>
                    </a:solidFill>
                  </a:tcPr>
                </a:tc>
                <a:tc>
                  <a:txBody>
                    <a:bodyPr/>
                    <a:lstStyle/>
                    <a:p>
                      <a:r>
                        <a:rPr sz="1600" b="0" i="0">
                          <a:solidFill>
                            <a:srgbClr val="222A33"/>
                          </a:solidFill>
                          <a:latin typeface="Calibri"/>
                        </a:rPr>
                        <a:t>Higher upfront per site, cost-effective at scale</a:t>
                      </a:r>
                    </a:p>
                  </a:txBody>
                  <a:tcPr marL="73152" marR="73152" marT="27432" marB="27432" anchor="ctr">
                    <a:solidFill>
                      <a:srgbClr val="F2F4F7"/>
                    </a:solidFill>
                  </a:tcPr>
                </a:tc>
                <a:extLst>
                  <a:ext uri="{0D108BD9-81ED-4DB2-BD59-A6C34878D82A}">
                    <a16:rowId xmlns:a16="http://schemas.microsoft.com/office/drawing/2014/main" val="10004"/>
                  </a:ext>
                </a:extLst>
              </a:tr>
              <a:tr h="487680">
                <a:tc>
                  <a:txBody>
                    <a:bodyPr/>
                    <a:lstStyle/>
                    <a:p>
                      <a:r>
                        <a:rPr sz="1600" b="0" i="0">
                          <a:solidFill>
                            <a:srgbClr val="222A33"/>
                          </a:solidFill>
                          <a:latin typeface="Calibri"/>
                        </a:rPr>
                        <a:t>Typical use case</a:t>
                      </a:r>
                    </a:p>
                  </a:txBody>
                  <a:tcPr marL="73152" marR="73152" marT="27432" marB="27432" anchor="ctr">
                    <a:solidFill>
                      <a:srgbClr val="FFFFFF"/>
                    </a:solidFill>
                  </a:tcPr>
                </a:tc>
                <a:tc>
                  <a:txBody>
                    <a:bodyPr/>
                    <a:lstStyle/>
                    <a:p>
                      <a:r>
                        <a:rPr sz="1600" b="0" i="0" dirty="0">
                          <a:solidFill>
                            <a:srgbClr val="222A33"/>
                          </a:solidFill>
                          <a:latin typeface="Calibri"/>
                        </a:rPr>
                        <a:t>Branch-to-headquarters, network-to-data-</a:t>
                      </a:r>
                      <a:r>
                        <a:rPr sz="1600" b="0" i="0" dirty="0" err="1">
                          <a:solidFill>
                            <a:srgbClr val="222A33"/>
                          </a:solidFill>
                          <a:latin typeface="Calibri"/>
                        </a:rPr>
                        <a:t>centre</a:t>
                      </a:r>
                      <a:r>
                        <a:rPr sz="1600" b="0" i="0" dirty="0">
                          <a:solidFill>
                            <a:srgbClr val="222A33"/>
                          </a:solidFill>
                          <a:latin typeface="Calibri"/>
                        </a:rPr>
                        <a:t> links</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Personal VPN: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3, A REMOTE ACCESS VARIANT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 Remote Access variant where an individual subscribes to a commercial VPN service to encrypt their own internet traffic and often mask their apparent location, not to reach any specific employer's internal resources.</a:t>
            </a:r>
          </a:p>
          <a:p>
            <a:pPr marL="201168" indent="-201168">
              <a:spcAft>
                <a:spcPts val="1100"/>
              </a:spcAft>
              <a:buFont typeface="Arial"/>
              <a:buChar char="–"/>
            </a:pPr>
            <a:r>
              <a:rPr sz="1600" b="0" i="0" dirty="0">
                <a:solidFill>
                  <a:srgbClr val="222A33"/>
                </a:solidFill>
                <a:latin typeface="Calibri"/>
              </a:rPr>
              <a:t>Typical use case analysis: a journalist frequently works from cafes and airports on public </a:t>
            </a:r>
            <a:r>
              <a:rPr sz="1600" b="0" i="0" dirty="0" err="1">
                <a:solidFill>
                  <a:srgbClr val="222A33"/>
                </a:solidFill>
                <a:latin typeface="Calibri"/>
              </a:rPr>
              <a:t>WiFi</a:t>
            </a:r>
            <a:r>
              <a:rPr sz="1600" b="0" i="0" dirty="0">
                <a:solidFill>
                  <a:srgbClr val="222A33"/>
                </a:solidFill>
                <a:latin typeface="Calibri"/>
              </a:rPr>
              <a:t>, needs to protect her research traffic from casual eavesdroppers there, and occasionally wants to appear to browse from a different country, with no need to reach any specific </a:t>
            </a:r>
            <a:r>
              <a:rPr sz="1600" b="0" i="0" dirty="0" err="1">
                <a:solidFill>
                  <a:srgbClr val="222A33"/>
                </a:solidFill>
                <a:latin typeface="Calibri"/>
              </a:rPr>
              <a:t>organisation's</a:t>
            </a:r>
            <a:r>
              <a:rPr sz="1600" b="0" i="0" dirty="0">
                <a:solidFill>
                  <a:srgbClr val="222A33"/>
                </a:solidFill>
                <a:latin typeface="Calibri"/>
              </a:rPr>
              <a:t> internal servers.</a:t>
            </a:r>
          </a:p>
          <a:p>
            <a:pPr marL="411480" lvl="1" indent="-164592">
              <a:spcAft>
                <a:spcPts val="800"/>
              </a:spcAft>
              <a:buFont typeface="Arial"/>
              <a:buChar char="–"/>
            </a:pPr>
            <a:r>
              <a:rPr sz="1400" b="0" i="0" dirty="0">
                <a:solidFill>
                  <a:srgbClr val="222A33"/>
                </a:solidFill>
                <a:latin typeface="Calibri"/>
              </a:rPr>
              <a:t>Protection is needed on untrusted public </a:t>
            </a:r>
            <a:r>
              <a:rPr sz="1400" b="0" i="0" dirty="0" err="1">
                <a:solidFill>
                  <a:srgbClr val="222A33"/>
                </a:solidFill>
                <a:latin typeface="Calibri"/>
              </a:rPr>
              <a:t>WiFi</a:t>
            </a:r>
            <a:r>
              <a:rPr sz="1400" b="0" i="0" dirty="0">
                <a:solidFill>
                  <a:srgbClr val="222A33"/>
                </a:solidFill>
                <a:latin typeface="Calibri"/>
              </a:rPr>
              <a:t>, not access to a specific company network, needs a VPN whose whole purpose is generic traffic protection to a commercial provider, not </a:t>
            </a:r>
            <a:r>
              <a:rPr sz="1400" b="0" i="0" dirty="0" err="1">
                <a:solidFill>
                  <a:srgbClr val="222A33"/>
                </a:solidFill>
                <a:latin typeface="Calibri"/>
              </a:rPr>
              <a:t>organisational</a:t>
            </a:r>
            <a:r>
              <a:rPr sz="1400" b="0" i="0" dirty="0">
                <a:solidFill>
                  <a:srgbClr val="222A33"/>
                </a:solidFill>
                <a:latin typeface="Calibri"/>
              </a:rPr>
              <a:t> resource access.</a:t>
            </a:r>
          </a:p>
          <a:p>
            <a:pPr marL="411480" lvl="1" indent="-164592">
              <a:spcAft>
                <a:spcPts val="800"/>
              </a:spcAft>
              <a:buFont typeface="Arial"/>
              <a:buChar char="–"/>
            </a:pPr>
            <a:r>
              <a:rPr sz="1400" b="0" i="0" dirty="0">
                <a:solidFill>
                  <a:srgbClr val="222A33"/>
                </a:solidFill>
                <a:latin typeface="Calibri"/>
              </a:rPr>
              <a:t>She wants to appear to browse from elsewhere, needs a provider offering exit servers in multiple countries, a feature specific to the personal/commercial model.</a:t>
            </a:r>
          </a:p>
          <a:p>
            <a:pPr marL="411480" lvl="1" indent="-164592">
              <a:spcAft>
                <a:spcPts val="800"/>
              </a:spcAft>
              <a:buFont typeface="Arial"/>
              <a:buChar char="–"/>
            </a:pPr>
            <a:r>
              <a:rPr sz="1400" b="0" i="0" dirty="0">
                <a:solidFill>
                  <a:srgbClr val="222A33"/>
                </a:solidFill>
                <a:latin typeface="Calibri"/>
              </a:rPr>
              <a:t>No corporate IT department is involved, just an individual paying for a service, needs a self-service consumer subscription rather than enterprise gateway administration.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Personal VPN: Analysis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3, A REMOTE ACCESS VARIANT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Hardware/software and cost: software client apps from a commercial provider, typically a modest consumer subscription, sometimes free with corresponding privacy trade-offs.</a:t>
            </a:r>
          </a:p>
          <a:p>
            <a:pPr marL="201168" indent="-201168">
              <a:spcAft>
                <a:spcPts val="1100"/>
              </a:spcAft>
              <a:buFont typeface="Arial"/>
              <a:buChar char="–"/>
            </a:pPr>
            <a:r>
              <a:rPr sz="1600" b="0" i="0">
                <a:solidFill>
                  <a:srgbClr val="222A33"/>
                </a:solidFill>
                <a:latin typeface="Calibri"/>
              </a:rPr>
              <a:t>Throughput and limitations: depends heavily on the provider's own server capacity and the user's connection; the bigger limitation is trust, the provider itself can see unencrypted traffic once it leaves their servers toward the real destination, unless that destination separately uses HTTPS.</a:t>
            </a:r>
          </a:p>
          <a:p>
            <a:pPr marL="201168" indent="-201168">
              <a:spcAft>
                <a:spcPts val="1100"/>
              </a:spcAft>
              <a:buFont typeface="Arial"/>
              <a:buChar char="–"/>
            </a:pPr>
            <a:r>
              <a:rPr sz="1600" b="0" i="0">
                <a:solidFill>
                  <a:srgbClr val="222A33"/>
                </a:solidFill>
                <a:latin typeface="Calibri"/>
              </a:rPr>
              <a:t>Typical use cases: privacy-conscious individuals, protecting traffic on public or untrusted WiFi, bypassing geographic content restrictions.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Personal VPN: Summary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3, A REMOTE ACCESS VARIANT</a:t>
            </a:r>
          </a:p>
        </p:txBody>
      </p:sp>
      <p:graphicFrame>
        <p:nvGraphicFramePr>
          <p:cNvPr id="4" name="Table 3"/>
          <p:cNvGraphicFramePr>
            <a:graphicFrameLocks noGrp="1"/>
          </p:cNvGraphicFramePr>
          <p:nvPr>
            <p:extLst>
              <p:ext uri="{D42A27DB-BD31-4B8C-83A1-F6EECF244321}">
                <p14:modId xmlns:p14="http://schemas.microsoft.com/office/powerpoint/2010/main" val="3717164804"/>
              </p:ext>
            </p:extLst>
          </p:nvPr>
        </p:nvGraphicFramePr>
        <p:xfrm>
          <a:off x="365760" y="1737360"/>
          <a:ext cx="114300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87680">
                <a:tc>
                  <a:txBody>
                    <a:bodyPr/>
                    <a:lstStyle/>
                    <a:p>
                      <a:r>
                        <a:rPr sz="1600" b="1" i="0">
                          <a:solidFill>
                            <a:srgbClr val="FFFFFF"/>
                          </a:solidFill>
                          <a:latin typeface="Calibri"/>
                        </a:rPr>
                        <a:t>Dimension</a:t>
                      </a:r>
                    </a:p>
                  </a:txBody>
                  <a:tcPr marL="73152" marR="73152" marT="27432" marB="27432" anchor="ctr">
                    <a:solidFill>
                      <a:srgbClr val="003054"/>
                    </a:solidFill>
                  </a:tcPr>
                </a:tc>
                <a:tc>
                  <a:txBody>
                    <a:bodyPr/>
                    <a:lstStyle/>
                    <a:p>
                      <a:r>
                        <a:rPr sz="1600" b="1" i="0">
                          <a:solidFill>
                            <a:srgbClr val="FFFFFF"/>
                          </a:solidFill>
                          <a:latin typeface="Calibri"/>
                        </a:rPr>
                        <a:t>Personal VPN</a:t>
                      </a:r>
                    </a:p>
                  </a:txBody>
                  <a:tcPr marL="73152" marR="73152" marT="27432" marB="27432" anchor="ctr">
                    <a:solidFill>
                      <a:srgbClr val="003054"/>
                    </a:solidFill>
                  </a:tcPr>
                </a:tc>
                <a:extLst>
                  <a:ext uri="{0D108BD9-81ED-4DB2-BD59-A6C34878D82A}">
                    <a16:rowId xmlns:a16="http://schemas.microsoft.com/office/drawing/2014/main" val="10000"/>
                  </a:ext>
                </a:extLst>
              </a:tr>
              <a:tr h="487680">
                <a:tc>
                  <a:txBody>
                    <a:bodyPr/>
                    <a:lstStyle/>
                    <a:p>
                      <a:r>
                        <a:rPr sz="1600" b="0" i="0">
                          <a:solidFill>
                            <a:srgbClr val="222A33"/>
                          </a:solidFill>
                          <a:latin typeface="Calibri"/>
                        </a:rPr>
                        <a:t>Hardware/Software</a:t>
                      </a:r>
                    </a:p>
                  </a:txBody>
                  <a:tcPr marL="73152" marR="73152" marT="27432" marB="27432" anchor="ctr">
                    <a:solidFill>
                      <a:srgbClr val="FFFFFF"/>
                    </a:solidFill>
                  </a:tcPr>
                </a:tc>
                <a:tc>
                  <a:txBody>
                    <a:bodyPr/>
                    <a:lstStyle/>
                    <a:p>
                      <a:r>
                        <a:rPr sz="1600" b="0" i="0">
                          <a:solidFill>
                            <a:srgbClr val="222A33"/>
                          </a:solidFill>
                          <a:latin typeface="Calibri"/>
                        </a:rPr>
                        <a:t>Commercial provider's software client</a:t>
                      </a:r>
                    </a:p>
                  </a:txBody>
                  <a:tcPr marL="73152" marR="73152" marT="27432" marB="27432" anchor="ctr">
                    <a:solidFill>
                      <a:srgbClr val="FFFFFF"/>
                    </a:solidFill>
                  </a:tcPr>
                </a:tc>
                <a:extLst>
                  <a:ext uri="{0D108BD9-81ED-4DB2-BD59-A6C34878D82A}">
                    <a16:rowId xmlns:a16="http://schemas.microsoft.com/office/drawing/2014/main" val="10001"/>
                  </a:ext>
                </a:extLst>
              </a:tr>
              <a:tr h="487680">
                <a:tc>
                  <a:txBody>
                    <a:bodyPr/>
                    <a:lstStyle/>
                    <a:p>
                      <a:r>
                        <a:rPr sz="1600" b="0" i="0">
                          <a:solidFill>
                            <a:srgbClr val="222A33"/>
                          </a:solidFill>
                          <a:latin typeface="Calibri"/>
                        </a:rPr>
                        <a:t>Throughput</a:t>
                      </a:r>
                    </a:p>
                  </a:txBody>
                  <a:tcPr marL="73152" marR="73152" marT="27432" marB="27432" anchor="ctr">
                    <a:solidFill>
                      <a:srgbClr val="F2F4F7"/>
                    </a:solidFill>
                  </a:tcPr>
                </a:tc>
                <a:tc>
                  <a:txBody>
                    <a:bodyPr/>
                    <a:lstStyle/>
                    <a:p>
                      <a:r>
                        <a:rPr sz="1600" b="0" i="0">
                          <a:solidFill>
                            <a:srgbClr val="222A33"/>
                          </a:solidFill>
                          <a:latin typeface="Calibri"/>
                        </a:rPr>
                        <a:t>Variable, depends on provider server load</a:t>
                      </a:r>
                    </a:p>
                  </a:txBody>
                  <a:tcPr marL="73152" marR="73152" marT="27432" marB="27432" anchor="ctr">
                    <a:solidFill>
                      <a:srgbClr val="F2F4F7"/>
                    </a:solidFill>
                  </a:tcPr>
                </a:tc>
                <a:extLst>
                  <a:ext uri="{0D108BD9-81ED-4DB2-BD59-A6C34878D82A}">
                    <a16:rowId xmlns:a16="http://schemas.microsoft.com/office/drawing/2014/main" val="10002"/>
                  </a:ext>
                </a:extLst>
              </a:tr>
              <a:tr h="487680">
                <a:tc>
                  <a:txBody>
                    <a:bodyPr/>
                    <a:lstStyle/>
                    <a:p>
                      <a:r>
                        <a:rPr sz="1600" b="0" i="0">
                          <a:solidFill>
                            <a:srgbClr val="222A33"/>
                          </a:solidFill>
                          <a:latin typeface="Calibri"/>
                        </a:rPr>
                        <a:t>Limitations</a:t>
                      </a:r>
                    </a:p>
                  </a:txBody>
                  <a:tcPr marL="73152" marR="73152" marT="27432" marB="27432" anchor="ctr">
                    <a:solidFill>
                      <a:srgbClr val="FFFFFF"/>
                    </a:solidFill>
                  </a:tcPr>
                </a:tc>
                <a:tc>
                  <a:txBody>
                    <a:bodyPr/>
                    <a:lstStyle/>
                    <a:p>
                      <a:r>
                        <a:rPr sz="1600" b="0" i="0">
                          <a:solidFill>
                            <a:srgbClr val="222A33"/>
                          </a:solidFill>
                          <a:latin typeface="Calibri"/>
                        </a:rPr>
                        <a:t>Requires trusting the provider itself with your traffic</a:t>
                      </a:r>
                    </a:p>
                  </a:txBody>
                  <a:tcPr marL="73152" marR="73152" marT="27432" marB="27432" anchor="ctr">
                    <a:solidFill>
                      <a:srgbClr val="FFFFFF"/>
                    </a:solidFill>
                  </a:tcPr>
                </a:tc>
                <a:extLst>
                  <a:ext uri="{0D108BD9-81ED-4DB2-BD59-A6C34878D82A}">
                    <a16:rowId xmlns:a16="http://schemas.microsoft.com/office/drawing/2014/main" val="10003"/>
                  </a:ext>
                </a:extLst>
              </a:tr>
              <a:tr h="487680">
                <a:tc>
                  <a:txBody>
                    <a:bodyPr/>
                    <a:lstStyle/>
                    <a:p>
                      <a:r>
                        <a:rPr sz="1600" b="0" i="0">
                          <a:solidFill>
                            <a:srgbClr val="222A33"/>
                          </a:solidFill>
                          <a:latin typeface="Calibri"/>
                        </a:rPr>
                        <a:t>Cost</a:t>
                      </a:r>
                    </a:p>
                  </a:txBody>
                  <a:tcPr marL="73152" marR="73152" marT="27432" marB="27432" anchor="ctr">
                    <a:solidFill>
                      <a:srgbClr val="F2F4F7"/>
                    </a:solidFill>
                  </a:tcPr>
                </a:tc>
                <a:tc>
                  <a:txBody>
                    <a:bodyPr/>
                    <a:lstStyle/>
                    <a:p>
                      <a:r>
                        <a:rPr sz="1600" b="0" i="0" dirty="0">
                          <a:solidFill>
                            <a:srgbClr val="222A33"/>
                          </a:solidFill>
                          <a:latin typeface="Calibri"/>
                        </a:rPr>
                        <a:t>Modest consumer subscription, or free with trade-offs</a:t>
                      </a:r>
                    </a:p>
                  </a:txBody>
                  <a:tcPr marL="73152" marR="73152" marT="27432" marB="27432" anchor="ctr">
                    <a:solidFill>
                      <a:srgbClr val="F2F4F7"/>
                    </a:solidFill>
                  </a:tcPr>
                </a:tc>
                <a:extLst>
                  <a:ext uri="{0D108BD9-81ED-4DB2-BD59-A6C34878D82A}">
                    <a16:rowId xmlns:a16="http://schemas.microsoft.com/office/drawing/2014/main" val="10004"/>
                  </a:ext>
                </a:extLst>
              </a:tr>
              <a:tr h="487680">
                <a:tc>
                  <a:txBody>
                    <a:bodyPr/>
                    <a:lstStyle/>
                    <a:p>
                      <a:r>
                        <a:rPr sz="1600" b="0" i="0">
                          <a:solidFill>
                            <a:srgbClr val="222A33"/>
                          </a:solidFill>
                          <a:latin typeface="Calibri"/>
                        </a:rPr>
                        <a:t>Typical use case</a:t>
                      </a:r>
                    </a:p>
                  </a:txBody>
                  <a:tcPr marL="73152" marR="73152" marT="27432" marB="27432" anchor="ctr">
                    <a:solidFill>
                      <a:srgbClr val="FFFFFF"/>
                    </a:solidFill>
                  </a:tcPr>
                </a:tc>
                <a:tc>
                  <a:txBody>
                    <a:bodyPr/>
                    <a:lstStyle/>
                    <a:p>
                      <a:r>
                        <a:rPr sz="1600" b="0" i="0" dirty="0">
                          <a:solidFill>
                            <a:srgbClr val="222A33"/>
                          </a:solidFill>
                          <a:latin typeface="Calibri"/>
                        </a:rPr>
                        <a:t>Personal privacy, public </a:t>
                      </a:r>
                      <a:r>
                        <a:rPr sz="1600" b="0" i="0" dirty="0" err="1">
                          <a:solidFill>
                            <a:srgbClr val="222A33"/>
                          </a:solidFill>
                          <a:latin typeface="Calibri"/>
                        </a:rPr>
                        <a:t>WiFi</a:t>
                      </a:r>
                      <a:r>
                        <a:rPr sz="1600" b="0" i="0" dirty="0">
                          <a:solidFill>
                            <a:srgbClr val="222A33"/>
                          </a:solidFill>
                          <a:latin typeface="Calibri"/>
                        </a:rPr>
                        <a:t>, geo-restriction bypass</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Mobile VPN: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4, A REMOTE ACCESS VARIANT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 Remote Access variant specifically designed to keep a persistent, stable connection as a device moves between networks, </a:t>
            </a:r>
            <a:r>
              <a:rPr sz="1600" b="0" i="0" dirty="0" err="1">
                <a:solidFill>
                  <a:srgbClr val="222A33"/>
                </a:solidFill>
                <a:latin typeface="Calibri"/>
              </a:rPr>
              <a:t>WiFi</a:t>
            </a:r>
            <a:r>
              <a:rPr sz="1600" b="0" i="0" dirty="0">
                <a:solidFill>
                  <a:srgbClr val="222A33"/>
                </a:solidFill>
                <a:latin typeface="Calibri"/>
              </a:rPr>
              <a:t> to cellular data, or between cell towers, without dropping the session or forcing re-authentication every time.</a:t>
            </a:r>
          </a:p>
          <a:p>
            <a:pPr marL="201168" indent="-201168">
              <a:spcAft>
                <a:spcPts val="1100"/>
              </a:spcAft>
              <a:buFont typeface="Arial"/>
              <a:buChar char="–"/>
            </a:pPr>
            <a:r>
              <a:rPr sz="1600" b="0" i="0" dirty="0">
                <a:solidFill>
                  <a:srgbClr val="222A33"/>
                </a:solidFill>
                <a:latin typeface="Calibri"/>
              </a:rPr>
              <a:t>Typical use case analysis: a hospital's home-visit nursing team uses tablets that must maintain a continuous secure connection to patient record systems while staff move between a patient's home </a:t>
            </a:r>
            <a:r>
              <a:rPr sz="1600" b="0" i="0" dirty="0" err="1">
                <a:solidFill>
                  <a:srgbClr val="222A33"/>
                </a:solidFill>
                <a:latin typeface="Calibri"/>
              </a:rPr>
              <a:t>WiFi</a:t>
            </a:r>
            <a:r>
              <a:rPr sz="1600" b="0" i="0" dirty="0">
                <a:solidFill>
                  <a:srgbClr val="222A33"/>
                </a:solidFill>
                <a:latin typeface="Calibri"/>
              </a:rPr>
              <a:t>, a vehicle's cellular hotspot, and the hospital's own </a:t>
            </a:r>
            <a:r>
              <a:rPr sz="1600" b="0" i="0" dirty="0" err="1">
                <a:solidFill>
                  <a:srgbClr val="222A33"/>
                </a:solidFill>
                <a:latin typeface="Calibri"/>
              </a:rPr>
              <a:t>WiFi</a:t>
            </a:r>
            <a:r>
              <a:rPr sz="1600" b="0" i="0" dirty="0">
                <a:solidFill>
                  <a:srgbClr val="222A33"/>
                </a:solidFill>
                <a:latin typeface="Calibri"/>
              </a:rPr>
              <a:t>.</a:t>
            </a:r>
          </a:p>
          <a:p>
            <a:pPr marL="411480" lvl="1" indent="-164592">
              <a:spcAft>
                <a:spcPts val="800"/>
              </a:spcAft>
              <a:buFont typeface="Arial"/>
              <a:buChar char="–"/>
            </a:pPr>
            <a:r>
              <a:rPr sz="1400" b="0" i="0" dirty="0">
                <a:solidFill>
                  <a:srgbClr val="222A33"/>
                </a:solidFill>
                <a:latin typeface="Calibri"/>
              </a:rPr>
              <a:t>The device moves between fundamentally different network types during one visit, needs a VPN specifically engineered to survive underlying network changes without dropping the session.</a:t>
            </a:r>
          </a:p>
          <a:p>
            <a:pPr marL="411480" lvl="1" indent="-164592">
              <a:spcAft>
                <a:spcPts val="800"/>
              </a:spcAft>
              <a:buFont typeface="Arial"/>
              <a:buChar char="–"/>
            </a:pPr>
            <a:r>
              <a:rPr sz="1400" b="0" i="0" dirty="0">
                <a:solidFill>
                  <a:srgbClr val="222A33"/>
                </a:solidFill>
                <a:latin typeface="Calibri"/>
              </a:rPr>
              <a:t>Interruptions during patient care are unacceptable, needs a persistent virtual identity so the tunnel doesn't depend on a fixed network path, avoiding forced re-logins mid-visit.</a:t>
            </a:r>
          </a:p>
          <a:p>
            <a:pPr marL="411480" lvl="1" indent="-164592">
              <a:spcAft>
                <a:spcPts val="800"/>
              </a:spcAft>
              <a:buFont typeface="Arial"/>
              <a:buChar char="–"/>
            </a:pPr>
            <a:r>
              <a:rPr sz="1400" b="0" i="0" dirty="0">
                <a:solidFill>
                  <a:srgbClr val="222A33"/>
                </a:solidFill>
                <a:latin typeface="Calibri"/>
              </a:rPr>
              <a:t>Access to sensitive patient records demands genuine security, not just convenience, needs the same encryption and authentication as standard remote access, with persistence added on top rather than in place of 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Mobile VPN: Analysis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4, A REMOTE ACCESS VARIANT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Hardware/software: software client on the mobile device; the gateway side needs specific mobile VPN support, not just any generic concentrator.</a:t>
            </a:r>
          </a:p>
          <a:p>
            <a:pPr marL="201168" indent="-201168">
              <a:spcAft>
                <a:spcPts val="1100"/>
              </a:spcAft>
              <a:buFont typeface="Arial"/>
              <a:buChar char="–"/>
            </a:pPr>
            <a:r>
              <a:rPr sz="1600" b="0" i="0" dirty="0">
                <a:solidFill>
                  <a:srgbClr val="222A33"/>
                </a:solidFill>
                <a:latin typeface="Calibri"/>
              </a:rPr>
              <a:t>Throughput and limitations: variable and less predictable than a fixed connection, since it depends on whatever underlying mobile network is currently active; also more complex to implement, and maintaining a persistent connection costs battery life.</a:t>
            </a:r>
          </a:p>
          <a:p>
            <a:pPr marL="201168" indent="-201168">
              <a:spcAft>
                <a:spcPts val="1100"/>
              </a:spcAft>
              <a:buFont typeface="Arial"/>
              <a:buChar char="–"/>
            </a:pPr>
            <a:r>
              <a:rPr sz="1600" b="0" i="0" dirty="0">
                <a:solidFill>
                  <a:srgbClr val="222A33"/>
                </a:solidFill>
                <a:latin typeface="Calibri"/>
              </a:rPr>
              <a:t>Cost: broadly similar to standard remote access licensing, though mobile-VPN-capable gateway support can add cost.</a:t>
            </a:r>
          </a:p>
          <a:p>
            <a:pPr marL="201168" indent="-201168">
              <a:spcAft>
                <a:spcPts val="1100"/>
              </a:spcAft>
              <a:buFont typeface="Arial"/>
              <a:buChar char="–"/>
            </a:pPr>
            <a:r>
              <a:rPr sz="1600" b="0" i="0" dirty="0">
                <a:solidFill>
                  <a:srgbClr val="222A33"/>
                </a:solidFill>
                <a:latin typeface="Calibri"/>
              </a:rPr>
              <a:t>Typical use cases: field workers, delivery and logistics personnel, healthcare staff moving through a facility with a tablet, anyone needing an uninterrupted session while genuinely on the move.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Mobile VPN: Summary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4, A REMOTE ACCESS VARIANT</a:t>
            </a:r>
          </a:p>
        </p:txBody>
      </p:sp>
      <p:graphicFrame>
        <p:nvGraphicFramePr>
          <p:cNvPr id="4" name="Table 3"/>
          <p:cNvGraphicFramePr>
            <a:graphicFrameLocks noGrp="1"/>
          </p:cNvGraphicFramePr>
          <p:nvPr>
            <p:extLst>
              <p:ext uri="{D42A27DB-BD31-4B8C-83A1-F6EECF244321}">
                <p14:modId xmlns:p14="http://schemas.microsoft.com/office/powerpoint/2010/main" val="2722169415"/>
              </p:ext>
            </p:extLst>
          </p:nvPr>
        </p:nvGraphicFramePr>
        <p:xfrm>
          <a:off x="365760" y="1737360"/>
          <a:ext cx="114300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87680">
                <a:tc>
                  <a:txBody>
                    <a:bodyPr/>
                    <a:lstStyle/>
                    <a:p>
                      <a:r>
                        <a:rPr sz="1600" b="1" i="0">
                          <a:solidFill>
                            <a:srgbClr val="FFFFFF"/>
                          </a:solidFill>
                          <a:latin typeface="Calibri"/>
                        </a:rPr>
                        <a:t>Dimension</a:t>
                      </a:r>
                    </a:p>
                  </a:txBody>
                  <a:tcPr marL="73152" marR="73152" marT="27432" marB="27432" anchor="ctr">
                    <a:solidFill>
                      <a:srgbClr val="003054"/>
                    </a:solidFill>
                  </a:tcPr>
                </a:tc>
                <a:tc>
                  <a:txBody>
                    <a:bodyPr/>
                    <a:lstStyle/>
                    <a:p>
                      <a:r>
                        <a:rPr sz="1600" b="1" i="0">
                          <a:solidFill>
                            <a:srgbClr val="FFFFFF"/>
                          </a:solidFill>
                          <a:latin typeface="Calibri"/>
                        </a:rPr>
                        <a:t>Mobile VPN</a:t>
                      </a:r>
                    </a:p>
                  </a:txBody>
                  <a:tcPr marL="73152" marR="73152" marT="27432" marB="27432" anchor="ctr">
                    <a:solidFill>
                      <a:srgbClr val="003054"/>
                    </a:solidFill>
                  </a:tcPr>
                </a:tc>
                <a:extLst>
                  <a:ext uri="{0D108BD9-81ED-4DB2-BD59-A6C34878D82A}">
                    <a16:rowId xmlns:a16="http://schemas.microsoft.com/office/drawing/2014/main" val="10000"/>
                  </a:ext>
                </a:extLst>
              </a:tr>
              <a:tr h="487680">
                <a:tc>
                  <a:txBody>
                    <a:bodyPr/>
                    <a:lstStyle/>
                    <a:p>
                      <a:r>
                        <a:rPr sz="1600" b="0" i="0">
                          <a:solidFill>
                            <a:srgbClr val="222A33"/>
                          </a:solidFill>
                          <a:latin typeface="Calibri"/>
                        </a:rPr>
                        <a:t>Hardware/Software</a:t>
                      </a:r>
                    </a:p>
                  </a:txBody>
                  <a:tcPr marL="73152" marR="73152" marT="27432" marB="27432" anchor="ctr">
                    <a:solidFill>
                      <a:srgbClr val="FFFFFF"/>
                    </a:solidFill>
                  </a:tcPr>
                </a:tc>
                <a:tc>
                  <a:txBody>
                    <a:bodyPr/>
                    <a:lstStyle/>
                    <a:p>
                      <a:r>
                        <a:rPr sz="1600" b="0" i="0">
                          <a:solidFill>
                            <a:srgbClr val="222A33"/>
                          </a:solidFill>
                          <a:latin typeface="Calibri"/>
                        </a:rPr>
                        <a:t>Software client; gateway needs specific mobile VPN support</a:t>
                      </a:r>
                    </a:p>
                  </a:txBody>
                  <a:tcPr marL="73152" marR="73152" marT="27432" marB="27432" anchor="ctr">
                    <a:solidFill>
                      <a:srgbClr val="FFFFFF"/>
                    </a:solidFill>
                  </a:tcPr>
                </a:tc>
                <a:extLst>
                  <a:ext uri="{0D108BD9-81ED-4DB2-BD59-A6C34878D82A}">
                    <a16:rowId xmlns:a16="http://schemas.microsoft.com/office/drawing/2014/main" val="10001"/>
                  </a:ext>
                </a:extLst>
              </a:tr>
              <a:tr h="487680">
                <a:tc>
                  <a:txBody>
                    <a:bodyPr/>
                    <a:lstStyle/>
                    <a:p>
                      <a:r>
                        <a:rPr sz="1600" b="0" i="0">
                          <a:solidFill>
                            <a:srgbClr val="222A33"/>
                          </a:solidFill>
                          <a:latin typeface="Calibri"/>
                        </a:rPr>
                        <a:t>Throughput</a:t>
                      </a:r>
                    </a:p>
                  </a:txBody>
                  <a:tcPr marL="73152" marR="73152" marT="27432" marB="27432" anchor="ctr">
                    <a:solidFill>
                      <a:srgbClr val="F2F4F7"/>
                    </a:solidFill>
                  </a:tcPr>
                </a:tc>
                <a:tc>
                  <a:txBody>
                    <a:bodyPr/>
                    <a:lstStyle/>
                    <a:p>
                      <a:r>
                        <a:rPr sz="1600" b="0" i="0">
                          <a:solidFill>
                            <a:srgbClr val="222A33"/>
                          </a:solidFill>
                          <a:latin typeface="Calibri"/>
                        </a:rPr>
                        <a:t>Variable, tied to the current mobile network</a:t>
                      </a:r>
                    </a:p>
                  </a:txBody>
                  <a:tcPr marL="73152" marR="73152" marT="27432" marB="27432" anchor="ctr">
                    <a:solidFill>
                      <a:srgbClr val="F2F4F7"/>
                    </a:solidFill>
                  </a:tcPr>
                </a:tc>
                <a:extLst>
                  <a:ext uri="{0D108BD9-81ED-4DB2-BD59-A6C34878D82A}">
                    <a16:rowId xmlns:a16="http://schemas.microsoft.com/office/drawing/2014/main" val="10002"/>
                  </a:ext>
                </a:extLst>
              </a:tr>
              <a:tr h="487680">
                <a:tc>
                  <a:txBody>
                    <a:bodyPr/>
                    <a:lstStyle/>
                    <a:p>
                      <a:r>
                        <a:rPr sz="1600" b="0" i="0">
                          <a:solidFill>
                            <a:srgbClr val="222A33"/>
                          </a:solidFill>
                          <a:latin typeface="Calibri"/>
                        </a:rPr>
                        <a:t>Limitations</a:t>
                      </a:r>
                    </a:p>
                  </a:txBody>
                  <a:tcPr marL="73152" marR="73152" marT="27432" marB="27432" anchor="ctr">
                    <a:solidFill>
                      <a:srgbClr val="FFFFFF"/>
                    </a:solidFill>
                  </a:tcPr>
                </a:tc>
                <a:tc>
                  <a:txBody>
                    <a:bodyPr/>
                    <a:lstStyle/>
                    <a:p>
                      <a:r>
                        <a:rPr sz="1600" b="0" i="0" dirty="0">
                          <a:solidFill>
                            <a:srgbClr val="222A33"/>
                          </a:solidFill>
                          <a:latin typeface="Calibri"/>
                        </a:rPr>
                        <a:t>More complex to implement; battery cost on the device</a:t>
                      </a:r>
                    </a:p>
                  </a:txBody>
                  <a:tcPr marL="73152" marR="73152" marT="27432" marB="27432" anchor="ctr">
                    <a:solidFill>
                      <a:srgbClr val="FFFFFF"/>
                    </a:solidFill>
                  </a:tcPr>
                </a:tc>
                <a:extLst>
                  <a:ext uri="{0D108BD9-81ED-4DB2-BD59-A6C34878D82A}">
                    <a16:rowId xmlns:a16="http://schemas.microsoft.com/office/drawing/2014/main" val="10003"/>
                  </a:ext>
                </a:extLst>
              </a:tr>
              <a:tr h="487680">
                <a:tc>
                  <a:txBody>
                    <a:bodyPr/>
                    <a:lstStyle/>
                    <a:p>
                      <a:r>
                        <a:rPr sz="1600" b="0" i="0">
                          <a:solidFill>
                            <a:srgbClr val="222A33"/>
                          </a:solidFill>
                          <a:latin typeface="Calibri"/>
                        </a:rPr>
                        <a:t>Cost</a:t>
                      </a:r>
                    </a:p>
                  </a:txBody>
                  <a:tcPr marL="73152" marR="73152" marT="27432" marB="27432" anchor="ctr">
                    <a:solidFill>
                      <a:srgbClr val="F2F4F7"/>
                    </a:solidFill>
                  </a:tcPr>
                </a:tc>
                <a:tc>
                  <a:txBody>
                    <a:bodyPr/>
                    <a:lstStyle/>
                    <a:p>
                      <a:r>
                        <a:rPr sz="1600" b="0" i="0">
                          <a:solidFill>
                            <a:srgbClr val="222A33"/>
                          </a:solidFill>
                          <a:latin typeface="Calibri"/>
                        </a:rPr>
                        <a:t>Similar to Remote Access, plus possible gateway support cost</a:t>
                      </a:r>
                    </a:p>
                  </a:txBody>
                  <a:tcPr marL="73152" marR="73152" marT="27432" marB="27432" anchor="ctr">
                    <a:solidFill>
                      <a:srgbClr val="F2F4F7"/>
                    </a:solidFill>
                  </a:tcPr>
                </a:tc>
                <a:extLst>
                  <a:ext uri="{0D108BD9-81ED-4DB2-BD59-A6C34878D82A}">
                    <a16:rowId xmlns:a16="http://schemas.microsoft.com/office/drawing/2014/main" val="10004"/>
                  </a:ext>
                </a:extLst>
              </a:tr>
              <a:tr h="487680">
                <a:tc>
                  <a:txBody>
                    <a:bodyPr/>
                    <a:lstStyle/>
                    <a:p>
                      <a:r>
                        <a:rPr sz="1600" b="0" i="0">
                          <a:solidFill>
                            <a:srgbClr val="222A33"/>
                          </a:solidFill>
                          <a:latin typeface="Calibri"/>
                        </a:rPr>
                        <a:t>Typical use case</a:t>
                      </a:r>
                    </a:p>
                  </a:txBody>
                  <a:tcPr marL="73152" marR="73152" marT="27432" marB="27432" anchor="ctr">
                    <a:solidFill>
                      <a:srgbClr val="FFFFFF"/>
                    </a:solidFill>
                  </a:tcPr>
                </a:tc>
                <a:tc>
                  <a:txBody>
                    <a:bodyPr/>
                    <a:lstStyle/>
                    <a:p>
                      <a:r>
                        <a:rPr sz="1600" b="0" i="0" dirty="0">
                          <a:solidFill>
                            <a:srgbClr val="222A33"/>
                          </a:solidFill>
                          <a:latin typeface="Calibri"/>
                        </a:rPr>
                        <a:t>Field workers and mobile staff needing an uninterrupted session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Cloud VPN: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5, A SITE-TO-SITE VARIANT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Site-to-Site variant connecting an organisation's on-premises network to resources hosted in a public cloud provider, so on-premises systems can reach cloud-hosted resources as though on the same network.</a:t>
            </a:r>
          </a:p>
          <a:p>
            <a:pPr marL="201168" indent="-201168">
              <a:spcAft>
                <a:spcPts val="1100"/>
              </a:spcAft>
              <a:buFont typeface="Arial"/>
              <a:buChar char="–"/>
            </a:pPr>
            <a:r>
              <a:rPr sz="1600" b="0" i="0">
                <a:solidFill>
                  <a:srgbClr val="222A33"/>
                </a:solidFill>
                <a:latin typeface="Calibri"/>
              </a:rPr>
              <a:t>The cloud provider offers a managed VPN gateway service, such as AWS Site-to-Site VPN or Azure VPN Gateway, that the organisation's own on-premises gateway connects to, typically over an IPsec-based tunnel.</a:t>
            </a:r>
          </a:p>
          <a:p>
            <a:pPr marL="201168" indent="-201168">
              <a:spcAft>
                <a:spcPts val="1100"/>
              </a:spcAft>
              <a:buFont typeface="Arial"/>
              <a:buChar char="–"/>
            </a:pPr>
            <a:r>
              <a:rPr sz="1600" b="0" i="0">
                <a:solidFill>
                  <a:srgbClr val="222A33"/>
                </a:solidFill>
                <a:latin typeface="Calibri"/>
              </a:rPr>
              <a:t>Typical use case analysis: a manufacturing company keeps its factory floor sensors and control systems on-premises but has moved its data analytics and reporting platform to a public cloud provider, needing continuous, secure data flow between the two without exposing either environment directly to the internet.</a:t>
            </a:r>
          </a:p>
          <a:p>
            <a:pPr marL="411480" lvl="1" indent="-164592">
              <a:spcAft>
                <a:spcPts val="600"/>
              </a:spcAft>
              <a:buFont typeface="Arial"/>
              <a:buChar char="–"/>
            </a:pPr>
            <a:r>
              <a:rPr sz="1350" b="0" i="0">
                <a:solidFill>
                  <a:srgbClr val="222A33"/>
                </a:solidFill>
                <a:latin typeface="Calibri"/>
              </a:rPr>
              <a:t>Two distinct environments need to function as one logical network, needs exactly a site-to-site connection, just with one site being a cloud provider's environment.</a:t>
            </a:r>
          </a:p>
          <a:p>
            <a:pPr marL="411480" lvl="1" indent="-164592">
              <a:spcAft>
                <a:spcPts val="600"/>
              </a:spcAft>
              <a:buFont typeface="Arial"/>
              <a:buChar char="–"/>
            </a:pPr>
            <a:r>
              <a:rPr sz="1350" b="0" i="0">
                <a:solidFill>
                  <a:srgbClr val="222A33"/>
                </a:solidFill>
                <a:latin typeface="Calibri"/>
              </a:rPr>
              <a:t>Data must flow continuously and automatically, needs a persistent, gateway-managed tunnel rather than a manually-initiated user session.</a:t>
            </a:r>
          </a:p>
          <a:p>
            <a:pPr marL="411480" lvl="1" indent="-164592">
              <a:spcAft>
                <a:spcPts val="600"/>
              </a:spcAft>
              <a:buFont typeface="Arial"/>
              <a:buChar char="–"/>
            </a:pPr>
            <a:r>
              <a:rPr sz="1350" b="0" i="0">
                <a:solidFill>
                  <a:srgbClr val="222A33"/>
                </a:solidFill>
                <a:latin typeface="Calibri"/>
              </a:rPr>
              <a:t>The company doesn't want to manage physical VPN hardware inside a data centre it doesn't own, needs the cloud-side gateway to be a managed service the provider operates.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Cloud VPN: Analysis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5, A SITE-TO-SITE VARIANT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Hardware/software: hardware on the on-premises side; a managed, software-defined virtual gateway on the cloud side, with no physical hardware for the customer to manage there.</a:t>
            </a:r>
          </a:p>
          <a:p>
            <a:pPr marL="201168" indent="-201168">
              <a:spcAft>
                <a:spcPts val="1100"/>
              </a:spcAft>
              <a:buFont typeface="Arial"/>
              <a:buChar char="–"/>
            </a:pPr>
            <a:r>
              <a:rPr sz="1600" b="0" i="0">
                <a:solidFill>
                  <a:srgbClr val="222A33"/>
                </a:solidFill>
                <a:latin typeface="Calibri"/>
              </a:rPr>
              <a:t>Throughput, limitations, and cost: throughput generally scales well with the provider's pricing tier, but costs typically combine a fixed gateway charge with data transfer fees that grow with volume, and the organisation is tied to that specific provider's gateway configuration and quirks.</a:t>
            </a:r>
          </a:p>
          <a:p>
            <a:pPr marL="201168" indent="-201168">
              <a:spcAft>
                <a:spcPts val="1100"/>
              </a:spcAft>
              <a:buFont typeface="Arial"/>
              <a:buChar char="–"/>
            </a:pPr>
            <a:r>
              <a:rPr sz="1600" b="0" i="0">
                <a:solidFill>
                  <a:srgbClr val="222A33"/>
                </a:solidFill>
                <a:latin typeface="Calibri"/>
              </a:rPr>
              <a:t>Typical use cases: hybrid cloud architectures, extending an on-premises data centre into the cloud, and disaster recovery replication.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Cloud VPN: Summary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5, A SITE-TO-SITE VARIANT</a:t>
            </a:r>
          </a:p>
        </p:txBody>
      </p:sp>
      <p:graphicFrame>
        <p:nvGraphicFramePr>
          <p:cNvPr id="4" name="Table 3"/>
          <p:cNvGraphicFramePr>
            <a:graphicFrameLocks noGrp="1"/>
          </p:cNvGraphicFramePr>
          <p:nvPr>
            <p:extLst>
              <p:ext uri="{D42A27DB-BD31-4B8C-83A1-F6EECF244321}">
                <p14:modId xmlns:p14="http://schemas.microsoft.com/office/powerpoint/2010/main" val="2958004093"/>
              </p:ext>
            </p:extLst>
          </p:nvPr>
        </p:nvGraphicFramePr>
        <p:xfrm>
          <a:off x="365760" y="1737360"/>
          <a:ext cx="114300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87680">
                <a:tc>
                  <a:txBody>
                    <a:bodyPr/>
                    <a:lstStyle/>
                    <a:p>
                      <a:r>
                        <a:rPr sz="1600" b="1" i="0">
                          <a:solidFill>
                            <a:srgbClr val="FFFFFF"/>
                          </a:solidFill>
                          <a:latin typeface="Calibri"/>
                        </a:rPr>
                        <a:t>Dimension</a:t>
                      </a:r>
                    </a:p>
                  </a:txBody>
                  <a:tcPr marL="73152" marR="73152" marT="27432" marB="27432" anchor="ctr">
                    <a:solidFill>
                      <a:srgbClr val="003054"/>
                    </a:solidFill>
                  </a:tcPr>
                </a:tc>
                <a:tc>
                  <a:txBody>
                    <a:bodyPr/>
                    <a:lstStyle/>
                    <a:p>
                      <a:r>
                        <a:rPr sz="1600" b="1" i="0">
                          <a:solidFill>
                            <a:srgbClr val="FFFFFF"/>
                          </a:solidFill>
                          <a:latin typeface="Calibri"/>
                        </a:rPr>
                        <a:t>Cloud VPN</a:t>
                      </a:r>
                    </a:p>
                  </a:txBody>
                  <a:tcPr marL="73152" marR="73152" marT="27432" marB="27432" anchor="ctr">
                    <a:solidFill>
                      <a:srgbClr val="003054"/>
                    </a:solidFill>
                  </a:tcPr>
                </a:tc>
                <a:extLst>
                  <a:ext uri="{0D108BD9-81ED-4DB2-BD59-A6C34878D82A}">
                    <a16:rowId xmlns:a16="http://schemas.microsoft.com/office/drawing/2014/main" val="10000"/>
                  </a:ext>
                </a:extLst>
              </a:tr>
              <a:tr h="487680">
                <a:tc>
                  <a:txBody>
                    <a:bodyPr/>
                    <a:lstStyle/>
                    <a:p>
                      <a:r>
                        <a:rPr sz="1600" b="0" i="0">
                          <a:solidFill>
                            <a:srgbClr val="222A33"/>
                          </a:solidFill>
                          <a:latin typeface="Calibri"/>
                        </a:rPr>
                        <a:t>Hardware/Software</a:t>
                      </a:r>
                    </a:p>
                  </a:txBody>
                  <a:tcPr marL="73152" marR="73152" marT="27432" marB="27432" anchor="ctr">
                    <a:solidFill>
                      <a:srgbClr val="FFFFFF"/>
                    </a:solidFill>
                  </a:tcPr>
                </a:tc>
                <a:tc>
                  <a:txBody>
                    <a:bodyPr/>
                    <a:lstStyle/>
                    <a:p>
                      <a:r>
                        <a:rPr sz="1600" b="0" i="0">
                          <a:solidFill>
                            <a:srgbClr val="222A33"/>
                          </a:solidFill>
                          <a:latin typeface="Calibri"/>
                        </a:rPr>
                        <a:t>On-premises hardware; managed virtual gateway in the cloud</a:t>
                      </a:r>
                    </a:p>
                  </a:txBody>
                  <a:tcPr marL="73152" marR="73152" marT="27432" marB="27432" anchor="ctr">
                    <a:solidFill>
                      <a:srgbClr val="FFFFFF"/>
                    </a:solidFill>
                  </a:tcPr>
                </a:tc>
                <a:extLst>
                  <a:ext uri="{0D108BD9-81ED-4DB2-BD59-A6C34878D82A}">
                    <a16:rowId xmlns:a16="http://schemas.microsoft.com/office/drawing/2014/main" val="10001"/>
                  </a:ext>
                </a:extLst>
              </a:tr>
              <a:tr h="487680">
                <a:tc>
                  <a:txBody>
                    <a:bodyPr/>
                    <a:lstStyle/>
                    <a:p>
                      <a:r>
                        <a:rPr sz="1600" b="0" i="0">
                          <a:solidFill>
                            <a:srgbClr val="222A33"/>
                          </a:solidFill>
                          <a:latin typeface="Calibri"/>
                        </a:rPr>
                        <a:t>Throughput</a:t>
                      </a:r>
                    </a:p>
                  </a:txBody>
                  <a:tcPr marL="73152" marR="73152" marT="27432" marB="27432" anchor="ctr">
                    <a:solidFill>
                      <a:srgbClr val="F2F4F7"/>
                    </a:solidFill>
                  </a:tcPr>
                </a:tc>
                <a:tc>
                  <a:txBody>
                    <a:bodyPr/>
                    <a:lstStyle/>
                    <a:p>
                      <a:r>
                        <a:rPr sz="1600" b="0" i="0">
                          <a:solidFill>
                            <a:srgbClr val="222A33"/>
                          </a:solidFill>
                          <a:latin typeface="Calibri"/>
                        </a:rPr>
                        <a:t>Scales with the provider's pricing tier</a:t>
                      </a:r>
                    </a:p>
                  </a:txBody>
                  <a:tcPr marL="73152" marR="73152" marT="27432" marB="27432" anchor="ctr">
                    <a:solidFill>
                      <a:srgbClr val="F2F4F7"/>
                    </a:solidFill>
                  </a:tcPr>
                </a:tc>
                <a:extLst>
                  <a:ext uri="{0D108BD9-81ED-4DB2-BD59-A6C34878D82A}">
                    <a16:rowId xmlns:a16="http://schemas.microsoft.com/office/drawing/2014/main" val="10002"/>
                  </a:ext>
                </a:extLst>
              </a:tr>
              <a:tr h="487680">
                <a:tc>
                  <a:txBody>
                    <a:bodyPr/>
                    <a:lstStyle/>
                    <a:p>
                      <a:r>
                        <a:rPr sz="1600" b="0" i="0">
                          <a:solidFill>
                            <a:srgbClr val="222A33"/>
                          </a:solidFill>
                          <a:latin typeface="Calibri"/>
                        </a:rPr>
                        <a:t>Limitations</a:t>
                      </a:r>
                    </a:p>
                  </a:txBody>
                  <a:tcPr marL="73152" marR="73152" marT="27432" marB="27432" anchor="ctr">
                    <a:solidFill>
                      <a:srgbClr val="FFFFFF"/>
                    </a:solidFill>
                  </a:tcPr>
                </a:tc>
                <a:tc>
                  <a:txBody>
                    <a:bodyPr/>
                    <a:lstStyle/>
                    <a:p>
                      <a:r>
                        <a:rPr sz="1600" b="0" i="0">
                          <a:solidFill>
                            <a:srgbClr val="222A33"/>
                          </a:solidFill>
                          <a:latin typeface="Calibri"/>
                        </a:rPr>
                        <a:t>Tied to the specific cloud provider's gateway and quirks</a:t>
                      </a:r>
                    </a:p>
                  </a:txBody>
                  <a:tcPr marL="73152" marR="73152" marT="27432" marB="27432" anchor="ctr">
                    <a:solidFill>
                      <a:srgbClr val="FFFFFF"/>
                    </a:solidFill>
                  </a:tcPr>
                </a:tc>
                <a:extLst>
                  <a:ext uri="{0D108BD9-81ED-4DB2-BD59-A6C34878D82A}">
                    <a16:rowId xmlns:a16="http://schemas.microsoft.com/office/drawing/2014/main" val="10003"/>
                  </a:ext>
                </a:extLst>
              </a:tr>
              <a:tr h="487680">
                <a:tc>
                  <a:txBody>
                    <a:bodyPr/>
                    <a:lstStyle/>
                    <a:p>
                      <a:r>
                        <a:rPr sz="1600" b="0" i="0">
                          <a:solidFill>
                            <a:srgbClr val="222A33"/>
                          </a:solidFill>
                          <a:latin typeface="Calibri"/>
                        </a:rPr>
                        <a:t>Cost</a:t>
                      </a:r>
                    </a:p>
                  </a:txBody>
                  <a:tcPr marL="73152" marR="73152" marT="27432" marB="27432" anchor="ctr">
                    <a:solidFill>
                      <a:srgbClr val="F2F4F7"/>
                    </a:solidFill>
                  </a:tcPr>
                </a:tc>
                <a:tc>
                  <a:txBody>
                    <a:bodyPr/>
                    <a:lstStyle/>
                    <a:p>
                      <a:r>
                        <a:rPr sz="1600" b="0" i="0">
                          <a:solidFill>
                            <a:srgbClr val="222A33"/>
                          </a:solidFill>
                          <a:latin typeface="Calibri"/>
                        </a:rPr>
                        <a:t>Fixed gateway charge plus data transfer fees</a:t>
                      </a:r>
                    </a:p>
                  </a:txBody>
                  <a:tcPr marL="73152" marR="73152" marT="27432" marB="27432" anchor="ctr">
                    <a:solidFill>
                      <a:srgbClr val="F2F4F7"/>
                    </a:solidFill>
                  </a:tcPr>
                </a:tc>
                <a:extLst>
                  <a:ext uri="{0D108BD9-81ED-4DB2-BD59-A6C34878D82A}">
                    <a16:rowId xmlns:a16="http://schemas.microsoft.com/office/drawing/2014/main" val="10004"/>
                  </a:ext>
                </a:extLst>
              </a:tr>
              <a:tr h="487680">
                <a:tc>
                  <a:txBody>
                    <a:bodyPr/>
                    <a:lstStyle/>
                    <a:p>
                      <a:r>
                        <a:rPr sz="1600" b="0" i="0">
                          <a:solidFill>
                            <a:srgbClr val="222A33"/>
                          </a:solidFill>
                          <a:latin typeface="Calibri"/>
                        </a:rPr>
                        <a:t>Typical use case</a:t>
                      </a:r>
                    </a:p>
                  </a:txBody>
                  <a:tcPr marL="73152" marR="73152" marT="27432" marB="27432" anchor="ctr">
                    <a:solidFill>
                      <a:srgbClr val="FFFFFF"/>
                    </a:solidFill>
                  </a:tcPr>
                </a:tc>
                <a:tc>
                  <a:txBody>
                    <a:bodyPr/>
                    <a:lstStyle/>
                    <a:p>
                      <a:r>
                        <a:rPr sz="1600" b="0" i="0" dirty="0">
                          <a:solidFill>
                            <a:srgbClr val="222A33"/>
                          </a:solidFill>
                          <a:latin typeface="Calibri"/>
                        </a:rPr>
                        <a:t>Hybrid cloud, on-premises-to-cloud extension, disaster recovery</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All Five Types, Side by Side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extLst>
              <p:ext uri="{D42A27DB-BD31-4B8C-83A1-F6EECF244321}">
                <p14:modId xmlns:p14="http://schemas.microsoft.com/office/powerpoint/2010/main" val="2178660211"/>
              </p:ext>
            </p:extLst>
          </p:nvPr>
        </p:nvGraphicFramePr>
        <p:xfrm>
          <a:off x="182880" y="1830190"/>
          <a:ext cx="11795760" cy="42062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701040">
                <a:tc>
                  <a:txBody>
                    <a:bodyPr/>
                    <a:lstStyle/>
                    <a:p>
                      <a:r>
                        <a:rPr sz="1600" b="1" i="0">
                          <a:solidFill>
                            <a:srgbClr val="FFFFFF"/>
                          </a:solidFill>
                          <a:latin typeface="Calibri"/>
                        </a:rPr>
                        <a:t>Type</a:t>
                      </a:r>
                    </a:p>
                  </a:txBody>
                  <a:tcPr marL="73152" marR="73152" marT="27432" marB="27432" anchor="ctr">
                    <a:solidFill>
                      <a:srgbClr val="003054"/>
                    </a:solidFill>
                  </a:tcPr>
                </a:tc>
                <a:tc>
                  <a:txBody>
                    <a:bodyPr/>
                    <a:lstStyle/>
                    <a:p>
                      <a:r>
                        <a:rPr sz="1600" b="1" i="0" dirty="0">
                          <a:solidFill>
                            <a:srgbClr val="FFFFFF"/>
                          </a:solidFill>
                          <a:latin typeface="Calibri"/>
                        </a:rPr>
                        <a:t>Connects</a:t>
                      </a:r>
                    </a:p>
                  </a:txBody>
                  <a:tcPr marL="73152" marR="73152" marT="27432" marB="27432" anchor="ctr">
                    <a:solidFill>
                      <a:srgbClr val="003054"/>
                    </a:solidFill>
                  </a:tcPr>
                </a:tc>
                <a:tc>
                  <a:txBody>
                    <a:bodyPr/>
                    <a:lstStyle/>
                    <a:p>
                      <a:r>
                        <a:rPr sz="1600" b="1" i="0">
                          <a:solidFill>
                            <a:srgbClr val="FFFFFF"/>
                          </a:solidFill>
                          <a:latin typeface="Calibri"/>
                        </a:rPr>
                        <a:t>Deployment</a:t>
                      </a:r>
                    </a:p>
                  </a:txBody>
                  <a:tcPr marL="73152" marR="73152" marT="27432" marB="27432" anchor="ctr">
                    <a:solidFill>
                      <a:srgbClr val="003054"/>
                    </a:solidFill>
                  </a:tcPr>
                </a:tc>
                <a:tc>
                  <a:txBody>
                    <a:bodyPr/>
                    <a:lstStyle/>
                    <a:p>
                      <a:r>
                        <a:rPr sz="1600" b="1" i="0">
                          <a:solidFill>
                            <a:srgbClr val="FFFFFF"/>
                          </a:solidFill>
                          <a:latin typeface="Calibri"/>
                        </a:rPr>
                        <a:t>Throughput</a:t>
                      </a:r>
                    </a:p>
                  </a:txBody>
                  <a:tcPr marL="73152" marR="73152" marT="27432" marB="27432" anchor="ctr">
                    <a:solidFill>
                      <a:srgbClr val="003054"/>
                    </a:solidFill>
                  </a:tcPr>
                </a:tc>
                <a:tc>
                  <a:txBody>
                    <a:bodyPr/>
                    <a:lstStyle/>
                    <a:p>
                      <a:r>
                        <a:rPr sz="1600" b="1" i="0">
                          <a:solidFill>
                            <a:srgbClr val="FFFFFF"/>
                          </a:solidFill>
                          <a:latin typeface="Calibri"/>
                        </a:rPr>
                        <a:t>Client Software?</a:t>
                      </a:r>
                    </a:p>
                  </a:txBody>
                  <a:tcPr marL="73152" marR="73152" marT="27432" marB="27432" anchor="ctr">
                    <a:solidFill>
                      <a:srgbClr val="003054"/>
                    </a:solidFill>
                  </a:tcPr>
                </a:tc>
                <a:tc>
                  <a:txBody>
                    <a:bodyPr/>
                    <a:lstStyle/>
                    <a:p>
                      <a:r>
                        <a:rPr sz="1600" b="1" i="0">
                          <a:solidFill>
                            <a:srgbClr val="FFFFFF"/>
                          </a:solidFill>
                          <a:latin typeface="Calibri"/>
                        </a:rPr>
                        <a:t>Typical Cost</a:t>
                      </a:r>
                    </a:p>
                  </a:txBody>
                  <a:tcPr marL="73152" marR="73152" marT="27432" marB="27432" anchor="ctr">
                    <a:solidFill>
                      <a:srgbClr val="003054"/>
                    </a:solidFill>
                  </a:tcPr>
                </a:tc>
                <a:extLst>
                  <a:ext uri="{0D108BD9-81ED-4DB2-BD59-A6C34878D82A}">
                    <a16:rowId xmlns:a16="http://schemas.microsoft.com/office/drawing/2014/main" val="10000"/>
                  </a:ext>
                </a:extLst>
              </a:tr>
              <a:tr h="701040">
                <a:tc>
                  <a:txBody>
                    <a:bodyPr/>
                    <a:lstStyle/>
                    <a:p>
                      <a:r>
                        <a:rPr sz="1600" b="0" i="0">
                          <a:solidFill>
                            <a:srgbClr val="222A33"/>
                          </a:solidFill>
                          <a:latin typeface="Calibri"/>
                        </a:rPr>
                        <a:t>Remote Access</a:t>
                      </a:r>
                    </a:p>
                  </a:txBody>
                  <a:tcPr marL="73152" marR="73152" marT="27432" marB="27432" anchor="ctr">
                    <a:solidFill>
                      <a:srgbClr val="FFFFFF"/>
                    </a:solidFill>
                  </a:tcPr>
                </a:tc>
                <a:tc>
                  <a:txBody>
                    <a:bodyPr/>
                    <a:lstStyle/>
                    <a:p>
                      <a:r>
                        <a:rPr sz="1600" b="0" i="0">
                          <a:solidFill>
                            <a:srgbClr val="222A33"/>
                          </a:solidFill>
                          <a:latin typeface="Calibri"/>
                        </a:rPr>
                        <a:t>One user to a network</a:t>
                      </a:r>
                    </a:p>
                  </a:txBody>
                  <a:tcPr marL="73152" marR="73152" marT="27432" marB="27432" anchor="ctr">
                    <a:solidFill>
                      <a:srgbClr val="FFFFFF"/>
                    </a:solidFill>
                  </a:tcPr>
                </a:tc>
                <a:tc>
                  <a:txBody>
                    <a:bodyPr/>
                    <a:lstStyle/>
                    <a:p>
                      <a:r>
                        <a:rPr sz="1600" b="0" i="0">
                          <a:solidFill>
                            <a:srgbClr val="222A33"/>
                          </a:solidFill>
                          <a:latin typeface="Calibri"/>
                        </a:rPr>
                        <a:t>Mostly software</a:t>
                      </a:r>
                    </a:p>
                  </a:txBody>
                  <a:tcPr marL="73152" marR="73152" marT="27432" marB="27432" anchor="ctr">
                    <a:solidFill>
                      <a:srgbClr val="FFFFFF"/>
                    </a:solidFill>
                  </a:tcPr>
                </a:tc>
                <a:tc>
                  <a:txBody>
                    <a:bodyPr/>
                    <a:lstStyle/>
                    <a:p>
                      <a:r>
                        <a:rPr sz="1600" b="0" i="0">
                          <a:solidFill>
                            <a:srgbClr val="222A33"/>
                          </a:solidFill>
                          <a:latin typeface="Calibri"/>
                        </a:rPr>
                        <a:t>Modest per user</a:t>
                      </a:r>
                    </a:p>
                  </a:txBody>
                  <a:tcPr marL="73152" marR="73152" marT="27432" marB="27432" anchor="ctr">
                    <a:solidFill>
                      <a:srgbClr val="FFFFFF"/>
                    </a:solidFill>
                  </a:tcPr>
                </a:tc>
                <a:tc>
                  <a:txBody>
                    <a:bodyPr/>
                    <a:lstStyle/>
                    <a:p>
                      <a:r>
                        <a:rPr sz="1600" b="0" i="0">
                          <a:solidFill>
                            <a:srgbClr val="222A33"/>
                          </a:solidFill>
                          <a:latin typeface="Calibri"/>
                        </a:rPr>
                        <a:t>Yes</a:t>
                      </a:r>
                    </a:p>
                  </a:txBody>
                  <a:tcPr marL="73152" marR="73152" marT="27432" marB="27432" anchor="ctr">
                    <a:solidFill>
                      <a:srgbClr val="FFFFFF"/>
                    </a:solidFill>
                  </a:tcPr>
                </a:tc>
                <a:tc>
                  <a:txBody>
                    <a:bodyPr/>
                    <a:lstStyle/>
                    <a:p>
                      <a:r>
                        <a:rPr sz="1600" b="0" i="0">
                          <a:solidFill>
                            <a:srgbClr val="222A33"/>
                          </a:solidFill>
                          <a:latin typeface="Calibri"/>
                        </a:rPr>
                        <a:t>Low per user</a:t>
                      </a:r>
                    </a:p>
                  </a:txBody>
                  <a:tcPr marL="73152" marR="73152" marT="27432" marB="27432" anchor="ctr">
                    <a:solidFill>
                      <a:srgbClr val="FFFFFF"/>
                    </a:solidFill>
                  </a:tcPr>
                </a:tc>
                <a:extLst>
                  <a:ext uri="{0D108BD9-81ED-4DB2-BD59-A6C34878D82A}">
                    <a16:rowId xmlns:a16="http://schemas.microsoft.com/office/drawing/2014/main" val="10001"/>
                  </a:ext>
                </a:extLst>
              </a:tr>
              <a:tr h="701040">
                <a:tc>
                  <a:txBody>
                    <a:bodyPr/>
                    <a:lstStyle/>
                    <a:p>
                      <a:r>
                        <a:rPr sz="1600" b="0" i="0">
                          <a:solidFill>
                            <a:srgbClr val="222A33"/>
                          </a:solidFill>
                          <a:latin typeface="Calibri"/>
                        </a:rPr>
                        <a:t>Site-to-Site</a:t>
                      </a:r>
                    </a:p>
                  </a:txBody>
                  <a:tcPr marL="73152" marR="73152" marT="27432" marB="27432" anchor="ctr">
                    <a:solidFill>
                      <a:srgbClr val="F2F4F7"/>
                    </a:solidFill>
                  </a:tcPr>
                </a:tc>
                <a:tc>
                  <a:txBody>
                    <a:bodyPr/>
                    <a:lstStyle/>
                    <a:p>
                      <a:r>
                        <a:rPr sz="1600" b="0" i="0" dirty="0">
                          <a:solidFill>
                            <a:srgbClr val="222A33"/>
                          </a:solidFill>
                          <a:latin typeface="Calibri"/>
                        </a:rPr>
                        <a:t>One network to another</a:t>
                      </a:r>
                    </a:p>
                  </a:txBody>
                  <a:tcPr marL="73152" marR="73152" marT="27432" marB="27432" anchor="ctr">
                    <a:solidFill>
                      <a:srgbClr val="F2F4F7"/>
                    </a:solidFill>
                  </a:tcPr>
                </a:tc>
                <a:tc>
                  <a:txBody>
                    <a:bodyPr/>
                    <a:lstStyle/>
                    <a:p>
                      <a:r>
                        <a:rPr sz="1600" b="0" i="0">
                          <a:solidFill>
                            <a:srgbClr val="222A33"/>
                          </a:solidFill>
                          <a:latin typeface="Calibri"/>
                        </a:rPr>
                        <a:t>Mostly hardware</a:t>
                      </a:r>
                    </a:p>
                  </a:txBody>
                  <a:tcPr marL="73152" marR="73152" marT="27432" marB="27432" anchor="ctr">
                    <a:solidFill>
                      <a:srgbClr val="F2F4F7"/>
                    </a:solidFill>
                  </a:tcPr>
                </a:tc>
                <a:tc>
                  <a:txBody>
                    <a:bodyPr/>
                    <a:lstStyle/>
                    <a:p>
                      <a:r>
                        <a:rPr sz="1600" b="0" i="0">
                          <a:solidFill>
                            <a:srgbClr val="222A33"/>
                          </a:solidFill>
                          <a:latin typeface="Calibri"/>
                        </a:rPr>
                        <a:t>High, whole-site aggregate</a:t>
                      </a:r>
                    </a:p>
                  </a:txBody>
                  <a:tcPr marL="73152" marR="73152" marT="27432" marB="27432" anchor="ctr">
                    <a:solidFill>
                      <a:srgbClr val="F2F4F7"/>
                    </a:solidFill>
                  </a:tcPr>
                </a:tc>
                <a:tc>
                  <a:txBody>
                    <a:bodyPr/>
                    <a:lstStyle/>
                    <a:p>
                      <a:r>
                        <a:rPr sz="1600" b="0" i="0">
                          <a:solidFill>
                            <a:srgbClr val="222A33"/>
                          </a:solidFill>
                          <a:latin typeface="Calibri"/>
                        </a:rPr>
                        <a:t>No</a:t>
                      </a:r>
                    </a:p>
                  </a:txBody>
                  <a:tcPr marL="73152" marR="73152" marT="27432" marB="27432" anchor="ctr">
                    <a:solidFill>
                      <a:srgbClr val="F2F4F7"/>
                    </a:solidFill>
                  </a:tcPr>
                </a:tc>
                <a:tc>
                  <a:txBody>
                    <a:bodyPr/>
                    <a:lstStyle/>
                    <a:p>
                      <a:r>
                        <a:rPr sz="1600" b="0" i="0">
                          <a:solidFill>
                            <a:srgbClr val="222A33"/>
                          </a:solidFill>
                          <a:latin typeface="Calibri"/>
                        </a:rPr>
                        <a:t>High per site, efficient at scale</a:t>
                      </a:r>
                    </a:p>
                  </a:txBody>
                  <a:tcPr marL="73152" marR="73152" marT="27432" marB="27432" anchor="ctr">
                    <a:solidFill>
                      <a:srgbClr val="F2F4F7"/>
                    </a:solidFill>
                  </a:tcPr>
                </a:tc>
                <a:extLst>
                  <a:ext uri="{0D108BD9-81ED-4DB2-BD59-A6C34878D82A}">
                    <a16:rowId xmlns:a16="http://schemas.microsoft.com/office/drawing/2014/main" val="10002"/>
                  </a:ext>
                </a:extLst>
              </a:tr>
              <a:tr h="701040">
                <a:tc>
                  <a:txBody>
                    <a:bodyPr/>
                    <a:lstStyle/>
                    <a:p>
                      <a:r>
                        <a:rPr sz="1600" b="0" i="0">
                          <a:solidFill>
                            <a:srgbClr val="222A33"/>
                          </a:solidFill>
                          <a:latin typeface="Calibri"/>
                        </a:rPr>
                        <a:t>Personal</a:t>
                      </a:r>
                    </a:p>
                  </a:txBody>
                  <a:tcPr marL="73152" marR="73152" marT="27432" marB="27432" anchor="ctr">
                    <a:solidFill>
                      <a:srgbClr val="FFFFFF"/>
                    </a:solidFill>
                  </a:tcPr>
                </a:tc>
                <a:tc>
                  <a:txBody>
                    <a:bodyPr/>
                    <a:lstStyle/>
                    <a:p>
                      <a:r>
                        <a:rPr sz="1600" b="0" i="0">
                          <a:solidFill>
                            <a:srgbClr val="222A33"/>
                          </a:solidFill>
                          <a:latin typeface="Calibri"/>
                        </a:rPr>
                        <a:t>One user to a VPN provider</a:t>
                      </a:r>
                    </a:p>
                  </a:txBody>
                  <a:tcPr marL="73152" marR="73152" marT="27432" marB="27432" anchor="ctr">
                    <a:solidFill>
                      <a:srgbClr val="FFFFFF"/>
                    </a:solidFill>
                  </a:tcPr>
                </a:tc>
                <a:tc>
                  <a:txBody>
                    <a:bodyPr/>
                    <a:lstStyle/>
                    <a:p>
                      <a:r>
                        <a:rPr sz="1600" b="0" i="0">
                          <a:solidFill>
                            <a:srgbClr val="222A33"/>
                          </a:solidFill>
                          <a:latin typeface="Calibri"/>
                        </a:rPr>
                        <a:t>Software</a:t>
                      </a:r>
                    </a:p>
                  </a:txBody>
                  <a:tcPr marL="73152" marR="73152" marT="27432" marB="27432" anchor="ctr">
                    <a:solidFill>
                      <a:srgbClr val="FFFFFF"/>
                    </a:solidFill>
                  </a:tcPr>
                </a:tc>
                <a:tc>
                  <a:txBody>
                    <a:bodyPr/>
                    <a:lstStyle/>
                    <a:p>
                      <a:r>
                        <a:rPr sz="1600" b="0" i="0">
                          <a:solidFill>
                            <a:srgbClr val="222A33"/>
                          </a:solidFill>
                          <a:latin typeface="Calibri"/>
                        </a:rPr>
                        <a:t>Variable, provider-dependent</a:t>
                      </a:r>
                    </a:p>
                  </a:txBody>
                  <a:tcPr marL="73152" marR="73152" marT="27432" marB="27432" anchor="ctr">
                    <a:solidFill>
                      <a:srgbClr val="FFFFFF"/>
                    </a:solidFill>
                  </a:tcPr>
                </a:tc>
                <a:tc>
                  <a:txBody>
                    <a:bodyPr/>
                    <a:lstStyle/>
                    <a:p>
                      <a:r>
                        <a:rPr sz="1600" b="0" i="0">
                          <a:solidFill>
                            <a:srgbClr val="222A33"/>
                          </a:solidFill>
                          <a:latin typeface="Calibri"/>
                        </a:rPr>
                        <a:t>Yes</a:t>
                      </a:r>
                    </a:p>
                  </a:txBody>
                  <a:tcPr marL="73152" marR="73152" marT="27432" marB="27432" anchor="ctr">
                    <a:solidFill>
                      <a:srgbClr val="FFFFFF"/>
                    </a:solidFill>
                  </a:tcPr>
                </a:tc>
                <a:tc>
                  <a:txBody>
                    <a:bodyPr/>
                    <a:lstStyle/>
                    <a:p>
                      <a:r>
                        <a:rPr sz="1600" b="0" i="0">
                          <a:solidFill>
                            <a:srgbClr val="222A33"/>
                          </a:solidFill>
                          <a:latin typeface="Calibri"/>
                        </a:rPr>
                        <a:t>Low, consumer subscription</a:t>
                      </a:r>
                    </a:p>
                  </a:txBody>
                  <a:tcPr marL="73152" marR="73152" marT="27432" marB="27432" anchor="ctr">
                    <a:solidFill>
                      <a:srgbClr val="FFFFFF"/>
                    </a:solidFill>
                  </a:tcPr>
                </a:tc>
                <a:extLst>
                  <a:ext uri="{0D108BD9-81ED-4DB2-BD59-A6C34878D82A}">
                    <a16:rowId xmlns:a16="http://schemas.microsoft.com/office/drawing/2014/main" val="10003"/>
                  </a:ext>
                </a:extLst>
              </a:tr>
              <a:tr h="701040">
                <a:tc>
                  <a:txBody>
                    <a:bodyPr/>
                    <a:lstStyle/>
                    <a:p>
                      <a:r>
                        <a:rPr sz="1600" b="0" i="0">
                          <a:solidFill>
                            <a:srgbClr val="222A33"/>
                          </a:solidFill>
                          <a:latin typeface="Calibri"/>
                        </a:rPr>
                        <a:t>Mobile</a:t>
                      </a:r>
                    </a:p>
                  </a:txBody>
                  <a:tcPr marL="73152" marR="73152" marT="27432" marB="27432" anchor="ctr">
                    <a:solidFill>
                      <a:srgbClr val="F2F4F7"/>
                    </a:solidFill>
                  </a:tcPr>
                </a:tc>
                <a:tc>
                  <a:txBody>
                    <a:bodyPr/>
                    <a:lstStyle/>
                    <a:p>
                      <a:r>
                        <a:rPr sz="1600" b="0" i="0">
                          <a:solidFill>
                            <a:srgbClr val="222A33"/>
                          </a:solidFill>
                          <a:latin typeface="Calibri"/>
                        </a:rPr>
                        <a:t>One roaming user to a network</a:t>
                      </a:r>
                    </a:p>
                  </a:txBody>
                  <a:tcPr marL="73152" marR="73152" marT="27432" marB="27432" anchor="ctr">
                    <a:solidFill>
                      <a:srgbClr val="F2F4F7"/>
                    </a:solidFill>
                  </a:tcPr>
                </a:tc>
                <a:tc>
                  <a:txBody>
                    <a:bodyPr/>
                    <a:lstStyle/>
                    <a:p>
                      <a:r>
                        <a:rPr sz="1600" b="0" i="0">
                          <a:solidFill>
                            <a:srgbClr val="222A33"/>
                          </a:solidFill>
                          <a:latin typeface="Calibri"/>
                        </a:rPr>
                        <a:t>Software</a:t>
                      </a:r>
                    </a:p>
                  </a:txBody>
                  <a:tcPr marL="73152" marR="73152" marT="27432" marB="27432" anchor="ctr">
                    <a:solidFill>
                      <a:srgbClr val="F2F4F7"/>
                    </a:solidFill>
                  </a:tcPr>
                </a:tc>
                <a:tc>
                  <a:txBody>
                    <a:bodyPr/>
                    <a:lstStyle/>
                    <a:p>
                      <a:r>
                        <a:rPr sz="1600" b="0" i="0">
                          <a:solidFill>
                            <a:srgbClr val="222A33"/>
                          </a:solidFill>
                          <a:latin typeface="Calibri"/>
                        </a:rPr>
                        <a:t>Variable, network-dependent</a:t>
                      </a:r>
                    </a:p>
                  </a:txBody>
                  <a:tcPr marL="73152" marR="73152" marT="27432" marB="27432" anchor="ctr">
                    <a:solidFill>
                      <a:srgbClr val="F2F4F7"/>
                    </a:solidFill>
                  </a:tcPr>
                </a:tc>
                <a:tc>
                  <a:txBody>
                    <a:bodyPr/>
                    <a:lstStyle/>
                    <a:p>
                      <a:r>
                        <a:rPr sz="1600" b="0" i="0">
                          <a:solidFill>
                            <a:srgbClr val="222A33"/>
                          </a:solidFill>
                          <a:latin typeface="Calibri"/>
                        </a:rPr>
                        <a:t>Yes</a:t>
                      </a:r>
                    </a:p>
                  </a:txBody>
                  <a:tcPr marL="73152" marR="73152" marT="27432" marB="27432" anchor="ctr">
                    <a:solidFill>
                      <a:srgbClr val="F2F4F7"/>
                    </a:solidFill>
                  </a:tcPr>
                </a:tc>
                <a:tc>
                  <a:txBody>
                    <a:bodyPr/>
                    <a:lstStyle/>
                    <a:p>
                      <a:r>
                        <a:rPr sz="1600" b="0" i="0">
                          <a:solidFill>
                            <a:srgbClr val="222A33"/>
                          </a:solidFill>
                          <a:latin typeface="Calibri"/>
                        </a:rPr>
                        <a:t>Similar to Remote Access</a:t>
                      </a:r>
                    </a:p>
                  </a:txBody>
                  <a:tcPr marL="73152" marR="73152" marT="27432" marB="27432" anchor="ctr">
                    <a:solidFill>
                      <a:srgbClr val="F2F4F7"/>
                    </a:solidFill>
                  </a:tcPr>
                </a:tc>
                <a:extLst>
                  <a:ext uri="{0D108BD9-81ED-4DB2-BD59-A6C34878D82A}">
                    <a16:rowId xmlns:a16="http://schemas.microsoft.com/office/drawing/2014/main" val="10004"/>
                  </a:ext>
                </a:extLst>
              </a:tr>
              <a:tr h="701040">
                <a:tc>
                  <a:txBody>
                    <a:bodyPr/>
                    <a:lstStyle/>
                    <a:p>
                      <a:r>
                        <a:rPr sz="1600" b="0" i="0">
                          <a:solidFill>
                            <a:srgbClr val="222A33"/>
                          </a:solidFill>
                          <a:latin typeface="Calibri"/>
                        </a:rPr>
                        <a:t>Cloud</a:t>
                      </a:r>
                    </a:p>
                  </a:txBody>
                  <a:tcPr marL="73152" marR="73152" marT="27432" marB="27432" anchor="ctr">
                    <a:solidFill>
                      <a:srgbClr val="FFFFFF"/>
                    </a:solidFill>
                  </a:tcPr>
                </a:tc>
                <a:tc>
                  <a:txBody>
                    <a:bodyPr/>
                    <a:lstStyle/>
                    <a:p>
                      <a:r>
                        <a:rPr sz="1600" b="0" i="0">
                          <a:solidFill>
                            <a:srgbClr val="222A33"/>
                          </a:solidFill>
                          <a:latin typeface="Calibri"/>
                        </a:rPr>
                        <a:t>On-premises network to the cloud</a:t>
                      </a:r>
                    </a:p>
                  </a:txBody>
                  <a:tcPr marL="73152" marR="73152" marT="27432" marB="27432" anchor="ctr">
                    <a:solidFill>
                      <a:srgbClr val="FFFFFF"/>
                    </a:solidFill>
                  </a:tcPr>
                </a:tc>
                <a:tc>
                  <a:txBody>
                    <a:bodyPr/>
                    <a:lstStyle/>
                    <a:p>
                      <a:r>
                        <a:rPr sz="1600" b="0" i="0">
                          <a:solidFill>
                            <a:srgbClr val="222A33"/>
                          </a:solidFill>
                          <a:latin typeface="Calibri"/>
                        </a:rPr>
                        <a:t>Hardware on-premises, managed in cloud</a:t>
                      </a:r>
                    </a:p>
                  </a:txBody>
                  <a:tcPr marL="73152" marR="73152" marT="27432" marB="27432" anchor="ctr">
                    <a:solidFill>
                      <a:srgbClr val="FFFFFF"/>
                    </a:solidFill>
                  </a:tcPr>
                </a:tc>
                <a:tc>
                  <a:txBody>
                    <a:bodyPr/>
                    <a:lstStyle/>
                    <a:p>
                      <a:r>
                        <a:rPr sz="1600" b="0" i="0">
                          <a:solidFill>
                            <a:srgbClr val="222A33"/>
                          </a:solidFill>
                          <a:latin typeface="Calibri"/>
                        </a:rPr>
                        <a:t>Scales with provider tier</a:t>
                      </a:r>
                    </a:p>
                  </a:txBody>
                  <a:tcPr marL="73152" marR="73152" marT="27432" marB="27432" anchor="ctr">
                    <a:solidFill>
                      <a:srgbClr val="FFFFFF"/>
                    </a:solidFill>
                  </a:tcPr>
                </a:tc>
                <a:tc>
                  <a:txBody>
                    <a:bodyPr/>
                    <a:lstStyle/>
                    <a:p>
                      <a:r>
                        <a:rPr sz="1600" b="0" i="0">
                          <a:solidFill>
                            <a:srgbClr val="222A33"/>
                          </a:solidFill>
                          <a:latin typeface="Calibri"/>
                        </a:rPr>
                        <a:t>No</a:t>
                      </a:r>
                    </a:p>
                  </a:txBody>
                  <a:tcPr marL="73152" marR="73152" marT="27432" marB="27432" anchor="ctr">
                    <a:solidFill>
                      <a:srgbClr val="FFFFFF"/>
                    </a:solidFill>
                  </a:tcPr>
                </a:tc>
                <a:tc>
                  <a:txBody>
                    <a:bodyPr/>
                    <a:lstStyle/>
                    <a:p>
                      <a:r>
                        <a:rPr sz="1600" b="0" i="0" dirty="0">
                          <a:solidFill>
                            <a:srgbClr val="222A33"/>
                          </a:solidFill>
                          <a:latin typeface="Calibri"/>
                        </a:rPr>
                        <a:t>Gateway fee plus data transfer</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The internet was built for reachability, not confidentiality. A VPN adds the confidentiality, integrity, and authentication the underlying network never guaranteed.</a:t>
            </a:r>
          </a:p>
          <a:p>
            <a:pPr marL="201168" indent="-201168">
              <a:spcAft>
                <a:spcPts val="1100"/>
              </a:spcAft>
              <a:buFont typeface="Arial"/>
              <a:buChar char="–"/>
            </a:pPr>
            <a:r>
              <a:rPr sz="1500" b="0" i="0">
                <a:solidFill>
                  <a:srgbClr val="222A33"/>
                </a:solidFill>
                <a:latin typeface="Calibri"/>
              </a:rPr>
              <a:t>A tunnel is only encapsulation. A VPN is a tunnel plus security. Not every tunnel is a VPN, but every VPN relies on some form of tunneling.</a:t>
            </a:r>
          </a:p>
          <a:p>
            <a:pPr marL="201168" indent="-201168">
              <a:spcAft>
                <a:spcPts val="1100"/>
              </a:spcAft>
              <a:buFont typeface="Arial"/>
              <a:buChar char="–"/>
            </a:pPr>
            <a:r>
              <a:rPr sz="1500" b="0" i="0">
                <a:solidFill>
                  <a:srgbClr val="222A33"/>
                </a:solidFill>
                <a:latin typeface="Calibri"/>
              </a:rPr>
              <a:t>VPNs are classified along two independent axes: deployment form (software or hardware) and connection purpose (Remote Access or Site-to-Site, with Personal, Mobile, and Cloud as variants of those two).</a:t>
            </a:r>
          </a:p>
          <a:p>
            <a:pPr marL="201168" indent="-201168">
              <a:spcAft>
                <a:spcPts val="1100"/>
              </a:spcAft>
              <a:buFont typeface="Arial"/>
              <a:buChar char="–"/>
            </a:pPr>
            <a:r>
              <a:rPr sz="1500" b="0" i="0">
                <a:solidFill>
                  <a:srgbClr val="222A33"/>
                </a:solidFill>
                <a:latin typeface="Calibri"/>
              </a:rPr>
              <a:t>Each of the five types trades cost, throughput, and flexibility differently, and choosing between them is a genuine LO4 evaluation question, not just a naming exercise.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Coming Up</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Deck B, next: IPsec and SSL VPN in full technical detail, including SSL VPN's modular building blocks, then an overview of how VPNs and tunnels are actually configured on Cisco devices.</a:t>
            </a:r>
          </a:p>
          <a:p>
            <a:pPr marL="201168" indent="-201168">
              <a:spcAft>
                <a:spcPts val="1100"/>
              </a:spcAft>
              <a:buFont typeface="Arial"/>
              <a:buChar char="–"/>
            </a:pPr>
            <a:r>
              <a:rPr sz="1600" b="0" i="0" dirty="0">
                <a:solidFill>
                  <a:srgbClr val="222A33"/>
                </a:solidFill>
                <a:latin typeface="Calibri"/>
              </a:rPr>
              <a:t>Tutorial worksheet: study-notes-style questions covering today's foundations and all five VPN types. Use it to prep for the mid-semester test.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Santos &amp; Stuppi, CCNA Security 210-260 Official Cert Guide, 1st Ed., Cisco Press.</a:t>
            </a:r>
          </a:p>
          <a:p>
            <a:pPr marL="201168" indent="-201168">
              <a:spcAft>
                <a:spcPts val="1100"/>
              </a:spcAft>
              <a:buFont typeface="Arial"/>
              <a:buChar char="–"/>
            </a:pPr>
            <a:r>
              <a:rPr sz="1600" b="0" i="0">
                <a:solidFill>
                  <a:srgbClr val="222A33"/>
                </a:solidFill>
                <a:latin typeface="Calibri"/>
              </a:rPr>
              <a:t>Kaufman, Perlman, Speciner &amp; Perlner, Network Security: Private Communication in a Public World, 3rd Ed., Prentice Hall.</a:t>
            </a:r>
          </a:p>
          <a:p>
            <a:pPr marL="201168" indent="-201168">
              <a:spcAft>
                <a:spcPts val="1100"/>
              </a:spcAft>
              <a:buFont typeface="Arial"/>
              <a:buChar char="–"/>
            </a:pPr>
            <a:r>
              <a:rPr sz="1600" b="0" i="0">
                <a:solidFill>
                  <a:srgbClr val="222A33"/>
                </a:solidFill>
                <a:latin typeface="Calibri"/>
              </a:rPr>
              <a:t>Cisco Networking Academy, CCNA Security curriculum (VPN technologies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554</TotalTime>
  <Words>3607</Words>
  <Application>Microsoft Office PowerPoint</Application>
  <PresentationFormat>Widescreen</PresentationFormat>
  <Paragraphs>304</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Calibri</vt:lpstr>
      <vt:lpstr>Cambria</vt:lpstr>
      <vt:lpstr>Office Theme</vt:lpstr>
      <vt:lpstr>PowerPoint Presentation</vt:lpstr>
      <vt:lpstr>Today's Agenda</vt:lpstr>
      <vt:lpstr>Learning Outcomes for Today</vt:lpstr>
      <vt:lpstr>Foundations</vt:lpstr>
      <vt:lpstr>The Nature of the Internet</vt:lpstr>
      <vt:lpstr>The Need for Communication Confidentiality</vt:lpstr>
      <vt:lpstr>What Is a VPN?</vt:lpstr>
      <vt:lpstr>How a VPN Actually Works</vt:lpstr>
      <vt:lpstr>How a VPN Actually Works</vt:lpstr>
      <vt:lpstr>The Concept of a Tunnel</vt:lpstr>
      <vt:lpstr>Tunnel vs VPN: Not the Same Thing</vt:lpstr>
      <vt:lpstr>Tunnel vs VPN: Comparison</vt:lpstr>
      <vt:lpstr>How VPNs Are Classified</vt:lpstr>
      <vt:lpstr>A Taxonomy, Not a Flat List</vt:lpstr>
      <vt:lpstr>Software VPN</vt:lpstr>
      <vt:lpstr>Hardware VPN</vt:lpstr>
      <vt:lpstr>Software vs Hardware VPN: Comparison</vt:lpstr>
      <vt:lpstr>Five VPN Types</vt:lpstr>
      <vt:lpstr>Remote Access VPN: Overview</vt:lpstr>
      <vt:lpstr>Remote Access VPN: Analysis</vt:lpstr>
      <vt:lpstr>Remote Access VPN: Summary</vt:lpstr>
      <vt:lpstr>Site-to-Site VPN: Overview</vt:lpstr>
      <vt:lpstr>Site-to-Site VPN: Analysis</vt:lpstr>
      <vt:lpstr>Site-to-Site VPN: Summary</vt:lpstr>
      <vt:lpstr>Personal VPN: Overview</vt:lpstr>
      <vt:lpstr>Personal VPN: Analysis</vt:lpstr>
      <vt:lpstr>Personal VPN: Summary</vt:lpstr>
      <vt:lpstr>Mobile VPN: Overview</vt:lpstr>
      <vt:lpstr>Mobile VPN: Analysis</vt:lpstr>
      <vt:lpstr>Mobile VPN: Summary</vt:lpstr>
      <vt:lpstr>Cloud VPN: Overview</vt:lpstr>
      <vt:lpstr>Cloud VPN: Analysis</vt:lpstr>
      <vt:lpstr>Cloud VPN: Summary</vt:lpstr>
      <vt:lpstr>All Five Types, Side by Side</vt:lpstr>
      <vt:lpstr>Summary</vt:lpstr>
      <vt:lpstr>Coming Up</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209</cp:revision>
  <dcterms:created xsi:type="dcterms:W3CDTF">2026-02-25T14:32:17Z</dcterms:created>
  <dcterms:modified xsi:type="dcterms:W3CDTF">2026-09-23T14:01:49Z</dcterms:modified>
</cp:coreProperties>
</file>