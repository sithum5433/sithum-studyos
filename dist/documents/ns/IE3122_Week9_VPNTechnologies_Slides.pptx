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9/23/2026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9/23/2026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9/23/2026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9/23/2026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9/23/2026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9/23/2026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9/23/2026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9/23/2026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IPsec, SSL VPN, and Cisco Configuration</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9</a:t>
            </a:r>
          </a:p>
          <a:p>
            <a:r>
              <a:rPr sz="1500" b="0" i="1">
                <a:solidFill>
                  <a:srgbClr val="FFFFFF"/>
                </a:solidFill>
                <a:latin typeface="Calibri"/>
              </a:rPr>
              <a:t>What's actually happening inside the two dominant VPN technologies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IPsec: architecture, components, and modes</a:t>
            </a:r>
          </a:p>
          <a:p>
            <a:pPr marL="201168" indent="-201168">
              <a:spcAft>
                <a:spcPts val="1100"/>
              </a:spcAft>
              <a:buFont typeface="Arial"/>
              <a:buChar char="–"/>
            </a:pPr>
            <a:r>
              <a:rPr sz="1600" b="0" i="0" dirty="0">
                <a:solidFill>
                  <a:srgbClr val="222A33"/>
                </a:solidFill>
                <a:latin typeface="Calibri"/>
              </a:rPr>
              <a:t>SSL VPN: architecture, client access modes, and its modular cryptographic building blocks</a:t>
            </a:r>
          </a:p>
          <a:p>
            <a:pPr marL="201168" indent="-201168">
              <a:spcAft>
                <a:spcPts val="1100"/>
              </a:spcAft>
              <a:buFont typeface="Arial"/>
              <a:buChar char="–"/>
            </a:pPr>
            <a:r>
              <a:rPr sz="1600" b="0" i="0" dirty="0">
                <a:solidFill>
                  <a:srgbClr val="222A33"/>
                </a:solidFill>
                <a:latin typeface="Calibri"/>
              </a:rPr>
              <a:t>IPsec versus SSL VPN, compared directly</a:t>
            </a:r>
          </a:p>
          <a:p>
            <a:pPr marL="201168" indent="-201168">
              <a:spcAft>
                <a:spcPts val="1100"/>
              </a:spcAft>
              <a:buFont typeface="Arial"/>
              <a:buChar char="–"/>
            </a:pPr>
            <a:r>
              <a:rPr sz="1600" b="0" i="0" dirty="0">
                <a:solidFill>
                  <a:srgbClr val="222A33"/>
                </a:solidFill>
                <a:latin typeface="Calibri"/>
              </a:rPr>
              <a:t>Configuring tunnels and VPNs on Cisco devices: concept and template, for GRE, IPsec, and GRE over IPsec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0" indent="0">
              <a:spcAft>
                <a:spcPts val="400"/>
              </a:spcAft>
              <a:buNone/>
            </a:pPr>
            <a:r>
              <a:rPr sz="1700" b="1" i="0">
                <a:solidFill>
                  <a:srgbClr val="003054"/>
                </a:solidFill>
                <a:latin typeface="Calibri"/>
              </a:rPr>
              <a:t>LO5</a:t>
            </a:r>
          </a:p>
          <a:p>
            <a:pPr marL="201168" indent="-201168">
              <a:spcAft>
                <a:spcPts val="1600"/>
              </a:spcAft>
              <a:buFont typeface="Arial"/>
              <a:buChar char="–"/>
            </a:pPr>
            <a:r>
              <a:rPr sz="1700" b="0" i="0">
                <a:solidFill>
                  <a:srgbClr val="222A33"/>
                </a:solidFill>
                <a:latin typeface="Calibri"/>
              </a:rPr>
              <a:t>Configure security technologies to satisfy specific requirements.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IPsec VPN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Securing the network layer itself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IPsec (Internet Protocol Security) operates at the network layer, securing IP packets themselves, regardless of which application generated them.</a:t>
            </a:r>
          </a:p>
          <a:p>
            <a:pPr marL="201168" indent="-201168">
              <a:spcAft>
                <a:spcPts val="1100"/>
              </a:spcAft>
              <a:buFont typeface="Arial"/>
              <a:buChar char="–"/>
            </a:pPr>
            <a:r>
              <a:rPr sz="1600" b="0" i="0">
                <a:solidFill>
                  <a:srgbClr val="222A33"/>
                </a:solidFill>
                <a:latin typeface="Calibri"/>
              </a:rPr>
              <a:t>It is not one fixed protocol but a modular framework: it deliberately does not mandate which specific algorithm you use for any given job, only which job needs doing.</a:t>
            </a:r>
          </a:p>
          <a:p>
            <a:pPr marL="201168" indent="-201168">
              <a:spcAft>
                <a:spcPts val="1100"/>
              </a:spcAft>
              <a:buFont typeface="Arial"/>
              <a:buChar char="–"/>
            </a:pPr>
            <a:r>
              <a:rPr sz="1600" b="0" i="0">
                <a:solidFill>
                  <a:srgbClr val="222A33"/>
                </a:solidFill>
                <a:latin typeface="Calibri"/>
              </a:rPr>
              <a:t>Because it protects at the IP layer, IPsec secures everything above it automatically. No individual application needs to be aware it's even running.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as a Modular Framework</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691640"/>
            <a:ext cx="10698480" cy="1417320"/>
          </a:xfrm>
          <a:prstGeom prst="rect">
            <a:avLst/>
          </a:prstGeom>
          <a:noFill/>
        </p:spPr>
        <p:txBody>
          <a:bodyPr wrap="square">
            <a:spAutoFit/>
          </a:bodyPr>
          <a:lstStyle/>
          <a:p>
            <a:pPr marL="201168" indent="-201168">
              <a:spcAft>
                <a:spcPts val="1100"/>
              </a:spcAft>
              <a:buFont typeface="Arial"/>
              <a:buChar char="–"/>
            </a:pPr>
            <a:r>
              <a:rPr sz="1300" b="0" i="0">
                <a:solidFill>
                  <a:srgbClr val="222A33"/>
                </a:solidFill>
                <a:latin typeface="Calibri"/>
              </a:rPr>
              <a:t>IPsec defines five separate functions, each with a menu of interchangeable choices rather than one mandatory answer. The first row matters most: AH authenticates only, with no encryption; ESP adds real confidentiality, which is why ESP or ESP+AH is used far more often.</a:t>
            </a:r>
          </a:p>
          <a:p>
            <a:pPr marL="201168" indent="-201168">
              <a:spcAft>
                <a:spcPts val="1100"/>
              </a:spcAft>
              <a:buFont typeface="Arial"/>
              <a:buChar char="–"/>
            </a:pPr>
            <a:r>
              <a:rPr sz="1300" b="0" i="0">
                <a:solidFill>
                  <a:srgbClr val="222A33"/>
                </a:solidFill>
                <a:latin typeface="Calibri"/>
              </a:rPr>
              <a:t>An actual configuration picks exactly one choice per row. The two examples on the right are both valid, built from that same menu.</a:t>
            </a:r>
          </a:p>
        </p:txBody>
      </p:sp>
      <p:pic>
        <p:nvPicPr>
          <p:cNvPr id="5" name="Picture 4" descr="ipsec_framework_table.png"/>
          <p:cNvPicPr>
            <a:picLocks noChangeAspect="1"/>
          </p:cNvPicPr>
          <p:nvPr/>
        </p:nvPicPr>
        <p:blipFill>
          <a:blip r:embed="rId2"/>
          <a:stretch>
            <a:fillRect/>
          </a:stretch>
        </p:blipFill>
        <p:spPr>
          <a:xfrm>
            <a:off x="3067692" y="3200400"/>
            <a:ext cx="3464767" cy="2743200"/>
          </a:xfrm>
          <a:prstGeom prst="rect">
            <a:avLst/>
          </a:prstGeom>
        </p:spPr>
      </p:pic>
      <p:pic>
        <p:nvPicPr>
          <p:cNvPr id="6" name="Picture 5" descr="ipsec_framework_examples.png"/>
          <p:cNvPicPr>
            <a:picLocks noChangeAspect="1"/>
          </p:cNvPicPr>
          <p:nvPr/>
        </p:nvPicPr>
        <p:blipFill>
          <a:blip r:embed="rId3"/>
          <a:stretch>
            <a:fillRect/>
          </a:stretch>
        </p:blipFill>
        <p:spPr>
          <a:xfrm>
            <a:off x="6989659" y="3200400"/>
            <a:ext cx="2134343" cy="2743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Choosing Confidentiality and Integrity Algorithms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691640"/>
            <a:ext cx="10698480" cy="640080"/>
          </a:xfrm>
          <a:prstGeom prst="rect">
            <a:avLst/>
          </a:prstGeom>
          <a:noFill/>
        </p:spPr>
        <p:txBody>
          <a:bodyPr wrap="square">
            <a:spAutoFit/>
          </a:bodyPr>
          <a:lstStyle/>
          <a:p>
            <a:pPr marL="201168" indent="-201168">
              <a:spcAft>
                <a:spcPts val="1100"/>
              </a:spcAft>
              <a:buFont typeface="Arial"/>
              <a:buChar char="–"/>
            </a:pPr>
            <a:r>
              <a:rPr sz="1450" b="0" i="0">
                <a:solidFill>
                  <a:srgbClr val="222A33"/>
                </a:solidFill>
                <a:latin typeface="Calibri"/>
              </a:rPr>
              <a:t>Confidentiality and integrity are two separate rows in the same framework, each with its own menu, and each option carries a genuinely different security strength.</a:t>
            </a:r>
          </a:p>
        </p:txBody>
      </p:sp>
      <p:pic>
        <p:nvPicPr>
          <p:cNvPr id="5" name="Picture 4" descr="ipsec_confidentiality_zoom.png"/>
          <p:cNvPicPr>
            <a:picLocks noChangeAspect="1"/>
          </p:cNvPicPr>
          <p:nvPr/>
        </p:nvPicPr>
        <p:blipFill>
          <a:blip r:embed="rId2"/>
          <a:stretch>
            <a:fillRect/>
          </a:stretch>
        </p:blipFill>
        <p:spPr>
          <a:xfrm>
            <a:off x="1837527" y="2468880"/>
            <a:ext cx="4139569" cy="3200400"/>
          </a:xfrm>
          <a:prstGeom prst="rect">
            <a:avLst/>
          </a:prstGeom>
        </p:spPr>
      </p:pic>
      <p:pic>
        <p:nvPicPr>
          <p:cNvPr id="6" name="Picture 5" descr="ipsec_integrity_zoom.png"/>
          <p:cNvPicPr>
            <a:picLocks noChangeAspect="1"/>
          </p:cNvPicPr>
          <p:nvPr/>
        </p:nvPicPr>
        <p:blipFill>
          <a:blip r:embed="rId3"/>
          <a:stretch>
            <a:fillRect/>
          </a:stretch>
        </p:blipFill>
        <p:spPr>
          <a:xfrm>
            <a:off x="6342856" y="2468880"/>
            <a:ext cx="4011312" cy="320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Peer Authentication Methods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691640"/>
            <a:ext cx="10698480" cy="13716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The Authentication row offers two choices: PSK (pre-shared key, the same secret configured manually on both peers) or RSA (certificate-based, using public-key cryptography instead).</a:t>
            </a:r>
          </a:p>
          <a:p>
            <a:pPr marL="201168" indent="-201168">
              <a:spcAft>
                <a:spcPts val="1100"/>
              </a:spcAft>
              <a:buFont typeface="Arial"/>
              <a:buChar char="–"/>
            </a:pPr>
            <a:r>
              <a:rPr sz="1400" b="0" i="0">
                <a:solidFill>
                  <a:srgbClr val="222A33"/>
                </a:solidFill>
                <a:latin typeface="Calibri"/>
              </a:rPr>
              <a:t>Either way, the mechanism is the same shape: each peer hashes its own authentication key together with its identity, and the two sides compare hashes to confirm they agree, without ever sending the key itself across the network.</a:t>
            </a:r>
          </a:p>
        </p:txBody>
      </p:sp>
      <p:pic>
        <p:nvPicPr>
          <p:cNvPr id="5" name="Picture 4" descr="ipsec_auth_row.png"/>
          <p:cNvPicPr>
            <a:picLocks noChangeAspect="1"/>
          </p:cNvPicPr>
          <p:nvPr/>
        </p:nvPicPr>
        <p:blipFill>
          <a:blip r:embed="rId2"/>
          <a:stretch>
            <a:fillRect/>
          </a:stretch>
        </p:blipFill>
        <p:spPr>
          <a:xfrm>
            <a:off x="5270882" y="3154680"/>
            <a:ext cx="1649930" cy="502920"/>
          </a:xfrm>
          <a:prstGeom prst="rect">
            <a:avLst/>
          </a:prstGeom>
        </p:spPr>
      </p:pic>
      <p:pic>
        <p:nvPicPr>
          <p:cNvPr id="6" name="Picture 5" descr="ipsec_psk_mechanism.png"/>
          <p:cNvPicPr>
            <a:picLocks noChangeAspect="1"/>
          </p:cNvPicPr>
          <p:nvPr/>
        </p:nvPicPr>
        <p:blipFill>
          <a:blip r:embed="rId3"/>
          <a:stretch>
            <a:fillRect/>
          </a:stretch>
        </p:blipFill>
        <p:spPr>
          <a:xfrm>
            <a:off x="3928483" y="3749039"/>
            <a:ext cx="4334728" cy="2148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Diffie-Hellman Group Choices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691640"/>
            <a:ext cx="10698480" cy="10515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The Diffie-Hellman row picks which mathematical group the key exchange itself uses. Higher-numbered groups generally mean larger, stronger keys.</a:t>
            </a:r>
          </a:p>
          <a:p>
            <a:pPr marL="201168" indent="-201168">
              <a:spcAft>
                <a:spcPts val="1100"/>
              </a:spcAft>
              <a:buFont typeface="Arial"/>
              <a:buChar char="–"/>
            </a:pPr>
            <a:r>
              <a:rPr sz="1400" b="0" i="0">
                <a:solidFill>
                  <a:srgbClr val="222A33"/>
                </a:solidFill>
                <a:latin typeface="Calibri"/>
              </a:rPr>
              <a:t>This is a genuinely live consideration, not just historical: DH14 is the realistic minimum for production networks today, but older or simulated equipment doesn't always support it.</a:t>
            </a:r>
          </a:p>
        </p:txBody>
      </p:sp>
      <p:pic>
        <p:nvPicPr>
          <p:cNvPr id="5" name="Picture 4" descr="ipsec_dh_zoom.png"/>
          <p:cNvPicPr>
            <a:picLocks noChangeAspect="1"/>
          </p:cNvPicPr>
          <p:nvPr/>
        </p:nvPicPr>
        <p:blipFill>
          <a:blip r:embed="rId2"/>
          <a:stretch>
            <a:fillRect/>
          </a:stretch>
        </p:blipFill>
        <p:spPr>
          <a:xfrm>
            <a:off x="3454152" y="2788920"/>
            <a:ext cx="5283391" cy="3154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IKE's Two Phases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IKE Phase 1 establishes a secure, authenticated channel between the two peers themselves, called the ISAKMP SA. This is the peers proving who they are to each other and agreeing on how to protect their own negotiation traffic.</a:t>
            </a:r>
          </a:p>
          <a:p>
            <a:pPr marL="201168" indent="-201168">
              <a:spcAft>
                <a:spcPts val="1100"/>
              </a:spcAft>
              <a:buFont typeface="Arial"/>
              <a:buChar char="–"/>
            </a:pPr>
            <a:r>
              <a:rPr sz="1600" b="0" i="0">
                <a:solidFill>
                  <a:srgbClr val="222A33"/>
                </a:solidFill>
                <a:latin typeface="Calibri"/>
              </a:rPr>
              <a:t>IKE Phase 2 then uses that secure channel to negotiate the actual IPsec Security Associations that will protect real data traffic, the specific encryption and authentication parameters applied to the traffic itself.</a:t>
            </a:r>
          </a:p>
          <a:p>
            <a:pPr marL="201168" indent="-201168">
              <a:spcAft>
                <a:spcPts val="1100"/>
              </a:spcAft>
              <a:buFont typeface="Arial"/>
              <a:buChar char="–"/>
            </a:pPr>
            <a:r>
              <a:rPr sz="1600" b="0" i="0">
                <a:solidFill>
                  <a:srgbClr val="222A33"/>
                </a:solidFill>
                <a:latin typeface="Calibri"/>
              </a:rPr>
              <a:t>Splitting negotiation into two phases means the peers only need to re-authenticate each other occasionally, in Phase 1, while Phase 2 can refresh the data-protection keys far more frequently without repeating full peer authentication every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Transport Mode vs Tunnel Mode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Transport mode encrypts only the payload of the original IP packet, leaving the original IP header intact. This is typically used for direct host-to-host protection, where both ends are the actual communicating parties.</a:t>
            </a:r>
          </a:p>
          <a:p>
            <a:pPr marL="201168" indent="-201168">
              <a:spcAft>
                <a:spcPts val="1100"/>
              </a:spcAft>
              <a:buFont typeface="Arial"/>
              <a:buChar char="–"/>
            </a:pPr>
            <a:r>
              <a:rPr sz="1600" b="0" i="0">
                <a:solidFill>
                  <a:srgbClr val="222A33"/>
                </a:solidFill>
                <a:latin typeface="Calibri"/>
              </a:rPr>
              <a:t>Tunnel mode encrypts the entire original IP packet, including its header, and wraps it inside a new IP packet with new addressing. This is what site-to-site VPNs use, since it hides the original internal addressing entirely from the public network in between.</a:t>
            </a:r>
          </a:p>
          <a:p>
            <a:pPr marL="201168" indent="-201168">
              <a:spcAft>
                <a:spcPts val="1100"/>
              </a:spcAft>
              <a:buFont typeface="Arial"/>
              <a:buChar char="–"/>
            </a:pPr>
            <a:r>
              <a:rPr sz="1600" b="0" i="0">
                <a:solidFill>
                  <a:srgbClr val="222A33"/>
                </a:solidFill>
                <a:latin typeface="Calibri"/>
              </a:rPr>
              <a:t>The choice of mode is independent of whether you're using AH or ESP; either component can run in either mode, though ESP in tunnel mode is by far the most common real-world combination.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Strengths and Limitations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IPSEC</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Strengths: operates at the network layer, so it's completely application-transparent, protecting all IP traffic without needing any individual application to support it. It's a strong, mature, widely interoperable standard with robust authentication options.</a:t>
            </a:r>
          </a:p>
          <a:p>
            <a:pPr marL="201168" indent="-201168">
              <a:spcAft>
                <a:spcPts val="1100"/>
              </a:spcAft>
              <a:buFont typeface="Arial"/>
              <a:buChar char="–"/>
            </a:pPr>
            <a:r>
              <a:rPr sz="1600" b="0" i="0">
                <a:solidFill>
                  <a:srgbClr val="222A33"/>
                </a:solidFill>
                <a:latin typeface="Calibri"/>
              </a:rPr>
              <a:t>Limitations: configuration genuinely is complex, involving several distinct components, an ISAKMP policy, a transform set, and traffic-matching rules, that all have to agree correctly. AH in particular struggles to cross NAT devices, since NAT modifies the very IP header AH is protecting, breaking its integrity check; ESP needs a NAT Traversal extension to reliably cross NAT too. It's also generally less naturally suited to simple browser-based remote access than SSL VPN.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SSL VPN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Built from interchangeable cryptographic building blocks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SSL VPN: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SSL VPN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SSL VPN uses the same TLS/SSL protocol that secures ordinary HTTPS web traffic, rather than a dedicated network-layer protocol suite like IPsec.</a:t>
            </a:r>
          </a:p>
          <a:p>
            <a:pPr marL="201168" indent="-201168">
              <a:spcAft>
                <a:spcPts val="1100"/>
              </a:spcAft>
              <a:buFont typeface="Arial"/>
              <a:buChar char="–"/>
            </a:pPr>
            <a:r>
              <a:rPr sz="1600" b="0" i="0" dirty="0">
                <a:solidFill>
                  <a:srgbClr val="222A33"/>
                </a:solidFill>
                <a:latin typeface="Calibri"/>
              </a:rPr>
              <a:t>Because it rides on the same protocol as HTTPS, it often needs nothing more than a standard web browser, or at most a lightweight client, rather than dedicated VPN client software.</a:t>
            </a:r>
          </a:p>
          <a:p>
            <a:pPr marL="201168" indent="-201168">
              <a:spcAft>
                <a:spcPts val="1100"/>
              </a:spcAft>
              <a:buFont typeface="Arial"/>
              <a:buChar char="–"/>
            </a:pPr>
            <a:r>
              <a:rPr sz="1600" b="0" i="0" dirty="0">
                <a:solidFill>
                  <a:srgbClr val="222A33"/>
                </a:solidFill>
                <a:latin typeface="Calibri"/>
              </a:rPr>
              <a:t>It also tends to traverse firewalls and NAT more easily than IPsec in practice, simply because almost every corporate firewall already permits outbound HTTPS on port 443, so SSL VPN traffic blends straight into traffic that was already allowed.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SSL VPN Has Interchangeable Building Blocks Too</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SSL VPN</a:t>
            </a:r>
          </a:p>
        </p:txBody>
      </p:sp>
      <p:sp>
        <p:nvSpPr>
          <p:cNvPr id="4" name="TextBox 3"/>
          <p:cNvSpPr txBox="1"/>
          <p:nvPr/>
        </p:nvSpPr>
        <p:spPr>
          <a:xfrm>
            <a:off x="731520" y="1828800"/>
            <a:ext cx="10698480" cy="2731517"/>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IPsec is the technology most commonly held up as the modular one, precisely because of the explicit, named framework you just saw. SSL/TLS is built the same underlying way, just negotiated differently: as a single named cipher suite chosen from a list, rather than assembled row by row.</a:t>
            </a:r>
          </a:p>
          <a:p>
            <a:pPr marL="201168" indent="-201168">
              <a:spcAft>
                <a:spcPts val="1100"/>
              </a:spcAft>
              <a:buFont typeface="Arial"/>
              <a:buChar char="–"/>
            </a:pPr>
            <a:r>
              <a:rPr sz="1600" b="0" i="0" dirty="0">
                <a:solidFill>
                  <a:srgbClr val="222A33"/>
                </a:solidFill>
                <a:latin typeface="Calibri"/>
              </a:rPr>
              <a:t>SSL/TLS is not one fixed algorithm. It's built from several independent functional building blocks, and the two peers negotiate which specific option fills each block at the start of every session.</a:t>
            </a:r>
          </a:p>
          <a:p>
            <a:pPr marL="201168" indent="-201168">
              <a:spcAft>
                <a:spcPts val="1100"/>
              </a:spcAft>
              <a:buFont typeface="Arial"/>
              <a:buChar char="–"/>
            </a:pPr>
            <a:r>
              <a:rPr sz="1600" b="0" i="0" dirty="0">
                <a:solidFill>
                  <a:srgbClr val="222A33"/>
                </a:solidFill>
                <a:latin typeface="Calibri"/>
              </a:rPr>
              <a:t>This matters directly for security: an SSL VPN configured to allow older, weaker options in any one of these blocks can be seriously weakened, even if every other block is configured well.</a:t>
            </a:r>
          </a:p>
          <a:p>
            <a:pPr marL="201168" indent="-201168">
              <a:spcAft>
                <a:spcPts val="1100"/>
              </a:spcAft>
              <a:buFont typeface="Arial"/>
              <a:buChar char="–"/>
            </a:pPr>
            <a:r>
              <a:rPr sz="1600" b="0" i="0" dirty="0">
                <a:solidFill>
                  <a:srgbClr val="222A33"/>
                </a:solidFill>
                <a:latin typeface="Calibri"/>
              </a:rPr>
              <a:t>The next slide breaks down exactly which functional block does what, and which real protocols and algorithms have historically filled each 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SSL VPN's Functional Blocks, Visually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SSL VPN</a:t>
            </a:r>
          </a:p>
        </p:txBody>
      </p:sp>
      <p:sp>
        <p:nvSpPr>
          <p:cNvPr id="4" name="TextBox 3"/>
          <p:cNvSpPr txBox="1"/>
          <p:nvPr/>
        </p:nvSpPr>
        <p:spPr>
          <a:xfrm>
            <a:off x="731520" y="1737360"/>
            <a:ext cx="10698480" cy="58477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The same idea as IPsec's framework, laid out the same way: one row per function, each with a menu of choices. Greyed-out options are deprecated and should never be selected today.</a:t>
            </a:r>
          </a:p>
        </p:txBody>
      </p:sp>
      <p:sp>
        <p:nvSpPr>
          <p:cNvPr id="5" name="Rounded Rectangle 4"/>
          <p:cNvSpPr/>
          <p:nvPr/>
        </p:nvSpPr>
        <p:spPr>
          <a:xfrm>
            <a:off x="1388225" y="2743200"/>
            <a:ext cx="1188720" cy="457200"/>
          </a:xfrm>
          <a:prstGeom prst="roundRect">
            <a:avLst/>
          </a:prstGeom>
          <a:solidFill>
            <a:srgbClr val="222A3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Protocol
Version</a:t>
            </a:r>
          </a:p>
        </p:txBody>
      </p:sp>
      <p:sp>
        <p:nvSpPr>
          <p:cNvPr id="6" name="Rounded Rectangle 5"/>
          <p:cNvSpPr/>
          <p:nvPr/>
        </p:nvSpPr>
        <p:spPr>
          <a:xfrm>
            <a:off x="2805545" y="2743200"/>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SSLv3</a:t>
            </a:r>
          </a:p>
        </p:txBody>
      </p:sp>
      <p:sp>
        <p:nvSpPr>
          <p:cNvPr id="7" name="Rounded Rectangle 6"/>
          <p:cNvSpPr/>
          <p:nvPr/>
        </p:nvSpPr>
        <p:spPr>
          <a:xfrm>
            <a:off x="4149713" y="2743200"/>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TLS 1.0</a:t>
            </a:r>
          </a:p>
        </p:txBody>
      </p:sp>
      <p:sp>
        <p:nvSpPr>
          <p:cNvPr id="8" name="Rounded Rectangle 7"/>
          <p:cNvSpPr/>
          <p:nvPr/>
        </p:nvSpPr>
        <p:spPr>
          <a:xfrm>
            <a:off x="5493881" y="2743200"/>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TLS 1.1</a:t>
            </a:r>
          </a:p>
        </p:txBody>
      </p:sp>
      <p:sp>
        <p:nvSpPr>
          <p:cNvPr id="9" name="Rounded Rectangle 8"/>
          <p:cNvSpPr/>
          <p:nvPr/>
        </p:nvSpPr>
        <p:spPr>
          <a:xfrm>
            <a:off x="6838049" y="2743200"/>
            <a:ext cx="1234440" cy="45720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TLS 1.2</a:t>
            </a:r>
          </a:p>
        </p:txBody>
      </p:sp>
      <p:sp>
        <p:nvSpPr>
          <p:cNvPr id="10" name="Rounded Rectangle 9"/>
          <p:cNvSpPr/>
          <p:nvPr/>
        </p:nvSpPr>
        <p:spPr>
          <a:xfrm>
            <a:off x="8182217" y="2743200"/>
            <a:ext cx="1234440" cy="45720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TLS 1.3</a:t>
            </a:r>
          </a:p>
        </p:txBody>
      </p:sp>
      <p:sp>
        <p:nvSpPr>
          <p:cNvPr id="11" name="Rounded Rectangle 10"/>
          <p:cNvSpPr/>
          <p:nvPr/>
        </p:nvSpPr>
        <p:spPr>
          <a:xfrm>
            <a:off x="1388225" y="3364992"/>
            <a:ext cx="1188720" cy="457200"/>
          </a:xfrm>
          <a:prstGeom prst="roundRect">
            <a:avLst/>
          </a:prstGeom>
          <a:solidFill>
            <a:srgbClr val="222A3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Key
Exchange</a:t>
            </a:r>
          </a:p>
        </p:txBody>
      </p:sp>
      <p:sp>
        <p:nvSpPr>
          <p:cNvPr id="12" name="Rounded Rectangle 11"/>
          <p:cNvSpPr/>
          <p:nvPr/>
        </p:nvSpPr>
        <p:spPr>
          <a:xfrm>
            <a:off x="2805545" y="3364992"/>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RSA</a:t>
            </a:r>
          </a:p>
        </p:txBody>
      </p:sp>
      <p:sp>
        <p:nvSpPr>
          <p:cNvPr id="13" name="Rounded Rectangle 12"/>
          <p:cNvSpPr/>
          <p:nvPr/>
        </p:nvSpPr>
        <p:spPr>
          <a:xfrm>
            <a:off x="4149713" y="3364992"/>
            <a:ext cx="1234440" cy="457200"/>
          </a:xfrm>
          <a:prstGeom prst="roundRect">
            <a:avLst/>
          </a:prstGeom>
          <a:solidFill>
            <a:srgbClr val="7B5EA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DHE</a:t>
            </a:r>
          </a:p>
        </p:txBody>
      </p:sp>
      <p:sp>
        <p:nvSpPr>
          <p:cNvPr id="14" name="Rounded Rectangle 13"/>
          <p:cNvSpPr/>
          <p:nvPr/>
        </p:nvSpPr>
        <p:spPr>
          <a:xfrm>
            <a:off x="5493881" y="3364992"/>
            <a:ext cx="1234440" cy="457200"/>
          </a:xfrm>
          <a:prstGeom prst="roundRect">
            <a:avLst/>
          </a:prstGeom>
          <a:solidFill>
            <a:srgbClr val="7B5EA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ECDHE</a:t>
            </a:r>
          </a:p>
        </p:txBody>
      </p:sp>
      <p:sp>
        <p:nvSpPr>
          <p:cNvPr id="15" name="Rounded Rectangle 14"/>
          <p:cNvSpPr/>
          <p:nvPr/>
        </p:nvSpPr>
        <p:spPr>
          <a:xfrm>
            <a:off x="1388225" y="3986784"/>
            <a:ext cx="1188720" cy="457200"/>
          </a:xfrm>
          <a:prstGeom prst="roundRect">
            <a:avLst/>
          </a:prstGeom>
          <a:solidFill>
            <a:srgbClr val="222A3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Bulk
Encryption</a:t>
            </a:r>
          </a:p>
        </p:txBody>
      </p:sp>
      <p:sp>
        <p:nvSpPr>
          <p:cNvPr id="16" name="Rounded Rectangle 15"/>
          <p:cNvSpPr/>
          <p:nvPr/>
        </p:nvSpPr>
        <p:spPr>
          <a:xfrm>
            <a:off x="2805545" y="3986784"/>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DES</a:t>
            </a:r>
          </a:p>
        </p:txBody>
      </p:sp>
      <p:sp>
        <p:nvSpPr>
          <p:cNvPr id="17" name="Rounded Rectangle 16"/>
          <p:cNvSpPr/>
          <p:nvPr/>
        </p:nvSpPr>
        <p:spPr>
          <a:xfrm>
            <a:off x="4149713" y="3986784"/>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RC4</a:t>
            </a:r>
          </a:p>
        </p:txBody>
      </p:sp>
      <p:sp>
        <p:nvSpPr>
          <p:cNvPr id="18" name="Rounded Rectangle 17"/>
          <p:cNvSpPr/>
          <p:nvPr/>
        </p:nvSpPr>
        <p:spPr>
          <a:xfrm>
            <a:off x="5493881" y="3986784"/>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3DES</a:t>
            </a:r>
          </a:p>
        </p:txBody>
      </p:sp>
      <p:sp>
        <p:nvSpPr>
          <p:cNvPr id="19" name="Rounded Rectangle 18"/>
          <p:cNvSpPr/>
          <p:nvPr/>
        </p:nvSpPr>
        <p:spPr>
          <a:xfrm>
            <a:off x="6838049" y="3986784"/>
            <a:ext cx="1234440" cy="457200"/>
          </a:xfrm>
          <a:prstGeom prst="roundRect">
            <a:avLst/>
          </a:prstGeom>
          <a:solidFill>
            <a:srgbClr val="E88A3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AES-CBC</a:t>
            </a:r>
          </a:p>
        </p:txBody>
      </p:sp>
      <p:sp>
        <p:nvSpPr>
          <p:cNvPr id="20" name="Rounded Rectangle 19"/>
          <p:cNvSpPr/>
          <p:nvPr/>
        </p:nvSpPr>
        <p:spPr>
          <a:xfrm>
            <a:off x="8182217" y="3986784"/>
            <a:ext cx="1234440" cy="457200"/>
          </a:xfrm>
          <a:prstGeom prst="roundRect">
            <a:avLst/>
          </a:prstGeom>
          <a:solidFill>
            <a:srgbClr val="E88A3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AES-GCM</a:t>
            </a:r>
          </a:p>
        </p:txBody>
      </p:sp>
      <p:sp>
        <p:nvSpPr>
          <p:cNvPr id="21" name="Rounded Rectangle 20"/>
          <p:cNvSpPr/>
          <p:nvPr/>
        </p:nvSpPr>
        <p:spPr>
          <a:xfrm>
            <a:off x="9526385" y="3986784"/>
            <a:ext cx="1234440" cy="457200"/>
          </a:xfrm>
          <a:prstGeom prst="roundRect">
            <a:avLst/>
          </a:prstGeom>
          <a:solidFill>
            <a:srgbClr val="E88A3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ChaCha20</a:t>
            </a:r>
          </a:p>
        </p:txBody>
      </p:sp>
      <p:sp>
        <p:nvSpPr>
          <p:cNvPr id="22" name="Rounded Rectangle 21"/>
          <p:cNvSpPr/>
          <p:nvPr/>
        </p:nvSpPr>
        <p:spPr>
          <a:xfrm>
            <a:off x="1388225" y="4608576"/>
            <a:ext cx="1188720" cy="457200"/>
          </a:xfrm>
          <a:prstGeom prst="roundRect">
            <a:avLst/>
          </a:prstGeom>
          <a:solidFill>
            <a:srgbClr val="222A3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Integrity
/ MAC</a:t>
            </a:r>
          </a:p>
        </p:txBody>
      </p:sp>
      <p:sp>
        <p:nvSpPr>
          <p:cNvPr id="23" name="Rounded Rectangle 22"/>
          <p:cNvSpPr/>
          <p:nvPr/>
        </p:nvSpPr>
        <p:spPr>
          <a:xfrm>
            <a:off x="2805545" y="4608576"/>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MD5</a:t>
            </a:r>
          </a:p>
        </p:txBody>
      </p:sp>
      <p:sp>
        <p:nvSpPr>
          <p:cNvPr id="24" name="Rounded Rectangle 23"/>
          <p:cNvSpPr/>
          <p:nvPr/>
        </p:nvSpPr>
        <p:spPr>
          <a:xfrm>
            <a:off x="4149713" y="4608576"/>
            <a:ext cx="1234440" cy="457200"/>
          </a:xfrm>
          <a:prstGeom prst="roundRect">
            <a:avLst/>
          </a:prstGeom>
          <a:solidFill>
            <a:srgbClr val="B8B8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SHA-1</a:t>
            </a:r>
          </a:p>
        </p:txBody>
      </p:sp>
      <p:sp>
        <p:nvSpPr>
          <p:cNvPr id="25" name="Rounded Rectangle 24"/>
          <p:cNvSpPr/>
          <p:nvPr/>
        </p:nvSpPr>
        <p:spPr>
          <a:xfrm>
            <a:off x="5493881" y="4608576"/>
            <a:ext cx="1234440" cy="457200"/>
          </a:xfrm>
          <a:prstGeom prst="roundRect">
            <a:avLst/>
          </a:prstGeom>
          <a:solidFill>
            <a:srgbClr val="C9A83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SHA-256</a:t>
            </a:r>
          </a:p>
        </p:txBody>
      </p:sp>
      <p:sp>
        <p:nvSpPr>
          <p:cNvPr id="26" name="Rounded Rectangle 25"/>
          <p:cNvSpPr/>
          <p:nvPr/>
        </p:nvSpPr>
        <p:spPr>
          <a:xfrm>
            <a:off x="6838049" y="4608576"/>
            <a:ext cx="1234440" cy="457200"/>
          </a:xfrm>
          <a:prstGeom prst="roundRect">
            <a:avLst/>
          </a:prstGeom>
          <a:solidFill>
            <a:srgbClr val="C9A83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in AEAD</a:t>
            </a:r>
          </a:p>
        </p:txBody>
      </p:sp>
      <p:sp>
        <p:nvSpPr>
          <p:cNvPr id="27" name="Rounded Rectangle 26"/>
          <p:cNvSpPr/>
          <p:nvPr/>
        </p:nvSpPr>
        <p:spPr>
          <a:xfrm>
            <a:off x="1388225" y="5230368"/>
            <a:ext cx="1188720" cy="457200"/>
          </a:xfrm>
          <a:prstGeom prst="roundRect">
            <a:avLst/>
          </a:prstGeom>
          <a:solidFill>
            <a:srgbClr val="222A3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Identity
/ PKI</a:t>
            </a:r>
          </a:p>
        </p:txBody>
      </p:sp>
      <p:sp>
        <p:nvSpPr>
          <p:cNvPr id="28" name="Rounded Rectangle 27"/>
          <p:cNvSpPr/>
          <p:nvPr/>
        </p:nvSpPr>
        <p:spPr>
          <a:xfrm>
            <a:off x="2805545" y="5230368"/>
            <a:ext cx="1234440" cy="457200"/>
          </a:xfrm>
          <a:prstGeom prst="roundRect">
            <a:avLst/>
          </a:prstGeom>
          <a:solidFill>
            <a:srgbClr val="3C9E8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X.509 Cert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Building Two Example Cipher Suites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SSL VPN</a:t>
            </a:r>
          </a:p>
        </p:txBody>
      </p:sp>
      <p:sp>
        <p:nvSpPr>
          <p:cNvPr id="4" name="TextBox 3"/>
          <p:cNvSpPr txBox="1"/>
          <p:nvPr/>
        </p:nvSpPr>
        <p:spPr>
          <a:xfrm>
            <a:off x="731520" y="1737360"/>
            <a:ext cx="10698480" cy="58477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Pick one option from each row and you get a real, nameable cipher suite. These two are both valid TLS configurations, but they are not remotely equivalent in strength.</a:t>
            </a:r>
          </a:p>
        </p:txBody>
      </p:sp>
      <p:sp>
        <p:nvSpPr>
          <p:cNvPr id="5" name="Rounded Rectangle 4"/>
          <p:cNvSpPr/>
          <p:nvPr/>
        </p:nvSpPr>
        <p:spPr>
          <a:xfrm>
            <a:off x="2964878" y="2733503"/>
            <a:ext cx="3840480" cy="4114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Weaker (avoid)</a:t>
            </a:r>
          </a:p>
        </p:txBody>
      </p:sp>
      <p:sp>
        <p:nvSpPr>
          <p:cNvPr id="6" name="Rounded Rectangle 5"/>
          <p:cNvSpPr/>
          <p:nvPr/>
        </p:nvSpPr>
        <p:spPr>
          <a:xfrm>
            <a:off x="7536878" y="2733503"/>
            <a:ext cx="3840480" cy="41148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Stronger (prefer)</a:t>
            </a:r>
          </a:p>
        </p:txBody>
      </p:sp>
      <p:sp>
        <p:nvSpPr>
          <p:cNvPr id="7" name="TextBox 6"/>
          <p:cNvSpPr txBox="1"/>
          <p:nvPr/>
        </p:nvSpPr>
        <p:spPr>
          <a:xfrm>
            <a:off x="770318" y="3355295"/>
            <a:ext cx="1920240" cy="502920"/>
          </a:xfrm>
          <a:prstGeom prst="rect">
            <a:avLst/>
          </a:prstGeom>
          <a:noFill/>
        </p:spPr>
        <p:txBody>
          <a:bodyPr wrap="square">
            <a:spAutoFit/>
          </a:bodyPr>
          <a:lstStyle/>
          <a:p>
            <a:r>
              <a:rPr sz="1300" b="1" i="0">
                <a:solidFill>
                  <a:srgbClr val="222A33"/>
                </a:solidFill>
                <a:latin typeface="Calibri"/>
              </a:rPr>
              <a:t>Protocol Version</a:t>
            </a:r>
          </a:p>
        </p:txBody>
      </p:sp>
      <p:sp>
        <p:nvSpPr>
          <p:cNvPr id="8" name="Rounded Rectangle 7"/>
          <p:cNvSpPr/>
          <p:nvPr/>
        </p:nvSpPr>
        <p:spPr>
          <a:xfrm>
            <a:off x="2964878" y="3282143"/>
            <a:ext cx="3840480" cy="502920"/>
          </a:xfrm>
          <a:prstGeom prst="roundRect">
            <a:avLst/>
          </a:prstGeom>
          <a:solidFill>
            <a:srgbClr val="F5E0D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TLS 1.2</a:t>
            </a:r>
          </a:p>
        </p:txBody>
      </p:sp>
      <p:sp>
        <p:nvSpPr>
          <p:cNvPr id="9" name="Rounded Rectangle 8"/>
          <p:cNvSpPr/>
          <p:nvPr/>
        </p:nvSpPr>
        <p:spPr>
          <a:xfrm>
            <a:off x="7536878" y="3282143"/>
            <a:ext cx="3840480" cy="502920"/>
          </a:xfrm>
          <a:prstGeom prst="roundRect">
            <a:avLst/>
          </a:prstGeom>
          <a:solidFill>
            <a:srgbClr val="DFF0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TLS 1.3</a:t>
            </a:r>
          </a:p>
        </p:txBody>
      </p:sp>
      <p:sp>
        <p:nvSpPr>
          <p:cNvPr id="10" name="TextBox 9"/>
          <p:cNvSpPr txBox="1"/>
          <p:nvPr/>
        </p:nvSpPr>
        <p:spPr>
          <a:xfrm>
            <a:off x="770318" y="3967943"/>
            <a:ext cx="1920240" cy="502920"/>
          </a:xfrm>
          <a:prstGeom prst="rect">
            <a:avLst/>
          </a:prstGeom>
          <a:noFill/>
        </p:spPr>
        <p:txBody>
          <a:bodyPr wrap="square">
            <a:spAutoFit/>
          </a:bodyPr>
          <a:lstStyle/>
          <a:p>
            <a:r>
              <a:rPr sz="1300" b="1" i="0">
                <a:solidFill>
                  <a:srgbClr val="222A33"/>
                </a:solidFill>
                <a:latin typeface="Calibri"/>
              </a:rPr>
              <a:t>Key Exchange</a:t>
            </a:r>
          </a:p>
        </p:txBody>
      </p:sp>
      <p:sp>
        <p:nvSpPr>
          <p:cNvPr id="11" name="Rounded Rectangle 10"/>
          <p:cNvSpPr/>
          <p:nvPr/>
        </p:nvSpPr>
        <p:spPr>
          <a:xfrm>
            <a:off x="2964878" y="3894791"/>
            <a:ext cx="3840480" cy="502920"/>
          </a:xfrm>
          <a:prstGeom prst="roundRect">
            <a:avLst/>
          </a:prstGeom>
          <a:solidFill>
            <a:srgbClr val="F5E0D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RSA</a:t>
            </a:r>
          </a:p>
        </p:txBody>
      </p:sp>
      <p:sp>
        <p:nvSpPr>
          <p:cNvPr id="12" name="Rounded Rectangle 11"/>
          <p:cNvSpPr/>
          <p:nvPr/>
        </p:nvSpPr>
        <p:spPr>
          <a:xfrm>
            <a:off x="7536878" y="3894791"/>
            <a:ext cx="3840480" cy="502920"/>
          </a:xfrm>
          <a:prstGeom prst="roundRect">
            <a:avLst/>
          </a:prstGeom>
          <a:solidFill>
            <a:srgbClr val="DFF0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ECDHE</a:t>
            </a:r>
          </a:p>
        </p:txBody>
      </p:sp>
      <p:sp>
        <p:nvSpPr>
          <p:cNvPr id="13" name="TextBox 12"/>
          <p:cNvSpPr txBox="1"/>
          <p:nvPr/>
        </p:nvSpPr>
        <p:spPr>
          <a:xfrm>
            <a:off x="770318" y="4580591"/>
            <a:ext cx="1920240" cy="502920"/>
          </a:xfrm>
          <a:prstGeom prst="rect">
            <a:avLst/>
          </a:prstGeom>
          <a:noFill/>
        </p:spPr>
        <p:txBody>
          <a:bodyPr wrap="square">
            <a:spAutoFit/>
          </a:bodyPr>
          <a:lstStyle/>
          <a:p>
            <a:r>
              <a:rPr sz="1300" b="1" i="0">
                <a:solidFill>
                  <a:srgbClr val="222A33"/>
                </a:solidFill>
                <a:latin typeface="Calibri"/>
              </a:rPr>
              <a:t>Bulk Encryption</a:t>
            </a:r>
          </a:p>
        </p:txBody>
      </p:sp>
      <p:sp>
        <p:nvSpPr>
          <p:cNvPr id="14" name="Rounded Rectangle 13"/>
          <p:cNvSpPr/>
          <p:nvPr/>
        </p:nvSpPr>
        <p:spPr>
          <a:xfrm>
            <a:off x="2964878" y="4507439"/>
            <a:ext cx="3840480" cy="502920"/>
          </a:xfrm>
          <a:prstGeom prst="roundRect">
            <a:avLst/>
          </a:prstGeom>
          <a:solidFill>
            <a:srgbClr val="F5E0D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AES-CBC</a:t>
            </a:r>
          </a:p>
        </p:txBody>
      </p:sp>
      <p:sp>
        <p:nvSpPr>
          <p:cNvPr id="15" name="Rounded Rectangle 14"/>
          <p:cNvSpPr/>
          <p:nvPr/>
        </p:nvSpPr>
        <p:spPr>
          <a:xfrm>
            <a:off x="7536878" y="4507439"/>
            <a:ext cx="3840480" cy="502920"/>
          </a:xfrm>
          <a:prstGeom prst="roundRect">
            <a:avLst/>
          </a:prstGeom>
          <a:solidFill>
            <a:srgbClr val="DFF0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AES-GCM</a:t>
            </a:r>
          </a:p>
        </p:txBody>
      </p:sp>
      <p:sp>
        <p:nvSpPr>
          <p:cNvPr id="16" name="TextBox 15"/>
          <p:cNvSpPr txBox="1"/>
          <p:nvPr/>
        </p:nvSpPr>
        <p:spPr>
          <a:xfrm>
            <a:off x="770318" y="5193239"/>
            <a:ext cx="1920240" cy="502920"/>
          </a:xfrm>
          <a:prstGeom prst="rect">
            <a:avLst/>
          </a:prstGeom>
          <a:noFill/>
        </p:spPr>
        <p:txBody>
          <a:bodyPr wrap="square">
            <a:spAutoFit/>
          </a:bodyPr>
          <a:lstStyle/>
          <a:p>
            <a:r>
              <a:rPr sz="1300" b="1" i="0">
                <a:solidFill>
                  <a:srgbClr val="222A33"/>
                </a:solidFill>
                <a:latin typeface="Calibri"/>
              </a:rPr>
              <a:t>Integrity / MAC</a:t>
            </a:r>
          </a:p>
        </p:txBody>
      </p:sp>
      <p:sp>
        <p:nvSpPr>
          <p:cNvPr id="17" name="Rounded Rectangle 16"/>
          <p:cNvSpPr/>
          <p:nvPr/>
        </p:nvSpPr>
        <p:spPr>
          <a:xfrm>
            <a:off x="2964878" y="5120087"/>
            <a:ext cx="3840480" cy="502920"/>
          </a:xfrm>
          <a:prstGeom prst="roundRect">
            <a:avLst/>
          </a:prstGeom>
          <a:solidFill>
            <a:srgbClr val="F5E0DD"/>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SHA-1</a:t>
            </a:r>
          </a:p>
        </p:txBody>
      </p:sp>
      <p:sp>
        <p:nvSpPr>
          <p:cNvPr id="18" name="Rounded Rectangle 17"/>
          <p:cNvSpPr/>
          <p:nvPr/>
        </p:nvSpPr>
        <p:spPr>
          <a:xfrm>
            <a:off x="7536878" y="5120087"/>
            <a:ext cx="3840480" cy="502920"/>
          </a:xfrm>
          <a:prstGeom prst="roundRect">
            <a:avLst/>
          </a:prstGeom>
          <a:solidFill>
            <a:srgbClr val="DFF0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222A33"/>
                </a:solidFill>
                <a:latin typeface="Calibri"/>
              </a:rPr>
              <a:t>built into cipher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SSL VPN's Building Blocks, Function by Function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SSL VPN</a:t>
            </a:r>
          </a:p>
        </p:txBody>
      </p:sp>
      <p:graphicFrame>
        <p:nvGraphicFramePr>
          <p:cNvPr id="4" name="Table 3"/>
          <p:cNvGraphicFramePr>
            <a:graphicFrameLocks noGrp="1"/>
          </p:cNvGraphicFramePr>
          <p:nvPr>
            <p:extLst>
              <p:ext uri="{D42A27DB-BD31-4B8C-83A1-F6EECF244321}">
                <p14:modId xmlns:p14="http://schemas.microsoft.com/office/powerpoint/2010/main" val="2029761927"/>
              </p:ext>
            </p:extLst>
          </p:nvPr>
        </p:nvGraphicFramePr>
        <p:xfrm>
          <a:off x="274320" y="1737360"/>
          <a:ext cx="1161288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701040">
                <a:tc>
                  <a:txBody>
                    <a:bodyPr/>
                    <a:lstStyle/>
                    <a:p>
                      <a:r>
                        <a:rPr sz="1300" b="1" i="0">
                          <a:solidFill>
                            <a:srgbClr val="FFFFFF"/>
                          </a:solidFill>
                          <a:latin typeface="Calibri"/>
                        </a:rPr>
                        <a:t>Function</a:t>
                      </a:r>
                    </a:p>
                  </a:txBody>
                  <a:tcPr marL="73152" marR="73152" marT="27432" marB="27432" anchor="ctr">
                    <a:solidFill>
                      <a:srgbClr val="003054"/>
                    </a:solidFill>
                  </a:tcPr>
                </a:tc>
                <a:tc>
                  <a:txBody>
                    <a:bodyPr/>
                    <a:lstStyle/>
                    <a:p>
                      <a:r>
                        <a:rPr sz="1300" b="1" i="0">
                          <a:solidFill>
                            <a:srgbClr val="FFFFFF"/>
                          </a:solidFill>
                          <a:latin typeface="Calibri"/>
                        </a:rPr>
                        <a:t>What it does</a:t>
                      </a:r>
                    </a:p>
                  </a:txBody>
                  <a:tcPr marL="73152" marR="73152" marT="27432" marB="27432" anchor="ctr">
                    <a:solidFill>
                      <a:srgbClr val="003054"/>
                    </a:solidFill>
                  </a:tcPr>
                </a:tc>
                <a:tc>
                  <a:txBody>
                    <a:bodyPr/>
                    <a:lstStyle/>
                    <a:p>
                      <a:r>
                        <a:rPr sz="1300" b="1" i="0">
                          <a:solidFill>
                            <a:srgbClr val="FFFFFF"/>
                          </a:solidFill>
                          <a:latin typeface="Calibri"/>
                        </a:rPr>
                        <a:t>Protocols/algorithms that can fill it</a:t>
                      </a:r>
                    </a:p>
                  </a:txBody>
                  <a:tcPr marL="73152" marR="73152" marT="27432" marB="27432" anchor="ctr">
                    <a:solidFill>
                      <a:srgbClr val="003054"/>
                    </a:solidFill>
                  </a:tcPr>
                </a:tc>
                <a:extLst>
                  <a:ext uri="{0D108BD9-81ED-4DB2-BD59-A6C34878D82A}">
                    <a16:rowId xmlns:a16="http://schemas.microsoft.com/office/drawing/2014/main" val="10000"/>
                  </a:ext>
                </a:extLst>
              </a:tr>
              <a:tr h="701040">
                <a:tc>
                  <a:txBody>
                    <a:bodyPr/>
                    <a:lstStyle/>
                    <a:p>
                      <a:r>
                        <a:rPr sz="1600" b="0" i="0" dirty="0">
                          <a:solidFill>
                            <a:srgbClr val="222A33"/>
                          </a:solidFill>
                          <a:latin typeface="Calibri"/>
                        </a:rPr>
                        <a:t>Protocol version</a:t>
                      </a:r>
                    </a:p>
                  </a:txBody>
                  <a:tcPr marL="73152" marR="73152" marT="27432" marB="27432" anchor="ctr">
                    <a:solidFill>
                      <a:srgbClr val="FFFFFF"/>
                    </a:solidFill>
                  </a:tcPr>
                </a:tc>
                <a:tc>
                  <a:txBody>
                    <a:bodyPr/>
                    <a:lstStyle/>
                    <a:p>
                      <a:r>
                        <a:rPr sz="1600" b="0" i="0">
                          <a:solidFill>
                            <a:srgbClr val="222A33"/>
                          </a:solidFill>
                          <a:latin typeface="Calibri"/>
                        </a:rPr>
                        <a:t>Which version of TLS governs the whole session</a:t>
                      </a:r>
                    </a:p>
                  </a:txBody>
                  <a:tcPr marL="73152" marR="73152" marT="27432" marB="27432" anchor="ctr">
                    <a:solidFill>
                      <a:srgbClr val="FFFFFF"/>
                    </a:solidFill>
                  </a:tcPr>
                </a:tc>
                <a:tc>
                  <a:txBody>
                    <a:bodyPr/>
                    <a:lstStyle/>
                    <a:p>
                      <a:r>
                        <a:rPr sz="1600" b="0" i="0">
                          <a:solidFill>
                            <a:srgbClr val="222A33"/>
                          </a:solidFill>
                          <a:latin typeface="Calibri"/>
                        </a:rPr>
                        <a:t>SSLv3, TLS 1.0, TLS 1.1 (all deprecated); TLS 1.2 (widely used); TLS 1.3 (current)</a:t>
                      </a:r>
                    </a:p>
                  </a:txBody>
                  <a:tcPr marL="73152" marR="73152" marT="27432" marB="27432" anchor="ctr">
                    <a:solidFill>
                      <a:srgbClr val="FFFFFF"/>
                    </a:solidFill>
                  </a:tcPr>
                </a:tc>
                <a:extLst>
                  <a:ext uri="{0D108BD9-81ED-4DB2-BD59-A6C34878D82A}">
                    <a16:rowId xmlns:a16="http://schemas.microsoft.com/office/drawing/2014/main" val="10001"/>
                  </a:ext>
                </a:extLst>
              </a:tr>
              <a:tr h="701040">
                <a:tc>
                  <a:txBody>
                    <a:bodyPr/>
                    <a:lstStyle/>
                    <a:p>
                      <a:r>
                        <a:rPr sz="1600" b="0" i="0">
                          <a:solidFill>
                            <a:srgbClr val="222A33"/>
                          </a:solidFill>
                          <a:latin typeface="Calibri"/>
                        </a:rPr>
                        <a:t>Key exchange</a:t>
                      </a:r>
                    </a:p>
                  </a:txBody>
                  <a:tcPr marL="73152" marR="73152" marT="27432" marB="27432" anchor="ctr">
                    <a:solidFill>
                      <a:srgbClr val="F2F4F7"/>
                    </a:solidFill>
                  </a:tcPr>
                </a:tc>
                <a:tc>
                  <a:txBody>
                    <a:bodyPr/>
                    <a:lstStyle/>
                    <a:p>
                      <a:r>
                        <a:rPr sz="1600" b="0" i="0">
                          <a:solidFill>
                            <a:srgbClr val="222A33"/>
                          </a:solidFill>
                          <a:latin typeface="Calibri"/>
                        </a:rPr>
                        <a:t>How the two sides agree on a shared secret</a:t>
                      </a:r>
                    </a:p>
                  </a:txBody>
                  <a:tcPr marL="73152" marR="73152" marT="27432" marB="27432" anchor="ctr">
                    <a:solidFill>
                      <a:srgbClr val="F2F4F7"/>
                    </a:solidFill>
                  </a:tcPr>
                </a:tc>
                <a:tc>
                  <a:txBody>
                    <a:bodyPr/>
                    <a:lstStyle/>
                    <a:p>
                      <a:r>
                        <a:rPr sz="1600" b="0" i="0">
                          <a:solidFill>
                            <a:srgbClr val="222A33"/>
                          </a:solidFill>
                          <a:latin typeface="Calibri"/>
                        </a:rPr>
                        <a:t>RSA (no forward secrecy); DHE; ECDHE (modern, provides forward secrecy)</a:t>
                      </a:r>
                    </a:p>
                  </a:txBody>
                  <a:tcPr marL="73152" marR="73152" marT="27432" marB="27432" anchor="ctr">
                    <a:solidFill>
                      <a:srgbClr val="F2F4F7"/>
                    </a:solidFill>
                  </a:tcPr>
                </a:tc>
                <a:extLst>
                  <a:ext uri="{0D108BD9-81ED-4DB2-BD59-A6C34878D82A}">
                    <a16:rowId xmlns:a16="http://schemas.microsoft.com/office/drawing/2014/main" val="10002"/>
                  </a:ext>
                </a:extLst>
              </a:tr>
              <a:tr h="701040">
                <a:tc>
                  <a:txBody>
                    <a:bodyPr/>
                    <a:lstStyle/>
                    <a:p>
                      <a:r>
                        <a:rPr sz="1600" b="0" i="0">
                          <a:solidFill>
                            <a:srgbClr val="222A33"/>
                          </a:solidFill>
                          <a:latin typeface="Calibri"/>
                        </a:rPr>
                        <a:t>Bulk encryption</a:t>
                      </a:r>
                    </a:p>
                  </a:txBody>
                  <a:tcPr marL="73152" marR="73152" marT="27432" marB="27432" anchor="ctr">
                    <a:solidFill>
                      <a:srgbClr val="FFFFFF"/>
                    </a:solidFill>
                  </a:tcPr>
                </a:tc>
                <a:tc>
                  <a:txBody>
                    <a:bodyPr/>
                    <a:lstStyle/>
                    <a:p>
                      <a:r>
                        <a:rPr sz="1600" b="0" i="0">
                          <a:solidFill>
                            <a:srgbClr val="222A33"/>
                          </a:solidFill>
                          <a:latin typeface="Calibri"/>
                        </a:rPr>
                        <a:t>The cipher actually protecting the data</a:t>
                      </a:r>
                    </a:p>
                  </a:txBody>
                  <a:tcPr marL="73152" marR="73152" marT="27432" marB="27432" anchor="ctr">
                    <a:solidFill>
                      <a:srgbClr val="FFFFFF"/>
                    </a:solidFill>
                  </a:tcPr>
                </a:tc>
                <a:tc>
                  <a:txBody>
                    <a:bodyPr/>
                    <a:lstStyle/>
                    <a:p>
                      <a:r>
                        <a:rPr sz="1600" b="0" i="0">
                          <a:solidFill>
                            <a:srgbClr val="222A33"/>
                          </a:solidFill>
                          <a:latin typeface="Calibri"/>
                        </a:rPr>
                        <a:t>DES, RC4 (both insecure); 3DES (deprecated); AES-CBC; AES-GCM; ChaCha20</a:t>
                      </a:r>
                    </a:p>
                  </a:txBody>
                  <a:tcPr marL="73152" marR="73152" marT="27432" marB="27432" anchor="ctr">
                    <a:solidFill>
                      <a:srgbClr val="FFFFFF"/>
                    </a:solidFill>
                  </a:tcPr>
                </a:tc>
                <a:extLst>
                  <a:ext uri="{0D108BD9-81ED-4DB2-BD59-A6C34878D82A}">
                    <a16:rowId xmlns:a16="http://schemas.microsoft.com/office/drawing/2014/main" val="10003"/>
                  </a:ext>
                </a:extLst>
              </a:tr>
              <a:tr h="701040">
                <a:tc>
                  <a:txBody>
                    <a:bodyPr/>
                    <a:lstStyle/>
                    <a:p>
                      <a:r>
                        <a:rPr sz="1600" b="0" i="0">
                          <a:solidFill>
                            <a:srgbClr val="222A33"/>
                          </a:solidFill>
                          <a:latin typeface="Calibri"/>
                        </a:rPr>
                        <a:t>Integrity/MAC</a:t>
                      </a:r>
                    </a:p>
                  </a:txBody>
                  <a:tcPr marL="73152" marR="73152" marT="27432" marB="27432" anchor="ctr">
                    <a:solidFill>
                      <a:srgbClr val="F2F4F7"/>
                    </a:solidFill>
                  </a:tcPr>
                </a:tc>
                <a:tc>
                  <a:txBody>
                    <a:bodyPr/>
                    <a:lstStyle/>
                    <a:p>
                      <a:r>
                        <a:rPr sz="1600" b="0" i="0">
                          <a:solidFill>
                            <a:srgbClr val="222A33"/>
                          </a:solidFill>
                          <a:latin typeface="Calibri"/>
                        </a:rPr>
                        <a:t>Detecting if data was tampered with</a:t>
                      </a:r>
                    </a:p>
                  </a:txBody>
                  <a:tcPr marL="73152" marR="73152" marT="27432" marB="27432" anchor="ctr">
                    <a:solidFill>
                      <a:srgbClr val="F2F4F7"/>
                    </a:solidFill>
                  </a:tcPr>
                </a:tc>
                <a:tc>
                  <a:txBody>
                    <a:bodyPr/>
                    <a:lstStyle/>
                    <a:p>
                      <a:r>
                        <a:rPr sz="1600" b="0" i="0">
                          <a:solidFill>
                            <a:srgbClr val="222A33"/>
                          </a:solidFill>
                          <a:latin typeface="Calibri"/>
                        </a:rPr>
                        <a:t>MD5, SHA-1 (both deprecated); SHA-256/384; built into AEAD ciphers like AES-GCM</a:t>
                      </a:r>
                    </a:p>
                  </a:txBody>
                  <a:tcPr marL="73152" marR="73152" marT="27432" marB="27432" anchor="ctr">
                    <a:solidFill>
                      <a:srgbClr val="F2F4F7"/>
                    </a:solidFill>
                  </a:tcPr>
                </a:tc>
                <a:extLst>
                  <a:ext uri="{0D108BD9-81ED-4DB2-BD59-A6C34878D82A}">
                    <a16:rowId xmlns:a16="http://schemas.microsoft.com/office/drawing/2014/main" val="10004"/>
                  </a:ext>
                </a:extLst>
              </a:tr>
              <a:tr h="701040">
                <a:tc>
                  <a:txBody>
                    <a:bodyPr/>
                    <a:lstStyle/>
                    <a:p>
                      <a:r>
                        <a:rPr sz="1600" b="0" i="0">
                          <a:solidFill>
                            <a:srgbClr val="222A33"/>
                          </a:solidFill>
                          <a:latin typeface="Calibri"/>
                        </a:rPr>
                        <a:t>Identity/PKI</a:t>
                      </a:r>
                    </a:p>
                  </a:txBody>
                  <a:tcPr marL="73152" marR="73152" marT="27432" marB="27432" anchor="ctr">
                    <a:solidFill>
                      <a:srgbClr val="FFFFFF"/>
                    </a:solidFill>
                  </a:tcPr>
                </a:tc>
                <a:tc>
                  <a:txBody>
                    <a:bodyPr/>
                    <a:lstStyle/>
                    <a:p>
                      <a:r>
                        <a:rPr sz="1600" b="0" i="0">
                          <a:solidFill>
                            <a:srgbClr val="222A33"/>
                          </a:solidFill>
                          <a:latin typeface="Calibri"/>
                        </a:rPr>
                        <a:t>Verifying the server's, and optionally the client's, identity</a:t>
                      </a:r>
                    </a:p>
                  </a:txBody>
                  <a:tcPr marL="73152" marR="73152" marT="27432" marB="27432" anchor="ctr">
                    <a:solidFill>
                      <a:srgbClr val="FFFFFF"/>
                    </a:solidFill>
                  </a:tcPr>
                </a:tc>
                <a:tc>
                  <a:txBody>
                    <a:bodyPr/>
                    <a:lstStyle/>
                    <a:p>
                      <a:r>
                        <a:rPr sz="1600" b="0" i="0" dirty="0">
                          <a:solidFill>
                            <a:srgbClr val="222A33"/>
                          </a:solidFill>
                          <a:latin typeface="Calibri"/>
                        </a:rPr>
                        <a:t>X.509 certificates, validated through a Certificate Authority chain</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SSL VPN: Client Access Modes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SSL VPN</a:t>
            </a:r>
          </a:p>
        </p:txBody>
      </p:sp>
      <p:sp>
        <p:nvSpPr>
          <p:cNvPr id="4" name="TextBox 3"/>
          <p:cNvSpPr txBox="1"/>
          <p:nvPr/>
        </p:nvSpPr>
        <p:spPr>
          <a:xfrm>
            <a:off x="731520" y="1737360"/>
            <a:ext cx="10698480" cy="2239074"/>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The cryptography isn't the only modular part of SSL VPN. How a client actually connects is also independently selectable.</a:t>
            </a:r>
          </a:p>
          <a:p>
            <a:pPr marL="201168" indent="-201168">
              <a:spcAft>
                <a:spcPts val="1100"/>
              </a:spcAft>
              <a:buFont typeface="Arial"/>
              <a:buChar char="–"/>
            </a:pPr>
            <a:r>
              <a:rPr sz="1600" b="0" i="0" dirty="0">
                <a:solidFill>
                  <a:srgbClr val="222A33"/>
                </a:solidFill>
                <a:latin typeface="Calibri"/>
              </a:rPr>
              <a:t>Clientless (portal) mode: an ordinary web browser only, reaching a limited set of internal web applications through a secure portal.</a:t>
            </a:r>
          </a:p>
          <a:p>
            <a:pPr marL="201168" indent="-201168">
              <a:spcAft>
                <a:spcPts val="1100"/>
              </a:spcAft>
              <a:buFont typeface="Arial"/>
              <a:buChar char="–"/>
            </a:pPr>
            <a:r>
              <a:rPr sz="1600" b="0" i="0" dirty="0">
                <a:solidFill>
                  <a:srgbClr val="222A33"/>
                </a:solidFill>
                <a:latin typeface="Calibri"/>
              </a:rPr>
              <a:t>A third mode, thin client (port-forwarding), sits between the two shown below: a small browser applet extends access to specific TCP applications without a full install.</a:t>
            </a:r>
          </a:p>
          <a:p>
            <a:pPr marL="201168" indent="-201168">
              <a:spcAft>
                <a:spcPts val="1100"/>
              </a:spcAft>
              <a:buFont typeface="Arial"/>
              <a:buChar char="–"/>
            </a:pPr>
            <a:r>
              <a:rPr sz="1600" b="0" i="0" dirty="0">
                <a:solidFill>
                  <a:srgbClr val="222A33"/>
                </a:solidFill>
                <a:latin typeface="Calibri"/>
              </a:rPr>
              <a:t>Full tunnel client mode: a complete agent, such as Cisco AnyConnect, providing full network-layer access, using TLS as the underlying transport.</a:t>
            </a:r>
          </a:p>
        </p:txBody>
      </p:sp>
      <p:pic>
        <p:nvPicPr>
          <p:cNvPr id="5" name="Picture 4" descr="ssl_vpn_options.png"/>
          <p:cNvPicPr>
            <a:picLocks noChangeAspect="1"/>
          </p:cNvPicPr>
          <p:nvPr/>
        </p:nvPicPr>
        <p:blipFill>
          <a:blip r:embed="rId2"/>
          <a:stretch>
            <a:fillRect/>
          </a:stretch>
        </p:blipFill>
        <p:spPr>
          <a:xfrm>
            <a:off x="3297381" y="3816383"/>
            <a:ext cx="6013390" cy="2083848"/>
          </a:xfrm>
          <a:prstGeom prst="rect">
            <a:avLst/>
          </a:prstGeom>
        </p:spPr>
      </p:pic>
      <p:sp>
        <p:nvSpPr>
          <p:cNvPr id="6" name="TextBox 5"/>
          <p:cNvSpPr txBox="1"/>
          <p:nvPr/>
        </p:nvSpPr>
        <p:spPr>
          <a:xfrm>
            <a:off x="2286000" y="5900231"/>
            <a:ext cx="7589520" cy="411480"/>
          </a:xfrm>
          <a:prstGeom prst="rect">
            <a:avLst/>
          </a:prstGeom>
          <a:noFill/>
        </p:spPr>
        <p:txBody>
          <a:bodyPr wrap="square">
            <a:spAutoFit/>
          </a:bodyPr>
          <a:lstStyle/>
          <a:p>
            <a:pPr algn="ctr"/>
            <a:r>
              <a:rPr sz="1000" b="0" i="1">
                <a:solidFill>
                  <a:srgbClr val="6B7682"/>
                </a:solidFill>
                <a:latin typeface="Calibri"/>
              </a:rPr>
              <a:t>Figure 7-4, SSL VPN Options: the clientless browser path (A) and the AnyConnect full-tunnel path (B), both terminating at the same ASA.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IPsec vs SSL VPN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Two different answers to the same underlying problem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vs SSL VPN: Direct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COMPARISON</a:t>
            </a:r>
          </a:p>
        </p:txBody>
      </p:sp>
      <p:graphicFrame>
        <p:nvGraphicFramePr>
          <p:cNvPr id="4" name="Table 3"/>
          <p:cNvGraphicFramePr>
            <a:graphicFrameLocks noGrp="1"/>
          </p:cNvGraphicFramePr>
          <p:nvPr>
            <p:extLst>
              <p:ext uri="{D42A27DB-BD31-4B8C-83A1-F6EECF244321}">
                <p14:modId xmlns:p14="http://schemas.microsoft.com/office/powerpoint/2010/main" val="309791291"/>
              </p:ext>
            </p:extLst>
          </p:nvPr>
        </p:nvGraphicFramePr>
        <p:xfrm>
          <a:off x="274320" y="1737360"/>
          <a:ext cx="11612880" cy="4231971"/>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600891">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IPsec VPN</a:t>
                      </a:r>
                    </a:p>
                  </a:txBody>
                  <a:tcPr marL="73152" marR="73152" marT="27432" marB="27432" anchor="ctr">
                    <a:solidFill>
                      <a:srgbClr val="003054"/>
                    </a:solidFill>
                  </a:tcPr>
                </a:tc>
                <a:tc>
                  <a:txBody>
                    <a:bodyPr/>
                    <a:lstStyle/>
                    <a:p>
                      <a:r>
                        <a:rPr sz="1300" b="1" i="0">
                          <a:solidFill>
                            <a:srgbClr val="FFFFFF"/>
                          </a:solidFill>
                          <a:latin typeface="Calibri"/>
                        </a:rPr>
                        <a:t>SSL VPN</a:t>
                      </a:r>
                    </a:p>
                  </a:txBody>
                  <a:tcPr marL="73152" marR="73152" marT="27432" marB="27432" anchor="ctr">
                    <a:solidFill>
                      <a:srgbClr val="003054"/>
                    </a:solidFill>
                  </a:tcPr>
                </a:tc>
                <a:extLst>
                  <a:ext uri="{0D108BD9-81ED-4DB2-BD59-A6C34878D82A}">
                    <a16:rowId xmlns:a16="http://schemas.microsoft.com/office/drawing/2014/main" val="10000"/>
                  </a:ext>
                </a:extLst>
              </a:tr>
              <a:tr h="626622">
                <a:tc>
                  <a:txBody>
                    <a:bodyPr/>
                    <a:lstStyle/>
                    <a:p>
                      <a:r>
                        <a:rPr sz="1600" b="0" i="0">
                          <a:solidFill>
                            <a:srgbClr val="222A33"/>
                          </a:solidFill>
                          <a:latin typeface="Calibri"/>
                        </a:rPr>
                        <a:t>Layer of operation</a:t>
                      </a:r>
                    </a:p>
                  </a:txBody>
                  <a:tcPr marL="73152" marR="73152" marT="27432" marB="27432" anchor="ctr">
                    <a:solidFill>
                      <a:srgbClr val="FFFFFF"/>
                    </a:solidFill>
                  </a:tcPr>
                </a:tc>
                <a:tc>
                  <a:txBody>
                    <a:bodyPr/>
                    <a:lstStyle/>
                    <a:p>
                      <a:r>
                        <a:rPr sz="1600" b="0" i="0">
                          <a:solidFill>
                            <a:srgbClr val="222A33"/>
                          </a:solidFill>
                          <a:latin typeface="Calibri"/>
                        </a:rPr>
                        <a:t>Network layer (Layer 3)</a:t>
                      </a:r>
                    </a:p>
                  </a:txBody>
                  <a:tcPr marL="73152" marR="73152" marT="27432" marB="27432" anchor="ctr">
                    <a:solidFill>
                      <a:srgbClr val="FFFFFF"/>
                    </a:solidFill>
                  </a:tcPr>
                </a:tc>
                <a:tc>
                  <a:txBody>
                    <a:bodyPr/>
                    <a:lstStyle/>
                    <a:p>
                      <a:r>
                        <a:rPr sz="1600" b="0" i="0">
                          <a:solidFill>
                            <a:srgbClr val="222A33"/>
                          </a:solidFill>
                          <a:latin typeface="Calibri"/>
                        </a:rPr>
                        <a:t>Built on TLS, above the transport layer</a:t>
                      </a:r>
                    </a:p>
                  </a:txBody>
                  <a:tcPr marL="73152" marR="73152" marT="27432" marB="27432" anchor="ctr">
                    <a:solidFill>
                      <a:srgbClr val="FFFFFF"/>
                    </a:solidFill>
                  </a:tcPr>
                </a:tc>
                <a:extLst>
                  <a:ext uri="{0D108BD9-81ED-4DB2-BD59-A6C34878D82A}">
                    <a16:rowId xmlns:a16="http://schemas.microsoft.com/office/drawing/2014/main" val="10001"/>
                  </a:ext>
                </a:extLst>
              </a:tr>
              <a:tr h="600891">
                <a:tc>
                  <a:txBody>
                    <a:bodyPr/>
                    <a:lstStyle/>
                    <a:p>
                      <a:r>
                        <a:rPr sz="1600" b="0" i="0">
                          <a:solidFill>
                            <a:srgbClr val="222A33"/>
                          </a:solidFill>
                          <a:latin typeface="Calibri"/>
                        </a:rPr>
                        <a:t>Client requirement</a:t>
                      </a:r>
                    </a:p>
                  </a:txBody>
                  <a:tcPr marL="73152" marR="73152" marT="27432" marB="27432" anchor="ctr">
                    <a:solidFill>
                      <a:srgbClr val="F2F4F7"/>
                    </a:solidFill>
                  </a:tcPr>
                </a:tc>
                <a:tc>
                  <a:txBody>
                    <a:bodyPr/>
                    <a:lstStyle/>
                    <a:p>
                      <a:r>
                        <a:rPr sz="1600" b="0" i="0">
                          <a:solidFill>
                            <a:srgbClr val="222A33"/>
                          </a:solidFill>
                          <a:latin typeface="Calibri"/>
                        </a:rPr>
                        <a:t>Often needs dedicated client software</a:t>
                      </a:r>
                    </a:p>
                  </a:txBody>
                  <a:tcPr marL="73152" marR="73152" marT="27432" marB="27432" anchor="ctr">
                    <a:solidFill>
                      <a:srgbClr val="F2F4F7"/>
                    </a:solidFill>
                  </a:tcPr>
                </a:tc>
                <a:tc>
                  <a:txBody>
                    <a:bodyPr/>
                    <a:lstStyle/>
                    <a:p>
                      <a:r>
                        <a:rPr sz="1600" b="0" i="0">
                          <a:solidFill>
                            <a:srgbClr val="222A33"/>
                          </a:solidFill>
                          <a:latin typeface="Calibri"/>
                        </a:rPr>
                        <a:t>Often just a browser, in clientless mode</a:t>
                      </a:r>
                    </a:p>
                  </a:txBody>
                  <a:tcPr marL="73152" marR="73152" marT="27432" marB="27432" anchor="ctr">
                    <a:solidFill>
                      <a:srgbClr val="F2F4F7"/>
                    </a:solidFill>
                  </a:tcPr>
                </a:tc>
                <a:extLst>
                  <a:ext uri="{0D108BD9-81ED-4DB2-BD59-A6C34878D82A}">
                    <a16:rowId xmlns:a16="http://schemas.microsoft.com/office/drawing/2014/main" val="10002"/>
                  </a:ext>
                </a:extLst>
              </a:tr>
              <a:tr h="600891">
                <a:tc>
                  <a:txBody>
                    <a:bodyPr/>
                    <a:lstStyle/>
                    <a:p>
                      <a:r>
                        <a:rPr sz="1600" b="0" i="0">
                          <a:solidFill>
                            <a:srgbClr val="222A33"/>
                          </a:solidFill>
                          <a:latin typeface="Calibri"/>
                        </a:rPr>
                        <a:t>Traffic scope</a:t>
                      </a:r>
                    </a:p>
                  </a:txBody>
                  <a:tcPr marL="73152" marR="73152" marT="27432" marB="27432" anchor="ctr">
                    <a:solidFill>
                      <a:srgbClr val="FFFFFF"/>
                    </a:solidFill>
                  </a:tcPr>
                </a:tc>
                <a:tc>
                  <a:txBody>
                    <a:bodyPr/>
                    <a:lstStyle/>
                    <a:p>
                      <a:r>
                        <a:rPr sz="1600" b="0" i="0">
                          <a:solidFill>
                            <a:srgbClr val="222A33"/>
                          </a:solidFill>
                          <a:latin typeface="Calibri"/>
                        </a:rPr>
                        <a:t>Secures all IP traffic transparently</a:t>
                      </a:r>
                    </a:p>
                  </a:txBody>
                  <a:tcPr marL="73152" marR="73152" marT="27432" marB="27432" anchor="ctr">
                    <a:solidFill>
                      <a:srgbClr val="FFFFFF"/>
                    </a:solidFill>
                  </a:tcPr>
                </a:tc>
                <a:tc>
                  <a:txBody>
                    <a:bodyPr/>
                    <a:lstStyle/>
                    <a:p>
                      <a:r>
                        <a:rPr sz="1600" b="0" i="0">
                          <a:solidFill>
                            <a:srgbClr val="222A33"/>
                          </a:solidFill>
                          <a:latin typeface="Calibri"/>
                        </a:rPr>
                        <a:t>Typically specific applications or resources, though full-tunnel mode approaches IPsec's scope</a:t>
                      </a:r>
                    </a:p>
                  </a:txBody>
                  <a:tcPr marL="73152" marR="73152" marT="27432" marB="27432" anchor="ctr">
                    <a:solidFill>
                      <a:srgbClr val="FFFFFF"/>
                    </a:solidFill>
                  </a:tcPr>
                </a:tc>
                <a:extLst>
                  <a:ext uri="{0D108BD9-81ED-4DB2-BD59-A6C34878D82A}">
                    <a16:rowId xmlns:a16="http://schemas.microsoft.com/office/drawing/2014/main" val="10003"/>
                  </a:ext>
                </a:extLst>
              </a:tr>
              <a:tr h="600891">
                <a:tc>
                  <a:txBody>
                    <a:bodyPr/>
                    <a:lstStyle/>
                    <a:p>
                      <a:r>
                        <a:rPr sz="1600" b="0" i="0">
                          <a:solidFill>
                            <a:srgbClr val="222A33"/>
                          </a:solidFill>
                          <a:latin typeface="Calibri"/>
                        </a:rPr>
                        <a:t>NAT traversal</a:t>
                      </a:r>
                    </a:p>
                  </a:txBody>
                  <a:tcPr marL="73152" marR="73152" marT="27432" marB="27432" anchor="ctr">
                    <a:solidFill>
                      <a:srgbClr val="F2F4F7"/>
                    </a:solidFill>
                  </a:tcPr>
                </a:tc>
                <a:tc>
                  <a:txBody>
                    <a:bodyPr/>
                    <a:lstStyle/>
                    <a:p>
                      <a:r>
                        <a:rPr sz="1600" b="0" i="0">
                          <a:solidFill>
                            <a:srgbClr val="222A33"/>
                          </a:solidFill>
                          <a:latin typeface="Calibri"/>
                        </a:rPr>
                        <a:t>Can struggle, especially AH; needs NAT-T</a:t>
                      </a:r>
                    </a:p>
                  </a:txBody>
                  <a:tcPr marL="73152" marR="73152" marT="27432" marB="27432" anchor="ctr">
                    <a:solidFill>
                      <a:srgbClr val="F2F4F7"/>
                    </a:solidFill>
                  </a:tcPr>
                </a:tc>
                <a:tc>
                  <a:txBody>
                    <a:bodyPr/>
                    <a:lstStyle/>
                    <a:p>
                      <a:r>
                        <a:rPr sz="1600" b="0" i="0">
                          <a:solidFill>
                            <a:srgbClr val="222A33"/>
                          </a:solidFill>
                          <a:latin typeface="Calibri"/>
                        </a:rPr>
                        <a:t>Generally NAT-friendly, uses standard HTTPS</a:t>
                      </a:r>
                    </a:p>
                  </a:txBody>
                  <a:tcPr marL="73152" marR="73152" marT="27432" marB="27432" anchor="ctr">
                    <a:solidFill>
                      <a:srgbClr val="F2F4F7"/>
                    </a:solidFill>
                  </a:tcPr>
                </a:tc>
                <a:extLst>
                  <a:ext uri="{0D108BD9-81ED-4DB2-BD59-A6C34878D82A}">
                    <a16:rowId xmlns:a16="http://schemas.microsoft.com/office/drawing/2014/main" val="10004"/>
                  </a:ext>
                </a:extLst>
              </a:tr>
              <a:tr h="600891">
                <a:tc>
                  <a:txBody>
                    <a:bodyPr/>
                    <a:lstStyle/>
                    <a:p>
                      <a:r>
                        <a:rPr sz="1600" b="0" i="0">
                          <a:solidFill>
                            <a:srgbClr val="222A33"/>
                          </a:solidFill>
                          <a:latin typeface="Calibri"/>
                        </a:rPr>
                        <a:t>Access granularity</a:t>
                      </a:r>
                    </a:p>
                  </a:txBody>
                  <a:tcPr marL="73152" marR="73152" marT="27432" marB="27432" anchor="ctr">
                    <a:solidFill>
                      <a:srgbClr val="FFFFFF"/>
                    </a:solidFill>
                  </a:tcPr>
                </a:tc>
                <a:tc>
                  <a:txBody>
                    <a:bodyPr/>
                    <a:lstStyle/>
                    <a:p>
                      <a:r>
                        <a:rPr sz="1600" b="0" i="0">
                          <a:solidFill>
                            <a:srgbClr val="222A33"/>
                          </a:solidFill>
                          <a:latin typeface="Calibri"/>
                        </a:rPr>
                        <a:t>Network-level, largely all-or-nothing per tunnel</a:t>
                      </a:r>
                    </a:p>
                  </a:txBody>
                  <a:tcPr marL="73152" marR="73152" marT="27432" marB="27432" anchor="ctr">
                    <a:solidFill>
                      <a:srgbClr val="FFFFFF"/>
                    </a:solidFill>
                  </a:tcPr>
                </a:tc>
                <a:tc>
                  <a:txBody>
                    <a:bodyPr/>
                    <a:lstStyle/>
                    <a:p>
                      <a:r>
                        <a:rPr sz="1600" b="0" i="0">
                          <a:solidFill>
                            <a:srgbClr val="222A33"/>
                          </a:solidFill>
                          <a:latin typeface="Calibri"/>
                        </a:rPr>
                        <a:t>Can be very granular, down to specific applications or URLs</a:t>
                      </a:r>
                    </a:p>
                  </a:txBody>
                  <a:tcPr marL="73152" marR="73152" marT="27432" marB="27432" anchor="ctr">
                    <a:solidFill>
                      <a:srgbClr val="FFFFFF"/>
                    </a:solidFill>
                  </a:tcPr>
                </a:tc>
                <a:extLst>
                  <a:ext uri="{0D108BD9-81ED-4DB2-BD59-A6C34878D82A}">
                    <a16:rowId xmlns:a16="http://schemas.microsoft.com/office/drawing/2014/main" val="10005"/>
                  </a:ext>
                </a:extLst>
              </a:tr>
              <a:tr h="600894">
                <a:tc>
                  <a:txBody>
                    <a:bodyPr/>
                    <a:lstStyle/>
                    <a:p>
                      <a:r>
                        <a:rPr sz="1600" b="0" i="0">
                          <a:solidFill>
                            <a:srgbClr val="222A33"/>
                          </a:solidFill>
                          <a:latin typeface="Calibri"/>
                        </a:rPr>
                        <a:t>Typical use case</a:t>
                      </a:r>
                    </a:p>
                  </a:txBody>
                  <a:tcPr marL="73152" marR="73152" marT="27432" marB="27432" anchor="ctr">
                    <a:solidFill>
                      <a:srgbClr val="F2F4F7"/>
                    </a:solidFill>
                  </a:tcPr>
                </a:tc>
                <a:tc>
                  <a:txBody>
                    <a:bodyPr/>
                    <a:lstStyle/>
                    <a:p>
                      <a:r>
                        <a:rPr sz="1600" b="0" i="0">
                          <a:solidFill>
                            <a:srgbClr val="222A33"/>
                          </a:solidFill>
                          <a:latin typeface="Calibri"/>
                        </a:rPr>
                        <a:t>Site-to-site links, full-network remote access</a:t>
                      </a:r>
                    </a:p>
                  </a:txBody>
                  <a:tcPr marL="73152" marR="73152" marT="27432" marB="27432" anchor="ctr">
                    <a:solidFill>
                      <a:srgbClr val="F2F4F7"/>
                    </a:solidFill>
                  </a:tcPr>
                </a:tc>
                <a:tc>
                  <a:txBody>
                    <a:bodyPr/>
                    <a:lstStyle/>
                    <a:p>
                      <a:r>
                        <a:rPr sz="1600" b="0" i="0" dirty="0">
                          <a:solidFill>
                            <a:srgbClr val="222A33"/>
                          </a:solidFill>
                          <a:latin typeface="Calibri"/>
                        </a:rPr>
                        <a:t>Individual remote access, especially browser-based</a:t>
                      </a:r>
                    </a:p>
                  </a:txBody>
                  <a:tcPr marL="73152" marR="73152" marT="27432" marB="27432"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Configuring VPNs and Tunnels on Cisco Devices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Concept alongside the actual command templates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GRE Tunnel: Concept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A GRE tunnel is configured as a logical Tunnel interface, entirely separate from any physical interface, with its own IP addressing for the virtual point-to-point link it creates.</a:t>
            </a:r>
          </a:p>
          <a:p>
            <a:pPr marL="201168" indent="-201168">
              <a:spcAft>
                <a:spcPts val="1100"/>
              </a:spcAft>
              <a:buFont typeface="Arial"/>
              <a:buChar char="–"/>
            </a:pPr>
            <a:r>
              <a:rPr sz="1600" b="0" i="0" dirty="0">
                <a:solidFill>
                  <a:srgbClr val="222A33"/>
                </a:solidFill>
                <a:latin typeface="Calibri"/>
              </a:rPr>
              <a:t>It needs a source, the local physical interface or address traffic will actually leave from, and a destination, the remote peer's real, public address.</a:t>
            </a:r>
          </a:p>
          <a:p>
            <a:pPr marL="201168" indent="-201168">
              <a:spcAft>
                <a:spcPts val="1100"/>
              </a:spcAft>
              <a:buFont typeface="Arial"/>
              <a:buChar char="–"/>
            </a:pPr>
            <a:r>
              <a:rPr sz="1600" b="0" i="0" dirty="0">
                <a:solidFill>
                  <a:srgbClr val="222A33"/>
                </a:solidFill>
                <a:latin typeface="Calibri"/>
              </a:rPr>
              <a:t>Remember from earlier: this alone provides no encryption whatsoever. GRE just gets traffic there, in the clear.</a:t>
            </a:r>
          </a:p>
        </p:txBody>
      </p:sp>
      <p:sp>
        <p:nvSpPr>
          <p:cNvPr id="5" name="TextBox 4"/>
          <p:cNvSpPr txBox="1"/>
          <p:nvPr/>
        </p:nvSpPr>
        <p:spPr>
          <a:xfrm>
            <a:off x="914400" y="3840480"/>
            <a:ext cx="10698480" cy="1092607"/>
          </a:xfrm>
          <a:prstGeom prst="rect">
            <a:avLst/>
          </a:prstGeom>
          <a:noFill/>
        </p:spPr>
        <p:txBody>
          <a:bodyPr wrap="square">
            <a:spAutoFit/>
          </a:bodyPr>
          <a:lstStyle/>
          <a:p>
            <a:pPr algn="l">
              <a:spcAft>
                <a:spcPts val="200"/>
              </a:spcAft>
            </a:pPr>
            <a:r>
              <a:rPr sz="1500" b="0" i="0" dirty="0">
                <a:solidFill>
                  <a:srgbClr val="222A33"/>
                </a:solidFill>
                <a:latin typeface="Consolas"/>
              </a:rPr>
              <a:t>interface Tunnel0</a:t>
            </a:r>
          </a:p>
          <a:p>
            <a:pPr algn="l">
              <a:spcAft>
                <a:spcPts val="200"/>
              </a:spcAft>
            </a:pPr>
            <a:r>
              <a:rPr sz="1500" b="0" i="0" dirty="0">
                <a:solidFill>
                  <a:srgbClr val="222A33"/>
                </a:solidFill>
                <a:latin typeface="Consolas"/>
              </a:rPr>
              <a:t> </a:t>
            </a:r>
            <a:r>
              <a:rPr sz="1500" b="0" i="0" dirty="0" err="1">
                <a:solidFill>
                  <a:srgbClr val="222A33"/>
                </a:solidFill>
                <a:latin typeface="Consolas"/>
              </a:rPr>
              <a:t>ip</a:t>
            </a:r>
            <a:r>
              <a:rPr sz="1500" b="0" i="0" dirty="0">
                <a:solidFill>
                  <a:srgbClr val="222A33"/>
                </a:solidFill>
                <a:latin typeface="Consolas"/>
              </a:rPr>
              <a:t> address 10.10.10.1 255.255.255.252</a:t>
            </a:r>
          </a:p>
          <a:p>
            <a:pPr algn="l">
              <a:spcAft>
                <a:spcPts val="200"/>
              </a:spcAft>
            </a:pPr>
            <a:r>
              <a:rPr sz="1500" b="0" i="0" dirty="0">
                <a:solidFill>
                  <a:srgbClr val="222A33"/>
                </a:solidFill>
                <a:latin typeface="Consolas"/>
              </a:rPr>
              <a:t> tunnel source GigabitEthernet0/0</a:t>
            </a:r>
          </a:p>
          <a:p>
            <a:pPr algn="l">
              <a:spcAft>
                <a:spcPts val="200"/>
              </a:spcAft>
            </a:pPr>
            <a:r>
              <a:rPr sz="1500" b="0" i="0" dirty="0">
                <a:solidFill>
                  <a:srgbClr val="222A33"/>
                </a:solidFill>
                <a:latin typeface="Consolas"/>
              </a:rPr>
              <a:t> tunnel destination 203.0.113.10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Site-to-Site: Step 1, the IKE Phase 1 Policy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83080"/>
            <a:ext cx="10698480" cy="58477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The first step defines how the two peers will authenticate each other and protect their own negotiation traffic, the ISAKMP policy from Phase 1 earlier in this deck.</a:t>
            </a:r>
          </a:p>
        </p:txBody>
      </p:sp>
      <p:sp>
        <p:nvSpPr>
          <p:cNvPr id="5" name="TextBox 4"/>
          <p:cNvSpPr txBox="1"/>
          <p:nvPr/>
        </p:nvSpPr>
        <p:spPr>
          <a:xfrm>
            <a:off x="914398" y="2514600"/>
            <a:ext cx="10698481" cy="2056973"/>
          </a:xfrm>
          <a:prstGeom prst="rect">
            <a:avLst/>
          </a:prstGeom>
          <a:noFill/>
        </p:spPr>
        <p:txBody>
          <a:bodyPr wrap="square">
            <a:spAutoFit/>
          </a:bodyPr>
          <a:lstStyle/>
          <a:p>
            <a:pPr algn="l">
              <a:spcAft>
                <a:spcPts val="200"/>
              </a:spcAft>
            </a:pPr>
            <a:r>
              <a:rPr sz="1450" b="0" i="0" dirty="0">
                <a:solidFill>
                  <a:srgbClr val="222A33"/>
                </a:solidFill>
                <a:latin typeface="Consolas"/>
              </a:rPr>
              <a:t>crypto </a:t>
            </a:r>
            <a:r>
              <a:rPr sz="1450" b="0" i="0" dirty="0" err="1">
                <a:solidFill>
                  <a:srgbClr val="222A33"/>
                </a:solidFill>
                <a:latin typeface="Consolas"/>
              </a:rPr>
              <a:t>isakmp</a:t>
            </a:r>
            <a:r>
              <a:rPr sz="1450" b="0" i="0" dirty="0">
                <a:solidFill>
                  <a:srgbClr val="222A33"/>
                </a:solidFill>
                <a:latin typeface="Consolas"/>
              </a:rPr>
              <a:t> policy 10</a:t>
            </a:r>
          </a:p>
          <a:p>
            <a:pPr algn="l">
              <a:spcAft>
                <a:spcPts val="200"/>
              </a:spcAft>
            </a:pPr>
            <a:r>
              <a:rPr sz="1450" b="0" i="0" dirty="0">
                <a:solidFill>
                  <a:srgbClr val="222A33"/>
                </a:solidFill>
                <a:latin typeface="Consolas"/>
              </a:rPr>
              <a:t> encryption </a:t>
            </a:r>
            <a:r>
              <a:rPr sz="1450" b="0" i="0" dirty="0" err="1">
                <a:solidFill>
                  <a:srgbClr val="222A33"/>
                </a:solidFill>
                <a:latin typeface="Consolas"/>
              </a:rPr>
              <a:t>aes</a:t>
            </a:r>
            <a:endParaRPr sz="1450" b="0" i="0" dirty="0">
              <a:solidFill>
                <a:srgbClr val="222A33"/>
              </a:solidFill>
              <a:latin typeface="Consolas"/>
            </a:endParaRPr>
          </a:p>
          <a:p>
            <a:pPr algn="l">
              <a:spcAft>
                <a:spcPts val="200"/>
              </a:spcAft>
            </a:pPr>
            <a:r>
              <a:rPr sz="1450" b="0" i="0" dirty="0">
                <a:solidFill>
                  <a:srgbClr val="222A33"/>
                </a:solidFill>
                <a:latin typeface="Consolas"/>
              </a:rPr>
              <a:t> hash sha256</a:t>
            </a:r>
          </a:p>
          <a:p>
            <a:pPr algn="l">
              <a:spcAft>
                <a:spcPts val="200"/>
              </a:spcAft>
            </a:pPr>
            <a:r>
              <a:rPr sz="1450" b="0" i="0" dirty="0">
                <a:solidFill>
                  <a:srgbClr val="222A33"/>
                </a:solidFill>
                <a:latin typeface="Consolas"/>
              </a:rPr>
              <a:t> authentication pre-share</a:t>
            </a:r>
          </a:p>
          <a:p>
            <a:pPr algn="l">
              <a:spcAft>
                <a:spcPts val="200"/>
              </a:spcAft>
            </a:pPr>
            <a:r>
              <a:rPr sz="1450" b="0" i="0" dirty="0">
                <a:solidFill>
                  <a:srgbClr val="222A33"/>
                </a:solidFill>
                <a:latin typeface="Consolas"/>
              </a:rPr>
              <a:t> group 14</a:t>
            </a:r>
          </a:p>
          <a:p>
            <a:pPr algn="l">
              <a:spcAft>
                <a:spcPts val="200"/>
              </a:spcAft>
            </a:pPr>
            <a:r>
              <a:rPr sz="1450" b="0" i="0" dirty="0">
                <a:solidFill>
                  <a:srgbClr val="222A33"/>
                </a:solidFill>
                <a:latin typeface="Consolas"/>
              </a:rPr>
              <a:t> lifetime 86400</a:t>
            </a:r>
          </a:p>
          <a:p>
            <a:pPr algn="l">
              <a:spcAft>
                <a:spcPts val="200"/>
              </a:spcAft>
            </a:pPr>
            <a:r>
              <a:rPr sz="1450" b="0" i="0" dirty="0">
                <a:solidFill>
                  <a:srgbClr val="222A33"/>
                </a:solidFill>
                <a:latin typeface="Consolas"/>
              </a:rPr>
              <a:t>exit</a:t>
            </a:r>
          </a:p>
          <a:p>
            <a:pPr algn="l">
              <a:spcAft>
                <a:spcPts val="200"/>
              </a:spcAft>
            </a:pPr>
            <a:r>
              <a:rPr sz="1450" b="0" i="0" dirty="0">
                <a:solidFill>
                  <a:srgbClr val="222A33"/>
                </a:solidFill>
                <a:latin typeface="Consolas"/>
              </a:rPr>
              <a:t>crypto </a:t>
            </a:r>
            <a:r>
              <a:rPr sz="1450" b="0" i="0" dirty="0" err="1">
                <a:solidFill>
                  <a:srgbClr val="222A33"/>
                </a:solidFill>
                <a:latin typeface="Consolas"/>
              </a:rPr>
              <a:t>isakmp</a:t>
            </a:r>
            <a:r>
              <a:rPr sz="1450" b="0" i="0" dirty="0">
                <a:solidFill>
                  <a:srgbClr val="222A33"/>
                </a:solidFill>
                <a:latin typeface="Consolas"/>
              </a:rPr>
              <a:t> key </a:t>
            </a:r>
            <a:r>
              <a:rPr sz="1450" b="0" i="0" dirty="0" err="1">
                <a:solidFill>
                  <a:srgbClr val="222A33"/>
                </a:solidFill>
                <a:latin typeface="Consolas"/>
              </a:rPr>
              <a:t>MySharedKey</a:t>
            </a:r>
            <a:r>
              <a:rPr sz="1450" b="0" i="0" dirty="0">
                <a:solidFill>
                  <a:srgbClr val="222A33"/>
                </a:solidFill>
                <a:latin typeface="Consolas"/>
              </a:rPr>
              <a:t> address 203.0.113.10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Site-to-Site: Step 2, the Transform Set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83080"/>
            <a:ext cx="10698480" cy="64008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The transform set defines the Phase 2 parameters, the actual encryption and authentication that will protect real data traffic once negotiation is complete.</a:t>
            </a:r>
          </a:p>
        </p:txBody>
      </p:sp>
      <p:sp>
        <p:nvSpPr>
          <p:cNvPr id="5" name="TextBox 4"/>
          <p:cNvSpPr txBox="1"/>
          <p:nvPr/>
        </p:nvSpPr>
        <p:spPr>
          <a:xfrm>
            <a:off x="1066800" y="2514600"/>
            <a:ext cx="10546080" cy="323165"/>
          </a:xfrm>
          <a:prstGeom prst="rect">
            <a:avLst/>
          </a:prstGeom>
          <a:noFill/>
        </p:spPr>
        <p:txBody>
          <a:bodyPr wrap="square">
            <a:spAutoFit/>
          </a:bodyPr>
          <a:lstStyle/>
          <a:p>
            <a:pPr algn="l">
              <a:spcAft>
                <a:spcPts val="200"/>
              </a:spcAft>
            </a:pPr>
            <a:r>
              <a:rPr sz="1500" b="0" i="0">
                <a:solidFill>
                  <a:srgbClr val="222A33"/>
                </a:solidFill>
                <a:latin typeface="Consolas"/>
              </a:rPr>
              <a:t>crypto ipsec transform-set MYSET esp-aes esp-sha256-hmac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Site-to-Site: Step 3, Defining Interesting Traffic</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83080"/>
            <a:ext cx="10698480" cy="58477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An ACL identifies exactly which traffic should actually be sent through the VPN, commonly called interesting traffic. Only traffic matching this ACL gets encrypted; everything else follows normal routing.</a:t>
            </a:r>
          </a:p>
        </p:txBody>
      </p:sp>
      <p:sp>
        <p:nvSpPr>
          <p:cNvPr id="5" name="TextBox 4"/>
          <p:cNvSpPr txBox="1"/>
          <p:nvPr/>
        </p:nvSpPr>
        <p:spPr>
          <a:xfrm>
            <a:off x="914400" y="2514600"/>
            <a:ext cx="10698480" cy="323165"/>
          </a:xfrm>
          <a:prstGeom prst="rect">
            <a:avLst/>
          </a:prstGeom>
          <a:noFill/>
        </p:spPr>
        <p:txBody>
          <a:bodyPr wrap="square">
            <a:spAutoFit/>
          </a:bodyPr>
          <a:lstStyle/>
          <a:p>
            <a:pPr algn="l">
              <a:spcAft>
                <a:spcPts val="200"/>
              </a:spcAft>
            </a:pPr>
            <a:r>
              <a:rPr sz="1500" b="0" i="0" dirty="0">
                <a:solidFill>
                  <a:srgbClr val="222A33"/>
                </a:solidFill>
                <a:latin typeface="Consolas"/>
              </a:rPr>
              <a:t>access-list 100 permit </a:t>
            </a:r>
            <a:r>
              <a:rPr sz="1500" b="0" i="0" dirty="0" err="1">
                <a:solidFill>
                  <a:srgbClr val="222A33"/>
                </a:solidFill>
                <a:latin typeface="Consolas"/>
              </a:rPr>
              <a:t>ip</a:t>
            </a:r>
            <a:r>
              <a:rPr sz="1500" b="0" i="0" dirty="0">
                <a:solidFill>
                  <a:srgbClr val="222A33"/>
                </a:solidFill>
                <a:latin typeface="Consolas"/>
              </a:rPr>
              <a:t> 192.168.10.0 0.0.0.255 192.168.20.0 0.0.0.255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IPsec Site-to-Site: Step 4, the Crypto Map</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783080"/>
            <a:ext cx="10698480" cy="584775"/>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The crypto map ties everything together: which peer to protect traffic toward, which transform set to use, and which ACL defines interesting traffic, then applies the whole thing to the outbound interface</a:t>
            </a:r>
            <a:r>
              <a:rPr sz="1500" b="0" i="0" dirty="0">
                <a:solidFill>
                  <a:srgbClr val="222A33"/>
                </a:solidFill>
                <a:latin typeface="Calibri"/>
              </a:rPr>
              <a:t>.</a:t>
            </a:r>
          </a:p>
        </p:txBody>
      </p:sp>
      <p:sp>
        <p:nvSpPr>
          <p:cNvPr id="5" name="TextBox 4"/>
          <p:cNvSpPr txBox="1"/>
          <p:nvPr/>
        </p:nvSpPr>
        <p:spPr>
          <a:xfrm>
            <a:off x="1108364" y="2697480"/>
            <a:ext cx="10504516" cy="1808187"/>
          </a:xfrm>
          <a:prstGeom prst="rect">
            <a:avLst/>
          </a:prstGeom>
          <a:noFill/>
        </p:spPr>
        <p:txBody>
          <a:bodyPr wrap="square">
            <a:spAutoFit/>
          </a:bodyPr>
          <a:lstStyle/>
          <a:p>
            <a:pPr algn="l">
              <a:spcAft>
                <a:spcPts val="200"/>
              </a:spcAft>
            </a:pPr>
            <a:r>
              <a:rPr sz="1450" b="0" i="0" dirty="0">
                <a:solidFill>
                  <a:srgbClr val="222A33"/>
                </a:solidFill>
                <a:latin typeface="Consolas"/>
              </a:rPr>
              <a:t>crypto map MYMAP 10 </a:t>
            </a:r>
            <a:r>
              <a:rPr sz="1450" b="0" i="0" dirty="0" err="1">
                <a:solidFill>
                  <a:srgbClr val="222A33"/>
                </a:solidFill>
                <a:latin typeface="Consolas"/>
              </a:rPr>
              <a:t>ipsec-isakmp</a:t>
            </a:r>
            <a:endParaRPr sz="1450" b="0" i="0" dirty="0">
              <a:solidFill>
                <a:srgbClr val="222A33"/>
              </a:solidFill>
              <a:latin typeface="Consolas"/>
            </a:endParaRPr>
          </a:p>
          <a:p>
            <a:pPr algn="l">
              <a:spcAft>
                <a:spcPts val="200"/>
              </a:spcAft>
            </a:pPr>
            <a:r>
              <a:rPr sz="1450" b="0" i="0" dirty="0">
                <a:solidFill>
                  <a:srgbClr val="222A33"/>
                </a:solidFill>
                <a:latin typeface="Consolas"/>
              </a:rPr>
              <a:t> set peer 203.0.113.10</a:t>
            </a:r>
          </a:p>
          <a:p>
            <a:pPr algn="l">
              <a:spcAft>
                <a:spcPts val="200"/>
              </a:spcAft>
            </a:pPr>
            <a:r>
              <a:rPr sz="1450" b="0" i="0" dirty="0">
                <a:solidFill>
                  <a:srgbClr val="222A33"/>
                </a:solidFill>
                <a:latin typeface="Consolas"/>
              </a:rPr>
              <a:t> set transform-set MYSET</a:t>
            </a:r>
          </a:p>
          <a:p>
            <a:pPr algn="l">
              <a:spcAft>
                <a:spcPts val="200"/>
              </a:spcAft>
            </a:pPr>
            <a:r>
              <a:rPr sz="1450" b="0" i="0" dirty="0">
                <a:solidFill>
                  <a:srgbClr val="222A33"/>
                </a:solidFill>
                <a:latin typeface="Consolas"/>
              </a:rPr>
              <a:t> match address 100</a:t>
            </a:r>
          </a:p>
          <a:p>
            <a:pPr algn="l">
              <a:spcAft>
                <a:spcPts val="200"/>
              </a:spcAft>
            </a:pPr>
            <a:r>
              <a:rPr sz="1450" b="0" i="0" dirty="0">
                <a:solidFill>
                  <a:srgbClr val="222A33"/>
                </a:solidFill>
                <a:latin typeface="Consolas"/>
              </a:rPr>
              <a:t>exit</a:t>
            </a:r>
          </a:p>
          <a:p>
            <a:pPr algn="l">
              <a:spcAft>
                <a:spcPts val="200"/>
              </a:spcAft>
            </a:pPr>
            <a:r>
              <a:rPr sz="1450" b="0" i="0" dirty="0">
                <a:solidFill>
                  <a:srgbClr val="222A33"/>
                </a:solidFill>
                <a:latin typeface="Consolas"/>
              </a:rPr>
              <a:t>interface GigabitEthernet0/0</a:t>
            </a:r>
          </a:p>
          <a:p>
            <a:pPr algn="l">
              <a:spcAft>
                <a:spcPts val="200"/>
              </a:spcAft>
            </a:pPr>
            <a:r>
              <a:rPr sz="1450" b="0" i="0" dirty="0">
                <a:solidFill>
                  <a:srgbClr val="222A33"/>
                </a:solidFill>
                <a:latin typeface="Consolas"/>
              </a:rPr>
              <a:t> crypto map MYMAP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GRE Over IPsec: Bringing Both Together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CONFIGURATION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Configure the GRE tunnel exactly as shown earlier, giving you a working but unencrypted logical link.</a:t>
            </a:r>
          </a:p>
          <a:p>
            <a:pPr marL="201168" indent="-201168">
              <a:spcAft>
                <a:spcPts val="1100"/>
              </a:spcAft>
              <a:buFont typeface="Arial"/>
              <a:buChar char="–"/>
            </a:pPr>
            <a:r>
              <a:rPr sz="1600" b="0" i="0">
                <a:solidFill>
                  <a:srgbClr val="222A33"/>
                </a:solidFill>
                <a:latin typeface="Calibri"/>
              </a:rPr>
              <a:t>Then configure IPsec exactly as in the previous four steps, with one key difference: the interesting-traffic ACL should match GRE traffic itself, protocol 47, between the tunnel endpoints, rather than the traffic riding inside the tunnel.</a:t>
            </a:r>
          </a:p>
          <a:p>
            <a:pPr marL="201168" indent="-201168">
              <a:spcAft>
                <a:spcPts val="1100"/>
              </a:spcAft>
              <a:buFont typeface="Arial"/>
              <a:buChar char="–"/>
            </a:pPr>
            <a:r>
              <a:rPr sz="1600" b="0" i="0">
                <a:solidFill>
                  <a:srgbClr val="222A33"/>
                </a:solidFill>
                <a:latin typeface="Calibri"/>
              </a:rPr>
              <a:t>The result carries the best of both: GRE's flexibility, including support for dynamic routing protocols and non-IP traffic across the tunnel, protected by IPsec's actual encryption. This is a genuinely common real-world design, not just a teaching exercise.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2485296"/>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IPsec secures the network layer itself using a suite of cooperating protocols, AH for integrity alone, ESP for encryption, and IKE to negotiate it all in two phases.</a:t>
            </a:r>
          </a:p>
          <a:p>
            <a:pPr marL="201168" indent="-201168">
              <a:spcAft>
                <a:spcPts val="1100"/>
              </a:spcAft>
              <a:buFont typeface="Arial"/>
              <a:buChar char="–"/>
            </a:pPr>
            <a:r>
              <a:rPr sz="1600" b="0" i="0" dirty="0">
                <a:solidFill>
                  <a:srgbClr val="222A33"/>
                </a:solidFill>
                <a:latin typeface="Calibri"/>
              </a:rPr>
              <a:t>SSL VPN rides on the same TLS that secures HTTPS, and is genuinely modular: the protocol version, key exchange, bulk cipher, and integrity check are all independently negotiated, and the client access mode is a separate choice again.</a:t>
            </a:r>
          </a:p>
          <a:p>
            <a:pPr marL="201168" indent="-201168">
              <a:spcAft>
                <a:spcPts val="1100"/>
              </a:spcAft>
              <a:buFont typeface="Arial"/>
              <a:buChar char="–"/>
            </a:pPr>
            <a:r>
              <a:rPr sz="1600" b="0" i="0" dirty="0">
                <a:solidFill>
                  <a:srgbClr val="222A33"/>
                </a:solidFill>
                <a:latin typeface="Calibri"/>
              </a:rPr>
              <a:t>Neither is simply better than the other. IPsec suits full-network, always-on connections; SSL VPN suits individual, often browser-based remote access.</a:t>
            </a:r>
          </a:p>
          <a:p>
            <a:pPr marL="201168" indent="-201168">
              <a:spcAft>
                <a:spcPts val="1100"/>
              </a:spcAft>
              <a:buFont typeface="Arial"/>
              <a:buChar char="–"/>
            </a:pPr>
            <a:r>
              <a:rPr sz="1600" b="0" i="0" dirty="0">
                <a:solidFill>
                  <a:srgbClr val="222A33"/>
                </a:solidFill>
                <a:latin typeface="Calibri"/>
              </a:rPr>
              <a:t>GRE, IPsec, and GRE over IPsec each solve a different problem, plain transport, plain security, or both together, and the configuration for each builds directly on the last.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Lab: to be planned in a follow-up discussion, once we've confirmed which of today's configurations are genuinely supported and testable in Packet Tracer.</a:t>
            </a:r>
          </a:p>
          <a:p>
            <a:pPr marL="201168" indent="-201168">
              <a:spcAft>
                <a:spcPts val="1100"/>
              </a:spcAft>
              <a:buFont typeface="Arial"/>
              <a:buChar char="–"/>
            </a:pPr>
            <a:r>
              <a:rPr sz="1600" b="0" i="0" dirty="0">
                <a:solidFill>
                  <a:srgbClr val="222A33"/>
                </a:solidFill>
                <a:latin typeface="Calibri"/>
              </a:rPr>
              <a:t>Tutorial worksheet: study-notes-style questions covering IPsec, SSL VPN's modular building blocks, and Cisco VPN configuration. Use it to prep for the mid-semester test.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dirty="0">
                <a:solidFill>
                  <a:srgbClr val="222A33"/>
                </a:solidFill>
                <a:latin typeface="Calibri"/>
              </a:rPr>
              <a:t>Santos &amp; </a:t>
            </a:r>
            <a:r>
              <a:rPr sz="1600" b="0" i="0" dirty="0" err="1">
                <a:solidFill>
                  <a:srgbClr val="222A33"/>
                </a:solidFill>
                <a:latin typeface="Calibri"/>
              </a:rPr>
              <a:t>Stuppi</a:t>
            </a:r>
            <a:r>
              <a:rPr sz="1600" b="0" i="0" dirty="0">
                <a:solidFill>
                  <a:srgbClr val="222A33"/>
                </a:solidFill>
                <a:latin typeface="Calibri"/>
              </a:rPr>
              <a:t>, CCNA Security 210-260 Official Cert Guide, 1st Ed., Cisco Press.</a:t>
            </a:r>
          </a:p>
          <a:p>
            <a:pPr marL="201168" indent="-201168">
              <a:spcAft>
                <a:spcPts val="1100"/>
              </a:spcAft>
              <a:buFont typeface="Arial"/>
              <a:buChar char="–"/>
            </a:pPr>
            <a:r>
              <a:rPr sz="1600" b="0" i="0" dirty="0">
                <a:solidFill>
                  <a:srgbClr val="222A33"/>
                </a:solidFill>
                <a:latin typeface="Calibri"/>
              </a:rPr>
              <a:t>Kaufman, Perlman, </a:t>
            </a:r>
            <a:r>
              <a:rPr sz="1600" b="0" i="0" dirty="0" err="1">
                <a:solidFill>
                  <a:srgbClr val="222A33"/>
                </a:solidFill>
                <a:latin typeface="Calibri"/>
              </a:rPr>
              <a:t>Speciner</a:t>
            </a:r>
            <a:r>
              <a:rPr sz="1600" b="0" i="0" dirty="0">
                <a:solidFill>
                  <a:srgbClr val="222A33"/>
                </a:solidFill>
                <a:latin typeface="Calibri"/>
              </a:rPr>
              <a:t> &amp; </a:t>
            </a:r>
            <a:r>
              <a:rPr sz="1600" b="0" i="0" dirty="0" err="1">
                <a:solidFill>
                  <a:srgbClr val="222A33"/>
                </a:solidFill>
                <a:latin typeface="Calibri"/>
              </a:rPr>
              <a:t>Perlner</a:t>
            </a:r>
            <a:r>
              <a:rPr sz="1600" b="0" i="0" dirty="0">
                <a:solidFill>
                  <a:srgbClr val="222A33"/>
                </a:solidFill>
                <a:latin typeface="Calibri"/>
              </a:rPr>
              <a:t>, Network Security: Private Communication in a Public World, 3rd Ed., Prentice Hall.</a:t>
            </a:r>
          </a:p>
          <a:p>
            <a:pPr marL="201168" indent="-201168">
              <a:spcAft>
                <a:spcPts val="1100"/>
              </a:spcAft>
              <a:buFont typeface="Arial"/>
              <a:buChar char="–"/>
            </a:pPr>
            <a:r>
              <a:rPr sz="1600" b="0" i="0" dirty="0">
                <a:solidFill>
                  <a:srgbClr val="222A33"/>
                </a:solidFill>
                <a:latin typeface="Calibri"/>
              </a:rPr>
              <a:t>Cisco Networking Academy, CCNA Security curriculum (IPsec and SSL VPN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551</TotalTime>
  <Words>2402</Words>
  <Application>Microsoft Office PowerPoint</Application>
  <PresentationFormat>Widescreen</PresentationFormat>
  <Paragraphs>217</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Display</vt:lpstr>
      <vt:lpstr>Arial</vt:lpstr>
      <vt:lpstr>Calibri</vt:lpstr>
      <vt:lpstr>Cambria</vt:lpstr>
      <vt:lpstr>Consolas</vt:lpstr>
      <vt:lpstr>Office Theme</vt:lpstr>
      <vt:lpstr>PowerPoint Presentation</vt:lpstr>
      <vt:lpstr>Today's Agenda</vt:lpstr>
      <vt:lpstr>Learning Outcomes for Today</vt:lpstr>
      <vt:lpstr>IPsec VPN</vt:lpstr>
      <vt:lpstr>IPsec: Overview</vt:lpstr>
      <vt:lpstr>IPsec as a Modular Framework</vt:lpstr>
      <vt:lpstr>Choosing Confidentiality and Integrity Algorithms</vt:lpstr>
      <vt:lpstr>Peer Authentication Methods</vt:lpstr>
      <vt:lpstr>Diffie-Hellman Group Choices</vt:lpstr>
      <vt:lpstr>IPsec: IKE's Two Phases</vt:lpstr>
      <vt:lpstr>IPsec: Transport Mode vs Tunnel Mode</vt:lpstr>
      <vt:lpstr>IPsec: Strengths and Limitations</vt:lpstr>
      <vt:lpstr>SSL VPN</vt:lpstr>
      <vt:lpstr>SSL VPN: Overview</vt:lpstr>
      <vt:lpstr>SSL VPN Has Interchangeable Building Blocks Too</vt:lpstr>
      <vt:lpstr>SSL VPN's Functional Blocks, Visually</vt:lpstr>
      <vt:lpstr>Building Two Example Cipher Suites</vt:lpstr>
      <vt:lpstr>SSL VPN's Building Blocks, Function by Function</vt:lpstr>
      <vt:lpstr>SSL VPN: Client Access Modes</vt:lpstr>
      <vt:lpstr>IPsec vs SSL VPN</vt:lpstr>
      <vt:lpstr>IPsec vs SSL VPN: Direct Comparison</vt:lpstr>
      <vt:lpstr>Configuring VPNs and Tunnels on Cisco Devices</vt:lpstr>
      <vt:lpstr>GRE Tunnel: Concept</vt:lpstr>
      <vt:lpstr>IPsec Site-to-Site: Step 1, the IKE Phase 1 Policy</vt:lpstr>
      <vt:lpstr>IPsec Site-to-Site: Step 2, the Transform Set</vt:lpstr>
      <vt:lpstr>IPsec Site-to-Site: Step 3, Defining Interesting Traffic</vt:lpstr>
      <vt:lpstr>IPsec Site-to-Site: Step 4, the Crypto Map</vt:lpstr>
      <vt:lpstr>GRE Over IPsec: Bringing Both Together</vt:lpstr>
      <vt:lpstr>Summary</vt:lpstr>
      <vt:lpstr>This Week's Lab &amp; Tutorial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204</cp:revision>
  <dcterms:created xsi:type="dcterms:W3CDTF">2026-02-25T14:32:17Z</dcterms:created>
  <dcterms:modified xsi:type="dcterms:W3CDTF">2026-09-23T13:54:50Z</dcterms:modified>
</cp:coreProperties>
</file>