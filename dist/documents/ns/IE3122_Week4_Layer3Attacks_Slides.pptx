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7"/>
    <p:sldId id="275" r:id="rId6"/>
    <p:sldId id="276" r:id="rId5"/>
    <p:sldId id="277" r:id="rId4"/>
    <p:sldId id="278" r:id="rId3"/>
    <p:sldId id="279" r:id="rId2"/>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70" d="100"/>
          <a:sy n="70" d="100"/>
        </p:scale>
        <p:origin x="5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4/22/2026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4/22/2026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4/22/2026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4/22/2026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4/22/2026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4/22/2026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4/22/2026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4/22/2026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1645920"/>
          </a:xfrm>
          <a:prstGeom prst="rect">
            <a:avLst/>
          </a:prstGeom>
          <a:noFill/>
        </p:spPr>
        <p:txBody>
          <a:bodyPr wrap="square">
            <a:spAutoFit/>
          </a:bodyPr>
          <a:lstStyle/>
          <a:p>
            <a:r>
              <a:rPr sz="3400" b="1" i="0">
                <a:solidFill>
                  <a:srgbClr val="FFFFFF"/>
                </a:solidFill>
                <a:latin typeface="Cambria"/>
              </a:rPr>
              <a:t>Layer 3 Attacks &amp; Defense</a:t>
            </a:r>
          </a:p>
        </p:txBody>
      </p:sp>
      <p:sp>
        <p:nvSpPr>
          <p:cNvPr id="4" name="TextBox 3"/>
          <p:cNvSpPr txBox="1"/>
          <p:nvPr/>
        </p:nvSpPr>
        <p:spPr>
          <a:xfrm>
            <a:off x="914400" y="2926080"/>
            <a:ext cx="10332720" cy="914400"/>
          </a:xfrm>
          <a:prstGeom prst="rect">
            <a:avLst/>
          </a:prstGeom>
          <a:noFill/>
        </p:spPr>
        <p:txBody>
          <a:bodyPr wrap="square">
            <a:spAutoFit/>
          </a:bodyPr>
          <a:lstStyle/>
          <a:p>
            <a:r>
              <a:rPr sz="2200" b="0" i="0">
                <a:solidFill>
                  <a:srgbClr val="FFFFFF"/>
                </a:solidFill>
                <a:latin typeface="Calibri"/>
              </a:rPr>
              <a:t>IE3122 – Network Security | Week 4</a:t>
            </a:r>
          </a:p>
          <a:p>
            <a:r>
              <a:rPr sz="1600" b="0" i="1">
                <a:solidFill>
                  <a:srgbClr val="FFFFFF"/>
                </a:solidFill>
                <a:latin typeface="Calibri"/>
              </a:rPr>
              <a:t>ICMP and IP-based attacks, and how to harden against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400"/>
              </a:spcAft>
              <a:buFont typeface="Arial"/>
              <a:buChar char="–"/>
            </a:pPr>
            <a:r>
              <a:rPr sz="1800" b="0" i="0">
                <a:solidFill>
                  <a:srgbClr val="222A33"/>
                </a:solidFill>
                <a:latin typeface="Calibri"/>
              </a:rPr>
              <a:t>Quick overview of the ICMP protocol</a:t>
            </a:r>
          </a:p>
          <a:p>
            <a:pPr marL="201168" indent="-201168">
              <a:spcAft>
                <a:spcPts val="1400"/>
              </a:spcAft>
              <a:buFont typeface="Arial"/>
              <a:buChar char="–"/>
            </a:pPr>
            <a:r>
              <a:rPr sz="1800" b="0" i="0">
                <a:solidFill>
                  <a:srgbClr val="222A33"/>
                </a:solidFill>
                <a:latin typeface="Calibri"/>
              </a:rPr>
              <a:t>ICMP-based attacks: ICMP Sweep, Ping of Death, Ping Flood, Smurf</a:t>
            </a:r>
          </a:p>
          <a:p>
            <a:pPr marL="201168" indent="-201168">
              <a:spcAft>
                <a:spcPts val="1400"/>
              </a:spcAft>
              <a:buFont typeface="Arial"/>
              <a:buChar char="–"/>
            </a:pPr>
            <a:r>
              <a:rPr sz="1800" b="0" i="0">
                <a:solidFill>
                  <a:srgbClr val="222A33"/>
                </a:solidFill>
                <a:latin typeface="Calibri"/>
              </a:rPr>
              <a:t>IP-based (header abuse) attacks: IP Spoofing, TTL-based attacks, Teardrop</a:t>
            </a:r>
          </a:p>
          <a:p>
            <a:pPr marL="201168" indent="-201168">
              <a:spcAft>
                <a:spcPts val="1400"/>
              </a:spcAft>
              <a:buFont typeface="Arial"/>
              <a:buChar char="–"/>
            </a:pPr>
            <a:r>
              <a:rPr sz="1800" b="0" i="0">
                <a:solidFill>
                  <a:srgbClr val="222A33"/>
                </a:solidFill>
                <a:latin typeface="Calibri"/>
              </a:rPr>
              <a:t>Mitigation for each attack</a:t>
            </a:r>
          </a:p>
          <a:p>
            <a:pPr marL="201168" indent="-201168">
              <a:spcAft>
                <a:spcPts val="1400"/>
              </a:spcAft>
              <a:buFont typeface="Arial"/>
              <a:buChar char="–"/>
            </a:pPr>
            <a:r>
              <a:rPr sz="1800" b="0" i="0">
                <a:solidFill>
                  <a:srgbClr val="222A33"/>
                </a:solidFill>
                <a:latin typeface="Calibri"/>
              </a:rPr>
              <a:t>Bringing it together: layered defense at Layer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LO1</a:t>
            </a:r>
          </a:p>
          <a:p>
            <a:pPr marL="201168" indent="-201168">
              <a:spcAft>
                <a:spcPts val="1800"/>
              </a:spcAft>
              <a:buFont typeface="Arial"/>
              <a:buChar char="–"/>
            </a:pPr>
            <a:r>
              <a:rPr sz="1700" b="0" i="0">
                <a:solidFill>
                  <a:srgbClr val="222A33"/>
                </a:solidFill>
                <a:latin typeface="Calibri"/>
              </a:rPr>
              <a:t>Describe common network vulnerabilities and attacks — today, specifically at Layer 3.</a:t>
            </a:r>
          </a:p>
          <a:p>
            <a:pPr marL="0" indent="0">
              <a:spcAft>
                <a:spcPts val="400"/>
              </a:spcAft>
              <a:buNone/>
            </a:pPr>
            <a:r>
              <a:rPr sz="1700" b="1" i="0">
                <a:solidFill>
                  <a:srgbClr val="003054"/>
                </a:solidFill>
                <a:latin typeface="Calibri"/>
              </a:rPr>
              <a:t>LO2</a:t>
            </a:r>
          </a:p>
          <a:p>
            <a:pPr marL="201168" indent="-201168">
              <a:spcAft>
                <a:spcPts val="1800"/>
              </a:spcAft>
              <a:buFont typeface="Arial"/>
              <a:buChar char="–"/>
            </a:pPr>
            <a:r>
              <a:rPr sz="1700" b="0" i="0">
                <a:solidFill>
                  <a:srgbClr val="222A33"/>
                </a:solidFill>
                <a:latin typeface="Calibri"/>
              </a:rPr>
              <a:t>Evaluate different mitigation techniques for vulnerabilities and make recommendations.</a:t>
            </a:r>
          </a:p>
          <a:p>
            <a:pPr marL="201168" indent="-201168">
              <a:spcAft>
                <a:spcPts val="800"/>
              </a:spcAft>
              <a:buFont typeface="Arial"/>
              <a:buChar char="–"/>
            </a:pPr>
            <a:r>
              <a:rPr sz="1600" b="0" i="1">
                <a:solidFill>
                  <a:srgbClr val="6B7682"/>
                </a:solidFill>
                <a:latin typeface="Calibri"/>
              </a:rPr>
              <a:t>By the end of this session you should be able to explain how each attack abuses ICMP or the IP header, and recommend a specific hardening measure for each.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ICMP: A Quick Overview</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protocol behind ping, traceroute — and several attacks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What ICMP Is For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ICMP</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Internet Control Message Protocol (ICMP) is IP's built-in diagnostic and error-reporting mechanism — it doesn't carry application data, it carries information about the network itself.</a:t>
            </a:r>
          </a:p>
          <a:p>
            <a:pPr marL="201168" indent="-201168">
              <a:spcAft>
                <a:spcPts val="1200"/>
              </a:spcAft>
              <a:buFont typeface="Arial"/>
              <a:buChar char="–"/>
            </a:pPr>
            <a:r>
              <a:rPr sz="1700" b="0" i="0">
                <a:solidFill>
                  <a:srgbClr val="222A33"/>
                </a:solidFill>
                <a:latin typeface="Calibri"/>
              </a:rPr>
              <a:t>Recall Week 1: ping uses ICMP Echo Request/Reply; traceroute uses ICMP alongside manipulated TTL values.</a:t>
            </a:r>
          </a:p>
          <a:p>
            <a:pPr marL="201168" indent="-201168">
              <a:spcAft>
                <a:spcPts val="1200"/>
              </a:spcAft>
              <a:buFont typeface="Arial"/>
              <a:buChar char="–"/>
            </a:pPr>
            <a:r>
              <a:rPr sz="1700" b="0" i="0">
                <a:solidFill>
                  <a:srgbClr val="222A33"/>
                </a:solidFill>
                <a:latin typeface="Calibri"/>
              </a:rPr>
              <a:t>Routers and hosts generate ICMP messages automatically in response to conditions like an unreachable destination, a packet that's expired, or a message too large to forward.</a:t>
            </a:r>
          </a:p>
          <a:p>
            <a:pPr marL="201168" indent="-201168">
              <a:spcAft>
                <a:spcPts val="1200"/>
              </a:spcAft>
              <a:buFont typeface="Arial"/>
              <a:buChar char="–"/>
            </a:pPr>
            <a:r>
              <a:rPr sz="1700" b="0" i="0">
                <a:solidFill>
                  <a:srgbClr val="222A33"/>
                </a:solidFill>
                <a:latin typeface="Calibri"/>
              </a:rPr>
              <a:t>Like ARP and DHCP, ICMP has no authentication — anything on the network can send it, and hosts are designed to trust and respond to it by default.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Common ICMP Message Types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ICMP</a:t>
            </a:r>
          </a:p>
        </p:txBody>
      </p:sp>
      <p:graphicFrame>
        <p:nvGraphicFramePr>
          <p:cNvPr id="4" name="Table 3"/>
          <p:cNvGraphicFramePr>
            <a:graphicFrameLocks noGrp="1"/>
          </p:cNvGraphicFramePr>
          <p:nvPr/>
        </p:nvGraphicFramePr>
        <p:xfrm>
          <a:off x="548640" y="1828800"/>
          <a:ext cx="11064240" cy="2926080"/>
        </p:xfrm>
        <a:graphic>
          <a:graphicData uri="http://schemas.openxmlformats.org/drawingml/2006/table">
            <a:tbl>
              <a:tblPr firstRow="1" bandRow="1">
                <a:tableStyleId>{5C22544A-7EE6-4342-B048-85BDC9FD1C3A}</a:tableStyleId>
              </a:tblPr>
              <a:tblGrid>
                <a:gridCol w="3291840"/>
                <a:gridCol w="7772400"/>
              </a:tblGrid>
              <a:tr h="585216">
                <a:tc>
                  <a:txBody>
                    <a:bodyPr wrap="square"/>
                    <a:lstStyle/>
                    <a:p>
                      <a:r>
                        <a:rPr sz="1300" b="1" i="0">
                          <a:solidFill>
                            <a:srgbClr val="FFFFFF"/>
                          </a:solidFill>
                          <a:latin typeface="Calibri"/>
                        </a:rPr>
                        <a:t>Type</a:t>
                      </a:r>
                    </a:p>
                  </a:txBody>
                  <a:tcPr marL="73152" marR="73152" marT="27432" marB="27432" anchor="ctr">
                    <a:solidFill>
                      <a:srgbClr val="003054"/>
                    </a:solidFill>
                  </a:tcPr>
                </a:tc>
                <a:tc>
                  <a:txBody>
                    <a:bodyPr wrap="square"/>
                    <a:lstStyle/>
                    <a:p>
                      <a:r>
                        <a:rPr sz="1300" b="1" i="0">
                          <a:solidFill>
                            <a:srgbClr val="FFFFFF"/>
                          </a:solidFill>
                          <a:latin typeface="Calibri"/>
                        </a:rPr>
                        <a:t>Purpose</a:t>
                      </a:r>
                    </a:p>
                  </a:txBody>
                  <a:tcPr marL="73152" marR="73152" marT="27432" marB="27432" anchor="ctr">
                    <a:solidFill>
                      <a:srgbClr val="003054"/>
                    </a:solidFill>
                  </a:tcPr>
                </a:tc>
              </a:tr>
              <a:tr h="585216">
                <a:tc>
                  <a:txBody>
                    <a:bodyPr wrap="square"/>
                    <a:lstStyle/>
                    <a:p>
                      <a:r>
                        <a:rPr sz="1300" b="0" i="0">
                          <a:solidFill>
                            <a:srgbClr val="222A33"/>
                          </a:solidFill>
                          <a:latin typeface="Calibri"/>
                        </a:rPr>
                        <a:t>Echo Request / Echo Reply</a:t>
                      </a:r>
                    </a:p>
                  </a:txBody>
                  <a:tcPr marL="73152" marR="73152" marT="27432" marB="27432" anchor="ctr">
                    <a:solidFill>
                      <a:srgbClr val="FFFFFF"/>
                    </a:solidFill>
                  </a:tcPr>
                </a:tc>
                <a:tc>
                  <a:txBody>
                    <a:bodyPr wrap="square"/>
                    <a:lstStyle/>
                    <a:p>
                      <a:r>
                        <a:rPr sz="1300" b="0" i="0">
                          <a:solidFill>
                            <a:srgbClr val="222A33"/>
                          </a:solidFill>
                          <a:latin typeface="Calibri"/>
                        </a:rPr>
                        <a:t>Used by ping to test reachability</a:t>
                      </a:r>
                    </a:p>
                  </a:txBody>
                  <a:tcPr marL="73152" marR="73152" marT="27432" marB="27432" anchor="ctr">
                    <a:solidFill>
                      <a:srgbClr val="FFFFFF"/>
                    </a:solidFill>
                  </a:tcPr>
                </a:tc>
              </a:tr>
              <a:tr h="585216">
                <a:tc>
                  <a:txBody>
                    <a:bodyPr wrap="square"/>
                    <a:lstStyle/>
                    <a:p>
                      <a:r>
                        <a:rPr sz="1300" b="0" i="0">
                          <a:solidFill>
                            <a:srgbClr val="222A33"/>
                          </a:solidFill>
                          <a:latin typeface="Calibri"/>
                        </a:rPr>
                        <a:t>Destination Unreachable</a:t>
                      </a:r>
                    </a:p>
                  </a:txBody>
                  <a:tcPr marL="73152" marR="73152" marT="27432" marB="27432" anchor="ctr">
                    <a:solidFill>
                      <a:srgbClr val="F2F4F7"/>
                    </a:solidFill>
                  </a:tcPr>
                </a:tc>
                <a:tc>
                  <a:txBody>
                    <a:bodyPr wrap="square"/>
                    <a:lstStyle/>
                    <a:p>
                      <a:r>
                        <a:rPr sz="1300" b="0" i="0">
                          <a:solidFill>
                            <a:srgbClr val="222A33"/>
                          </a:solidFill>
                          <a:latin typeface="Calibri"/>
                        </a:rPr>
                        <a:t>Sent when a packet can't be delivered (host, network, port, or protocol unreachable)</a:t>
                      </a:r>
                    </a:p>
                  </a:txBody>
                  <a:tcPr marL="73152" marR="73152" marT="27432" marB="27432" anchor="ctr">
                    <a:solidFill>
                      <a:srgbClr val="F2F4F7"/>
                    </a:solidFill>
                  </a:tcPr>
                </a:tc>
              </a:tr>
              <a:tr h="585216">
                <a:tc>
                  <a:txBody>
                    <a:bodyPr wrap="square"/>
                    <a:lstStyle/>
                    <a:p>
                      <a:r>
                        <a:rPr sz="1300" b="0" i="0">
                          <a:solidFill>
                            <a:srgbClr val="222A33"/>
                          </a:solidFill>
                          <a:latin typeface="Calibri"/>
                        </a:rPr>
                        <a:t>Time Exceeded</a:t>
                      </a:r>
                    </a:p>
                  </a:txBody>
                  <a:tcPr marL="73152" marR="73152" marT="27432" marB="27432" anchor="ctr">
                    <a:solidFill>
                      <a:srgbClr val="FFFFFF"/>
                    </a:solidFill>
                  </a:tcPr>
                </a:tc>
                <a:tc>
                  <a:txBody>
                    <a:bodyPr wrap="square"/>
                    <a:lstStyle/>
                    <a:p>
                      <a:r>
                        <a:rPr sz="1300" b="0" i="0">
                          <a:solidFill>
                            <a:srgbClr val="222A33"/>
                          </a:solidFill>
                          <a:latin typeface="Calibri"/>
                        </a:rPr>
                        <a:t>Sent when a packet's TTL reaches zero before arriving — what traceroute relies on</a:t>
                      </a:r>
                    </a:p>
                  </a:txBody>
                  <a:tcPr marL="73152" marR="73152" marT="27432" marB="27432" anchor="ctr">
                    <a:solidFill>
                      <a:srgbClr val="FFFFFF"/>
                    </a:solidFill>
                  </a:tcPr>
                </a:tc>
              </a:tr>
              <a:tr h="585216">
                <a:tc>
                  <a:txBody>
                    <a:bodyPr wrap="square"/>
                    <a:lstStyle/>
                    <a:p>
                      <a:r>
                        <a:rPr sz="1300" b="0" i="0">
                          <a:solidFill>
                            <a:srgbClr val="222A33"/>
                          </a:solidFill>
                          <a:latin typeface="Calibri"/>
                        </a:rPr>
                        <a:t>Redirect</a:t>
                      </a:r>
                    </a:p>
                  </a:txBody>
                  <a:tcPr marL="73152" marR="73152" marT="27432" marB="27432" anchor="ctr">
                    <a:solidFill>
                      <a:srgbClr val="F2F4F7"/>
                    </a:solidFill>
                  </a:tcPr>
                </a:tc>
                <a:tc>
                  <a:txBody>
                    <a:bodyPr wrap="square"/>
                    <a:lstStyle/>
                    <a:p>
                      <a:r>
                        <a:rPr sz="1300" b="0" i="0">
                          <a:solidFill>
                            <a:srgbClr val="222A33"/>
                          </a:solidFill>
                          <a:latin typeface="Calibri"/>
                        </a:rPr>
                        <a:t>A router telling a host a better route exists for a given destination</a:t>
                      </a:r>
                    </a:p>
                  </a:txBody>
                  <a:tcPr marL="73152" marR="73152" marT="27432" marB="27432" anchor="ctr">
                    <a:solidFill>
                      <a:srgbClr val="F2F4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Why ICMP Is an Attractive Target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ICMP</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Hosts are designed to respond to ICMP automatically — that automatic, trusting response is exactly what several attacks exploit.</a:t>
            </a:r>
          </a:p>
          <a:p>
            <a:pPr marL="201168" indent="-201168">
              <a:spcAft>
                <a:spcPts val="1200"/>
              </a:spcAft>
              <a:buFont typeface="Arial"/>
              <a:buChar char="–"/>
            </a:pPr>
            <a:r>
              <a:rPr sz="1700" b="0" i="0">
                <a:solidFill>
                  <a:srgbClr val="222A33"/>
                </a:solidFill>
                <a:latin typeface="Calibri"/>
              </a:rPr>
              <a:t>ICMP messages are small and cheap to generate, making them ideal for both reconnaissance (many quick probes) and volume-based denial of service.</a:t>
            </a:r>
          </a:p>
          <a:p>
            <a:pPr marL="201168" indent="-201168">
              <a:spcAft>
                <a:spcPts val="1200"/>
              </a:spcAft>
              <a:buFont typeface="Arial"/>
              <a:buChar char="–"/>
            </a:pPr>
            <a:r>
              <a:rPr sz="1700" b="0" i="0">
                <a:solidFill>
                  <a:srgbClr val="222A33"/>
                </a:solidFill>
                <a:latin typeface="Calibri"/>
              </a:rPr>
              <a:t>Because ICMP operates below the application layer, many of these attacks succeed without ever touching a vulnerable application — the network stack itself is the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ICMP-Based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ICMP Sweep, Ping of Death, Ping Flood, Smurf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ICMP Sweep: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 reconnaissance technique — the attacker sends ICMP Echo Requests to every address in a target IP range to discover which hosts are actually alive, before attempting anything else.</a:t>
            </a:r>
          </a:p>
          <a:p>
            <a:pPr marL="201168" indent="-201168">
              <a:spcAft>
                <a:spcPts val="1200"/>
              </a:spcAft>
              <a:buFont typeface="Arial"/>
              <a:buChar char="–"/>
            </a:pPr>
            <a:r>
              <a:rPr sz="1700" b="0" i="0">
                <a:solidFill>
                  <a:srgbClr val="222A33"/>
                </a:solidFill>
                <a:latin typeface="Calibri"/>
              </a:rPr>
              <a:t>Vulnerability exploited: hosts reply to ICMP Echo Requests by default, with no authentication or rate limiting, happily confirming their own existence to anyone who asks.</a:t>
            </a:r>
          </a:p>
          <a:p>
            <a:pPr marL="201168" indent="-201168">
              <a:spcAft>
                <a:spcPts val="1200"/>
              </a:spcAft>
              <a:buFont typeface="Arial"/>
              <a:buChar char="–"/>
            </a:pPr>
            <a:r>
              <a:rPr sz="1700" b="0" i="0">
                <a:solidFill>
                  <a:srgbClr val="222A33"/>
                </a:solidFill>
                <a:latin typeface="Calibri"/>
              </a:rPr>
              <a:t>Attack technique: automated tools (e.g. nmap's ping sweep) send Echo Requests across an entire subnet in seconds; every host that replies is added to a target list for further, more specific attacks.</a:t>
            </a:r>
          </a:p>
          <a:p>
            <a:pPr marL="201168" indent="-201168">
              <a:spcAft>
                <a:spcPts val="1200"/>
              </a:spcAft>
              <a:buFont typeface="Arial"/>
              <a:buChar char="–"/>
            </a:pPr>
            <a:r>
              <a:rPr sz="1700" b="0" i="0">
                <a:solidFill>
                  <a:srgbClr val="222A33"/>
                </a:solidFill>
                <a:latin typeface="Calibri"/>
              </a:rPr>
              <a:t>This is exactly the reconnaissance phase previewed back in Week 2 — access &amp; reconnaissance attacks are usually step one, not the whole attack.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ICMP Sweep: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INFO GATHERING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Block or rate-limit inbound ICMP Echo Requests at the network perimeter, especially from untrusted external sources — most organisations don't need to be pingable from the public Internet at all.</a:t>
            </a:r>
          </a:p>
          <a:p>
            <a:pPr marL="201168" indent="-201168">
              <a:spcAft>
                <a:spcPts val="1200"/>
              </a:spcAft>
              <a:buFont typeface="Arial"/>
              <a:buChar char="–"/>
            </a:pPr>
            <a:r>
              <a:rPr sz="1700" b="0" i="0">
                <a:solidFill>
                  <a:srgbClr val="222A33"/>
                </a:solidFill>
                <a:latin typeface="Calibri"/>
              </a:rPr>
              <a:t>Where ICMP is needed for legitimate diagnostics, restrict it to specific trusted source addresses rather than allowing it from anywhere.</a:t>
            </a:r>
          </a:p>
          <a:p>
            <a:pPr marL="201168" indent="-201168">
              <a:spcAft>
                <a:spcPts val="1200"/>
              </a:spcAft>
              <a:buFont typeface="Arial"/>
              <a:buChar char="–"/>
            </a:pPr>
            <a:r>
              <a:rPr sz="1700" b="0" i="0">
                <a:solidFill>
                  <a:srgbClr val="222A33"/>
                </a:solidFill>
                <a:latin typeface="Calibri"/>
              </a:rPr>
              <a:t>Detective control: a burst of ICMP Echo Requests hitting a large sequential range of internal addresses in a short time is a strong signal for an IDS to flag as reconnaissance.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Ping of Death: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attack that sends a malformed, oversized ICMP packet designed to crash or destabilise the target when it's reassembled.</a:t>
            </a:r>
          </a:p>
          <a:p>
            <a:pPr marL="201168" indent="-201168">
              <a:spcAft>
                <a:spcPts val="1200"/>
              </a:spcAft>
              <a:buFont typeface="Arial"/>
              <a:buChar char="–"/>
            </a:pPr>
            <a:r>
              <a:rPr sz="1700" b="0" i="0">
                <a:solidFill>
                  <a:srgbClr val="222A33"/>
                </a:solidFill>
                <a:latin typeface="Calibri"/>
              </a:rPr>
              <a:t>Vulnerability exploited: the maximum legal IP packet size is 65,535 bytes — older or poorly written network stacks didn't properly handle a packet that arrived, via fragmentation, appearing to exceed that limit.</a:t>
            </a:r>
          </a:p>
          <a:p>
            <a:pPr marL="201168" indent="-201168">
              <a:spcAft>
                <a:spcPts val="1200"/>
              </a:spcAft>
              <a:buFont typeface="Arial"/>
              <a:buChar char="–"/>
            </a:pPr>
            <a:r>
              <a:rPr sz="1700" b="0" i="0">
                <a:solidFill>
                  <a:srgbClr val="222A33"/>
                </a:solidFill>
                <a:latin typeface="Calibri"/>
              </a:rPr>
              <a:t>Attack technique: the attacker sends a ping whose fragments, when reassembled by the target, produce a packet larger than the maximum allowed size, overflowing the reassembly buffer.</a:t>
            </a:r>
          </a:p>
          <a:p>
            <a:pPr marL="201168" indent="-201168">
              <a:spcAft>
                <a:spcPts val="1200"/>
              </a:spcAft>
              <a:buFont typeface="Arial"/>
              <a:buChar char="–"/>
            </a:pPr>
            <a:r>
              <a:rPr sz="1700" b="0" i="0">
                <a:solidFill>
                  <a:srgbClr val="222A33"/>
                </a:solidFill>
                <a:latin typeface="Calibri"/>
              </a:rPr>
              <a:t>Impact: historically caused crashes, freezes, or reboots on vulnerable systems — largely a legacy attack against modern patched operating systems, but still relevant on unpatched embedded or IoT devices.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Ping of Death: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Keep operating systems and network device firmware patched — this exact vulnerability was fixed industry-wide decades ago, so patching alone eliminates the risk on modern systems.</a:t>
            </a:r>
          </a:p>
          <a:p>
            <a:pPr marL="201168" indent="-201168">
              <a:spcAft>
                <a:spcPts val="1200"/>
              </a:spcAft>
              <a:buFont typeface="Arial"/>
              <a:buChar char="–"/>
            </a:pPr>
            <a:r>
              <a:rPr sz="1700" b="0" i="0">
                <a:solidFill>
                  <a:srgbClr val="222A33"/>
                </a:solidFill>
                <a:latin typeface="Calibri"/>
              </a:rPr>
              <a:t>Configure firewalls to enforce maximum packet size limits and drop malformed or illegally fragmented ICMP packets before they reach internal hosts.</a:t>
            </a:r>
          </a:p>
          <a:p>
            <a:pPr marL="201168" indent="-201168">
              <a:spcAft>
                <a:spcPts val="1200"/>
              </a:spcAft>
              <a:buFont typeface="Arial"/>
              <a:buChar char="–"/>
            </a:pPr>
            <a:r>
              <a:rPr sz="1700" b="0" i="0">
                <a:solidFill>
                  <a:srgbClr val="222A33"/>
                </a:solidFill>
                <a:latin typeface="Calibri"/>
              </a:rPr>
              <a:t>A reminder that legacy attacks don't disappear — they just move to whatever's still unpatched, which is often IoT and embedded devices with long deployment lifespans.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Ping Flood: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the simplest possible ICMP attack — overwhelm the target with a high volume of Echo Requests, exhausting its bandwidth or processing capacity.</a:t>
            </a:r>
          </a:p>
          <a:p>
            <a:pPr marL="201168" indent="-201168">
              <a:spcAft>
                <a:spcPts val="1200"/>
              </a:spcAft>
              <a:buFont typeface="Arial"/>
              <a:buChar char="–"/>
            </a:pPr>
            <a:r>
              <a:rPr sz="1700" b="0" i="0">
                <a:solidFill>
                  <a:srgbClr val="222A33"/>
                </a:solidFill>
                <a:latin typeface="Calibri"/>
              </a:rPr>
              <a:t>Vulnerability exploited: a host must process every ICMP Echo Request it receives and generate a reply — there's no built-in limit on how many it can be sent per second.</a:t>
            </a:r>
          </a:p>
          <a:p>
            <a:pPr marL="201168" indent="-201168">
              <a:spcAft>
                <a:spcPts val="1200"/>
              </a:spcAft>
              <a:buFont typeface="Arial"/>
              <a:buChar char="–"/>
            </a:pPr>
            <a:r>
              <a:rPr sz="1700" b="0" i="0">
                <a:solidFill>
                  <a:srgbClr val="222A33"/>
                </a:solidFill>
                <a:latin typeface="Calibri"/>
              </a:rPr>
              <a:t>Attack technique: the attacker (or a botnet, recall Week 2's Mirai example) sends a continuous, high-rate stream of Echo Requests directly at the target.</a:t>
            </a:r>
          </a:p>
          <a:p>
            <a:pPr marL="201168" indent="-201168">
              <a:spcAft>
                <a:spcPts val="1200"/>
              </a:spcAft>
              <a:buFont typeface="Arial"/>
              <a:buChar char="–"/>
            </a:pPr>
            <a:r>
              <a:rPr sz="1700" b="0" i="0">
                <a:solidFill>
                  <a:srgbClr val="222A33"/>
                </a:solidFill>
                <a:latin typeface="Calibri"/>
              </a:rPr>
              <a:t>Impact: legitimate traffic is crowded out by the flood — a straightforward Denial of Service on Availability, one of the three CIA properties.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Ping Flood: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Rate-limit ICMP traffic at the perimeter firewall/router — cap how many ICMP packets per second are allowed from a single source.</a:t>
            </a:r>
          </a:p>
          <a:p>
            <a:pPr marL="201168" indent="-201168">
              <a:spcAft>
                <a:spcPts val="1200"/>
              </a:spcAft>
              <a:buFont typeface="Arial"/>
              <a:buChar char="–"/>
            </a:pPr>
            <a:r>
              <a:rPr sz="1700" b="0" i="0">
                <a:solidFill>
                  <a:srgbClr val="222A33"/>
                </a:solidFill>
                <a:latin typeface="Calibri"/>
              </a:rPr>
              <a:t>Use IPS/IDS to detect abnormal spikes in ICMP volume and trigger automatic blocking.</a:t>
            </a:r>
          </a:p>
          <a:p>
            <a:pPr marL="201168" indent="-201168">
              <a:spcAft>
                <a:spcPts val="1200"/>
              </a:spcAft>
              <a:buFont typeface="Arial"/>
              <a:buChar char="–"/>
            </a:pPr>
            <a:r>
              <a:rPr sz="1700" b="0" i="0">
                <a:solidFill>
                  <a:srgbClr val="222A33"/>
                </a:solidFill>
                <a:latin typeface="Calibri"/>
              </a:rPr>
              <a:t>For large-scale floods, a dedicated DDoS-protection service (recall Week 2's GitHub example) absorbs volume that on-premises equipment simply can't handle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Smurf Attack: Overview &amp; Vulnerability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 — AMPLIFICATION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amplification attack — the attacker gets an entire network of innocent hosts to unknowingly flood the real victim on their behalf.</a:t>
            </a:r>
          </a:p>
          <a:p>
            <a:pPr marL="201168" indent="-201168">
              <a:spcAft>
                <a:spcPts val="1200"/>
              </a:spcAft>
              <a:buFont typeface="Arial"/>
              <a:buChar char="–"/>
            </a:pPr>
            <a:r>
              <a:rPr sz="1700" b="0" i="0">
                <a:solidFill>
                  <a:srgbClr val="222A33"/>
                </a:solidFill>
                <a:latin typeface="Calibri"/>
              </a:rPr>
              <a:t>Vulnerability exploited: two things combine here — IP allows a source address to be spoofed, and many networks historically allowed ICMP Echo Requests sent to a broadcast address to be answered by every host on that network.</a:t>
            </a:r>
          </a:p>
          <a:p>
            <a:pPr marL="201168" indent="-201168">
              <a:spcAft>
                <a:spcPts val="1200"/>
              </a:spcAft>
              <a:buFont typeface="Arial"/>
              <a:buChar char="–"/>
            </a:pPr>
            <a:r>
              <a:rPr sz="1700" b="0" i="0">
                <a:solidFill>
                  <a:srgbClr val="222A33"/>
                </a:solidFill>
                <a:latin typeface="Calibri"/>
              </a:rPr>
              <a:t>This combination turns a single small request into a massive multiplied response — exactly the kind of amplification that makes volumetric DoS attacks so dangerous.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Smurf Attack: The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 — AMPLIFICATION</a:t>
            </a:r>
          </a:p>
        </p:txBody>
      </p:sp>
      <p:sp>
        <p:nvSpPr>
          <p:cNvPr id="4" name="Rounded Rectangle 3"/>
          <p:cNvSpPr/>
          <p:nvPr/>
        </p:nvSpPr>
        <p:spPr>
          <a:xfrm>
            <a:off x="731520" y="1828800"/>
            <a:ext cx="237744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Attacker</a:t>
            </a:r>
          </a:p>
        </p:txBody>
      </p:sp>
      <p:cxnSp>
        <p:nvCxnSpPr>
          <p:cNvPr id="5" name="Connector 4"/>
          <p:cNvCxnSpPr/>
          <p:nvPr/>
        </p:nvCxnSpPr>
        <p:spPr>
          <a:xfrm>
            <a:off x="3291840" y="2148840"/>
            <a:ext cx="155448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846320" y="1828800"/>
            <a:ext cx="2926080" cy="64008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Broadcast Address
(entire subnet)</a:t>
            </a:r>
          </a:p>
        </p:txBody>
      </p:sp>
      <p:sp>
        <p:nvSpPr>
          <p:cNvPr id="7" name="TextBox 6"/>
          <p:cNvSpPr txBox="1"/>
          <p:nvPr/>
        </p:nvSpPr>
        <p:spPr>
          <a:xfrm>
            <a:off x="7955279" y="1783080"/>
            <a:ext cx="3474720" cy="822960"/>
          </a:xfrm>
          <a:prstGeom prst="rect">
            <a:avLst/>
          </a:prstGeom>
          <a:noFill/>
        </p:spPr>
        <p:txBody>
          <a:bodyPr wrap="square" anchor="ctr">
            <a:spAutoFit/>
          </a:bodyPr>
          <a:lstStyle/>
          <a:p>
            <a:r>
              <a:rPr sz="1200" b="0" i="1">
                <a:solidFill>
                  <a:srgbClr val="6B7682"/>
                </a:solidFill>
                <a:latin typeface="Calibri"/>
              </a:rPr>
              <a:t>Spoofed ICMP Echo Request: source = victim's IP</a:t>
            </a:r>
          </a:p>
        </p:txBody>
      </p:sp>
      <p:sp>
        <p:nvSpPr>
          <p:cNvPr id="8" name="Rounded Rectangle 7"/>
          <p:cNvSpPr/>
          <p:nvPr/>
        </p:nvSpPr>
        <p:spPr>
          <a:xfrm>
            <a:off x="5120640" y="2926080"/>
            <a:ext cx="137160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222A33"/>
                </a:solidFill>
                <a:latin typeface="Calibri"/>
              </a:rPr>
              <a:t>Host 1</a:t>
            </a:r>
          </a:p>
        </p:txBody>
      </p:sp>
      <p:cxnSp>
        <p:nvCxnSpPr>
          <p:cNvPr id="9" name="Connector 8"/>
          <p:cNvCxnSpPr/>
          <p:nvPr/>
        </p:nvCxnSpPr>
        <p:spPr>
          <a:xfrm>
            <a:off x="5806440" y="2468880"/>
            <a:ext cx="0" cy="457200"/>
          </a:xfrm>
          <a:prstGeom prst="line">
            <a:avLst/>
          </a:prstGeom>
          <a:ln w="1524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377440" y="3154680"/>
            <a:ext cx="2743200" cy="1737360"/>
          </a:xfrm>
          <a:prstGeom prst="line">
            <a:avLst/>
          </a:prstGeom>
          <a:ln w="19050">
            <a:solidFill>
              <a:srgbClr val="E971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20640" y="3520440"/>
            <a:ext cx="137160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222A33"/>
                </a:solidFill>
                <a:latin typeface="Calibri"/>
              </a:rPr>
              <a:t>Host 2</a:t>
            </a:r>
          </a:p>
        </p:txBody>
      </p:sp>
      <p:cxnSp>
        <p:nvCxnSpPr>
          <p:cNvPr id="12" name="Connector 11"/>
          <p:cNvCxnSpPr/>
          <p:nvPr/>
        </p:nvCxnSpPr>
        <p:spPr>
          <a:xfrm>
            <a:off x="5806440" y="2468880"/>
            <a:ext cx="0" cy="1051560"/>
          </a:xfrm>
          <a:prstGeom prst="line">
            <a:avLst/>
          </a:prstGeom>
          <a:ln w="1524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377440" y="3749039"/>
            <a:ext cx="2743200" cy="1143001"/>
          </a:xfrm>
          <a:prstGeom prst="line">
            <a:avLst/>
          </a:prstGeom>
          <a:ln w="19050">
            <a:solidFill>
              <a:srgbClr val="E971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20640" y="4114800"/>
            <a:ext cx="1371600" cy="4572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222A33"/>
                </a:solidFill>
                <a:latin typeface="Calibri"/>
              </a:rPr>
              <a:t>Host 3</a:t>
            </a:r>
          </a:p>
        </p:txBody>
      </p:sp>
      <p:cxnSp>
        <p:nvCxnSpPr>
          <p:cNvPr id="15" name="Connector 14"/>
          <p:cNvCxnSpPr/>
          <p:nvPr/>
        </p:nvCxnSpPr>
        <p:spPr>
          <a:xfrm>
            <a:off x="5806440" y="2468880"/>
            <a:ext cx="0" cy="1645920"/>
          </a:xfrm>
          <a:prstGeom prst="line">
            <a:avLst/>
          </a:prstGeom>
          <a:ln w="15240">
            <a:solidFill>
              <a:srgbClr val="00305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377440" y="4343400"/>
            <a:ext cx="2743200" cy="548640"/>
          </a:xfrm>
          <a:prstGeom prst="line">
            <a:avLst/>
          </a:prstGeom>
          <a:ln w="19050">
            <a:solidFill>
              <a:srgbClr val="E971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88720" y="4892040"/>
            <a:ext cx="237744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Victim</a:t>
            </a:r>
          </a:p>
        </p:txBody>
      </p:sp>
      <p:sp>
        <p:nvSpPr>
          <p:cNvPr id="18" name="TextBox 17"/>
          <p:cNvSpPr txBox="1"/>
          <p:nvPr/>
        </p:nvSpPr>
        <p:spPr>
          <a:xfrm>
            <a:off x="3840480" y="4983480"/>
            <a:ext cx="4114800" cy="548640"/>
          </a:xfrm>
          <a:prstGeom prst="rect">
            <a:avLst/>
          </a:prstGeom>
          <a:noFill/>
        </p:spPr>
        <p:txBody>
          <a:bodyPr wrap="square">
            <a:spAutoFit/>
          </a:bodyPr>
          <a:lstStyle/>
          <a:p>
            <a:r>
              <a:rPr sz="1200" b="1" i="1">
                <a:solidFill>
                  <a:srgbClr val="E97132"/>
                </a:solidFill>
                <a:latin typeface="Calibri"/>
              </a:rPr>
              <a:t>Every host replies — all at once — straight to the victim</a:t>
            </a:r>
          </a:p>
        </p:txBody>
      </p:sp>
      <p:sp>
        <p:nvSpPr>
          <p:cNvPr id="19" name="TextBox 18"/>
          <p:cNvSpPr txBox="1"/>
          <p:nvPr/>
        </p:nvSpPr>
        <p:spPr>
          <a:xfrm>
            <a:off x="8229600" y="2834640"/>
            <a:ext cx="3291840" cy="1828800"/>
          </a:xfrm>
          <a:prstGeom prst="rect">
            <a:avLst/>
          </a:prstGeom>
          <a:noFill/>
        </p:spPr>
        <p:txBody>
          <a:bodyPr wrap="square">
            <a:spAutoFit/>
          </a:bodyPr>
          <a:lstStyle/>
          <a:p>
            <a:pPr marL="0" indent="0">
              <a:spcAft>
                <a:spcPts val="400"/>
              </a:spcAft>
              <a:buNone/>
            </a:pPr>
            <a:r>
              <a:rPr sz="1200" b="1" i="0">
                <a:solidFill>
                  <a:srgbClr val="003054"/>
                </a:solidFill>
                <a:latin typeface="Calibri"/>
              </a:rPr>
              <a:t>One spoofed request</a:t>
            </a:r>
          </a:p>
          <a:p>
            <a:pPr marL="0" indent="0">
              <a:spcAft>
                <a:spcPts val="400"/>
              </a:spcAft>
              <a:buNone/>
            </a:pPr>
            <a:r>
              <a:rPr sz="1200" b="0" i="0">
                <a:solidFill>
                  <a:srgbClr val="222A33"/>
                </a:solidFill>
                <a:latin typeface="Calibri"/>
              </a:rPr>
              <a:t>→ many hosts reply</a:t>
            </a:r>
          </a:p>
          <a:p>
            <a:pPr marL="0" indent="0">
              <a:spcAft>
                <a:spcPts val="800"/>
              </a:spcAft>
              <a:buNone/>
            </a:pPr>
            <a:r>
              <a:rPr sz="1200" b="0" i="0">
                <a:solidFill>
                  <a:srgbClr val="222A33"/>
                </a:solidFill>
                <a:latin typeface="Calibri"/>
              </a:rPr>
              <a:t>→ victim is flooded with replies it never asked for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Smurf Attack: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DOS — AMPLIFICATION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Disable directed broadcast forwarding on routers (no ip directed-broadcast) — this single setting is why Smurf attacks are largely historical on modern, correctly configured networks.</a:t>
            </a:r>
          </a:p>
          <a:p>
            <a:pPr marL="201168" indent="-201168">
              <a:spcAft>
                <a:spcPts val="1200"/>
              </a:spcAft>
              <a:buFont typeface="Arial"/>
              <a:buChar char="–"/>
            </a:pPr>
            <a:r>
              <a:rPr sz="1700" b="0" i="0">
                <a:solidFill>
                  <a:srgbClr val="222A33"/>
                </a:solidFill>
                <a:latin typeface="Calibri"/>
              </a:rPr>
              <a:t>Ingress/egress filtering (BCP 38) at network boundaries drops packets with obviously spoofed source addresses before they can be used in an amplification attack at all.</a:t>
            </a:r>
          </a:p>
          <a:p>
            <a:pPr marL="201168" indent="-201168">
              <a:spcAft>
                <a:spcPts val="1200"/>
              </a:spcAft>
              <a:buFont typeface="Arial"/>
              <a:buChar char="–"/>
            </a:pPr>
            <a:r>
              <a:rPr sz="1700" b="0" i="0">
                <a:solidFill>
                  <a:srgbClr val="222A33"/>
                </a:solidFill>
                <a:latin typeface="Calibri"/>
              </a:rPr>
              <a:t>Rate-limit ICMP responses at the network edge as a defence-in-depth backstop, even if broadcast forwarding is already disabled.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IP-Based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Abusing the IP header itself — IP Spoofing, TTL, and fragmentation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Why the IP Header Can Be Abused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 HEADER</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Recall Week 1: the IP header carries the source and destination address, TTL, and fragmentation control fields — all of it set by the sender, with nothing on the wire to verify any of it is honest.</a:t>
            </a:r>
          </a:p>
          <a:p>
            <a:pPr marL="201168" indent="-201168">
              <a:spcAft>
                <a:spcPts val="1200"/>
              </a:spcAft>
              <a:buFont typeface="Arial"/>
              <a:buChar char="–"/>
            </a:pPr>
            <a:r>
              <a:rPr sz="1700" b="0" i="0">
                <a:solidFill>
                  <a:srgbClr val="222A33"/>
                </a:solidFill>
                <a:latin typeface="Calibri"/>
              </a:rPr>
              <a:t>Routers and hosts largely trust what the header claims and act on it — forward toward the claimed destination, decrement the claimed TTL, reassemble according to the claimed fragmentation flags.</a:t>
            </a:r>
          </a:p>
          <a:p>
            <a:pPr marL="201168" indent="-201168">
              <a:spcAft>
                <a:spcPts val="1200"/>
              </a:spcAft>
              <a:buFont typeface="Arial"/>
              <a:buChar char="–"/>
            </a:pPr>
            <a:r>
              <a:rPr sz="1700" b="0" i="0">
                <a:solidFill>
                  <a:srgbClr val="222A33"/>
                </a:solidFill>
                <a:latin typeface="Calibri"/>
              </a:rPr>
              <a:t>Every attack in this section works by crafting header values that are technically valid but deliberately misleading.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IP Spoofing: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the attacker sends packets with a forged source IP address — one that isn't actually theirs.</a:t>
            </a:r>
          </a:p>
          <a:p>
            <a:pPr marL="201168" indent="-201168">
              <a:spcAft>
                <a:spcPts val="1200"/>
              </a:spcAft>
              <a:buFont typeface="Arial"/>
              <a:buChar char="–"/>
            </a:pPr>
            <a:r>
              <a:rPr sz="1700" b="0" i="0">
                <a:solidFill>
                  <a:srgbClr val="222A33"/>
                </a:solidFill>
                <a:latin typeface="Calibri"/>
              </a:rPr>
              <a:t>Vulnerability exploited: IP has no built-in mechanism to verify that a packet's claimed source address is genuine — routers forward based on destination only.</a:t>
            </a:r>
          </a:p>
          <a:p>
            <a:pPr marL="201168" indent="-201168">
              <a:spcAft>
                <a:spcPts val="1200"/>
              </a:spcAft>
              <a:buFont typeface="Arial"/>
              <a:buChar char="–"/>
            </a:pPr>
            <a:r>
              <a:rPr sz="1700" b="0" i="0">
                <a:solidFill>
                  <a:srgbClr val="222A33"/>
                </a:solidFill>
                <a:latin typeface="Calibri"/>
              </a:rPr>
              <a:t>Attack technique: simply set the source address field to whatever the attacker wants — a trusted internal address (to bypass source-based access controls), or a victim's address (to redirect responses toward them, as in the Smurf attack).</a:t>
            </a:r>
          </a:p>
          <a:p>
            <a:pPr marL="201168" indent="-201168">
              <a:spcAft>
                <a:spcPts val="1200"/>
              </a:spcAft>
              <a:buFont typeface="Arial"/>
              <a:buChar char="–"/>
            </a:pPr>
            <a:r>
              <a:rPr sz="1700" b="0" i="0">
                <a:solidFill>
                  <a:srgbClr val="222A33"/>
                </a:solidFill>
                <a:latin typeface="Calibri"/>
              </a:rPr>
              <a:t>Impact: enables amplification attacks, bypasses naive IP-based trust/filtering, and makes attributing an attack back to its real source significantly harder.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IP Spoofing: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Ingress filtering: block inbound traffic on an external interface that claims to come from your own internal address ranges — no legitimate packet would ever arrive that way.</a:t>
            </a:r>
          </a:p>
          <a:p>
            <a:pPr marL="201168" indent="-201168">
              <a:spcAft>
                <a:spcPts val="1200"/>
              </a:spcAft>
              <a:buFont typeface="Arial"/>
              <a:buChar char="–"/>
            </a:pPr>
            <a:r>
              <a:rPr sz="1700" b="0" i="0">
                <a:solidFill>
                  <a:srgbClr val="222A33"/>
                </a:solidFill>
                <a:latin typeface="Calibri"/>
              </a:rPr>
              <a:t>Egress filtering: block outbound traffic that doesn't carry a source address from your own assigned range — stops your own network being used to spoof addresses in an attack on someone else (BCP 38, the same principle behind Smurf mitigation).</a:t>
            </a:r>
          </a:p>
          <a:p>
            <a:pPr marL="201168" indent="-201168">
              <a:spcAft>
                <a:spcPts val="1200"/>
              </a:spcAft>
              <a:buFont typeface="Arial"/>
              <a:buChar char="–"/>
            </a:pPr>
            <a:r>
              <a:rPr sz="1700" b="0" i="0">
                <a:solidFill>
                  <a:srgbClr val="222A33"/>
                </a:solidFill>
                <a:latin typeface="Calibri"/>
              </a:rPr>
              <a:t>Unicast Reverse Path Forwarding (uRPF) on routers: verify that a packet's source address is reachable via the interface it arrived on, dropping it if the path doesn't make sense.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TTL-Based Attacks: A Quick Recap of TTL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Recall Week 1: Time To Live (TTL) limits how many router hops a packet can traverse — each router decrements it by one, and a router that decrements it to zero discards the packet and returns an ICMP Time Exceeded message.</a:t>
            </a:r>
          </a:p>
          <a:p>
            <a:pPr marL="201168" indent="-201168">
              <a:spcAft>
                <a:spcPts val="1200"/>
              </a:spcAft>
              <a:buFont typeface="Arial"/>
              <a:buChar char="–"/>
            </a:pPr>
            <a:r>
              <a:rPr sz="1700" b="0" i="0">
                <a:solidFill>
                  <a:srgbClr val="222A33"/>
                </a:solidFill>
                <a:latin typeface="Calibri"/>
              </a:rPr>
              <a:t>TTL was designed to prevent packets looping forever due to routing errors — but its predictable, inspectable behaviour also makes it something attackers can exploit deliberately.</a:t>
            </a:r>
          </a:p>
          <a:p>
            <a:pPr marL="201168" indent="-201168">
              <a:spcAft>
                <a:spcPts val="1200"/>
              </a:spcAft>
              <a:buFont typeface="Arial"/>
              <a:buChar char="–"/>
            </a:pPr>
            <a:r>
              <a:rPr sz="1700" b="0" i="0">
                <a:solidFill>
                  <a:srgbClr val="222A33"/>
                </a:solidFill>
                <a:latin typeface="Calibri"/>
              </a:rPr>
              <a:t>Two distinct attacks abuse this: one targets network devices directly, the other targets the security tools meant to inspect the traffic.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TTL Expiry Attack: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the attacker deliberately sends packets with very low TTL values so that they expire at a router, forcing that router to generate an ICMP Time Exceeded reply.</a:t>
            </a:r>
          </a:p>
          <a:p>
            <a:pPr marL="201168" indent="-201168">
              <a:spcAft>
                <a:spcPts val="1200"/>
              </a:spcAft>
              <a:buFont typeface="Arial"/>
              <a:buChar char="–"/>
            </a:pPr>
            <a:r>
              <a:rPr sz="1700" b="0" i="0">
                <a:solidFill>
                  <a:srgbClr val="222A33"/>
                </a:solidFill>
                <a:latin typeface="Calibri"/>
              </a:rPr>
              <a:t>Vulnerability exploited: generating an ICMP error message costs the router CPU cycles — something it must do for every expiring packet, with no default limit on how often.</a:t>
            </a:r>
          </a:p>
          <a:p>
            <a:pPr marL="201168" indent="-201168">
              <a:spcAft>
                <a:spcPts val="1200"/>
              </a:spcAft>
              <a:buFont typeface="Arial"/>
              <a:buChar char="–"/>
            </a:pPr>
            <a:r>
              <a:rPr sz="1700" b="0" i="0">
                <a:solidFill>
                  <a:srgbClr val="222A33"/>
                </a:solidFill>
                <a:latin typeface="Calibri"/>
              </a:rPr>
              <a:t>Attack technique: flood a router with a high volume of deliberately low-TTL packets; each one forces a fresh Time Exceeded message, consuming processing capacity that should be spent forwarding real traffic.</a:t>
            </a:r>
          </a:p>
          <a:p>
            <a:pPr marL="201168" indent="-201168">
              <a:spcAft>
                <a:spcPts val="1200"/>
              </a:spcAft>
              <a:buFont typeface="Arial"/>
              <a:buChar char="–"/>
            </a:pPr>
            <a:r>
              <a:rPr sz="1700" b="0" i="0">
                <a:solidFill>
                  <a:srgbClr val="222A33"/>
                </a:solidFill>
                <a:latin typeface="Calibri"/>
              </a:rPr>
              <a:t>Impact: a denial of service aimed specifically at network infrastructure (routers) rather than end hosts — a variation on the same theme as the STP DoS attack from earlier this week.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TTL-Based Evasion Attack: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attacker crafts a TTL value so that a packet is seen differently by a security device (like an IDS) than by the actual destination host — designed to sneak malicious traffic past inspection.</a:t>
            </a:r>
          </a:p>
          <a:p>
            <a:pPr marL="201168" indent="-201168">
              <a:spcAft>
                <a:spcPts val="1200"/>
              </a:spcAft>
              <a:buFont typeface="Arial"/>
              <a:buChar char="–"/>
            </a:pPr>
            <a:r>
              <a:rPr sz="1700" b="0" i="0">
                <a:solidFill>
                  <a:srgbClr val="222A33"/>
                </a:solidFill>
                <a:latin typeface="Calibri"/>
              </a:rPr>
              <a:t>Vulnerability exploited: an IDS sitting between the attacker and the target is at a different number of hops from the target than the attacker's packet accounts for — if the TTL is tuned precisely, the packet can expire right after the IDS sees it but the IDS doesn't realise it never reached the real destination (or vice versa).</a:t>
            </a:r>
          </a:p>
          <a:p>
            <a:pPr marL="201168" indent="-201168">
              <a:spcAft>
                <a:spcPts val="1200"/>
              </a:spcAft>
              <a:buFont typeface="Arial"/>
              <a:buChar char="–"/>
            </a:pPr>
            <a:r>
              <a:rPr sz="1700" b="0" i="0">
                <a:solidFill>
                  <a:srgbClr val="222A33"/>
                </a:solidFill>
                <a:latin typeface="Calibri"/>
              </a:rPr>
              <a:t>Attack technique: the attacker sends a sequence where some packets are crafted to be processed by the IDS but silently dropped before reaching the host, while the packets the host actually assembles differ from what the IDS believes it inspected — letting disguised malicious content through undetected.</a:t>
            </a:r>
          </a:p>
          <a:p>
            <a:pPr marL="201168" indent="-201168">
              <a:spcAft>
                <a:spcPts val="1200"/>
              </a:spcAft>
              <a:buFont typeface="Arial"/>
              <a:buChar char="–"/>
            </a:pPr>
            <a:r>
              <a:rPr sz="1700" b="0" i="0">
                <a:solidFill>
                  <a:srgbClr val="222A33"/>
                </a:solidFill>
                <a:latin typeface="Calibri"/>
              </a:rPr>
              <a:t>Impact: this is a foundational IDS/IPS evasion technique — not a direct attack on availability, but a way to defeat detection entirely so a different attack can proceed unnoticed.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TTL Evasion: Why It Works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Rounded Rectangle 3"/>
          <p:cNvSpPr/>
          <p:nvPr/>
        </p:nvSpPr>
        <p:spPr>
          <a:xfrm>
            <a:off x="731520" y="1920240"/>
            <a:ext cx="2194560" cy="5943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Attacker</a:t>
            </a:r>
          </a:p>
        </p:txBody>
      </p:sp>
      <p:cxnSp>
        <p:nvCxnSpPr>
          <p:cNvPr id="5" name="Connector 4"/>
          <p:cNvCxnSpPr/>
          <p:nvPr/>
        </p:nvCxnSpPr>
        <p:spPr>
          <a:xfrm>
            <a:off x="2926080" y="2221992"/>
            <a:ext cx="173736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663440" y="1920240"/>
            <a:ext cx="2377440" cy="5943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IDS Sensor</a:t>
            </a:r>
          </a:p>
        </p:txBody>
      </p:sp>
      <p:cxnSp>
        <p:nvCxnSpPr>
          <p:cNvPr id="7" name="Connector 6"/>
          <p:cNvCxnSpPr/>
          <p:nvPr/>
        </p:nvCxnSpPr>
        <p:spPr>
          <a:xfrm>
            <a:off x="7040880" y="2221992"/>
            <a:ext cx="1737360" cy="0"/>
          </a:xfrm>
          <a:prstGeom prst="line">
            <a:avLst/>
          </a:prstGeom>
          <a:ln w="25400">
            <a:solidFill>
              <a:srgbClr val="6B7682"/>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778240" y="1920240"/>
            <a:ext cx="2651760" cy="5943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222A33"/>
                </a:solidFill>
                <a:latin typeface="Calibri"/>
              </a:rPr>
              <a:t>Real Destination</a:t>
            </a:r>
          </a:p>
        </p:txBody>
      </p:sp>
      <p:sp>
        <p:nvSpPr>
          <p:cNvPr id="9" name="TextBox 8"/>
          <p:cNvSpPr txBox="1"/>
          <p:nvPr/>
        </p:nvSpPr>
        <p:spPr>
          <a:xfrm>
            <a:off x="6858000" y="2606040"/>
            <a:ext cx="3108960" cy="548640"/>
          </a:xfrm>
          <a:prstGeom prst="rect">
            <a:avLst/>
          </a:prstGeom>
          <a:noFill/>
        </p:spPr>
        <p:txBody>
          <a:bodyPr wrap="square">
            <a:spAutoFit/>
          </a:bodyPr>
          <a:lstStyle/>
          <a:p>
            <a:r>
              <a:rPr sz="1100" b="0" i="1">
                <a:solidFill>
                  <a:srgbClr val="6B7682"/>
                </a:solidFill>
                <a:latin typeface="Calibri"/>
              </a:rPr>
              <a:t>Packet's TTL expires here — never actually arrives</a:t>
            </a:r>
          </a:p>
        </p:txBody>
      </p:sp>
      <p:sp>
        <p:nvSpPr>
          <p:cNvPr id="10" name="TextBox 9"/>
          <p:cNvSpPr txBox="1"/>
          <p:nvPr/>
        </p:nvSpPr>
        <p:spPr>
          <a:xfrm>
            <a:off x="731520" y="3474720"/>
            <a:ext cx="10698480" cy="237744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The IDS inspects the packet and, seeing nothing wrong, allows it through — but the packet's TTL was crafted to expire in the network segment between the IDS and the real destination.</a:t>
            </a:r>
          </a:p>
          <a:p>
            <a:pPr marL="201168" indent="-201168">
              <a:spcAft>
                <a:spcPts val="1000"/>
              </a:spcAft>
              <a:buFont typeface="Arial"/>
              <a:buChar char="–"/>
            </a:pPr>
            <a:r>
              <a:rPr sz="1600" b="0" i="0">
                <a:solidFill>
                  <a:srgbClr val="222A33"/>
                </a:solidFill>
                <a:latin typeface="Calibri"/>
              </a:rPr>
              <a:t>The destination host never actually receives that packet at all — yet the IDS's picture of the conversation now doesn't match what the destination actually experiences.</a:t>
            </a:r>
          </a:p>
          <a:p>
            <a:pPr marL="201168" indent="-201168">
              <a:spcAft>
                <a:spcPts val="800"/>
              </a:spcAft>
              <a:buFont typeface="Arial"/>
              <a:buChar char="–"/>
            </a:pPr>
            <a:r>
              <a:rPr sz="1600" b="0" i="0">
                <a:solidFill>
                  <a:srgbClr val="222A33"/>
                </a:solidFill>
                <a:latin typeface="Calibri"/>
              </a:rPr>
              <a:t>Attackers exploit this mismatch (in either direction) to slip malicious payloads past inspection while keeping the IDS's logs looking clean.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TTL-Based Attacks: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Rate-limit ICMP Time Exceeded generation on routers to blunt TTL expiry-based CPU exhaustion, the same principle used against Ping Flood.</a:t>
            </a:r>
          </a:p>
          <a:p>
            <a:pPr marL="201168" indent="-201168">
              <a:spcAft>
                <a:spcPts val="1200"/>
              </a:spcAft>
              <a:buFont typeface="Arial"/>
              <a:buChar char="–"/>
            </a:pPr>
            <a:r>
              <a:rPr sz="1700" b="0" i="0">
                <a:solidFill>
                  <a:srgbClr val="222A33"/>
                </a:solidFill>
                <a:latin typeface="Calibri"/>
              </a:rPr>
              <a:t>For evasion: deploy IDS/IPS sensors as close to the protected host as possible (minimising the hop-count gap an attacker could exploit), and use IDS technology that actively tracks and normalises TTL rather than passively trusting it.</a:t>
            </a:r>
          </a:p>
          <a:p>
            <a:pPr marL="201168" indent="-201168">
              <a:spcAft>
                <a:spcPts val="1200"/>
              </a:spcAft>
              <a:buFont typeface="Arial"/>
              <a:buChar char="–"/>
            </a:pPr>
            <a:r>
              <a:rPr sz="1700" b="0" i="0">
                <a:solidFill>
                  <a:srgbClr val="222A33"/>
                </a:solidFill>
                <a:latin typeface="Calibri"/>
              </a:rPr>
              <a:t>Keep IDS/IPS signature and inspection engines updated — TTL evasion is a known, well-documented technique, and modern IDS platforms include specific countermeasures for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Teardrop Attack (Fragmentation): Overview,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attack that sends deliberately malformed, overlapping IP fragments designed to break the reassembly process on the target.</a:t>
            </a:r>
          </a:p>
          <a:p>
            <a:pPr marL="201168" indent="-201168">
              <a:spcAft>
                <a:spcPts val="1200"/>
              </a:spcAft>
              <a:buFont typeface="Arial"/>
              <a:buChar char="–"/>
            </a:pPr>
            <a:r>
              <a:rPr sz="1700" b="0" i="0">
                <a:solidFill>
                  <a:srgbClr val="222A33"/>
                </a:solidFill>
                <a:latin typeface="Calibri"/>
              </a:rPr>
              <a:t>Vulnerability exploited: when a large packet is fragmented, each fragment carries an offset telling the receiver where it belongs during reassembly — older or poorly written IP stacks didn't properly validate that these offsets made sense.</a:t>
            </a:r>
          </a:p>
          <a:p>
            <a:pPr marL="201168" indent="-201168">
              <a:spcAft>
                <a:spcPts val="1200"/>
              </a:spcAft>
              <a:buFont typeface="Arial"/>
              <a:buChar char="–"/>
            </a:pPr>
            <a:r>
              <a:rPr sz="1700" b="0" i="0">
                <a:solidFill>
                  <a:srgbClr val="222A33"/>
                </a:solidFill>
                <a:latin typeface="Calibri"/>
              </a:rPr>
              <a:t>Attack technique: the attacker crafts fragments with overlapping, contradictory offsets. When the target tries to reassemble them, the reassembly logic can crash, hang, or corrupt memory.</a:t>
            </a:r>
          </a:p>
          <a:p>
            <a:pPr marL="201168" indent="-201168">
              <a:spcAft>
                <a:spcPts val="1200"/>
              </a:spcAft>
              <a:buFont typeface="Arial"/>
              <a:buChar char="–"/>
            </a:pPr>
            <a:r>
              <a:rPr sz="1700" b="0" i="0">
                <a:solidFill>
                  <a:srgbClr val="222A33"/>
                </a:solidFill>
                <a:latin typeface="Calibri"/>
              </a:rPr>
              <a:t>Impact: like Ping of Death, this is largely a legacy attack against modern patched systems — but the same fragmentation-based logic still appears in evasion techniques against firewalls and IDS today.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Teardrop Attack: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HEADER ABUSE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Keep operating systems patched — modern IP stacks correctly validate fragment offsets and simply discard malformed fragments instead of crashing.</a:t>
            </a:r>
          </a:p>
          <a:p>
            <a:pPr marL="201168" indent="-201168">
              <a:spcAft>
                <a:spcPts val="1200"/>
              </a:spcAft>
              <a:buFont typeface="Arial"/>
              <a:buChar char="–"/>
            </a:pPr>
            <a:r>
              <a:rPr sz="1700" b="0" i="0">
                <a:solidFill>
                  <a:srgbClr val="222A33"/>
                </a:solidFill>
                <a:latin typeface="Calibri"/>
              </a:rPr>
              <a:t>Configure firewalls to perform fragment reassembly and validation before packets reach internal hosts, dropping anything with impossible or overlapping offsets.</a:t>
            </a:r>
          </a:p>
          <a:p>
            <a:pPr marL="201168" indent="-201168">
              <a:spcAft>
                <a:spcPts val="1200"/>
              </a:spcAft>
              <a:buFont typeface="Arial"/>
              <a:buChar char="–"/>
            </a:pPr>
            <a:r>
              <a:rPr sz="1700" b="0" i="0">
                <a:solidFill>
                  <a:srgbClr val="222A33"/>
                </a:solidFill>
                <a:latin typeface="Calibri"/>
              </a:rPr>
              <a:t>Where policy allows, block fragmented traffic entirely at the perimeter for services that never legitimately need it — removes the attack surface outright.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Bringing It Together</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Comparing mitigations across all eight attacks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Full Mitigation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nvGraphicFramePr>
        <p:xfrm>
          <a:off x="457200" y="1737360"/>
          <a:ext cx="11247120" cy="4114800"/>
        </p:xfrm>
        <a:graphic>
          <a:graphicData uri="http://schemas.openxmlformats.org/drawingml/2006/table">
            <a:tbl>
              <a:tblPr firstRow="1" bandRow="1">
                <a:tableStyleId>{5C22544A-7EE6-4342-B048-85BDC9FD1C3A}</a:tableStyleId>
              </a:tblPr>
              <a:tblGrid>
                <a:gridCol w="3840480"/>
                <a:gridCol w="7406640"/>
              </a:tblGrid>
              <a:tr h="457200">
                <a:tc>
                  <a:txBody>
                    <a:bodyPr wrap="square"/>
                    <a:lstStyle/>
                    <a:p>
                      <a:r>
                        <a:rPr sz="1300" b="1" i="0">
                          <a:solidFill>
                            <a:srgbClr val="FFFFFF"/>
                          </a:solidFill>
                          <a:latin typeface="Calibri"/>
                        </a:rPr>
                        <a:t>Attack</a:t>
                      </a:r>
                    </a:p>
                  </a:txBody>
                  <a:tcPr marL="73152" marR="73152" marT="27432" marB="27432" anchor="ctr">
                    <a:solidFill>
                      <a:srgbClr val="003054"/>
                    </a:solidFill>
                  </a:tcPr>
                </a:tc>
                <a:tc>
                  <a:txBody>
                    <a:bodyPr wrap="square"/>
                    <a:lstStyle/>
                    <a:p>
                      <a:r>
                        <a:rPr sz="1300" b="1" i="0">
                          <a:solidFill>
                            <a:srgbClr val="FFFFFF"/>
                          </a:solidFill>
                          <a:latin typeface="Calibri"/>
                        </a:rPr>
                        <a:t>Primary mitigation</a:t>
                      </a:r>
                    </a:p>
                  </a:txBody>
                  <a:tcPr marL="73152" marR="73152" marT="27432" marB="27432" anchor="ctr">
                    <a:solidFill>
                      <a:srgbClr val="003054"/>
                    </a:solidFill>
                  </a:tcPr>
                </a:tc>
              </a:tr>
              <a:tr h="457200">
                <a:tc>
                  <a:txBody>
                    <a:bodyPr wrap="square"/>
                    <a:lstStyle/>
                    <a:p>
                      <a:r>
                        <a:rPr sz="1300" b="0" i="0">
                          <a:solidFill>
                            <a:srgbClr val="222A33"/>
                          </a:solidFill>
                          <a:latin typeface="Calibri"/>
                        </a:rPr>
                        <a:t>ICMP Sweep</a:t>
                      </a:r>
                    </a:p>
                  </a:txBody>
                  <a:tcPr marL="73152" marR="73152" marT="27432" marB="27432" anchor="ctr">
                    <a:solidFill>
                      <a:srgbClr val="FFFFFF"/>
                    </a:solidFill>
                  </a:tcPr>
                </a:tc>
                <a:tc>
                  <a:txBody>
                    <a:bodyPr wrap="square"/>
                    <a:lstStyle/>
                    <a:p>
                      <a:r>
                        <a:rPr sz="1300" b="0" i="0">
                          <a:solidFill>
                            <a:srgbClr val="222A33"/>
                          </a:solidFill>
                          <a:latin typeface="Calibri"/>
                        </a:rPr>
                        <a:t>Block/rate-limit inbound ICMP Echo at the perimeter</a:t>
                      </a:r>
                    </a:p>
                  </a:txBody>
                  <a:tcPr marL="73152" marR="73152" marT="27432" marB="27432" anchor="ctr">
                    <a:solidFill>
                      <a:srgbClr val="FFFFFF"/>
                    </a:solidFill>
                  </a:tcPr>
                </a:tc>
              </a:tr>
              <a:tr h="457200">
                <a:tc>
                  <a:txBody>
                    <a:bodyPr wrap="square"/>
                    <a:lstStyle/>
                    <a:p>
                      <a:r>
                        <a:rPr sz="1300" b="0" i="0">
                          <a:solidFill>
                            <a:srgbClr val="222A33"/>
                          </a:solidFill>
                          <a:latin typeface="Calibri"/>
                        </a:rPr>
                        <a:t>Ping of Death</a:t>
                      </a:r>
                    </a:p>
                  </a:txBody>
                  <a:tcPr marL="73152" marR="73152" marT="27432" marB="27432" anchor="ctr">
                    <a:solidFill>
                      <a:srgbClr val="F2F4F7"/>
                    </a:solidFill>
                  </a:tcPr>
                </a:tc>
                <a:tc>
                  <a:txBody>
                    <a:bodyPr wrap="square"/>
                    <a:lstStyle/>
                    <a:p>
                      <a:r>
                        <a:rPr sz="1300" b="0" i="0">
                          <a:solidFill>
                            <a:srgbClr val="222A33"/>
                          </a:solidFill>
                          <a:latin typeface="Calibri"/>
                        </a:rPr>
                        <a:t>Patching; firewall packet-size/fragment validation</a:t>
                      </a:r>
                    </a:p>
                  </a:txBody>
                  <a:tcPr marL="73152" marR="73152" marT="27432" marB="27432" anchor="ctr">
                    <a:solidFill>
                      <a:srgbClr val="F2F4F7"/>
                    </a:solidFill>
                  </a:tcPr>
                </a:tc>
              </a:tr>
              <a:tr h="457200">
                <a:tc>
                  <a:txBody>
                    <a:bodyPr wrap="square"/>
                    <a:lstStyle/>
                    <a:p>
                      <a:r>
                        <a:rPr sz="1300" b="0" i="0">
                          <a:solidFill>
                            <a:srgbClr val="222A33"/>
                          </a:solidFill>
                          <a:latin typeface="Calibri"/>
                        </a:rPr>
                        <a:t>Ping Flood</a:t>
                      </a:r>
                    </a:p>
                  </a:txBody>
                  <a:tcPr marL="73152" marR="73152" marT="27432" marB="27432" anchor="ctr">
                    <a:solidFill>
                      <a:srgbClr val="FFFFFF"/>
                    </a:solidFill>
                  </a:tcPr>
                </a:tc>
                <a:tc>
                  <a:txBody>
                    <a:bodyPr wrap="square"/>
                    <a:lstStyle/>
                    <a:p>
                      <a:r>
                        <a:rPr sz="1300" b="0" i="0">
                          <a:solidFill>
                            <a:srgbClr val="222A33"/>
                          </a:solidFill>
                          <a:latin typeface="Calibri"/>
                        </a:rPr>
                        <a:t>ICMP rate limiting; IPS detection; DDoS protection service</a:t>
                      </a:r>
                    </a:p>
                  </a:txBody>
                  <a:tcPr marL="73152" marR="73152" marT="27432" marB="27432" anchor="ctr">
                    <a:solidFill>
                      <a:srgbClr val="FFFFFF"/>
                    </a:solidFill>
                  </a:tcPr>
                </a:tc>
              </a:tr>
              <a:tr h="457200">
                <a:tc>
                  <a:txBody>
                    <a:bodyPr wrap="square"/>
                    <a:lstStyle/>
                    <a:p>
                      <a:r>
                        <a:rPr sz="1300" b="0" i="0">
                          <a:solidFill>
                            <a:srgbClr val="222A33"/>
                          </a:solidFill>
                          <a:latin typeface="Calibri"/>
                        </a:rPr>
                        <a:t>Smurf Attack</a:t>
                      </a:r>
                    </a:p>
                  </a:txBody>
                  <a:tcPr marL="73152" marR="73152" marT="27432" marB="27432" anchor="ctr">
                    <a:solidFill>
                      <a:srgbClr val="F2F4F7"/>
                    </a:solidFill>
                  </a:tcPr>
                </a:tc>
                <a:tc>
                  <a:txBody>
                    <a:bodyPr wrap="square"/>
                    <a:lstStyle/>
                    <a:p>
                      <a:r>
                        <a:rPr sz="1300" b="0" i="0">
                          <a:solidFill>
                            <a:srgbClr val="222A33"/>
                          </a:solidFill>
                          <a:latin typeface="Calibri"/>
                        </a:rPr>
                        <a:t>Disable directed broadcast; ingress/egress filtering (BCP 38)</a:t>
                      </a:r>
                    </a:p>
                  </a:txBody>
                  <a:tcPr marL="73152" marR="73152" marT="27432" marB="27432" anchor="ctr">
                    <a:solidFill>
                      <a:srgbClr val="F2F4F7"/>
                    </a:solidFill>
                  </a:tcPr>
                </a:tc>
              </a:tr>
              <a:tr h="457200">
                <a:tc>
                  <a:txBody>
                    <a:bodyPr wrap="square"/>
                    <a:lstStyle/>
                    <a:p>
                      <a:r>
                        <a:rPr sz="1300" b="0" i="0">
                          <a:solidFill>
                            <a:srgbClr val="222A33"/>
                          </a:solidFill>
                          <a:latin typeface="Calibri"/>
                        </a:rPr>
                        <a:t>IP Spoofing</a:t>
                      </a:r>
                    </a:p>
                  </a:txBody>
                  <a:tcPr marL="73152" marR="73152" marT="27432" marB="27432" anchor="ctr">
                    <a:solidFill>
                      <a:srgbClr val="FFFFFF"/>
                    </a:solidFill>
                  </a:tcPr>
                </a:tc>
                <a:tc>
                  <a:txBody>
                    <a:bodyPr wrap="square"/>
                    <a:lstStyle/>
                    <a:p>
                      <a:r>
                        <a:rPr sz="1300" b="0" i="0">
                          <a:solidFill>
                            <a:srgbClr val="222A33"/>
                          </a:solidFill>
                          <a:latin typeface="Calibri"/>
                        </a:rPr>
                        <a:t>Ingress/egress filtering; uRPF</a:t>
                      </a:r>
                    </a:p>
                  </a:txBody>
                  <a:tcPr marL="73152" marR="73152" marT="27432" marB="27432" anchor="ctr">
                    <a:solidFill>
                      <a:srgbClr val="FFFFFF"/>
                    </a:solidFill>
                  </a:tcPr>
                </a:tc>
              </a:tr>
              <a:tr h="457200">
                <a:tc>
                  <a:txBody>
                    <a:bodyPr wrap="square"/>
                    <a:lstStyle/>
                    <a:p>
                      <a:r>
                        <a:rPr sz="1300" b="0" i="0">
                          <a:solidFill>
                            <a:srgbClr val="222A33"/>
                          </a:solidFill>
                          <a:latin typeface="Calibri"/>
                        </a:rPr>
                        <a:t>TTL Expiry Attack</a:t>
                      </a:r>
                    </a:p>
                  </a:txBody>
                  <a:tcPr marL="73152" marR="73152" marT="27432" marB="27432" anchor="ctr">
                    <a:solidFill>
                      <a:srgbClr val="F2F4F7"/>
                    </a:solidFill>
                  </a:tcPr>
                </a:tc>
                <a:tc>
                  <a:txBody>
                    <a:bodyPr wrap="square"/>
                    <a:lstStyle/>
                    <a:p>
                      <a:r>
                        <a:rPr sz="1300" b="0" i="0">
                          <a:solidFill>
                            <a:srgbClr val="222A33"/>
                          </a:solidFill>
                          <a:latin typeface="Calibri"/>
                        </a:rPr>
                        <a:t>Rate-limit ICMP Time Exceeded generation on routers</a:t>
                      </a:r>
                    </a:p>
                  </a:txBody>
                  <a:tcPr marL="73152" marR="73152" marT="27432" marB="27432" anchor="ctr">
                    <a:solidFill>
                      <a:srgbClr val="F2F4F7"/>
                    </a:solidFill>
                  </a:tcPr>
                </a:tc>
              </a:tr>
              <a:tr h="457200">
                <a:tc>
                  <a:txBody>
                    <a:bodyPr wrap="square"/>
                    <a:lstStyle/>
                    <a:p>
                      <a:r>
                        <a:rPr sz="1300" b="0" i="0">
                          <a:solidFill>
                            <a:srgbClr val="222A33"/>
                          </a:solidFill>
                          <a:latin typeface="Calibri"/>
                        </a:rPr>
                        <a:t>TTL-Based Evasion</a:t>
                      </a:r>
                    </a:p>
                  </a:txBody>
                  <a:tcPr marL="73152" marR="73152" marT="27432" marB="27432" anchor="ctr">
                    <a:solidFill>
                      <a:srgbClr val="FFFFFF"/>
                    </a:solidFill>
                  </a:tcPr>
                </a:tc>
                <a:tc>
                  <a:txBody>
                    <a:bodyPr wrap="square"/>
                    <a:lstStyle/>
                    <a:p>
                      <a:r>
                        <a:rPr sz="1300" b="0" i="0">
                          <a:solidFill>
                            <a:srgbClr val="222A33"/>
                          </a:solidFill>
                          <a:latin typeface="Calibri"/>
                        </a:rPr>
                        <a:t>IDS placement close to the host; TTL-aware inspection</a:t>
                      </a:r>
                    </a:p>
                  </a:txBody>
                  <a:tcPr marL="73152" marR="73152" marT="27432" marB="27432" anchor="ctr">
                    <a:solidFill>
                      <a:srgbClr val="FFFFFF"/>
                    </a:solidFill>
                  </a:tcPr>
                </a:tc>
              </a:tr>
              <a:tr h="457200">
                <a:tc>
                  <a:txBody>
                    <a:bodyPr wrap="square"/>
                    <a:lstStyle/>
                    <a:p>
                      <a:r>
                        <a:rPr sz="1300" b="0" i="0">
                          <a:solidFill>
                            <a:srgbClr val="222A33"/>
                          </a:solidFill>
                          <a:latin typeface="Calibri"/>
                        </a:rPr>
                        <a:t>Teardrop (Fragmentation)</a:t>
                      </a:r>
                    </a:p>
                  </a:txBody>
                  <a:tcPr marL="73152" marR="73152" marT="27432" marB="27432" anchor="ctr">
                    <a:solidFill>
                      <a:srgbClr val="F2F4F7"/>
                    </a:solidFill>
                  </a:tcPr>
                </a:tc>
                <a:tc>
                  <a:txBody>
                    <a:bodyPr wrap="square"/>
                    <a:lstStyle/>
                    <a:p>
                      <a:r>
                        <a:rPr sz="1300" b="0" i="0">
                          <a:solidFill>
                            <a:srgbClr val="222A33"/>
                          </a:solidFill>
                          <a:latin typeface="Calibri"/>
                        </a:rPr>
                        <a:t>Patching; firewall fragment reassembly/validation</a:t>
                      </a:r>
                    </a:p>
                  </a:txBody>
                  <a:tcPr marL="73152" marR="73152" marT="27432" marB="27432" anchor="ctr">
                    <a:solidFill>
                      <a:srgbClr val="F2F4F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600" b="1" i="0">
                <a:solidFill>
                  <a:srgbClr val="FFFFFF"/>
                </a:solidFill>
                <a:latin typeface="Cambria"/>
              </a:rPr>
              <a:t>Layered Defense at Layer 3</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Notice the repeating themes: ingress/egress filtering stops multiple attacks at once (Spoofing, Smurf) — exactly the control-minimisation principle from Week 2's layered security plan.</a:t>
            </a:r>
          </a:p>
          <a:p>
            <a:pPr marL="201168" indent="-201168">
              <a:spcAft>
                <a:spcPts val="1200"/>
              </a:spcAft>
              <a:buFont typeface="Arial"/>
              <a:buChar char="–"/>
            </a:pPr>
            <a:r>
              <a:rPr sz="1700" b="0" i="0">
                <a:solidFill>
                  <a:srgbClr val="222A33"/>
                </a:solidFill>
                <a:latin typeface="Calibri"/>
              </a:rPr>
              <a:t>Patching alone neutralises several legacy attacks (Ping of Death, Teardrop) — a reminder that not every mitigation needs to be a piece of dedicated security hardware.</a:t>
            </a:r>
          </a:p>
          <a:p>
            <a:pPr marL="201168" indent="-201168">
              <a:spcAft>
                <a:spcPts val="1200"/>
              </a:spcAft>
              <a:buFont typeface="Arial"/>
              <a:buChar char="–"/>
            </a:pPr>
            <a:r>
              <a:rPr sz="1700" b="0" i="0">
                <a:solidFill>
                  <a:srgbClr val="222A33"/>
                </a:solidFill>
                <a:latin typeface="Calibri"/>
              </a:rPr>
              <a:t>No single control here covers everything: filtering doesn't stop a flood, rate limiting doesn't stop evasion — the same layered-defense principle from Week 2 applies just as much at Layer 3 as it did at Layer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500" b="0" i="0">
                <a:solidFill>
                  <a:srgbClr val="222A33"/>
                </a:solidFill>
                <a:latin typeface="Calibri"/>
              </a:rPr>
              <a:t>ICMP is a trusted, unauthenticated diagnostic protocol — exactly what makes ICMP Sweep, Ping of Death, Ping Flood, and Smurf all possible.</a:t>
            </a:r>
          </a:p>
          <a:p>
            <a:pPr marL="201168" indent="-201168">
              <a:spcAft>
                <a:spcPts val="1200"/>
              </a:spcAft>
              <a:buFont typeface="Arial"/>
              <a:buChar char="–"/>
            </a:pPr>
            <a:r>
              <a:rPr sz="1500" b="0" i="0">
                <a:solidFill>
                  <a:srgbClr val="222A33"/>
                </a:solidFill>
                <a:latin typeface="Calibri"/>
              </a:rPr>
              <a:t>The IP header itself — source address, TTL, fragmentation fields — is entirely sender-controlled and largely trusted, enabling IP Spoofing, TTL-based attacks, and Teardrop.</a:t>
            </a:r>
          </a:p>
          <a:p>
            <a:pPr marL="201168" indent="-201168">
              <a:spcAft>
                <a:spcPts val="1200"/>
              </a:spcAft>
              <a:buFont typeface="Arial"/>
              <a:buChar char="–"/>
            </a:pPr>
            <a:r>
              <a:rPr sz="1500" b="0" i="0">
                <a:solidFill>
                  <a:srgbClr val="222A33"/>
                </a:solidFill>
                <a:latin typeface="Calibri"/>
              </a:rPr>
              <a:t>Smurf and IP Spoofing share a common root cause (an unverifiable source address) and a common family of fixes (ingress/egress filtering).</a:t>
            </a:r>
          </a:p>
          <a:p>
            <a:pPr marL="201168" indent="-201168">
              <a:spcAft>
                <a:spcPts val="1200"/>
              </a:spcAft>
              <a:buFont typeface="Arial"/>
              <a:buChar char="–"/>
            </a:pPr>
            <a:r>
              <a:rPr sz="1500" b="0" i="0">
                <a:solidFill>
                  <a:srgbClr val="222A33"/>
                </a:solidFill>
                <a:latin typeface="Calibri"/>
              </a:rPr>
              <a:t>Legacy attacks like Ping of Death and Teardrop are mostly solved by patching — but their underlying techniques (fragmentation abuse, malformed packets) still show up in modern evasion methods.</a:t>
            </a:r>
          </a:p>
          <a:p>
            <a:pPr marL="201168" indent="-201168">
              <a:spcAft>
                <a:spcPts val="1200"/>
              </a:spcAft>
              <a:buFont typeface="Arial"/>
              <a:buChar char="–"/>
            </a:pPr>
            <a:r>
              <a:rPr sz="1500" b="0" i="0">
                <a:solidFill>
                  <a:srgbClr val="222A33"/>
                </a:solidFill>
                <a:latin typeface="Calibri"/>
              </a:rPr>
              <a:t>Layered defense applies at every layer we've studied so far — Layer 2 in Weeks 3–4, and now Layer 3 today.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Lab (runs in the Week 5 session): builds on this week's 3-tier STP topology, adding STP hardening plus Layer 3 defensive configuration.</a:t>
            </a:r>
          </a:p>
          <a:p>
            <a:pPr marL="201168" indent="-201168">
              <a:spcAft>
                <a:spcPts val="1200"/>
              </a:spcAft>
              <a:buFont typeface="Arial"/>
              <a:buChar char="–"/>
            </a:pPr>
            <a:r>
              <a:rPr sz="1700" b="0" i="0">
                <a:solidFill>
                  <a:srgbClr val="222A33"/>
                </a:solidFill>
                <a:latin typeface="Calibri"/>
              </a:rPr>
              <a:t>Tutorial worksheet: study-notes-style questions covering ICMP fundamentals, both attack categories, and their mitigations — use it to prep for the mid-semester test.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Santos &amp; Stuppi, CCNA Security 210-260 Official Cert Guide, 1st Ed., Cisco Press.</a:t>
            </a:r>
          </a:p>
          <a:p>
            <a:pPr marL="201168" indent="-201168">
              <a:spcAft>
                <a:spcPts val="1200"/>
              </a:spcAft>
              <a:buFont typeface="Arial"/>
              <a:buChar char="–"/>
            </a:pPr>
            <a:r>
              <a:rPr sz="1700" b="0" i="0">
                <a:solidFill>
                  <a:srgbClr val="222A33"/>
                </a:solidFill>
                <a:latin typeface="Calibri"/>
              </a:rPr>
              <a:t>Kaufman, Perlman, Speciner &amp; Perlner, Network Security: Private Communication in a Public World, 3rd Ed., Prentice Hall.</a:t>
            </a:r>
          </a:p>
          <a:p>
            <a:pPr marL="201168" indent="-201168">
              <a:spcAft>
                <a:spcPts val="1200"/>
              </a:spcAft>
              <a:buFont typeface="Arial"/>
              <a:buChar char="–"/>
            </a:pPr>
            <a:r>
              <a:rPr sz="1700" b="0" i="0">
                <a:solidFill>
                  <a:srgbClr val="222A33"/>
                </a:solidFill>
                <a:latin typeface="Calibri"/>
              </a:rPr>
              <a:t>Cisco Networking Academy — CCNA Security curriculum (Network Layer attacks and mitigation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548</TotalTime>
  <Words>1115</Words>
  <Application>Microsoft Office PowerPoint</Application>
  <PresentationFormat>Widescreen</PresentationFormat>
  <Paragraphs>187</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Sri Lanka Institute of Information Technology Faculty of Computing</vt:lpstr>
      <vt:lpstr>PowerPoint Presentation</vt:lpstr>
      <vt:lpstr>Learning Outcomes</vt:lpstr>
      <vt:lpstr>Why Ethics Matter in Information Systems ? </vt:lpstr>
      <vt:lpstr>Ethics in Information Systems</vt:lpstr>
      <vt:lpstr>Ethical Concerns in Information Systems</vt:lpstr>
      <vt:lpstr>Surveillance</vt:lpstr>
      <vt:lpstr>Employee Monitoring</vt:lpstr>
      <vt:lpstr>Algorithmic Bias</vt:lpstr>
      <vt:lpstr>Privacy in Information Systems  </vt:lpstr>
      <vt:lpstr>3. Project Management Roles</vt:lpstr>
      <vt:lpstr>Privacy in Information Systems</vt:lpstr>
      <vt:lpstr>Regulations</vt:lpstr>
      <vt:lpstr>Regulations</vt:lpstr>
      <vt:lpstr>EU’s General Data Protection Regulation (GDPR)-1</vt:lpstr>
      <vt:lpstr>EU’s General Data Protection Regulation (GDPR) - 2</vt:lpstr>
      <vt:lpstr>PERSONAL DATA PROTECTION ACT (PDPA) Sri LANKA</vt:lpstr>
      <vt:lpstr>User Consent</vt:lpstr>
      <vt:lpstr>Digital Rights  </vt:lpstr>
      <vt:lpstr>Digital Rights</vt:lpstr>
      <vt:lpstr>Key Digital Rights</vt:lpstr>
      <vt:lpstr>Digital Responsibilities</vt:lpstr>
      <vt:lpstr>Summary</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Kavinga Yapa</cp:lastModifiedBy>
  <cp:revision>201</cp:revision>
  <dcterms:created xsi:type="dcterms:W3CDTF">2026-02-25T14:32:17Z</dcterms:created>
  <dcterms:modified xsi:type="dcterms:W3CDTF">2026-04-22T12:57:20Z</dcterms:modified>
</cp:coreProperties>
</file>