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02" r:id="rId38"/>
    <p:sldId id="292" r:id="rId39"/>
    <p:sldId id="293" r:id="rId40"/>
    <p:sldId id="294" r:id="rId41"/>
    <p:sldId id="295" r:id="rId42"/>
    <p:sldId id="296" r:id="rId43"/>
    <p:sldId id="297" r:id="rId44"/>
    <p:sldId id="298" r:id="rId45"/>
    <p:sldId id="299" r:id="rId46"/>
    <p:sldId id="300" r:id="rId47"/>
    <p:sldId id="30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10/7/2026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10/7/2026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10/7/2026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10/7/2026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10/7/2026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10/7/2026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10/7/2026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10/7/2026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Cryptography Fundamentals</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12</a:t>
            </a:r>
          </a:p>
          <a:p>
            <a:r>
              <a:rPr sz="1500" b="0" i="1">
                <a:solidFill>
                  <a:srgbClr val="FFFFFF"/>
                </a:solidFill>
                <a:latin typeface="Calibri"/>
              </a:rPr>
              <a:t>Symmetric, asymmetric, block, stream, and how real protocols combine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Foundations: what cryptography provides, its vocabulary, and Kerckhoffs's principle</a:t>
            </a:r>
          </a:p>
          <a:p>
            <a:pPr marL="201168" indent="-201168">
              <a:spcAft>
                <a:spcPts val="1100"/>
              </a:spcAft>
              <a:buFont typeface="Arial"/>
              <a:buChar char="–"/>
            </a:pPr>
            <a:r>
              <a:rPr sz="1600" b="0" i="0">
                <a:solidFill>
                  <a:srgbClr val="222A33"/>
                </a:solidFill>
                <a:latin typeface="Calibri"/>
              </a:rPr>
              <a:t>Classical ciphers: Caesar and Vigenere, and exactly why they fail</a:t>
            </a:r>
          </a:p>
          <a:p>
            <a:pPr marL="201168" indent="-201168">
              <a:spcAft>
                <a:spcPts val="1100"/>
              </a:spcAft>
              <a:buFont typeface="Arial"/>
              <a:buChar char="–"/>
            </a:pPr>
            <a:r>
              <a:rPr sz="1600" b="0" i="0">
                <a:solidFill>
                  <a:srgbClr val="222A33"/>
                </a:solidFill>
                <a:latin typeface="Calibri"/>
              </a:rPr>
              <a:t>Symmetric encryption and the key distribution problem</a:t>
            </a:r>
          </a:p>
          <a:p>
            <a:pPr marL="201168" indent="-201168">
              <a:spcAft>
                <a:spcPts val="1100"/>
              </a:spcAft>
              <a:buFont typeface="Arial"/>
              <a:buChar char="–"/>
            </a:pPr>
            <a:r>
              <a:rPr sz="1600" b="0" i="0">
                <a:solidFill>
                  <a:srgbClr val="222A33"/>
                </a:solidFill>
                <a:latin typeface="Calibri"/>
              </a:rPr>
              <a:t>Block ciphers versus stream ciphers: modes, algorithms, strengths, weaknesses, and when to choose each</a:t>
            </a:r>
          </a:p>
          <a:p>
            <a:pPr marL="201168" indent="-201168">
              <a:spcAft>
                <a:spcPts val="1100"/>
              </a:spcAft>
              <a:buFont typeface="Arial"/>
              <a:buChar char="–"/>
            </a:pPr>
            <a:r>
              <a:rPr sz="1600" b="0" i="0">
                <a:solidFill>
                  <a:srgbClr val="222A33"/>
                </a:solidFill>
                <a:latin typeface="Calibri"/>
              </a:rPr>
              <a:t>Asymmetric encryption: RSA, Diffie-Hellman, and elliptic curve cryptography</a:t>
            </a:r>
          </a:p>
          <a:p>
            <a:pPr marL="201168" indent="-201168">
              <a:spcAft>
                <a:spcPts val="1100"/>
              </a:spcAft>
              <a:buFont typeface="Arial"/>
              <a:buChar char="–"/>
            </a:pPr>
            <a:r>
              <a:rPr sz="1600" b="0" i="0">
                <a:solidFill>
                  <a:srgbClr val="222A33"/>
                </a:solidFill>
                <a:latin typeface="Calibri"/>
              </a:rPr>
              <a:t>Symmetric versus asymmetric, and how hybrid encryption combines them in TLS and IPsec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02336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201168" indent="-201168">
              <a:spcAft>
                <a:spcPts val="1100"/>
              </a:spcAft>
              <a:buFont typeface="Arial"/>
              <a:buChar char="–"/>
            </a:pPr>
            <a:r>
              <a:rPr sz="1400" b="0" i="1">
                <a:solidFill>
                  <a:srgbClr val="6B7682"/>
                </a:solidFill>
                <a:latin typeface="Calibri"/>
              </a:rPr>
              <a:t>By the end of this session you should be able to explain how each cipher family works, and recommend the right one for a given scenario.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Foundations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cryptography is for, and the vocabulary we need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Why Cryptography Exists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Recall Week 9: the internet is an untrusted network. Any device along the path can read, copy, or modify the traffic passing through it.</a:t>
            </a:r>
          </a:p>
          <a:p>
            <a:pPr marL="201168" indent="-201168">
              <a:spcAft>
                <a:spcPts val="1100"/>
              </a:spcAft>
              <a:buFont typeface="Arial"/>
              <a:buChar char="–"/>
            </a:pPr>
            <a:r>
              <a:rPr sz="1500" b="0" i="0">
                <a:solidFill>
                  <a:srgbClr val="222A33"/>
                </a:solidFill>
                <a:latin typeface="Calibri"/>
              </a:rPr>
              <a:t>We usually cannot control the path, so we protect the data itself. Cryptography is the mathematics of making data unreadable, tamper-evident, and attributable, even when an attacker can see every packet.</a:t>
            </a:r>
          </a:p>
          <a:p>
            <a:pPr marL="201168" indent="-201168">
              <a:spcAft>
                <a:spcPts val="1100"/>
              </a:spcAft>
              <a:buFont typeface="Arial"/>
              <a:buChar char="–"/>
            </a:pPr>
            <a:r>
              <a:rPr sz="1500" b="0" i="0">
                <a:solidFill>
                  <a:srgbClr val="222A33"/>
                </a:solidFill>
                <a:latin typeface="Calibri"/>
              </a:rPr>
              <a:t>Almost every defence in this module depends on it: VPN tunnels (Week 9), AAA credential protection (Week 10), and secure routing authentication (Week 5) are all cryptography applied to a networking problem.</a:t>
            </a:r>
          </a:p>
          <a:p>
            <a:pPr marL="201168" indent="-201168">
              <a:spcAft>
                <a:spcPts val="1100"/>
              </a:spcAft>
              <a:buFont typeface="Arial"/>
              <a:buChar char="–"/>
            </a:pPr>
            <a:r>
              <a:rPr sz="1500" b="0" i="0">
                <a:solidFill>
                  <a:srgbClr val="222A33"/>
                </a:solidFill>
                <a:latin typeface="Calibri"/>
              </a:rPr>
              <a:t>Today and next we build the toolbox. This session covers encryption, which provides confidentiality. The next deck covers hashing, signatures, and certificates.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Four Security Services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graphicFrame>
        <p:nvGraphicFramePr>
          <p:cNvPr id="4" name="Table 3"/>
          <p:cNvGraphicFramePr>
            <a:graphicFrameLocks noGrp="1"/>
          </p:cNvGraphicFramePr>
          <p:nvPr/>
        </p:nvGraphicFramePr>
        <p:xfrm>
          <a:off x="274320" y="1737360"/>
          <a:ext cx="11612880" cy="32918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58368">
                <a:tc>
                  <a:txBody>
                    <a:bodyPr/>
                    <a:lstStyle/>
                    <a:p>
                      <a:r>
                        <a:rPr sz="1300" b="1" i="0">
                          <a:solidFill>
                            <a:srgbClr val="FFFFFF"/>
                          </a:solidFill>
                          <a:latin typeface="Calibri"/>
                        </a:rPr>
                        <a:t>Security Service</a:t>
                      </a:r>
                    </a:p>
                  </a:txBody>
                  <a:tcPr marL="73152" marR="73152" marT="27432" marB="27432" anchor="ctr">
                    <a:solidFill>
                      <a:srgbClr val="003054"/>
                    </a:solidFill>
                  </a:tcPr>
                </a:tc>
                <a:tc>
                  <a:txBody>
                    <a:bodyPr/>
                    <a:lstStyle/>
                    <a:p>
                      <a:r>
                        <a:rPr sz="1300" b="1" i="0">
                          <a:solidFill>
                            <a:srgbClr val="FFFFFF"/>
                          </a:solidFill>
                          <a:latin typeface="Calibri"/>
                        </a:rPr>
                        <a:t>The Question It Answers</a:t>
                      </a:r>
                    </a:p>
                  </a:txBody>
                  <a:tcPr marL="73152" marR="73152" marT="27432" marB="27432" anchor="ctr">
                    <a:solidFill>
                      <a:srgbClr val="003054"/>
                    </a:solidFill>
                  </a:tcPr>
                </a:tc>
                <a:tc>
                  <a:txBody>
                    <a:bodyPr/>
                    <a:lstStyle/>
                    <a:p>
                      <a:r>
                        <a:rPr sz="1300" b="1" i="0">
                          <a:solidFill>
                            <a:srgbClr val="FFFFFF"/>
                          </a:solidFill>
                          <a:latin typeface="Calibri"/>
                        </a:rPr>
                        <a:t>Cryptographic Tool</a:t>
                      </a:r>
                    </a:p>
                  </a:txBody>
                  <a:tcPr marL="73152" marR="73152" marT="27432" marB="27432" anchor="ctr">
                    <a:solidFill>
                      <a:srgbClr val="003054"/>
                    </a:solidFill>
                  </a:tcPr>
                </a:tc>
                <a:tc>
                  <a:txBody>
                    <a:bodyPr/>
                    <a:lstStyle/>
                    <a:p>
                      <a:r>
                        <a:rPr sz="1300" b="1" i="0">
                          <a:solidFill>
                            <a:srgbClr val="FFFFFF"/>
                          </a:solidFill>
                          <a:latin typeface="Calibri"/>
                        </a:rPr>
                        <a:t>Covered In</a:t>
                      </a:r>
                    </a:p>
                  </a:txBody>
                  <a:tcPr marL="73152" marR="73152" marT="27432" marB="27432" anchor="ctr">
                    <a:solidFill>
                      <a:srgbClr val="003054"/>
                    </a:solidFill>
                  </a:tcPr>
                </a:tc>
                <a:extLst>
                  <a:ext uri="{0D108BD9-81ED-4DB2-BD59-A6C34878D82A}">
                    <a16:rowId xmlns:a16="http://schemas.microsoft.com/office/drawing/2014/main" val="10000"/>
                  </a:ext>
                </a:extLst>
              </a:tr>
              <a:tr h="658368">
                <a:tc>
                  <a:txBody>
                    <a:bodyPr/>
                    <a:lstStyle/>
                    <a:p>
                      <a:r>
                        <a:rPr sz="1350" b="0" i="0">
                          <a:solidFill>
                            <a:srgbClr val="222A33"/>
                          </a:solidFill>
                          <a:latin typeface="Calibri"/>
                        </a:rPr>
                        <a:t>Confidentiality</a:t>
                      </a:r>
                    </a:p>
                  </a:txBody>
                  <a:tcPr marL="73152" marR="73152" marT="27432" marB="27432" anchor="ctr">
                    <a:solidFill>
                      <a:srgbClr val="FFFFFF"/>
                    </a:solidFill>
                  </a:tcPr>
                </a:tc>
                <a:tc>
                  <a:txBody>
                    <a:bodyPr/>
                    <a:lstStyle/>
                    <a:p>
                      <a:r>
                        <a:rPr sz="1350" b="0" i="0">
                          <a:solidFill>
                            <a:srgbClr val="222A33"/>
                          </a:solidFill>
                          <a:latin typeface="Calibri"/>
                        </a:rPr>
                        <a:t>Can anyone else read this?</a:t>
                      </a:r>
                    </a:p>
                  </a:txBody>
                  <a:tcPr marL="73152" marR="73152" marT="27432" marB="27432" anchor="ctr">
                    <a:solidFill>
                      <a:srgbClr val="FFFFFF"/>
                    </a:solidFill>
                  </a:tcPr>
                </a:tc>
                <a:tc>
                  <a:txBody>
                    <a:bodyPr/>
                    <a:lstStyle/>
                    <a:p>
                      <a:r>
                        <a:rPr sz="1350" b="0" i="0">
                          <a:solidFill>
                            <a:srgbClr val="222A33"/>
                          </a:solidFill>
                          <a:latin typeface="Calibri"/>
                        </a:rPr>
                        <a:t>Symmetric and asymmetric encryption</a:t>
                      </a:r>
                    </a:p>
                  </a:txBody>
                  <a:tcPr marL="73152" marR="73152" marT="27432" marB="27432" anchor="ctr">
                    <a:solidFill>
                      <a:srgbClr val="FFFFFF"/>
                    </a:solidFill>
                  </a:tcPr>
                </a:tc>
                <a:tc>
                  <a:txBody>
                    <a:bodyPr/>
                    <a:lstStyle/>
                    <a:p>
                      <a:r>
                        <a:rPr sz="1350" b="0" i="0">
                          <a:solidFill>
                            <a:srgbClr val="222A33"/>
                          </a:solidFill>
                          <a:latin typeface="Calibri"/>
                        </a:rPr>
                        <a:t>This deck</a:t>
                      </a:r>
                    </a:p>
                  </a:txBody>
                  <a:tcPr marL="73152" marR="73152" marT="27432" marB="27432" anchor="ctr">
                    <a:solidFill>
                      <a:srgbClr val="FFFFFF"/>
                    </a:solidFill>
                  </a:tcPr>
                </a:tc>
                <a:extLst>
                  <a:ext uri="{0D108BD9-81ED-4DB2-BD59-A6C34878D82A}">
                    <a16:rowId xmlns:a16="http://schemas.microsoft.com/office/drawing/2014/main" val="10001"/>
                  </a:ext>
                </a:extLst>
              </a:tr>
              <a:tr h="658368">
                <a:tc>
                  <a:txBody>
                    <a:bodyPr/>
                    <a:lstStyle/>
                    <a:p>
                      <a:r>
                        <a:rPr sz="1350" b="0" i="0">
                          <a:solidFill>
                            <a:srgbClr val="222A33"/>
                          </a:solidFill>
                          <a:latin typeface="Calibri"/>
                        </a:rPr>
                        <a:t>Integrity</a:t>
                      </a:r>
                    </a:p>
                  </a:txBody>
                  <a:tcPr marL="73152" marR="73152" marT="27432" marB="27432" anchor="ctr">
                    <a:solidFill>
                      <a:srgbClr val="F2F4F7"/>
                    </a:solidFill>
                  </a:tcPr>
                </a:tc>
                <a:tc>
                  <a:txBody>
                    <a:bodyPr/>
                    <a:lstStyle/>
                    <a:p>
                      <a:r>
                        <a:rPr sz="1350" b="0" i="0">
                          <a:solidFill>
                            <a:srgbClr val="222A33"/>
                          </a:solidFill>
                          <a:latin typeface="Calibri"/>
                        </a:rPr>
                        <a:t>Was this changed in transit?</a:t>
                      </a:r>
                    </a:p>
                  </a:txBody>
                  <a:tcPr marL="73152" marR="73152" marT="27432" marB="27432" anchor="ctr">
                    <a:solidFill>
                      <a:srgbClr val="F2F4F7"/>
                    </a:solidFill>
                  </a:tcPr>
                </a:tc>
                <a:tc>
                  <a:txBody>
                    <a:bodyPr/>
                    <a:lstStyle/>
                    <a:p>
                      <a:r>
                        <a:rPr sz="1350" b="0" i="0">
                          <a:solidFill>
                            <a:srgbClr val="222A33"/>
                          </a:solidFill>
                          <a:latin typeface="Calibri"/>
                        </a:rPr>
                        <a:t>Hash functions, MACs</a:t>
                      </a:r>
                    </a:p>
                  </a:txBody>
                  <a:tcPr marL="73152" marR="73152" marT="27432" marB="27432" anchor="ctr">
                    <a:solidFill>
                      <a:srgbClr val="F2F4F7"/>
                    </a:solidFill>
                  </a:tcPr>
                </a:tc>
                <a:tc>
                  <a:txBody>
                    <a:bodyPr/>
                    <a:lstStyle/>
                    <a:p>
                      <a:r>
                        <a:rPr sz="1350" b="0" i="0">
                          <a:solidFill>
                            <a:srgbClr val="222A33"/>
                          </a:solidFill>
                          <a:latin typeface="Calibri"/>
                        </a:rPr>
                        <a:t>Next deck</a:t>
                      </a:r>
                    </a:p>
                  </a:txBody>
                  <a:tcPr marL="73152" marR="73152" marT="27432" marB="27432" anchor="ctr">
                    <a:solidFill>
                      <a:srgbClr val="F2F4F7"/>
                    </a:solidFill>
                  </a:tcPr>
                </a:tc>
                <a:extLst>
                  <a:ext uri="{0D108BD9-81ED-4DB2-BD59-A6C34878D82A}">
                    <a16:rowId xmlns:a16="http://schemas.microsoft.com/office/drawing/2014/main" val="10002"/>
                  </a:ext>
                </a:extLst>
              </a:tr>
              <a:tr h="658368">
                <a:tc>
                  <a:txBody>
                    <a:bodyPr/>
                    <a:lstStyle/>
                    <a:p>
                      <a:r>
                        <a:rPr sz="1350" b="0" i="0">
                          <a:solidFill>
                            <a:srgbClr val="222A33"/>
                          </a:solidFill>
                          <a:latin typeface="Calibri"/>
                        </a:rPr>
                        <a:t>Authentication</a:t>
                      </a:r>
                    </a:p>
                  </a:txBody>
                  <a:tcPr marL="73152" marR="73152" marT="27432" marB="27432" anchor="ctr">
                    <a:solidFill>
                      <a:srgbClr val="FFFFFF"/>
                    </a:solidFill>
                  </a:tcPr>
                </a:tc>
                <a:tc>
                  <a:txBody>
                    <a:bodyPr/>
                    <a:lstStyle/>
                    <a:p>
                      <a:r>
                        <a:rPr sz="1350" b="0" i="0">
                          <a:solidFill>
                            <a:srgbClr val="222A33"/>
                          </a:solidFill>
                          <a:latin typeface="Calibri"/>
                        </a:rPr>
                        <a:t>Who really sent this?</a:t>
                      </a:r>
                    </a:p>
                  </a:txBody>
                  <a:tcPr marL="73152" marR="73152" marT="27432" marB="27432" anchor="ctr">
                    <a:solidFill>
                      <a:srgbClr val="FFFFFF"/>
                    </a:solidFill>
                  </a:tcPr>
                </a:tc>
                <a:tc>
                  <a:txBody>
                    <a:bodyPr/>
                    <a:lstStyle/>
                    <a:p>
                      <a:r>
                        <a:rPr sz="1350" b="0" i="0">
                          <a:solidFill>
                            <a:srgbClr val="222A33"/>
                          </a:solidFill>
                          <a:latin typeface="Calibri"/>
                        </a:rPr>
                        <a:t>MACs, digital signatures, certificates</a:t>
                      </a:r>
                    </a:p>
                  </a:txBody>
                  <a:tcPr marL="73152" marR="73152" marT="27432" marB="27432" anchor="ctr">
                    <a:solidFill>
                      <a:srgbClr val="FFFFFF"/>
                    </a:solidFill>
                  </a:tcPr>
                </a:tc>
                <a:tc>
                  <a:txBody>
                    <a:bodyPr/>
                    <a:lstStyle/>
                    <a:p>
                      <a:r>
                        <a:rPr sz="1350" b="0" i="0">
                          <a:solidFill>
                            <a:srgbClr val="222A33"/>
                          </a:solidFill>
                          <a:latin typeface="Calibri"/>
                        </a:rPr>
                        <a:t>Next deck</a:t>
                      </a:r>
                    </a:p>
                  </a:txBody>
                  <a:tcPr marL="73152" marR="73152" marT="27432" marB="27432" anchor="ctr">
                    <a:solidFill>
                      <a:srgbClr val="FFFFFF"/>
                    </a:solidFill>
                  </a:tcPr>
                </a:tc>
                <a:extLst>
                  <a:ext uri="{0D108BD9-81ED-4DB2-BD59-A6C34878D82A}">
                    <a16:rowId xmlns:a16="http://schemas.microsoft.com/office/drawing/2014/main" val="10003"/>
                  </a:ext>
                </a:extLst>
              </a:tr>
              <a:tr h="658368">
                <a:tc>
                  <a:txBody>
                    <a:bodyPr/>
                    <a:lstStyle/>
                    <a:p>
                      <a:r>
                        <a:rPr sz="1350" b="0" i="0">
                          <a:solidFill>
                            <a:srgbClr val="222A33"/>
                          </a:solidFill>
                          <a:latin typeface="Calibri"/>
                        </a:rPr>
                        <a:t>Non-repudiation</a:t>
                      </a:r>
                    </a:p>
                  </a:txBody>
                  <a:tcPr marL="73152" marR="73152" marT="27432" marB="27432" anchor="ctr">
                    <a:solidFill>
                      <a:srgbClr val="F2F4F7"/>
                    </a:solidFill>
                  </a:tcPr>
                </a:tc>
                <a:tc>
                  <a:txBody>
                    <a:bodyPr/>
                    <a:lstStyle/>
                    <a:p>
                      <a:r>
                        <a:rPr sz="1350" b="0" i="0">
                          <a:solidFill>
                            <a:srgbClr val="222A33"/>
                          </a:solidFill>
                          <a:latin typeface="Calibri"/>
                        </a:rPr>
                        <a:t>Can the sender deny it later?</a:t>
                      </a:r>
                    </a:p>
                  </a:txBody>
                  <a:tcPr marL="73152" marR="73152" marT="27432" marB="27432" anchor="ctr">
                    <a:solidFill>
                      <a:srgbClr val="F2F4F7"/>
                    </a:solidFill>
                  </a:tcPr>
                </a:tc>
                <a:tc>
                  <a:txBody>
                    <a:bodyPr/>
                    <a:lstStyle/>
                    <a:p>
                      <a:r>
                        <a:rPr sz="1350" b="0" i="0">
                          <a:solidFill>
                            <a:srgbClr val="222A33"/>
                          </a:solidFill>
                          <a:latin typeface="Calibri"/>
                        </a:rPr>
                        <a:t>Digital signatures</a:t>
                      </a:r>
                    </a:p>
                  </a:txBody>
                  <a:tcPr marL="73152" marR="73152" marT="27432" marB="27432" anchor="ctr">
                    <a:solidFill>
                      <a:srgbClr val="F2F4F7"/>
                    </a:solidFill>
                  </a:tcPr>
                </a:tc>
                <a:tc>
                  <a:txBody>
                    <a:bodyPr/>
                    <a:lstStyle/>
                    <a:p>
                      <a:r>
                        <a:rPr sz="1350" b="0" i="0">
                          <a:solidFill>
                            <a:srgbClr val="222A33"/>
                          </a:solidFill>
                          <a:latin typeface="Calibri"/>
                        </a:rPr>
                        <a:t>Next deck</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Non-repudiation is the same concept met in Week 2, and the goal that command accounting supported in Week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Terminology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Rounded Rectangle 3"/>
          <p:cNvSpPr/>
          <p:nvPr/>
        </p:nvSpPr>
        <p:spPr>
          <a:xfrm>
            <a:off x="731520" y="2743200"/>
            <a:ext cx="1554480" cy="91440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Plaintext</a:t>
            </a:r>
          </a:p>
        </p:txBody>
      </p:sp>
      <p:sp>
        <p:nvSpPr>
          <p:cNvPr id="5" name="Rounded Rectangle 4"/>
          <p:cNvSpPr/>
          <p:nvPr/>
        </p:nvSpPr>
        <p:spPr>
          <a:xfrm>
            <a:off x="2743200" y="2743200"/>
            <a:ext cx="2103120" cy="91440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Encrypt
(algorithm)</a:t>
            </a:r>
          </a:p>
        </p:txBody>
      </p:sp>
      <p:sp>
        <p:nvSpPr>
          <p:cNvPr id="6" name="Rounded Rectangle 5"/>
          <p:cNvSpPr/>
          <p:nvPr/>
        </p:nvSpPr>
        <p:spPr>
          <a:xfrm>
            <a:off x="5303520" y="2743200"/>
            <a:ext cx="1554480" cy="9144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Ciphertext</a:t>
            </a:r>
          </a:p>
        </p:txBody>
      </p:sp>
      <p:sp>
        <p:nvSpPr>
          <p:cNvPr id="7" name="Rounded Rectangle 6"/>
          <p:cNvSpPr/>
          <p:nvPr/>
        </p:nvSpPr>
        <p:spPr>
          <a:xfrm>
            <a:off x="7132320" y="2743200"/>
            <a:ext cx="2103120" cy="91440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Decrypt
(algorithm)</a:t>
            </a:r>
          </a:p>
        </p:txBody>
      </p:sp>
      <p:sp>
        <p:nvSpPr>
          <p:cNvPr id="8" name="Rounded Rectangle 7"/>
          <p:cNvSpPr/>
          <p:nvPr/>
        </p:nvSpPr>
        <p:spPr>
          <a:xfrm>
            <a:off x="9692640" y="2743200"/>
            <a:ext cx="1554480" cy="91440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Plaintext</a:t>
            </a:r>
          </a:p>
        </p:txBody>
      </p:sp>
      <p:cxnSp>
        <p:nvCxnSpPr>
          <p:cNvPr id="9" name="Connector 8"/>
          <p:cNvCxnSpPr/>
          <p:nvPr/>
        </p:nvCxnSpPr>
        <p:spPr>
          <a:xfrm>
            <a:off x="2286000" y="3200400"/>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46320" y="3200400"/>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200400"/>
            <a:ext cx="27432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235440" y="3200400"/>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00400" y="1920240"/>
            <a:ext cx="1188719" cy="45720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Key</a:t>
            </a:r>
          </a:p>
        </p:txBody>
      </p:sp>
      <p:cxnSp>
        <p:nvCxnSpPr>
          <p:cNvPr id="14" name="Connector 13"/>
          <p:cNvCxnSpPr/>
          <p:nvPr/>
        </p:nvCxnSpPr>
        <p:spPr>
          <a:xfrm>
            <a:off x="3794760" y="2377440"/>
            <a:ext cx="0" cy="365760"/>
          </a:xfrm>
          <a:prstGeom prst="line">
            <a:avLst/>
          </a:prstGeom>
          <a:ln w="25400">
            <a:solidFill>
              <a:srgbClr val="196B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589520" y="1920240"/>
            <a:ext cx="1188719" cy="45720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Key</a:t>
            </a:r>
          </a:p>
        </p:txBody>
      </p:sp>
      <p:cxnSp>
        <p:nvCxnSpPr>
          <p:cNvPr id="16" name="Connector 15"/>
          <p:cNvCxnSpPr/>
          <p:nvPr/>
        </p:nvCxnSpPr>
        <p:spPr>
          <a:xfrm>
            <a:off x="8183879" y="2377440"/>
            <a:ext cx="0" cy="365760"/>
          </a:xfrm>
          <a:prstGeom prst="line">
            <a:avLst/>
          </a:prstGeom>
          <a:ln w="25400">
            <a:solidFill>
              <a:srgbClr val="196B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023360"/>
            <a:ext cx="10698480" cy="18288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Plaintext is the readable original; ciphertext is the scrambled result. The algorithm (cipher) is the method; the key is the secret value that controls it.</a:t>
            </a:r>
          </a:p>
          <a:p>
            <a:pPr marL="201168" indent="-201168">
              <a:spcAft>
                <a:spcPts val="1100"/>
              </a:spcAft>
              <a:buFont typeface="Arial"/>
              <a:buChar char="–"/>
            </a:pPr>
            <a:r>
              <a:rPr sz="1400" b="0" i="0">
                <a:solidFill>
                  <a:srgbClr val="222A33"/>
                </a:solidFill>
                <a:latin typeface="Calibri"/>
              </a:rPr>
              <a:t>Encryption turns plaintext into ciphertext. Decryption reverses it. Cryptanalysis is the study of breaking this without the key.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Kerckhoffs's Principle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 cryptosystem should remain secure even if everything about it, except the key, is public knowledge.</a:t>
            </a:r>
          </a:p>
          <a:p>
            <a:pPr marL="201168" indent="-201168">
              <a:spcAft>
                <a:spcPts val="1100"/>
              </a:spcAft>
              <a:buFont typeface="Arial"/>
              <a:buChar char="–"/>
            </a:pPr>
            <a:r>
              <a:rPr sz="1500" b="0" i="0">
                <a:solidFill>
                  <a:srgbClr val="222A33"/>
                </a:solidFill>
                <a:latin typeface="Calibri"/>
              </a:rPr>
              <a:t>Why this matters: secret algorithms get leaked, reverse engineered, or simply turn out to be weak. Public algorithms get attacked by thousands of researchers, and the survivors earn trust. AES was selected through an open public competition for exactly this reason.</a:t>
            </a:r>
          </a:p>
          <a:p>
            <a:pPr marL="201168" indent="-201168">
              <a:spcAft>
                <a:spcPts val="1100"/>
              </a:spcAft>
              <a:buFont typeface="Arial"/>
              <a:buChar char="–"/>
            </a:pPr>
            <a:r>
              <a:rPr sz="1500" b="0" i="0">
                <a:solidFill>
                  <a:srgbClr val="222A33"/>
                </a:solidFill>
                <a:latin typeface="Calibri"/>
              </a:rPr>
              <a:t>The practical consequence: never design your own cipher and never rely on obscurity. Use standard, well-reviewed algorithms, and put all of your effort into protecting the key.</a:t>
            </a:r>
          </a:p>
          <a:p>
            <a:pPr marL="201168" indent="-201168">
              <a:spcAft>
                <a:spcPts val="1100"/>
              </a:spcAft>
              <a:buFont typeface="Arial"/>
              <a:buChar char="–"/>
            </a:pPr>
            <a:r>
              <a:rPr sz="1500" b="0" i="0">
                <a:solidFill>
                  <a:srgbClr val="222A33"/>
                </a:solidFill>
                <a:latin typeface="Calibri"/>
              </a:rPr>
              <a:t>The warning examples are the proprietary ciphers such as GSM's A5/1 and WEP's RC4 usage, which were weakened or broken once they were examined openly. We meet both later today.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Callback: Week 9 Was Built From These Primitives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Recall the IPsec framework table: confidentiality (DES, 3DES, AES), integrity (MD5, SHA), authentication (pre-shared key or RSA signatures), and a Diffie-Hellman group. Every row is a cryptographic primitive.</a:t>
            </a:r>
          </a:p>
          <a:p>
            <a:pPr marL="201168" indent="-201168">
              <a:spcAft>
                <a:spcPts val="1100"/>
              </a:spcAft>
              <a:buFont typeface="Arial"/>
              <a:buChar char="–"/>
            </a:pPr>
            <a:r>
              <a:rPr sz="1500" b="0" i="0">
                <a:solidFill>
                  <a:srgbClr val="222A33"/>
                </a:solidFill>
                <a:latin typeface="Calibri"/>
              </a:rPr>
              <a:t>Recall the SSL VPN building blocks: key exchange, authentication, and bulk encryption. The bulk encryption row listed RC4 and ChaCha20 alongside DES, 3DES, and AES.</a:t>
            </a:r>
          </a:p>
          <a:p>
            <a:pPr marL="201168" indent="-201168">
              <a:spcAft>
                <a:spcPts val="1100"/>
              </a:spcAft>
              <a:buFont typeface="Arial"/>
              <a:buChar char="–"/>
            </a:pPr>
            <a:r>
              <a:rPr sz="1500" b="0" i="0">
                <a:solidFill>
                  <a:srgbClr val="222A33"/>
                </a:solidFill>
                <a:latin typeface="Calibri"/>
              </a:rPr>
              <a:t>Those two groups are exactly the two families we examine today: stream ciphers (RC4, ChaCha20) and block ciphers (DES, 3DES, AES).</a:t>
            </a:r>
          </a:p>
          <a:p>
            <a:pPr marL="201168" indent="-201168">
              <a:spcAft>
                <a:spcPts val="1100"/>
              </a:spcAft>
              <a:buFont typeface="Arial"/>
              <a:buChar char="–"/>
            </a:pPr>
            <a:r>
              <a:rPr sz="1500" b="0" i="0">
                <a:solidFill>
                  <a:srgbClr val="222A33"/>
                </a:solidFill>
                <a:latin typeface="Calibri"/>
              </a:rPr>
              <a:t>By the end of the next deck you will be able to explain every cell of both tables, not just recognise the names.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Classical Ciphers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Simple ideas, and why they fail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Substitution and Transposition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CLASSICAL CIPHERS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Substitution: replace each symbol with a different symbol. The letters keep their positions but change their identity. Caesar and Vigenere are both substitution ciphers.</a:t>
            </a:r>
          </a:p>
          <a:p>
            <a:pPr marL="201168" indent="-201168">
              <a:spcAft>
                <a:spcPts val="1100"/>
              </a:spcAft>
              <a:buFont typeface="Arial"/>
              <a:buChar char="–"/>
            </a:pPr>
            <a:r>
              <a:rPr sz="1500" b="0" i="0">
                <a:solidFill>
                  <a:srgbClr val="222A33"/>
                </a:solidFill>
                <a:latin typeface="Calibri"/>
              </a:rPr>
              <a:t>Transposition: rearrange the positions of the symbols without changing them. For example, write a message in rows of five and read it out column by column.</a:t>
            </a:r>
          </a:p>
          <a:p>
            <a:pPr marL="201168" indent="-201168">
              <a:spcAft>
                <a:spcPts val="1100"/>
              </a:spcAft>
              <a:buFont typeface="Arial"/>
              <a:buChar char="–"/>
            </a:pPr>
            <a:r>
              <a:rPr sz="1500" b="0" i="0">
                <a:solidFill>
                  <a:srgbClr val="222A33"/>
                </a:solidFill>
                <a:latin typeface="Calibri"/>
              </a:rPr>
              <a:t>Every modern cipher combines both ideas many times over, which is why we study the simple versions first. Substitution hides which symbol is which; transposition spreads the message out.</a:t>
            </a:r>
          </a:p>
          <a:p>
            <a:pPr marL="201168" indent="-201168">
              <a:spcAft>
                <a:spcPts val="1100"/>
              </a:spcAft>
              <a:buFont typeface="Arial"/>
              <a:buChar char="–"/>
            </a:pPr>
            <a:r>
              <a:rPr sz="1500" b="0" i="0">
                <a:solidFill>
                  <a:srgbClr val="222A33"/>
                </a:solidFill>
                <a:latin typeface="Calibri"/>
              </a:rPr>
              <a:t>Classical ciphers are not used for real security today. Their value is that their failure is easy to see, and the failures teach the design goals of modern ciphers.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Caesar Cipher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CLASSICAL CIPHERS</a:t>
            </a:r>
          </a:p>
        </p:txBody>
      </p:sp>
      <p:sp>
        <p:nvSpPr>
          <p:cNvPr id="4" name="TextBox 3"/>
          <p:cNvSpPr txBox="1"/>
          <p:nvPr/>
        </p:nvSpPr>
        <p:spPr>
          <a:xfrm>
            <a:off x="731520" y="1828800"/>
            <a:ext cx="10698480" cy="146304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Mechanism: shift every letter forward by a fixed number of places in the alphabet. The shift amount is the key. Julius Caesar reportedly used a shift of 3.</a:t>
            </a:r>
          </a:p>
          <a:p>
            <a:pPr marL="201168" indent="-201168">
              <a:spcAft>
                <a:spcPts val="1100"/>
              </a:spcAft>
              <a:buFont typeface="Arial"/>
              <a:buChar char="–"/>
            </a:pPr>
            <a:r>
              <a:rPr sz="1500" b="0" i="0">
                <a:solidFill>
                  <a:srgbClr val="222A33"/>
                </a:solidFill>
                <a:latin typeface="Calibri"/>
              </a:rPr>
              <a:t>Worked example with a key of 3: A becomes D, B becomes E, and so on, wrapping from Z back to A.</a:t>
            </a:r>
          </a:p>
        </p:txBody>
      </p:sp>
      <p:sp>
        <p:nvSpPr>
          <p:cNvPr id="5" name="Rounded Rectangle 4"/>
          <p:cNvSpPr/>
          <p:nvPr/>
        </p:nvSpPr>
        <p:spPr>
          <a:xfrm>
            <a:off x="1097280" y="3383280"/>
            <a:ext cx="310896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i="0">
                <a:solidFill>
                  <a:srgbClr val="FFFFFF"/>
                </a:solidFill>
                <a:latin typeface="Calibri"/>
              </a:rPr>
              <a:t>HELLO</a:t>
            </a:r>
          </a:p>
        </p:txBody>
      </p:sp>
      <p:cxnSp>
        <p:nvCxnSpPr>
          <p:cNvPr id="6" name="Connector 5"/>
          <p:cNvCxnSpPr/>
          <p:nvPr/>
        </p:nvCxnSpPr>
        <p:spPr>
          <a:xfrm>
            <a:off x="4206240" y="3703320"/>
            <a:ext cx="36576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3246120"/>
            <a:ext cx="2743200" cy="3657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222A33"/>
                </a:solidFill>
                <a:latin typeface="Calibri"/>
              </a:rPr>
              <a:t>shift each letter by 3</a:t>
            </a:r>
          </a:p>
        </p:txBody>
      </p:sp>
      <p:sp>
        <p:nvSpPr>
          <p:cNvPr id="8" name="Rounded Rectangle 7"/>
          <p:cNvSpPr/>
          <p:nvPr/>
        </p:nvSpPr>
        <p:spPr>
          <a:xfrm>
            <a:off x="7863840" y="3383280"/>
            <a:ext cx="3108960" cy="64008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i="0">
                <a:solidFill>
                  <a:srgbClr val="FFFFFF"/>
                </a:solidFill>
                <a:latin typeface="Calibri"/>
              </a:rPr>
              <a:t>KHOOR</a:t>
            </a:r>
          </a:p>
        </p:txBody>
      </p:sp>
      <p:sp>
        <p:nvSpPr>
          <p:cNvPr id="9" name="TextBox 8"/>
          <p:cNvSpPr txBox="1"/>
          <p:nvPr/>
        </p:nvSpPr>
        <p:spPr>
          <a:xfrm>
            <a:off x="731520" y="4297680"/>
            <a:ext cx="10698480" cy="164592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Decryption shifts backwards by the same amount. Sender and receiver must share the key (the shift), which makes this a symmetric cipher.</a:t>
            </a:r>
          </a:p>
          <a:p>
            <a:pPr marL="201168" indent="-201168">
              <a:spcAft>
                <a:spcPts val="1100"/>
              </a:spcAft>
              <a:buFont typeface="Arial"/>
              <a:buChar char="–"/>
            </a:pPr>
            <a:r>
              <a:rPr sz="1500" b="0" i="0">
                <a:solidFill>
                  <a:srgbClr val="222A33"/>
                </a:solidFill>
                <a:latin typeface="Calibri"/>
              </a:rPr>
              <a:t>Strength: trivial to use by hand. Weakness: there are only 25 possible keys, so an attacker simply tries all of them.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Vigenere Cipher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CLASSICAL CIPHERS</a:t>
            </a:r>
          </a:p>
        </p:txBody>
      </p:sp>
      <p:sp>
        <p:nvSpPr>
          <p:cNvPr id="4" name="TextBox 3"/>
          <p:cNvSpPr txBox="1"/>
          <p:nvPr/>
        </p:nvSpPr>
        <p:spPr>
          <a:xfrm>
            <a:off x="731520" y="1828800"/>
            <a:ext cx="10698480" cy="137160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Mechanism: use a keyword instead of a single shift. Repeat the keyword along the message, and shift each letter by the value of the keyword letter above it (A is 0, B is 1, and so on).</a:t>
            </a:r>
          </a:p>
          <a:p>
            <a:pPr marL="201168" indent="-201168">
              <a:spcAft>
                <a:spcPts val="1100"/>
              </a:spcAft>
              <a:buFont typeface="Arial"/>
              <a:buChar char="–"/>
            </a:pPr>
            <a:r>
              <a:rPr sz="1500" b="0" i="0">
                <a:solidFill>
                  <a:srgbClr val="222A33"/>
                </a:solidFill>
                <a:latin typeface="Calibri"/>
              </a:rPr>
              <a:t>Worked example with the keyword LEMON and the message ATTACKATDAWN:</a:t>
            </a:r>
          </a:p>
        </p:txBody>
      </p:sp>
      <p:graphicFrame>
        <p:nvGraphicFramePr>
          <p:cNvPr id="5" name="Table 4"/>
          <p:cNvGraphicFramePr>
            <a:graphicFrameLocks noGrp="1"/>
          </p:cNvGraphicFramePr>
          <p:nvPr/>
        </p:nvGraphicFramePr>
        <p:xfrm>
          <a:off x="731520" y="3200400"/>
          <a:ext cx="10789920" cy="12801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731520">
                  <a:extLst>
                    <a:ext uri="{9D8B030D-6E8A-4147-A177-3AD203B41FA5}">
                      <a16:colId xmlns:a16="http://schemas.microsoft.com/office/drawing/2014/main" val="20009"/>
                    </a:ext>
                  </a:extLst>
                </a:gridCol>
                <a:gridCol w="731520">
                  <a:extLst>
                    <a:ext uri="{9D8B030D-6E8A-4147-A177-3AD203B41FA5}">
                      <a16:colId xmlns:a16="http://schemas.microsoft.com/office/drawing/2014/main" val="20010"/>
                    </a:ext>
                  </a:extLst>
                </a:gridCol>
                <a:gridCol w="731520">
                  <a:extLst>
                    <a:ext uri="{9D8B030D-6E8A-4147-A177-3AD203B41FA5}">
                      <a16:colId xmlns:a16="http://schemas.microsoft.com/office/drawing/2014/main" val="20011"/>
                    </a:ext>
                  </a:extLst>
                </a:gridCol>
                <a:gridCol w="731520">
                  <a:extLst>
                    <a:ext uri="{9D8B030D-6E8A-4147-A177-3AD203B41FA5}">
                      <a16:colId xmlns:a16="http://schemas.microsoft.com/office/drawing/2014/main" val="20012"/>
                    </a:ext>
                  </a:extLst>
                </a:gridCol>
              </a:tblGrid>
              <a:tr h="426720">
                <a:tc>
                  <a:txBody>
                    <a:bodyPr/>
                    <a:lstStyle/>
                    <a:p>
                      <a:r>
                        <a:rPr sz="1300" b="1" i="0">
                          <a:solidFill>
                            <a:srgbClr val="FFFFFF"/>
                          </a:solidFill>
                          <a:latin typeface="Calibri"/>
                        </a:rPr>
                        <a:t>Message</a:t>
                      </a:r>
                    </a:p>
                  </a:txBody>
                  <a:tcPr marL="73152" marR="73152" marT="27432" marB="27432" anchor="ctr">
                    <a:solidFill>
                      <a:srgbClr val="003054"/>
                    </a:solidFill>
                  </a:tcPr>
                </a:tc>
                <a:tc>
                  <a:txBody>
                    <a:bodyPr/>
                    <a:lstStyle/>
                    <a:p>
                      <a:r>
                        <a:rPr sz="1300" b="1" i="0">
                          <a:solidFill>
                            <a:srgbClr val="FFFFFF"/>
                          </a:solidFill>
                          <a:latin typeface="Calibri"/>
                        </a:rPr>
                        <a:t>A</a:t>
                      </a:r>
                    </a:p>
                  </a:txBody>
                  <a:tcPr marL="73152" marR="73152" marT="27432" marB="27432" anchor="ctr">
                    <a:solidFill>
                      <a:srgbClr val="003054"/>
                    </a:solidFill>
                  </a:tcPr>
                </a:tc>
                <a:tc>
                  <a:txBody>
                    <a:bodyPr/>
                    <a:lstStyle/>
                    <a:p>
                      <a:r>
                        <a:rPr sz="1300" b="1" i="0">
                          <a:solidFill>
                            <a:srgbClr val="FFFFFF"/>
                          </a:solidFill>
                          <a:latin typeface="Calibri"/>
                        </a:rPr>
                        <a:t>T</a:t>
                      </a:r>
                    </a:p>
                  </a:txBody>
                  <a:tcPr marL="73152" marR="73152" marT="27432" marB="27432" anchor="ctr">
                    <a:solidFill>
                      <a:srgbClr val="003054"/>
                    </a:solidFill>
                  </a:tcPr>
                </a:tc>
                <a:tc>
                  <a:txBody>
                    <a:bodyPr/>
                    <a:lstStyle/>
                    <a:p>
                      <a:r>
                        <a:rPr sz="1300" b="1" i="0">
                          <a:solidFill>
                            <a:srgbClr val="FFFFFF"/>
                          </a:solidFill>
                          <a:latin typeface="Calibri"/>
                        </a:rPr>
                        <a:t>T</a:t>
                      </a:r>
                    </a:p>
                  </a:txBody>
                  <a:tcPr marL="73152" marR="73152" marT="27432" marB="27432" anchor="ctr">
                    <a:solidFill>
                      <a:srgbClr val="003054"/>
                    </a:solidFill>
                  </a:tcPr>
                </a:tc>
                <a:tc>
                  <a:txBody>
                    <a:bodyPr/>
                    <a:lstStyle/>
                    <a:p>
                      <a:r>
                        <a:rPr sz="1300" b="1" i="0">
                          <a:solidFill>
                            <a:srgbClr val="FFFFFF"/>
                          </a:solidFill>
                          <a:latin typeface="Calibri"/>
                        </a:rPr>
                        <a:t>A</a:t>
                      </a:r>
                    </a:p>
                  </a:txBody>
                  <a:tcPr marL="73152" marR="73152" marT="27432" marB="27432" anchor="ctr">
                    <a:solidFill>
                      <a:srgbClr val="003054"/>
                    </a:solidFill>
                  </a:tcPr>
                </a:tc>
                <a:tc>
                  <a:txBody>
                    <a:bodyPr/>
                    <a:lstStyle/>
                    <a:p>
                      <a:r>
                        <a:rPr sz="1300" b="1" i="0">
                          <a:solidFill>
                            <a:srgbClr val="FFFFFF"/>
                          </a:solidFill>
                          <a:latin typeface="Calibri"/>
                        </a:rPr>
                        <a:t>C</a:t>
                      </a:r>
                    </a:p>
                  </a:txBody>
                  <a:tcPr marL="73152" marR="73152" marT="27432" marB="27432" anchor="ctr">
                    <a:solidFill>
                      <a:srgbClr val="003054"/>
                    </a:solidFill>
                  </a:tcPr>
                </a:tc>
                <a:tc>
                  <a:txBody>
                    <a:bodyPr/>
                    <a:lstStyle/>
                    <a:p>
                      <a:r>
                        <a:rPr sz="1300" b="1" i="0">
                          <a:solidFill>
                            <a:srgbClr val="FFFFFF"/>
                          </a:solidFill>
                          <a:latin typeface="Calibri"/>
                        </a:rPr>
                        <a:t>K</a:t>
                      </a:r>
                    </a:p>
                  </a:txBody>
                  <a:tcPr marL="73152" marR="73152" marT="27432" marB="27432" anchor="ctr">
                    <a:solidFill>
                      <a:srgbClr val="003054"/>
                    </a:solidFill>
                  </a:tcPr>
                </a:tc>
                <a:tc>
                  <a:txBody>
                    <a:bodyPr/>
                    <a:lstStyle/>
                    <a:p>
                      <a:r>
                        <a:rPr sz="1300" b="1" i="0">
                          <a:solidFill>
                            <a:srgbClr val="FFFFFF"/>
                          </a:solidFill>
                          <a:latin typeface="Calibri"/>
                        </a:rPr>
                        <a:t>A</a:t>
                      </a:r>
                    </a:p>
                  </a:txBody>
                  <a:tcPr marL="73152" marR="73152" marT="27432" marB="27432" anchor="ctr">
                    <a:solidFill>
                      <a:srgbClr val="003054"/>
                    </a:solidFill>
                  </a:tcPr>
                </a:tc>
                <a:tc>
                  <a:txBody>
                    <a:bodyPr/>
                    <a:lstStyle/>
                    <a:p>
                      <a:r>
                        <a:rPr sz="1300" b="1" i="0">
                          <a:solidFill>
                            <a:srgbClr val="FFFFFF"/>
                          </a:solidFill>
                          <a:latin typeface="Calibri"/>
                        </a:rPr>
                        <a:t>T</a:t>
                      </a:r>
                    </a:p>
                  </a:txBody>
                  <a:tcPr marL="73152" marR="73152" marT="27432" marB="27432" anchor="ctr">
                    <a:solidFill>
                      <a:srgbClr val="003054"/>
                    </a:solidFill>
                  </a:tcPr>
                </a:tc>
                <a:tc>
                  <a:txBody>
                    <a:bodyPr/>
                    <a:lstStyle/>
                    <a:p>
                      <a:r>
                        <a:rPr sz="1300" b="1" i="0">
                          <a:solidFill>
                            <a:srgbClr val="FFFFFF"/>
                          </a:solidFill>
                          <a:latin typeface="Calibri"/>
                        </a:rPr>
                        <a:t>D</a:t>
                      </a:r>
                    </a:p>
                  </a:txBody>
                  <a:tcPr marL="73152" marR="73152" marT="27432" marB="27432" anchor="ctr">
                    <a:solidFill>
                      <a:srgbClr val="003054"/>
                    </a:solidFill>
                  </a:tcPr>
                </a:tc>
                <a:tc>
                  <a:txBody>
                    <a:bodyPr/>
                    <a:lstStyle/>
                    <a:p>
                      <a:r>
                        <a:rPr sz="1300" b="1" i="0">
                          <a:solidFill>
                            <a:srgbClr val="FFFFFF"/>
                          </a:solidFill>
                          <a:latin typeface="Calibri"/>
                        </a:rPr>
                        <a:t>A</a:t>
                      </a:r>
                    </a:p>
                  </a:txBody>
                  <a:tcPr marL="73152" marR="73152" marT="27432" marB="27432" anchor="ctr">
                    <a:solidFill>
                      <a:srgbClr val="003054"/>
                    </a:solidFill>
                  </a:tcPr>
                </a:tc>
                <a:tc>
                  <a:txBody>
                    <a:bodyPr/>
                    <a:lstStyle/>
                    <a:p>
                      <a:r>
                        <a:rPr sz="1300" b="1" i="0">
                          <a:solidFill>
                            <a:srgbClr val="FFFFFF"/>
                          </a:solidFill>
                          <a:latin typeface="Calibri"/>
                        </a:rPr>
                        <a:t>W</a:t>
                      </a:r>
                    </a:p>
                  </a:txBody>
                  <a:tcPr marL="73152" marR="73152" marT="27432" marB="27432" anchor="ctr">
                    <a:solidFill>
                      <a:srgbClr val="003054"/>
                    </a:solidFill>
                  </a:tcPr>
                </a:tc>
                <a:tc>
                  <a:txBody>
                    <a:bodyPr/>
                    <a:lstStyle/>
                    <a:p>
                      <a:r>
                        <a:rPr sz="1300" b="1" i="0">
                          <a:solidFill>
                            <a:srgbClr val="FFFFFF"/>
                          </a:solidFill>
                          <a:latin typeface="Calibri"/>
                        </a:rPr>
                        <a:t>N</a:t>
                      </a:r>
                    </a:p>
                  </a:txBody>
                  <a:tcPr marL="73152" marR="73152" marT="27432" marB="27432" anchor="ctr">
                    <a:solidFill>
                      <a:srgbClr val="003054"/>
                    </a:solidFill>
                  </a:tcPr>
                </a:tc>
                <a:extLst>
                  <a:ext uri="{0D108BD9-81ED-4DB2-BD59-A6C34878D82A}">
                    <a16:rowId xmlns:a16="http://schemas.microsoft.com/office/drawing/2014/main" val="10000"/>
                  </a:ext>
                </a:extLst>
              </a:tr>
              <a:tr h="426720">
                <a:tc>
                  <a:txBody>
                    <a:bodyPr/>
                    <a:lstStyle/>
                    <a:p>
                      <a:r>
                        <a:rPr sz="1300" b="0" i="0">
                          <a:solidFill>
                            <a:srgbClr val="222A33"/>
                          </a:solidFill>
                          <a:latin typeface="Calibri"/>
                        </a:rPr>
                        <a:t>Key (repeated)</a:t>
                      </a:r>
                    </a:p>
                  </a:txBody>
                  <a:tcPr marL="73152" marR="73152" marT="27432" marB="27432" anchor="ctr">
                    <a:solidFill>
                      <a:srgbClr val="FFFFFF"/>
                    </a:solidFill>
                  </a:tcPr>
                </a:tc>
                <a:tc>
                  <a:txBody>
                    <a:bodyPr/>
                    <a:lstStyle/>
                    <a:p>
                      <a:r>
                        <a:rPr sz="1300" b="0" i="0">
                          <a:solidFill>
                            <a:srgbClr val="222A33"/>
                          </a:solidFill>
                          <a:latin typeface="Calibri"/>
                        </a:rPr>
                        <a:t>L</a:t>
                      </a:r>
                    </a:p>
                  </a:txBody>
                  <a:tcPr marL="73152" marR="73152" marT="27432" marB="27432" anchor="ctr">
                    <a:solidFill>
                      <a:srgbClr val="FFFFFF"/>
                    </a:solidFill>
                  </a:tcPr>
                </a:tc>
                <a:tc>
                  <a:txBody>
                    <a:bodyPr/>
                    <a:lstStyle/>
                    <a:p>
                      <a:r>
                        <a:rPr sz="1300" b="0" i="0">
                          <a:solidFill>
                            <a:srgbClr val="222A33"/>
                          </a:solidFill>
                          <a:latin typeface="Calibri"/>
                        </a:rPr>
                        <a:t>E</a:t>
                      </a:r>
                    </a:p>
                  </a:txBody>
                  <a:tcPr marL="73152" marR="73152" marT="27432" marB="27432" anchor="ctr">
                    <a:solidFill>
                      <a:srgbClr val="FFFFFF"/>
                    </a:solidFill>
                  </a:tcPr>
                </a:tc>
                <a:tc>
                  <a:txBody>
                    <a:bodyPr/>
                    <a:lstStyle/>
                    <a:p>
                      <a:r>
                        <a:rPr sz="1300" b="0" i="0">
                          <a:solidFill>
                            <a:srgbClr val="222A33"/>
                          </a:solidFill>
                          <a:latin typeface="Calibri"/>
                        </a:rPr>
                        <a:t>M</a:t>
                      </a:r>
                    </a:p>
                  </a:txBody>
                  <a:tcPr marL="73152" marR="73152" marT="27432" marB="27432" anchor="ctr">
                    <a:solidFill>
                      <a:srgbClr val="FFFFFF"/>
                    </a:solidFill>
                  </a:tcPr>
                </a:tc>
                <a:tc>
                  <a:txBody>
                    <a:bodyPr/>
                    <a:lstStyle/>
                    <a:p>
                      <a:r>
                        <a:rPr sz="1300" b="0" i="0">
                          <a:solidFill>
                            <a:srgbClr val="222A33"/>
                          </a:solidFill>
                          <a:latin typeface="Calibri"/>
                        </a:rPr>
                        <a:t>O</a:t>
                      </a:r>
                    </a:p>
                  </a:txBody>
                  <a:tcPr marL="73152" marR="73152" marT="27432" marB="27432" anchor="ctr">
                    <a:solidFill>
                      <a:srgbClr val="FFFFFF"/>
                    </a:solidFill>
                  </a:tcPr>
                </a:tc>
                <a:tc>
                  <a:txBody>
                    <a:bodyPr/>
                    <a:lstStyle/>
                    <a:p>
                      <a:r>
                        <a:rPr sz="1300" b="0" i="0">
                          <a:solidFill>
                            <a:srgbClr val="222A33"/>
                          </a:solidFill>
                          <a:latin typeface="Calibri"/>
                        </a:rPr>
                        <a:t>N</a:t>
                      </a:r>
                    </a:p>
                  </a:txBody>
                  <a:tcPr marL="73152" marR="73152" marT="27432" marB="27432" anchor="ctr">
                    <a:solidFill>
                      <a:srgbClr val="FFFFFF"/>
                    </a:solidFill>
                  </a:tcPr>
                </a:tc>
                <a:tc>
                  <a:txBody>
                    <a:bodyPr/>
                    <a:lstStyle/>
                    <a:p>
                      <a:r>
                        <a:rPr sz="1300" b="0" i="0">
                          <a:solidFill>
                            <a:srgbClr val="222A33"/>
                          </a:solidFill>
                          <a:latin typeface="Calibri"/>
                        </a:rPr>
                        <a:t>L</a:t>
                      </a:r>
                    </a:p>
                  </a:txBody>
                  <a:tcPr marL="73152" marR="73152" marT="27432" marB="27432" anchor="ctr">
                    <a:solidFill>
                      <a:srgbClr val="FFFFFF"/>
                    </a:solidFill>
                  </a:tcPr>
                </a:tc>
                <a:tc>
                  <a:txBody>
                    <a:bodyPr/>
                    <a:lstStyle/>
                    <a:p>
                      <a:r>
                        <a:rPr sz="1300" b="0" i="0">
                          <a:solidFill>
                            <a:srgbClr val="222A33"/>
                          </a:solidFill>
                          <a:latin typeface="Calibri"/>
                        </a:rPr>
                        <a:t>E</a:t>
                      </a:r>
                    </a:p>
                  </a:txBody>
                  <a:tcPr marL="73152" marR="73152" marT="27432" marB="27432" anchor="ctr">
                    <a:solidFill>
                      <a:srgbClr val="FFFFFF"/>
                    </a:solidFill>
                  </a:tcPr>
                </a:tc>
                <a:tc>
                  <a:txBody>
                    <a:bodyPr/>
                    <a:lstStyle/>
                    <a:p>
                      <a:r>
                        <a:rPr sz="1300" b="0" i="0">
                          <a:solidFill>
                            <a:srgbClr val="222A33"/>
                          </a:solidFill>
                          <a:latin typeface="Calibri"/>
                        </a:rPr>
                        <a:t>M</a:t>
                      </a:r>
                    </a:p>
                  </a:txBody>
                  <a:tcPr marL="73152" marR="73152" marT="27432" marB="27432" anchor="ctr">
                    <a:solidFill>
                      <a:srgbClr val="FFFFFF"/>
                    </a:solidFill>
                  </a:tcPr>
                </a:tc>
                <a:tc>
                  <a:txBody>
                    <a:bodyPr/>
                    <a:lstStyle/>
                    <a:p>
                      <a:r>
                        <a:rPr sz="1300" b="0" i="0">
                          <a:solidFill>
                            <a:srgbClr val="222A33"/>
                          </a:solidFill>
                          <a:latin typeface="Calibri"/>
                        </a:rPr>
                        <a:t>O</a:t>
                      </a:r>
                    </a:p>
                  </a:txBody>
                  <a:tcPr marL="73152" marR="73152" marT="27432" marB="27432" anchor="ctr">
                    <a:solidFill>
                      <a:srgbClr val="FFFFFF"/>
                    </a:solidFill>
                  </a:tcPr>
                </a:tc>
                <a:tc>
                  <a:txBody>
                    <a:bodyPr/>
                    <a:lstStyle/>
                    <a:p>
                      <a:r>
                        <a:rPr sz="1300" b="0" i="0">
                          <a:solidFill>
                            <a:srgbClr val="222A33"/>
                          </a:solidFill>
                          <a:latin typeface="Calibri"/>
                        </a:rPr>
                        <a:t>N</a:t>
                      </a:r>
                    </a:p>
                  </a:txBody>
                  <a:tcPr marL="73152" marR="73152" marT="27432" marB="27432" anchor="ctr">
                    <a:solidFill>
                      <a:srgbClr val="FFFFFF"/>
                    </a:solidFill>
                  </a:tcPr>
                </a:tc>
                <a:tc>
                  <a:txBody>
                    <a:bodyPr/>
                    <a:lstStyle/>
                    <a:p>
                      <a:r>
                        <a:rPr sz="1300" b="0" i="0">
                          <a:solidFill>
                            <a:srgbClr val="222A33"/>
                          </a:solidFill>
                          <a:latin typeface="Calibri"/>
                        </a:rPr>
                        <a:t>L</a:t>
                      </a:r>
                    </a:p>
                  </a:txBody>
                  <a:tcPr marL="73152" marR="73152" marT="27432" marB="27432" anchor="ctr">
                    <a:solidFill>
                      <a:srgbClr val="FFFFFF"/>
                    </a:solidFill>
                  </a:tcPr>
                </a:tc>
                <a:tc>
                  <a:txBody>
                    <a:bodyPr/>
                    <a:lstStyle/>
                    <a:p>
                      <a:r>
                        <a:rPr sz="1300" b="0" i="0">
                          <a:solidFill>
                            <a:srgbClr val="222A33"/>
                          </a:solidFill>
                          <a:latin typeface="Calibri"/>
                        </a:rPr>
                        <a:t>E</a:t>
                      </a:r>
                    </a:p>
                  </a:txBody>
                  <a:tcPr marL="73152" marR="73152" marT="27432" marB="27432" anchor="ctr">
                    <a:solidFill>
                      <a:srgbClr val="FFFFFF"/>
                    </a:solidFill>
                  </a:tcPr>
                </a:tc>
                <a:extLst>
                  <a:ext uri="{0D108BD9-81ED-4DB2-BD59-A6C34878D82A}">
                    <a16:rowId xmlns:a16="http://schemas.microsoft.com/office/drawing/2014/main" val="10001"/>
                  </a:ext>
                </a:extLst>
              </a:tr>
              <a:tr h="426720">
                <a:tc>
                  <a:txBody>
                    <a:bodyPr/>
                    <a:lstStyle/>
                    <a:p>
                      <a:r>
                        <a:rPr sz="1300" b="0" i="0">
                          <a:solidFill>
                            <a:srgbClr val="222A33"/>
                          </a:solidFill>
                          <a:latin typeface="Calibri"/>
                        </a:rPr>
                        <a:t>Ciphertext</a:t>
                      </a:r>
                    </a:p>
                  </a:txBody>
                  <a:tcPr marL="73152" marR="73152" marT="27432" marB="27432" anchor="ctr">
                    <a:solidFill>
                      <a:srgbClr val="F2F4F7"/>
                    </a:solidFill>
                  </a:tcPr>
                </a:tc>
                <a:tc>
                  <a:txBody>
                    <a:bodyPr/>
                    <a:lstStyle/>
                    <a:p>
                      <a:r>
                        <a:rPr sz="1300" b="0" i="0">
                          <a:solidFill>
                            <a:srgbClr val="222A33"/>
                          </a:solidFill>
                          <a:latin typeface="Calibri"/>
                        </a:rPr>
                        <a:t>L</a:t>
                      </a:r>
                    </a:p>
                  </a:txBody>
                  <a:tcPr marL="73152" marR="73152" marT="27432" marB="27432" anchor="ctr">
                    <a:solidFill>
                      <a:srgbClr val="F2F4F7"/>
                    </a:solidFill>
                  </a:tcPr>
                </a:tc>
                <a:tc>
                  <a:txBody>
                    <a:bodyPr/>
                    <a:lstStyle/>
                    <a:p>
                      <a:r>
                        <a:rPr sz="1300" b="0" i="0">
                          <a:solidFill>
                            <a:srgbClr val="222A33"/>
                          </a:solidFill>
                          <a:latin typeface="Calibri"/>
                        </a:rPr>
                        <a:t>X</a:t>
                      </a:r>
                    </a:p>
                  </a:txBody>
                  <a:tcPr marL="73152" marR="73152" marT="27432" marB="27432" anchor="ctr">
                    <a:solidFill>
                      <a:srgbClr val="F2F4F7"/>
                    </a:solidFill>
                  </a:tcPr>
                </a:tc>
                <a:tc>
                  <a:txBody>
                    <a:bodyPr/>
                    <a:lstStyle/>
                    <a:p>
                      <a:r>
                        <a:rPr sz="1300" b="0" i="0">
                          <a:solidFill>
                            <a:srgbClr val="222A33"/>
                          </a:solidFill>
                          <a:latin typeface="Calibri"/>
                        </a:rPr>
                        <a:t>F</a:t>
                      </a:r>
                    </a:p>
                  </a:txBody>
                  <a:tcPr marL="73152" marR="73152" marT="27432" marB="27432" anchor="ctr">
                    <a:solidFill>
                      <a:srgbClr val="F2F4F7"/>
                    </a:solidFill>
                  </a:tcPr>
                </a:tc>
                <a:tc>
                  <a:txBody>
                    <a:bodyPr/>
                    <a:lstStyle/>
                    <a:p>
                      <a:r>
                        <a:rPr sz="1300" b="0" i="0">
                          <a:solidFill>
                            <a:srgbClr val="222A33"/>
                          </a:solidFill>
                          <a:latin typeface="Calibri"/>
                        </a:rPr>
                        <a:t>O</a:t>
                      </a:r>
                    </a:p>
                  </a:txBody>
                  <a:tcPr marL="73152" marR="73152" marT="27432" marB="27432" anchor="ctr">
                    <a:solidFill>
                      <a:srgbClr val="F2F4F7"/>
                    </a:solidFill>
                  </a:tcPr>
                </a:tc>
                <a:tc>
                  <a:txBody>
                    <a:bodyPr/>
                    <a:lstStyle/>
                    <a:p>
                      <a:r>
                        <a:rPr sz="1300" b="0" i="0">
                          <a:solidFill>
                            <a:srgbClr val="222A33"/>
                          </a:solidFill>
                          <a:latin typeface="Calibri"/>
                        </a:rPr>
                        <a:t>P</a:t>
                      </a:r>
                    </a:p>
                  </a:txBody>
                  <a:tcPr marL="73152" marR="73152" marT="27432" marB="27432" anchor="ctr">
                    <a:solidFill>
                      <a:srgbClr val="F2F4F7"/>
                    </a:solidFill>
                  </a:tcPr>
                </a:tc>
                <a:tc>
                  <a:txBody>
                    <a:bodyPr/>
                    <a:lstStyle/>
                    <a:p>
                      <a:r>
                        <a:rPr sz="1300" b="0" i="0">
                          <a:solidFill>
                            <a:srgbClr val="222A33"/>
                          </a:solidFill>
                          <a:latin typeface="Calibri"/>
                        </a:rPr>
                        <a:t>V</a:t>
                      </a:r>
                    </a:p>
                  </a:txBody>
                  <a:tcPr marL="73152" marR="73152" marT="27432" marB="27432" anchor="ctr">
                    <a:solidFill>
                      <a:srgbClr val="F2F4F7"/>
                    </a:solidFill>
                  </a:tcPr>
                </a:tc>
                <a:tc>
                  <a:txBody>
                    <a:bodyPr/>
                    <a:lstStyle/>
                    <a:p>
                      <a:r>
                        <a:rPr sz="1300" b="0" i="0">
                          <a:solidFill>
                            <a:srgbClr val="222A33"/>
                          </a:solidFill>
                          <a:latin typeface="Calibri"/>
                        </a:rPr>
                        <a:t>E</a:t>
                      </a:r>
                    </a:p>
                  </a:txBody>
                  <a:tcPr marL="73152" marR="73152" marT="27432" marB="27432" anchor="ctr">
                    <a:solidFill>
                      <a:srgbClr val="F2F4F7"/>
                    </a:solidFill>
                  </a:tcPr>
                </a:tc>
                <a:tc>
                  <a:txBody>
                    <a:bodyPr/>
                    <a:lstStyle/>
                    <a:p>
                      <a:r>
                        <a:rPr sz="1300" b="0" i="0">
                          <a:solidFill>
                            <a:srgbClr val="222A33"/>
                          </a:solidFill>
                          <a:latin typeface="Calibri"/>
                        </a:rPr>
                        <a:t>F</a:t>
                      </a:r>
                    </a:p>
                  </a:txBody>
                  <a:tcPr marL="73152" marR="73152" marT="27432" marB="27432" anchor="ctr">
                    <a:solidFill>
                      <a:srgbClr val="F2F4F7"/>
                    </a:solidFill>
                  </a:tcPr>
                </a:tc>
                <a:tc>
                  <a:txBody>
                    <a:bodyPr/>
                    <a:lstStyle/>
                    <a:p>
                      <a:r>
                        <a:rPr sz="1300" b="0" i="0">
                          <a:solidFill>
                            <a:srgbClr val="222A33"/>
                          </a:solidFill>
                          <a:latin typeface="Calibri"/>
                        </a:rPr>
                        <a:t>R</a:t>
                      </a:r>
                    </a:p>
                  </a:txBody>
                  <a:tcPr marL="73152" marR="73152" marT="27432" marB="27432" anchor="ctr">
                    <a:solidFill>
                      <a:srgbClr val="F2F4F7"/>
                    </a:solidFill>
                  </a:tcPr>
                </a:tc>
                <a:tc>
                  <a:txBody>
                    <a:bodyPr/>
                    <a:lstStyle/>
                    <a:p>
                      <a:r>
                        <a:rPr sz="1300" b="0" i="0">
                          <a:solidFill>
                            <a:srgbClr val="222A33"/>
                          </a:solidFill>
                          <a:latin typeface="Calibri"/>
                        </a:rPr>
                        <a:t>N</a:t>
                      </a:r>
                    </a:p>
                  </a:txBody>
                  <a:tcPr marL="73152" marR="73152" marT="27432" marB="27432" anchor="ctr">
                    <a:solidFill>
                      <a:srgbClr val="F2F4F7"/>
                    </a:solidFill>
                  </a:tcPr>
                </a:tc>
                <a:tc>
                  <a:txBody>
                    <a:bodyPr/>
                    <a:lstStyle/>
                    <a:p>
                      <a:r>
                        <a:rPr sz="1300" b="0" i="0">
                          <a:solidFill>
                            <a:srgbClr val="222A33"/>
                          </a:solidFill>
                          <a:latin typeface="Calibri"/>
                        </a:rPr>
                        <a:t>H</a:t>
                      </a:r>
                    </a:p>
                  </a:txBody>
                  <a:tcPr marL="73152" marR="73152" marT="27432" marB="27432" anchor="ctr">
                    <a:solidFill>
                      <a:srgbClr val="F2F4F7"/>
                    </a:solidFill>
                  </a:tcPr>
                </a:tc>
                <a:tc>
                  <a:txBody>
                    <a:bodyPr/>
                    <a:lstStyle/>
                    <a:p>
                      <a:r>
                        <a:rPr sz="1300" b="0" i="0">
                          <a:solidFill>
                            <a:srgbClr val="222A33"/>
                          </a:solidFill>
                          <a:latin typeface="Calibri"/>
                        </a:rPr>
                        <a:t>R</a:t>
                      </a:r>
                    </a:p>
                  </a:txBody>
                  <a:tcPr marL="73152" marR="73152" marT="27432" marB="27432" anchor="ctr">
                    <a:solidFill>
                      <a:srgbClr val="F2F4F7"/>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731520" y="4572000"/>
            <a:ext cx="10698480" cy="13716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Notice that the letter A becomes L, then O, then E, depending on the key letter. The same plaintext letter no longer always produces the same ciphertext letter, which defeats simple frequency counting.</a:t>
            </a:r>
          </a:p>
          <a:p>
            <a:pPr marL="201168" indent="-201168">
              <a:spcAft>
                <a:spcPts val="1100"/>
              </a:spcAft>
              <a:buFont typeface="Arial"/>
              <a:buChar char="–"/>
            </a:pPr>
            <a:r>
              <a:rPr sz="1400" b="0" i="0">
                <a:solidFill>
                  <a:srgbClr val="222A33"/>
                </a:solidFill>
                <a:latin typeface="Calibri"/>
              </a:rPr>
              <a:t>Seen as a keystream: the repeated keyword acts as a short repeating keystream added to the message. This is a useful bridge to stream ciphers later today, though it is a conceptual framing rather than the formal definition.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Why Classical Ciphers Fail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CLASSICAL CIPHERS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Tiny key space: Caesar has only 25 usable keys. A computer, or a patient human, tries every one instantly. This is a brute force attack.</a:t>
            </a:r>
          </a:p>
          <a:p>
            <a:pPr marL="201168" indent="-201168">
              <a:spcAft>
                <a:spcPts val="1100"/>
              </a:spcAft>
              <a:buFont typeface="Arial"/>
              <a:buChar char="–"/>
            </a:pPr>
            <a:r>
              <a:rPr sz="1500" b="0" i="0">
                <a:solidFill>
                  <a:srgbClr val="222A33"/>
                </a:solidFill>
                <a:latin typeface="Calibri"/>
              </a:rPr>
              <a:t>Frequency analysis: in English the letter E is the most common, followed by T and A. In a Caesar ciphertext the most frequent letter is almost certainly the encrypted E, which reveals the shift immediately.</a:t>
            </a:r>
          </a:p>
          <a:p>
            <a:pPr marL="201168" indent="-201168">
              <a:spcAft>
                <a:spcPts val="1100"/>
              </a:spcAft>
              <a:buFont typeface="Arial"/>
              <a:buChar char="–"/>
            </a:pPr>
            <a:r>
              <a:rPr sz="1500" b="0" i="0">
                <a:solidFill>
                  <a:srgbClr val="222A33"/>
                </a:solidFill>
                <a:latin typeface="Calibri"/>
              </a:rPr>
              <a:t>Vigenere flattens the frequencies, but it still leaks structure. If the keyword length is found (the Kasiski examination looks for repeated ciphertext fragments), the message splits into several ordinary Caesar ciphers, each broken by frequency analysis.</a:t>
            </a:r>
          </a:p>
          <a:p>
            <a:pPr marL="201168" indent="-201168">
              <a:spcAft>
                <a:spcPts val="1100"/>
              </a:spcAft>
              <a:buFont typeface="Arial"/>
              <a:buChar char="–"/>
            </a:pPr>
            <a:r>
              <a:rPr sz="1500" b="0" i="0">
                <a:solidFill>
                  <a:srgbClr val="222A33"/>
                </a:solidFill>
                <a:latin typeface="Calibri"/>
              </a:rPr>
              <a:t>The lesson: the ciphertext must not reveal any statistical pattern of the plaintext, and the key space must be far too large to search. Both ideas shape every modern cipher.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What Carried Forward: Confusion and Diffusion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CLASSICAL CIPHERS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In 1949 Claude Shannon named the two properties a strong cipher needs.</a:t>
            </a:r>
          </a:p>
          <a:p>
            <a:pPr marL="201168" indent="-201168">
              <a:spcAft>
                <a:spcPts val="1100"/>
              </a:spcAft>
              <a:buFont typeface="Arial"/>
              <a:buChar char="–"/>
            </a:pPr>
            <a:r>
              <a:rPr sz="1500" b="0" i="0">
                <a:solidFill>
                  <a:srgbClr val="222A33"/>
                </a:solidFill>
                <a:latin typeface="Calibri"/>
              </a:rPr>
              <a:t>Confusion: make the relationship between the key and the ciphertext as complicated as possible, so that knowing the ciphertext tells you nothing about the key. Substitution provides confusion.</a:t>
            </a:r>
          </a:p>
          <a:p>
            <a:pPr marL="201168" indent="-201168">
              <a:spcAft>
                <a:spcPts val="1100"/>
              </a:spcAft>
              <a:buFont typeface="Arial"/>
              <a:buChar char="–"/>
            </a:pPr>
            <a:r>
              <a:rPr sz="1500" b="0" i="0">
                <a:solidFill>
                  <a:srgbClr val="222A33"/>
                </a:solidFill>
                <a:latin typeface="Calibri"/>
              </a:rPr>
              <a:t>Diffusion: spread the influence of each plaintext symbol across many ciphertext symbols, so statistical patterns disappear. Transposition and mixing provide diffusion.</a:t>
            </a:r>
          </a:p>
          <a:p>
            <a:pPr marL="201168" indent="-201168">
              <a:spcAft>
                <a:spcPts val="1100"/>
              </a:spcAft>
              <a:buFont typeface="Arial"/>
              <a:buChar char="–"/>
            </a:pPr>
            <a:r>
              <a:rPr sz="1500" b="0" i="0">
                <a:solidFill>
                  <a:srgbClr val="222A33"/>
                </a:solidFill>
                <a:latin typeface="Calibri"/>
              </a:rPr>
              <a:t>Classical ciphers use one of these once. Modern block ciphers such as AES apply substitution and mixing in repeated rounds, so a single changed input bit changes about half of the output bits. That is the avalanche effect, which returns when we study hash functions.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Symmetric Encryption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One shared key at both ends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Symmetric Model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SYMMETRIC ENCRYPTION</a:t>
            </a:r>
          </a:p>
        </p:txBody>
      </p:sp>
      <p:sp>
        <p:nvSpPr>
          <p:cNvPr id="4" name="Rounded Rectangle 3"/>
          <p:cNvSpPr/>
          <p:nvPr/>
        </p:nvSpPr>
        <p:spPr>
          <a:xfrm>
            <a:off x="731520" y="2011680"/>
            <a:ext cx="201168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Sender</a:t>
            </a:r>
          </a:p>
        </p:txBody>
      </p:sp>
      <p:sp>
        <p:nvSpPr>
          <p:cNvPr id="5" name="Rounded Rectangle 4"/>
          <p:cNvSpPr/>
          <p:nvPr/>
        </p:nvSpPr>
        <p:spPr>
          <a:xfrm>
            <a:off x="9418320" y="2011680"/>
            <a:ext cx="2011680" cy="54864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Receiver</a:t>
            </a:r>
          </a:p>
        </p:txBody>
      </p:sp>
      <p:sp>
        <p:nvSpPr>
          <p:cNvPr id="6" name="Rounded Rectangle 5"/>
          <p:cNvSpPr/>
          <p:nvPr/>
        </p:nvSpPr>
        <p:spPr>
          <a:xfrm>
            <a:off x="4114800" y="2011680"/>
            <a:ext cx="3931920" cy="54864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The same shared secret key</a:t>
            </a:r>
          </a:p>
        </p:txBody>
      </p:sp>
      <p:cxnSp>
        <p:nvCxnSpPr>
          <p:cNvPr id="7" name="Connector 6"/>
          <p:cNvCxnSpPr/>
          <p:nvPr/>
        </p:nvCxnSpPr>
        <p:spPr>
          <a:xfrm>
            <a:off x="2743200" y="2286000"/>
            <a:ext cx="1371600" cy="0"/>
          </a:xfrm>
          <a:prstGeom prst="line">
            <a:avLst/>
          </a:prstGeom>
          <a:ln w="25400">
            <a:solidFill>
              <a:srgbClr val="196B2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46720" y="2286000"/>
            <a:ext cx="1371600" cy="0"/>
          </a:xfrm>
          <a:prstGeom prst="line">
            <a:avLst/>
          </a:prstGeom>
          <a:ln w="25400">
            <a:solidFill>
              <a:srgbClr val="196B2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3291840"/>
            <a:ext cx="2011680" cy="7315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Encrypt with key</a:t>
            </a:r>
          </a:p>
        </p:txBody>
      </p:sp>
      <p:sp>
        <p:nvSpPr>
          <p:cNvPr id="10" name="Rounded Rectangle 9"/>
          <p:cNvSpPr/>
          <p:nvPr/>
        </p:nvSpPr>
        <p:spPr>
          <a:xfrm>
            <a:off x="9418320" y="3291840"/>
            <a:ext cx="2011680" cy="7315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Decrypt with key</a:t>
            </a:r>
          </a:p>
        </p:txBody>
      </p:sp>
      <p:cxnSp>
        <p:nvCxnSpPr>
          <p:cNvPr id="11" name="Connector 10"/>
          <p:cNvCxnSpPr/>
          <p:nvPr/>
        </p:nvCxnSpPr>
        <p:spPr>
          <a:xfrm>
            <a:off x="1737360" y="2560320"/>
            <a:ext cx="0" cy="731520"/>
          </a:xfrm>
          <a:prstGeom prst="line">
            <a:avLst/>
          </a:prstGeom>
          <a:ln w="1905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424160" y="2560320"/>
            <a:ext cx="0" cy="731520"/>
          </a:xfrm>
          <a:prstGeom prst="line">
            <a:avLst/>
          </a:prstGeom>
          <a:ln w="1905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14800" y="3291840"/>
            <a:ext cx="3931920" cy="73152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Ciphertext crosses the untrusted network</a:t>
            </a:r>
          </a:p>
        </p:txBody>
      </p:sp>
      <p:cxnSp>
        <p:nvCxnSpPr>
          <p:cNvPr id="14" name="Connector 13"/>
          <p:cNvCxnSpPr/>
          <p:nvPr/>
        </p:nvCxnSpPr>
        <p:spPr>
          <a:xfrm>
            <a:off x="2743200" y="3657600"/>
            <a:ext cx="13716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046720" y="3657600"/>
            <a:ext cx="13716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4389120"/>
            <a:ext cx="10698480" cy="155448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Both ends use one secret key. Anyone holding the key can encrypt and decrypt, so the key must be shared in advance and kept secret from everyone else.</a:t>
            </a:r>
          </a:p>
          <a:p>
            <a:pPr marL="201168" indent="-201168">
              <a:spcAft>
                <a:spcPts val="1100"/>
              </a:spcAft>
              <a:buFont typeface="Arial"/>
              <a:buChar char="–"/>
            </a:pPr>
            <a:r>
              <a:rPr sz="1400" b="0" i="0">
                <a:solidFill>
                  <a:srgbClr val="222A33"/>
                </a:solidFill>
                <a:latin typeface="Calibri"/>
              </a:rPr>
              <a:t>Examples: DES, 3DES, AES, RC4, ChaCha20. All are very fast, which is why symmetric encryption carries almost all real 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Key Distribution Problem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SYMMETRIC ENCRYPTION</a:t>
            </a:r>
          </a:p>
        </p:txBody>
      </p:sp>
      <p:sp>
        <p:nvSpPr>
          <p:cNvPr id="4" name="TextBox 3"/>
          <p:cNvSpPr txBox="1"/>
          <p:nvPr/>
        </p:nvSpPr>
        <p:spPr>
          <a:xfrm>
            <a:off x="731520" y="1828800"/>
            <a:ext cx="10698480" cy="146304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Problem 1, delivery: how do two parties who have never met agree on a secret key over a network that an attacker can read? Sending the key in the clear defeats the purpose.</a:t>
            </a:r>
          </a:p>
          <a:p>
            <a:pPr marL="201168" indent="-201168">
              <a:spcAft>
                <a:spcPts val="1100"/>
              </a:spcAft>
              <a:buFont typeface="Arial"/>
              <a:buChar char="–"/>
            </a:pPr>
            <a:r>
              <a:rPr sz="1500" b="0" i="0">
                <a:solidFill>
                  <a:srgbClr val="222A33"/>
                </a:solidFill>
                <a:latin typeface="Calibri"/>
              </a:rPr>
              <a:t>Problem 2, scale: if every pair of users needs its own secret key, the number of keys for n users is n(n-1)/2.</a:t>
            </a:r>
          </a:p>
        </p:txBody>
      </p:sp>
      <p:graphicFrame>
        <p:nvGraphicFramePr>
          <p:cNvPr id="5" name="Table 4"/>
          <p:cNvGraphicFramePr>
            <a:graphicFrameLocks noGrp="1"/>
          </p:cNvGraphicFramePr>
          <p:nvPr/>
        </p:nvGraphicFramePr>
        <p:xfrm>
          <a:off x="2011680" y="3383280"/>
          <a:ext cx="8229600" cy="16459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11480">
                <a:tc>
                  <a:txBody>
                    <a:bodyPr/>
                    <a:lstStyle/>
                    <a:p>
                      <a:r>
                        <a:rPr sz="1300" b="1" i="0">
                          <a:solidFill>
                            <a:srgbClr val="FFFFFF"/>
                          </a:solidFill>
                          <a:latin typeface="Calibri"/>
                        </a:rPr>
                        <a:t>Number of Users</a:t>
                      </a:r>
                    </a:p>
                  </a:txBody>
                  <a:tcPr marL="73152" marR="73152" marT="27432" marB="27432" anchor="ctr">
                    <a:solidFill>
                      <a:srgbClr val="003054"/>
                    </a:solidFill>
                  </a:tcPr>
                </a:tc>
                <a:tc>
                  <a:txBody>
                    <a:bodyPr/>
                    <a:lstStyle/>
                    <a:p>
                      <a:r>
                        <a:rPr sz="1300" b="1" i="0">
                          <a:solidFill>
                            <a:srgbClr val="FFFFFF"/>
                          </a:solidFill>
                          <a:latin typeface="Calibri"/>
                        </a:rPr>
                        <a:t>Keys Needed (n(n-1)/2)</a:t>
                      </a:r>
                    </a:p>
                  </a:txBody>
                  <a:tcPr marL="73152" marR="73152" marT="27432" marB="27432" anchor="ctr">
                    <a:solidFill>
                      <a:srgbClr val="003054"/>
                    </a:solidFill>
                  </a:tcPr>
                </a:tc>
                <a:extLst>
                  <a:ext uri="{0D108BD9-81ED-4DB2-BD59-A6C34878D82A}">
                    <a16:rowId xmlns:a16="http://schemas.microsoft.com/office/drawing/2014/main" val="10000"/>
                  </a:ext>
                </a:extLst>
              </a:tr>
              <a:tr h="411480">
                <a:tc>
                  <a:txBody>
                    <a:bodyPr/>
                    <a:lstStyle/>
                    <a:p>
                      <a:r>
                        <a:rPr sz="1400" b="0" i="0">
                          <a:solidFill>
                            <a:srgbClr val="222A33"/>
                          </a:solidFill>
                          <a:latin typeface="Calibri"/>
                        </a:rPr>
                        <a:t>10</a:t>
                      </a:r>
                    </a:p>
                  </a:txBody>
                  <a:tcPr marL="73152" marR="73152" marT="27432" marB="27432" anchor="ctr">
                    <a:solidFill>
                      <a:srgbClr val="FFFFFF"/>
                    </a:solidFill>
                  </a:tcPr>
                </a:tc>
                <a:tc>
                  <a:txBody>
                    <a:bodyPr/>
                    <a:lstStyle/>
                    <a:p>
                      <a:r>
                        <a:rPr sz="1400" b="0" i="0">
                          <a:solidFill>
                            <a:srgbClr val="222A33"/>
                          </a:solidFill>
                          <a:latin typeface="Calibri"/>
                        </a:rPr>
                        <a:t>45</a:t>
                      </a:r>
                    </a:p>
                  </a:txBody>
                  <a:tcPr marL="73152" marR="73152" marT="27432" marB="27432" anchor="ctr">
                    <a:solidFill>
                      <a:srgbClr val="FFFFFF"/>
                    </a:solidFill>
                  </a:tcPr>
                </a:tc>
                <a:extLst>
                  <a:ext uri="{0D108BD9-81ED-4DB2-BD59-A6C34878D82A}">
                    <a16:rowId xmlns:a16="http://schemas.microsoft.com/office/drawing/2014/main" val="10001"/>
                  </a:ext>
                </a:extLst>
              </a:tr>
              <a:tr h="411480">
                <a:tc>
                  <a:txBody>
                    <a:bodyPr/>
                    <a:lstStyle/>
                    <a:p>
                      <a:r>
                        <a:rPr sz="1400" b="0" i="0">
                          <a:solidFill>
                            <a:srgbClr val="222A33"/>
                          </a:solidFill>
                          <a:latin typeface="Calibri"/>
                        </a:rPr>
                        <a:t>100</a:t>
                      </a:r>
                    </a:p>
                  </a:txBody>
                  <a:tcPr marL="73152" marR="73152" marT="27432" marB="27432" anchor="ctr">
                    <a:solidFill>
                      <a:srgbClr val="F2F4F7"/>
                    </a:solidFill>
                  </a:tcPr>
                </a:tc>
                <a:tc>
                  <a:txBody>
                    <a:bodyPr/>
                    <a:lstStyle/>
                    <a:p>
                      <a:r>
                        <a:rPr sz="1400" b="0" i="0">
                          <a:solidFill>
                            <a:srgbClr val="222A33"/>
                          </a:solidFill>
                          <a:latin typeface="Calibri"/>
                        </a:rPr>
                        <a:t>4,950</a:t>
                      </a:r>
                    </a:p>
                  </a:txBody>
                  <a:tcPr marL="73152" marR="73152" marT="27432" marB="27432" anchor="ctr">
                    <a:solidFill>
                      <a:srgbClr val="F2F4F7"/>
                    </a:solidFill>
                  </a:tcPr>
                </a:tc>
                <a:extLst>
                  <a:ext uri="{0D108BD9-81ED-4DB2-BD59-A6C34878D82A}">
                    <a16:rowId xmlns:a16="http://schemas.microsoft.com/office/drawing/2014/main" val="10002"/>
                  </a:ext>
                </a:extLst>
              </a:tr>
              <a:tr h="411480">
                <a:tc>
                  <a:txBody>
                    <a:bodyPr/>
                    <a:lstStyle/>
                    <a:p>
                      <a:r>
                        <a:rPr sz="1400" b="0" i="0">
                          <a:solidFill>
                            <a:srgbClr val="222A33"/>
                          </a:solidFill>
                          <a:latin typeface="Calibri"/>
                        </a:rPr>
                        <a:t>1,000</a:t>
                      </a:r>
                    </a:p>
                  </a:txBody>
                  <a:tcPr marL="73152" marR="73152" marT="27432" marB="27432" anchor="ctr">
                    <a:solidFill>
                      <a:srgbClr val="FFFFFF"/>
                    </a:solidFill>
                  </a:tcPr>
                </a:tc>
                <a:tc>
                  <a:txBody>
                    <a:bodyPr/>
                    <a:lstStyle/>
                    <a:p>
                      <a:r>
                        <a:rPr sz="1400" b="0" i="0">
                          <a:solidFill>
                            <a:srgbClr val="222A33"/>
                          </a:solidFill>
                          <a:latin typeface="Calibri"/>
                        </a:rPr>
                        <a:t>499,500</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731520" y="5212080"/>
            <a:ext cx="10698480" cy="64008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Asymmetric cryptography, later today, exists largely to solve these two problems.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Symmetric Encryption: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SYMMETRIC ENCRYPTION</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Very fast, so it suits large volumes of data and high-speed links.</a:t>
            </a:r>
          </a:p>
          <a:p>
            <a:pPr marL="201168" indent="-201168">
              <a:spcAft>
                <a:spcPts val="700"/>
              </a:spcAft>
              <a:buFont typeface="Arial"/>
              <a:buChar char="–"/>
            </a:pPr>
            <a:r>
              <a:rPr sz="1300" b="0" i="0">
                <a:solidFill>
                  <a:srgbClr val="222A33"/>
                </a:solidFill>
                <a:latin typeface="Calibri"/>
              </a:rPr>
              <a:t>Efficient in hardware: modern CPUs include AES instructions (AES-NI).</a:t>
            </a:r>
          </a:p>
          <a:p>
            <a:pPr marL="201168" indent="-201168">
              <a:spcAft>
                <a:spcPts val="700"/>
              </a:spcAft>
              <a:buFont typeface="Arial"/>
              <a:buChar char="–"/>
            </a:pPr>
            <a:r>
              <a:rPr sz="1300" b="0" i="0">
                <a:solidFill>
                  <a:srgbClr val="222A33"/>
                </a:solidFill>
                <a:latin typeface="Calibri"/>
              </a:rPr>
              <a:t>Short keys give strong security: 128 bits is considered secure for the foreseeable future.</a:t>
            </a:r>
          </a:p>
          <a:p>
            <a:pPr marL="201168" indent="-201168">
              <a:spcAft>
                <a:spcPts val="700"/>
              </a:spcAft>
              <a:buFont typeface="Arial"/>
              <a:buChar char="–"/>
            </a:pPr>
            <a:r>
              <a:rPr sz="1300" b="0" i="0">
                <a:solidFill>
                  <a:srgbClr val="222A33"/>
                </a:solidFill>
                <a:latin typeface="Calibri"/>
              </a:rPr>
              <a:t>Simple conceptual model: one key, one operation in each direction.</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The key distribution problem: both ends need the secret before communication starts.</a:t>
            </a:r>
          </a:p>
          <a:p>
            <a:pPr marL="201168" indent="-201168">
              <a:spcAft>
                <a:spcPts val="700"/>
              </a:spcAft>
              <a:buFont typeface="Arial"/>
              <a:buChar char="–"/>
            </a:pPr>
            <a:r>
              <a:rPr sz="1300" b="0" i="0">
                <a:solidFill>
                  <a:srgbClr val="222A33"/>
                </a:solidFill>
                <a:latin typeface="Calibri"/>
              </a:rPr>
              <a:t>Key count grows as n(n-1)/2, which does not scale.</a:t>
            </a:r>
          </a:p>
          <a:p>
            <a:pPr marL="201168" indent="-201168">
              <a:spcAft>
                <a:spcPts val="700"/>
              </a:spcAft>
              <a:buFont typeface="Arial"/>
              <a:buChar char="–"/>
            </a:pPr>
            <a:r>
              <a:rPr sz="1300" b="0" i="0">
                <a:solidFill>
                  <a:srgbClr val="222A33"/>
                </a:solidFill>
                <a:latin typeface="Calibri"/>
              </a:rPr>
              <a:t>Gives no non-repudiation: either holder could have created any message.</a:t>
            </a:r>
          </a:p>
          <a:p>
            <a:pPr marL="201168" indent="-201168">
              <a:spcAft>
                <a:spcPts val="700"/>
              </a:spcAft>
              <a:buFont typeface="Arial"/>
              <a:buChar char="–"/>
            </a:pPr>
            <a:r>
              <a:rPr sz="1300" b="0" i="0">
                <a:solidFill>
                  <a:srgbClr val="222A33"/>
                </a:solidFill>
                <a:latin typeface="Calibri"/>
              </a:rPr>
              <a:t>A leaked key exposes everything ever protected with it.</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bulk data encryption in VPN tunnels, TLS sessions, Wi-Fi (WPA2 and WPA3 use AES), disk and file encryption, and database encryption.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Block vs Stream Ciphers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Two ways to process data with a shared key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Where Block and Stream Ciphers Fit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VS STREAM</a:t>
            </a:r>
          </a:p>
        </p:txBody>
      </p:sp>
      <p:sp>
        <p:nvSpPr>
          <p:cNvPr id="4" name="Rounded Rectangle 3"/>
          <p:cNvSpPr/>
          <p:nvPr/>
        </p:nvSpPr>
        <p:spPr>
          <a:xfrm>
            <a:off x="4727448" y="1828800"/>
            <a:ext cx="2743200" cy="50292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Encryption Algorithms</a:t>
            </a:r>
          </a:p>
        </p:txBody>
      </p:sp>
      <p:sp>
        <p:nvSpPr>
          <p:cNvPr id="5" name="Rounded Rectangle 4"/>
          <p:cNvSpPr/>
          <p:nvPr/>
        </p:nvSpPr>
        <p:spPr>
          <a:xfrm>
            <a:off x="2286000" y="2743200"/>
            <a:ext cx="274320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Symmetric (shared key)</a:t>
            </a:r>
          </a:p>
        </p:txBody>
      </p:sp>
      <p:sp>
        <p:nvSpPr>
          <p:cNvPr id="6" name="Rounded Rectangle 5"/>
          <p:cNvSpPr/>
          <p:nvPr/>
        </p:nvSpPr>
        <p:spPr>
          <a:xfrm>
            <a:off x="7772400" y="2743200"/>
            <a:ext cx="2743200" cy="5486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Asymmetric (key pair)</a:t>
            </a:r>
          </a:p>
        </p:txBody>
      </p:sp>
      <p:cxnSp>
        <p:nvCxnSpPr>
          <p:cNvPr id="7" name="Connector 6"/>
          <p:cNvCxnSpPr/>
          <p:nvPr/>
        </p:nvCxnSpPr>
        <p:spPr>
          <a:xfrm flipH="1">
            <a:off x="3657600" y="2331720"/>
            <a:ext cx="2441448" cy="41148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9048" y="2331720"/>
            <a:ext cx="3044952" cy="41148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097280" y="3749039"/>
            <a:ext cx="237744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Block ciphers</a:t>
            </a:r>
          </a:p>
        </p:txBody>
      </p:sp>
      <p:sp>
        <p:nvSpPr>
          <p:cNvPr id="10" name="Rounded Rectangle 9"/>
          <p:cNvSpPr/>
          <p:nvPr/>
        </p:nvSpPr>
        <p:spPr>
          <a:xfrm>
            <a:off x="3840480" y="3749039"/>
            <a:ext cx="237744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Stream ciphers</a:t>
            </a:r>
          </a:p>
        </p:txBody>
      </p:sp>
      <p:cxnSp>
        <p:nvCxnSpPr>
          <p:cNvPr id="11" name="Connector 10"/>
          <p:cNvCxnSpPr/>
          <p:nvPr/>
        </p:nvCxnSpPr>
        <p:spPr>
          <a:xfrm flipH="1">
            <a:off x="2286000" y="3291840"/>
            <a:ext cx="1371600" cy="457199"/>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657600" y="3291840"/>
            <a:ext cx="1371600" cy="457199"/>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97280" y="4572000"/>
            <a:ext cx="23774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222A33"/>
                </a:solidFill>
                <a:latin typeface="Calibri"/>
              </a:rPr>
              <a:t>DES, 3DES, AES</a:t>
            </a:r>
          </a:p>
        </p:txBody>
      </p:sp>
      <p:sp>
        <p:nvSpPr>
          <p:cNvPr id="14" name="Rounded Rectangle 13"/>
          <p:cNvSpPr/>
          <p:nvPr/>
        </p:nvSpPr>
        <p:spPr>
          <a:xfrm>
            <a:off x="3840480" y="4572000"/>
            <a:ext cx="23774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222A33"/>
                </a:solidFill>
                <a:latin typeface="Calibri"/>
              </a:rPr>
              <a:t>RC4, ChaCha20, A5/1</a:t>
            </a:r>
          </a:p>
        </p:txBody>
      </p:sp>
      <p:cxnSp>
        <p:nvCxnSpPr>
          <p:cNvPr id="15" name="Connector 14"/>
          <p:cNvCxnSpPr/>
          <p:nvPr/>
        </p:nvCxnSpPr>
        <p:spPr>
          <a:xfrm>
            <a:off x="2286000" y="4297680"/>
            <a:ext cx="0" cy="27432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29200" y="4297680"/>
            <a:ext cx="0" cy="27432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0" y="3749039"/>
            <a:ext cx="2743200" cy="5486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Hard math problems</a:t>
            </a:r>
          </a:p>
        </p:txBody>
      </p:sp>
      <p:cxnSp>
        <p:nvCxnSpPr>
          <p:cNvPr id="18" name="Connector 17"/>
          <p:cNvCxnSpPr/>
          <p:nvPr/>
        </p:nvCxnSpPr>
        <p:spPr>
          <a:xfrm>
            <a:off x="9144000" y="3291840"/>
            <a:ext cx="0" cy="457199"/>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572000"/>
            <a:ext cx="274320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222A33"/>
                </a:solidFill>
                <a:latin typeface="Calibri"/>
              </a:rPr>
              <a:t>RSA, Diffie-Hellman, ECC</a:t>
            </a:r>
          </a:p>
        </p:txBody>
      </p:sp>
      <p:cxnSp>
        <p:nvCxnSpPr>
          <p:cNvPr id="20" name="Connector 19"/>
          <p:cNvCxnSpPr/>
          <p:nvPr/>
        </p:nvCxnSpPr>
        <p:spPr>
          <a:xfrm>
            <a:off x="9144000" y="4297680"/>
            <a:ext cx="0" cy="274320"/>
          </a:xfrm>
          <a:prstGeom prst="line">
            <a:avLst/>
          </a:prstGeom>
          <a:ln w="15875">
            <a:solidFill>
              <a:srgbClr val="6B768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Two questions classify a cipher: how many keys does it use, and how does it process data. Block versus stream is conventionally a split within symmetric ciphers.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Block Ciphers: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CIPHERS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 block cipher encrypts data in fixed-size chunks called blocks, all using the same key. DES and 3DES use 64-bit blocks; AES uses 128-bit blocks.</a:t>
            </a:r>
          </a:p>
          <a:p>
            <a:pPr marL="201168" indent="-201168">
              <a:spcAft>
                <a:spcPts val="1100"/>
              </a:spcAft>
              <a:buFont typeface="Arial"/>
              <a:buChar char="–"/>
            </a:pPr>
            <a:r>
              <a:rPr sz="1500" b="0" i="0">
                <a:solidFill>
                  <a:srgbClr val="222A33"/>
                </a:solidFill>
                <a:latin typeface="Calibri"/>
              </a:rPr>
              <a:t>Real messages are rarely an exact multiple of the block size, so the final block is padded to full length. The receiver removes the padding after decryption.</a:t>
            </a:r>
          </a:p>
          <a:p>
            <a:pPr marL="201168" indent="-201168">
              <a:spcAft>
                <a:spcPts val="1100"/>
              </a:spcAft>
              <a:buFont typeface="Arial"/>
              <a:buChar char="–"/>
            </a:pPr>
            <a:r>
              <a:rPr sz="1500" b="0" i="0">
                <a:solidFill>
                  <a:srgbClr val="222A33"/>
                </a:solidFill>
                <a:latin typeface="Calibri"/>
              </a:rPr>
              <a:t>A block cipher on its own only encrypts one block. To encrypt a long message, a mode of operation defines how successive blocks are chained together. The choice of mode matters as much as the choice of cipher.</a:t>
            </a:r>
          </a:p>
          <a:p>
            <a:pPr marL="201168" indent="-201168">
              <a:spcAft>
                <a:spcPts val="1100"/>
              </a:spcAft>
              <a:buFont typeface="Arial"/>
              <a:buChar char="–"/>
            </a:pPr>
            <a:r>
              <a:rPr sz="1500" b="0" i="0">
                <a:solidFill>
                  <a:srgbClr val="222A33"/>
                </a:solidFill>
                <a:latin typeface="Calibri"/>
              </a:rPr>
              <a:t>Inside the cipher, each block passes through many rounds of substitution and mixing, providing Shannon's confusion and diffusion.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Modes of Operation I: ECB and CBC</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CIPHERS</a:t>
            </a:r>
          </a:p>
        </p:txBody>
      </p:sp>
      <p:sp>
        <p:nvSpPr>
          <p:cNvPr id="4" name="Rounded Rectangle 3"/>
          <p:cNvSpPr/>
          <p:nvPr/>
        </p:nvSpPr>
        <p:spPr>
          <a:xfrm>
            <a:off x="54864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ECB: Electronic Codebook</a:t>
            </a:r>
          </a:p>
        </p:txBody>
      </p:sp>
      <p:sp>
        <p:nvSpPr>
          <p:cNvPr id="5" name="Rounded Rectangle 4"/>
          <p:cNvSpPr/>
          <p:nvPr/>
        </p:nvSpPr>
        <p:spPr>
          <a:xfrm>
            <a:off x="621792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CBC: Cipher Block Chaining</a:t>
            </a:r>
          </a:p>
        </p:txBody>
      </p:sp>
      <p:sp>
        <p:nvSpPr>
          <p:cNvPr id="6" name="TextBox 5"/>
          <p:cNvSpPr txBox="1"/>
          <p:nvPr/>
        </p:nvSpPr>
        <p:spPr>
          <a:xfrm>
            <a:off x="548640" y="2286000"/>
            <a:ext cx="5394960" cy="3566160"/>
          </a:xfrm>
          <a:prstGeom prst="rect">
            <a:avLst/>
          </a:prstGeom>
          <a:noFill/>
        </p:spPr>
        <p:txBody>
          <a:bodyPr wrap="square">
            <a:spAutoFit/>
          </a:bodyPr>
          <a:lstStyle/>
          <a:p>
            <a:pPr marL="201168" indent="-201168">
              <a:spcAft>
                <a:spcPts val="800"/>
              </a:spcAft>
              <a:buFont typeface="Arial"/>
              <a:buChar char="–"/>
            </a:pPr>
            <a:r>
              <a:rPr sz="1400" b="0" i="0">
                <a:solidFill>
                  <a:srgbClr val="222A33"/>
                </a:solidFill>
                <a:latin typeface="Calibri"/>
              </a:rPr>
              <a:t>Every block is encrypted independently with the same key.</a:t>
            </a:r>
          </a:p>
          <a:p>
            <a:pPr marL="201168" indent="-201168">
              <a:spcAft>
                <a:spcPts val="800"/>
              </a:spcAft>
              <a:buFont typeface="Arial"/>
              <a:buChar char="–"/>
            </a:pPr>
            <a:r>
              <a:rPr sz="1400" b="0" i="0">
                <a:solidFill>
                  <a:srgbClr val="222A33"/>
                </a:solidFill>
                <a:latin typeface="Calibri"/>
              </a:rPr>
              <a:t>Identical plaintext blocks always give identical ciphertext blocks. Patterns in the data show through.</a:t>
            </a:r>
          </a:p>
          <a:p>
            <a:pPr marL="201168" indent="-201168">
              <a:spcAft>
                <a:spcPts val="800"/>
              </a:spcAft>
              <a:buFont typeface="Arial"/>
              <a:buChar char="–"/>
            </a:pPr>
            <a:r>
              <a:rPr sz="1400" b="0" i="0">
                <a:solidFill>
                  <a:srgbClr val="222A33"/>
                </a:solidFill>
                <a:latin typeface="Calibri"/>
              </a:rPr>
              <a:t>The classic demonstration encrypts a bitmap image in ECB mode: the picture is still clearly recognisable in the ciphertext.</a:t>
            </a:r>
          </a:p>
          <a:p>
            <a:pPr marL="201168" indent="-201168">
              <a:spcAft>
                <a:spcPts val="800"/>
              </a:spcAft>
              <a:buFont typeface="Arial"/>
              <a:buChar char="–"/>
            </a:pPr>
            <a:r>
              <a:rPr sz="1400" b="1" i="0">
                <a:solidFill>
                  <a:srgbClr val="B02A2A"/>
                </a:solidFill>
                <a:latin typeface="Calibri"/>
              </a:rPr>
              <a:t>Verdict: do not use ECB for anything longer than one block.</a:t>
            </a:r>
          </a:p>
        </p:txBody>
      </p:sp>
      <p:sp>
        <p:nvSpPr>
          <p:cNvPr id="7" name="TextBox 6"/>
          <p:cNvSpPr txBox="1"/>
          <p:nvPr/>
        </p:nvSpPr>
        <p:spPr>
          <a:xfrm>
            <a:off x="6217920" y="2286000"/>
            <a:ext cx="5394960" cy="3566160"/>
          </a:xfrm>
          <a:prstGeom prst="rect">
            <a:avLst/>
          </a:prstGeom>
          <a:noFill/>
        </p:spPr>
        <p:txBody>
          <a:bodyPr wrap="square">
            <a:spAutoFit/>
          </a:bodyPr>
          <a:lstStyle/>
          <a:p>
            <a:pPr marL="201168" indent="-201168">
              <a:spcAft>
                <a:spcPts val="800"/>
              </a:spcAft>
              <a:buFont typeface="Arial"/>
              <a:buChar char="–"/>
            </a:pPr>
            <a:r>
              <a:rPr sz="1400" b="0" i="0">
                <a:solidFill>
                  <a:srgbClr val="222A33"/>
                </a:solidFill>
                <a:latin typeface="Calibri"/>
              </a:rPr>
              <a:t>Each plaintext block is XORed with the previous ciphertext block before it is encrypted. The first block uses a random initialisation vector (IV).</a:t>
            </a:r>
          </a:p>
          <a:p>
            <a:pPr marL="201168" indent="-201168">
              <a:spcAft>
                <a:spcPts val="800"/>
              </a:spcAft>
              <a:buFont typeface="Arial"/>
              <a:buChar char="–"/>
            </a:pPr>
            <a:r>
              <a:rPr sz="1400" b="0" i="0">
                <a:solidFill>
                  <a:srgbClr val="222A33"/>
                </a:solidFill>
                <a:latin typeface="Calibri"/>
              </a:rPr>
              <a:t>Identical plaintext blocks now produce different ciphertext, so patterns disappear.</a:t>
            </a:r>
          </a:p>
          <a:p>
            <a:pPr marL="201168" indent="-201168">
              <a:spcAft>
                <a:spcPts val="800"/>
              </a:spcAft>
              <a:buFont typeface="Arial"/>
              <a:buChar char="–"/>
            </a:pPr>
            <a:r>
              <a:rPr sz="1400" b="0" i="0">
                <a:solidFill>
                  <a:srgbClr val="222A33"/>
                </a:solidFill>
                <a:latin typeface="Calibri"/>
              </a:rPr>
              <a:t>Costs: encryption is sequential, padding is required, and a bit error spreads into the following block. Careless padding checks have also enabled padding oracle attacks.</a:t>
            </a:r>
          </a:p>
          <a:p>
            <a:pPr marL="201168" indent="-201168">
              <a:spcAft>
                <a:spcPts val="800"/>
              </a:spcAft>
              <a:buFont typeface="Arial"/>
              <a:buChar char="–"/>
            </a:pPr>
            <a:r>
              <a:rPr sz="1400" b="1" i="0">
                <a:solidFill>
                  <a:srgbClr val="196B24"/>
                </a:solidFill>
                <a:latin typeface="Calibri"/>
              </a:rPr>
              <a:t>Verdict: sound if used correctly, but largely superseded.</a:t>
            </a:r>
          </a:p>
        </p:txBody>
      </p:sp>
      <p:pic>
        <p:nvPicPr>
          <p:cNvPr id="8" name="Picture 7" descr="ECB Mode: How It Works, Why It Fails, and Why It Still Exists">
            <a:extLst>
              <a:ext uri="{FF2B5EF4-FFF2-40B4-BE49-F238E27FC236}">
                <a16:creationId xmlns:a16="http://schemas.microsoft.com/office/drawing/2014/main" id="{86D864EA-6A94-9727-F01E-401BAADEB008}"/>
              </a:ext>
            </a:extLst>
          </p:cNvPr>
          <p:cNvPicPr>
            <a:picLocks noChangeAspect="1"/>
          </p:cNvPicPr>
          <p:nvPr/>
        </p:nvPicPr>
        <p:blipFill>
          <a:blip r:embed="rId2"/>
          <a:stretch>
            <a:fillRect/>
          </a:stretch>
        </p:blipFill>
        <p:spPr>
          <a:xfrm>
            <a:off x="1731824" y="4027515"/>
            <a:ext cx="2881745" cy="200979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Modes of Operation II: CTR and GCM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CIPHERS</a:t>
            </a:r>
          </a:p>
        </p:txBody>
      </p:sp>
      <p:sp>
        <p:nvSpPr>
          <p:cNvPr id="4" name="Rounded Rectangle 3"/>
          <p:cNvSpPr/>
          <p:nvPr/>
        </p:nvSpPr>
        <p:spPr>
          <a:xfrm>
            <a:off x="548640" y="1828800"/>
            <a:ext cx="5394960" cy="384048"/>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CTR: Counter Mode</a:t>
            </a:r>
          </a:p>
        </p:txBody>
      </p:sp>
      <p:sp>
        <p:nvSpPr>
          <p:cNvPr id="5" name="Rounded Rectangle 4"/>
          <p:cNvSpPr/>
          <p:nvPr/>
        </p:nvSpPr>
        <p:spPr>
          <a:xfrm>
            <a:off x="621792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GCM: Galois/Counter Mode</a:t>
            </a:r>
          </a:p>
        </p:txBody>
      </p:sp>
      <p:sp>
        <p:nvSpPr>
          <p:cNvPr id="6" name="TextBox 5"/>
          <p:cNvSpPr txBox="1"/>
          <p:nvPr/>
        </p:nvSpPr>
        <p:spPr>
          <a:xfrm>
            <a:off x="548640" y="2286000"/>
            <a:ext cx="5394960" cy="2743200"/>
          </a:xfrm>
          <a:prstGeom prst="rect">
            <a:avLst/>
          </a:prstGeom>
          <a:noFill/>
        </p:spPr>
        <p:txBody>
          <a:bodyPr wrap="square">
            <a:spAutoFit/>
          </a:bodyPr>
          <a:lstStyle/>
          <a:p>
            <a:pPr marL="201168" indent="-201168">
              <a:spcAft>
                <a:spcPts val="800"/>
              </a:spcAft>
              <a:buFont typeface="Arial"/>
              <a:buChar char="–"/>
            </a:pPr>
            <a:r>
              <a:rPr sz="1400" b="0" i="0">
                <a:solidFill>
                  <a:srgbClr val="222A33"/>
                </a:solidFill>
                <a:latin typeface="Calibri"/>
              </a:rPr>
              <a:t>The block cipher encrypts a running counter, not the message. The output is a keystream, which is XORed with the plaintext.</a:t>
            </a:r>
          </a:p>
          <a:p>
            <a:pPr marL="201168" indent="-201168">
              <a:spcAft>
                <a:spcPts val="800"/>
              </a:spcAft>
              <a:buFont typeface="Arial"/>
              <a:buChar char="–"/>
            </a:pPr>
            <a:r>
              <a:rPr sz="1400" b="0" i="0">
                <a:solidFill>
                  <a:srgbClr val="222A33"/>
                </a:solidFill>
                <a:latin typeface="Calibri"/>
              </a:rPr>
              <a:t>This turns a block cipher into a stream cipher. No padding is needed, and blocks can be processed in parallel.</a:t>
            </a:r>
          </a:p>
          <a:p>
            <a:pPr marL="201168" indent="-201168">
              <a:spcAft>
                <a:spcPts val="800"/>
              </a:spcAft>
              <a:buFont typeface="Arial"/>
              <a:buChar char="–"/>
            </a:pPr>
            <a:r>
              <a:rPr sz="1400" b="1" i="0">
                <a:solidFill>
                  <a:srgbClr val="B02A2A"/>
                </a:solidFill>
                <a:latin typeface="Calibri"/>
              </a:rPr>
              <a:t>Critical rule: never reuse a counter or nonce value with the same key.</a:t>
            </a:r>
          </a:p>
        </p:txBody>
      </p:sp>
      <p:sp>
        <p:nvSpPr>
          <p:cNvPr id="7" name="TextBox 6"/>
          <p:cNvSpPr txBox="1"/>
          <p:nvPr/>
        </p:nvSpPr>
        <p:spPr>
          <a:xfrm>
            <a:off x="6217920" y="2286000"/>
            <a:ext cx="5394960" cy="2743200"/>
          </a:xfrm>
          <a:prstGeom prst="rect">
            <a:avLst/>
          </a:prstGeom>
          <a:noFill/>
        </p:spPr>
        <p:txBody>
          <a:bodyPr wrap="square">
            <a:spAutoFit/>
          </a:bodyPr>
          <a:lstStyle/>
          <a:p>
            <a:pPr marL="201168" indent="-201168">
              <a:spcAft>
                <a:spcPts val="800"/>
              </a:spcAft>
              <a:buFont typeface="Arial"/>
              <a:buChar char="–"/>
            </a:pPr>
            <a:r>
              <a:rPr sz="1400" b="0" i="0">
                <a:solidFill>
                  <a:srgbClr val="222A33"/>
                </a:solidFill>
                <a:latin typeface="Calibri"/>
              </a:rPr>
              <a:t>GCM is CTR mode plus an authentication tag. It provides confidentiality and integrity together, called authenticated encryption.</a:t>
            </a:r>
          </a:p>
          <a:p>
            <a:pPr marL="201168" indent="-201168">
              <a:spcAft>
                <a:spcPts val="800"/>
              </a:spcAft>
              <a:buFont typeface="Arial"/>
              <a:buChar char="–"/>
            </a:pPr>
            <a:r>
              <a:rPr sz="1400" b="0" i="0">
                <a:solidFill>
                  <a:srgbClr val="222A33"/>
                </a:solidFill>
                <a:latin typeface="Calibri"/>
              </a:rPr>
              <a:t>Fast, parallelisable, and the default choice in TLS 1.2 and 1.3 and in IPsec ESP.</a:t>
            </a:r>
          </a:p>
          <a:p>
            <a:pPr marL="201168" indent="-201168">
              <a:spcAft>
                <a:spcPts val="800"/>
              </a:spcAft>
              <a:buFont typeface="Arial"/>
              <a:buChar char="–"/>
            </a:pPr>
            <a:r>
              <a:rPr sz="1400" b="0" i="0">
                <a:solidFill>
                  <a:srgbClr val="222A33"/>
                </a:solidFill>
                <a:latin typeface="Calibri"/>
              </a:rPr>
              <a:t>The same nonce rule applies: a repeated nonce breaks it badly.</a:t>
            </a:r>
          </a:p>
        </p:txBody>
      </p:sp>
      <p:sp>
        <p:nvSpPr>
          <p:cNvPr id="8" name="Rounded Rectangle 7"/>
          <p:cNvSpPr/>
          <p:nvPr/>
        </p:nvSpPr>
        <p:spPr>
          <a:xfrm>
            <a:off x="548640" y="5074920"/>
            <a:ext cx="11064240" cy="77724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The line between the two families is blurred: CTR and GCM use a block cipher but behave like stream ciphers. This is why the choice of mode is part of the design, not an afterthought.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Block Cipher Algorithms: DES, 3DES, AES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CIPHERS</a:t>
            </a:r>
          </a:p>
        </p:txBody>
      </p:sp>
      <p:graphicFrame>
        <p:nvGraphicFramePr>
          <p:cNvPr id="4" name="Table 3"/>
          <p:cNvGraphicFramePr>
            <a:graphicFrameLocks noGrp="1"/>
          </p:cNvGraphicFramePr>
          <p:nvPr/>
        </p:nvGraphicFramePr>
        <p:xfrm>
          <a:off x="274320" y="1737360"/>
          <a:ext cx="11612880" cy="32918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4389120">
                  <a:extLst>
                    <a:ext uri="{9D8B030D-6E8A-4147-A177-3AD203B41FA5}">
                      <a16:colId xmlns:a16="http://schemas.microsoft.com/office/drawing/2014/main" val="20004"/>
                    </a:ext>
                  </a:extLst>
                </a:gridCol>
              </a:tblGrid>
              <a:tr h="822960">
                <a:tc>
                  <a:txBody>
                    <a:bodyPr/>
                    <a:lstStyle/>
                    <a:p>
                      <a:r>
                        <a:rPr sz="1300" b="1" i="0">
                          <a:solidFill>
                            <a:srgbClr val="FFFFFF"/>
                          </a:solidFill>
                          <a:latin typeface="Calibri"/>
                        </a:rPr>
                        <a:t>Algorithm</a:t>
                      </a:r>
                    </a:p>
                  </a:txBody>
                  <a:tcPr marL="73152" marR="73152" marT="27432" marB="27432" anchor="ctr">
                    <a:solidFill>
                      <a:srgbClr val="003054"/>
                    </a:solidFill>
                  </a:tcPr>
                </a:tc>
                <a:tc>
                  <a:txBody>
                    <a:bodyPr/>
                    <a:lstStyle/>
                    <a:p>
                      <a:r>
                        <a:rPr sz="1300" b="1" i="0">
                          <a:solidFill>
                            <a:srgbClr val="FFFFFF"/>
                          </a:solidFill>
                          <a:latin typeface="Calibri"/>
                        </a:rPr>
                        <a:t>Block Size</a:t>
                      </a:r>
                    </a:p>
                  </a:txBody>
                  <a:tcPr marL="73152" marR="73152" marT="27432" marB="27432" anchor="ctr">
                    <a:solidFill>
                      <a:srgbClr val="003054"/>
                    </a:solidFill>
                  </a:tcPr>
                </a:tc>
                <a:tc>
                  <a:txBody>
                    <a:bodyPr/>
                    <a:lstStyle/>
                    <a:p>
                      <a:r>
                        <a:rPr sz="1300" b="1" i="0">
                          <a:solidFill>
                            <a:srgbClr val="FFFFFF"/>
                          </a:solidFill>
                          <a:latin typeface="Calibri"/>
                        </a:rPr>
                        <a:t>Key Size</a:t>
                      </a:r>
                    </a:p>
                  </a:txBody>
                  <a:tcPr marL="73152" marR="73152" marT="27432" marB="27432" anchor="ctr">
                    <a:solidFill>
                      <a:srgbClr val="003054"/>
                    </a:solidFill>
                  </a:tcPr>
                </a:tc>
                <a:tc>
                  <a:txBody>
                    <a:bodyPr/>
                    <a:lstStyle/>
                    <a:p>
                      <a:r>
                        <a:rPr sz="1300" b="1" i="0">
                          <a:solidFill>
                            <a:srgbClr val="FFFFFF"/>
                          </a:solidFill>
                          <a:latin typeface="Calibri"/>
                        </a:rPr>
                        <a:t>Status</a:t>
                      </a:r>
                    </a:p>
                  </a:txBody>
                  <a:tcPr marL="73152" marR="73152" marT="27432" marB="27432" anchor="ctr">
                    <a:solidFill>
                      <a:srgbClr val="003054"/>
                    </a:solidFill>
                  </a:tcPr>
                </a:tc>
                <a:tc>
                  <a:txBody>
                    <a:bodyPr/>
                    <a:lstStyle/>
                    <a:p>
                      <a:r>
                        <a:rPr sz="1300" b="1" i="0">
                          <a:solidFill>
                            <a:srgbClr val="FFFFFF"/>
                          </a:solidFill>
                          <a:latin typeface="Calibri"/>
                        </a:rPr>
                        <a:t>Notes</a:t>
                      </a:r>
                    </a:p>
                  </a:txBody>
                  <a:tcPr marL="73152" marR="73152" marT="27432" marB="27432" anchor="ctr">
                    <a:solidFill>
                      <a:srgbClr val="003054"/>
                    </a:solidFill>
                  </a:tcPr>
                </a:tc>
                <a:extLst>
                  <a:ext uri="{0D108BD9-81ED-4DB2-BD59-A6C34878D82A}">
                    <a16:rowId xmlns:a16="http://schemas.microsoft.com/office/drawing/2014/main" val="10000"/>
                  </a:ext>
                </a:extLst>
              </a:tr>
              <a:tr h="822960">
                <a:tc>
                  <a:txBody>
                    <a:bodyPr/>
                    <a:lstStyle/>
                    <a:p>
                      <a:r>
                        <a:rPr sz="1250" b="0" i="0">
                          <a:solidFill>
                            <a:srgbClr val="222A33"/>
                          </a:solidFill>
                          <a:latin typeface="Calibri"/>
                        </a:rPr>
                        <a:t>DES</a:t>
                      </a:r>
                    </a:p>
                  </a:txBody>
                  <a:tcPr marL="73152" marR="73152" marT="27432" marB="27432" anchor="ctr">
                    <a:solidFill>
                      <a:srgbClr val="FFFFFF"/>
                    </a:solidFill>
                  </a:tcPr>
                </a:tc>
                <a:tc>
                  <a:txBody>
                    <a:bodyPr/>
                    <a:lstStyle/>
                    <a:p>
                      <a:r>
                        <a:rPr sz="1250" b="0" i="0">
                          <a:solidFill>
                            <a:srgbClr val="222A33"/>
                          </a:solidFill>
                          <a:latin typeface="Calibri"/>
                        </a:rPr>
                        <a:t>64 bits</a:t>
                      </a:r>
                    </a:p>
                  </a:txBody>
                  <a:tcPr marL="73152" marR="73152" marT="27432" marB="27432" anchor="ctr">
                    <a:solidFill>
                      <a:srgbClr val="FFFFFF"/>
                    </a:solidFill>
                  </a:tcPr>
                </a:tc>
                <a:tc>
                  <a:txBody>
                    <a:bodyPr/>
                    <a:lstStyle/>
                    <a:p>
                      <a:r>
                        <a:rPr sz="1250" b="0" i="0">
                          <a:solidFill>
                            <a:srgbClr val="222A33"/>
                          </a:solidFill>
                          <a:latin typeface="Calibri"/>
                        </a:rPr>
                        <a:t>56 bits</a:t>
                      </a:r>
                    </a:p>
                  </a:txBody>
                  <a:tcPr marL="73152" marR="73152" marT="27432" marB="27432" anchor="ctr">
                    <a:solidFill>
                      <a:srgbClr val="FFFFFF"/>
                    </a:solidFill>
                  </a:tcPr>
                </a:tc>
                <a:tc>
                  <a:txBody>
                    <a:bodyPr/>
                    <a:lstStyle/>
                    <a:p>
                      <a:r>
                        <a:rPr sz="1250" b="0" i="0">
                          <a:solidFill>
                            <a:srgbClr val="222A33"/>
                          </a:solidFill>
                          <a:latin typeface="Calibri"/>
                        </a:rPr>
                        <a:t>Broken, retired</a:t>
                      </a:r>
                    </a:p>
                  </a:txBody>
                  <a:tcPr marL="73152" marR="73152" marT="27432" marB="27432" anchor="ctr">
                    <a:solidFill>
                      <a:srgbClr val="FFFFFF"/>
                    </a:solidFill>
                  </a:tcPr>
                </a:tc>
                <a:tc>
                  <a:txBody>
                    <a:bodyPr/>
                    <a:lstStyle/>
                    <a:p>
                      <a:r>
                        <a:rPr sz="1250" b="0" i="0">
                          <a:solidFill>
                            <a:srgbClr val="222A33"/>
                          </a:solidFill>
                          <a:latin typeface="Calibri"/>
                        </a:rPr>
                        <a:t>Key space is small enough to brute force; a purpose-built machine did so in 1998.</a:t>
                      </a:r>
                    </a:p>
                  </a:txBody>
                  <a:tcPr marL="73152" marR="73152" marT="27432" marB="27432" anchor="ctr">
                    <a:solidFill>
                      <a:srgbClr val="FFFFFF"/>
                    </a:solidFill>
                  </a:tcPr>
                </a:tc>
                <a:extLst>
                  <a:ext uri="{0D108BD9-81ED-4DB2-BD59-A6C34878D82A}">
                    <a16:rowId xmlns:a16="http://schemas.microsoft.com/office/drawing/2014/main" val="10001"/>
                  </a:ext>
                </a:extLst>
              </a:tr>
              <a:tr h="822960">
                <a:tc>
                  <a:txBody>
                    <a:bodyPr/>
                    <a:lstStyle/>
                    <a:p>
                      <a:r>
                        <a:rPr sz="1250" b="0" i="0">
                          <a:solidFill>
                            <a:srgbClr val="222A33"/>
                          </a:solidFill>
                          <a:latin typeface="Calibri"/>
                        </a:rPr>
                        <a:t>3DES</a:t>
                      </a:r>
                    </a:p>
                  </a:txBody>
                  <a:tcPr marL="73152" marR="73152" marT="27432" marB="27432" anchor="ctr">
                    <a:solidFill>
                      <a:srgbClr val="F2F4F7"/>
                    </a:solidFill>
                  </a:tcPr>
                </a:tc>
                <a:tc>
                  <a:txBody>
                    <a:bodyPr/>
                    <a:lstStyle/>
                    <a:p>
                      <a:r>
                        <a:rPr sz="1250" b="0" i="0">
                          <a:solidFill>
                            <a:srgbClr val="222A33"/>
                          </a:solidFill>
                          <a:latin typeface="Calibri"/>
                        </a:rPr>
                        <a:t>64 bits</a:t>
                      </a:r>
                    </a:p>
                  </a:txBody>
                  <a:tcPr marL="73152" marR="73152" marT="27432" marB="27432" anchor="ctr">
                    <a:solidFill>
                      <a:srgbClr val="F2F4F7"/>
                    </a:solidFill>
                  </a:tcPr>
                </a:tc>
                <a:tc>
                  <a:txBody>
                    <a:bodyPr/>
                    <a:lstStyle/>
                    <a:p>
                      <a:r>
                        <a:rPr sz="1250" b="0" i="0">
                          <a:solidFill>
                            <a:srgbClr val="222A33"/>
                          </a:solidFill>
                          <a:latin typeface="Calibri"/>
                        </a:rPr>
                        <a:t>Up to 168 bits (about 112 bits of real security)</a:t>
                      </a:r>
                    </a:p>
                  </a:txBody>
                  <a:tcPr marL="73152" marR="73152" marT="27432" marB="27432" anchor="ctr">
                    <a:solidFill>
                      <a:srgbClr val="F2F4F7"/>
                    </a:solidFill>
                  </a:tcPr>
                </a:tc>
                <a:tc>
                  <a:txBody>
                    <a:bodyPr/>
                    <a:lstStyle/>
                    <a:p>
                      <a:r>
                        <a:rPr sz="1250" b="0" i="0">
                          <a:solidFill>
                            <a:srgbClr val="222A33"/>
                          </a:solidFill>
                          <a:latin typeface="Calibri"/>
                        </a:rPr>
                        <a:t>Deprecated</a:t>
                      </a:r>
                    </a:p>
                  </a:txBody>
                  <a:tcPr marL="73152" marR="73152" marT="27432" marB="27432" anchor="ctr">
                    <a:solidFill>
                      <a:srgbClr val="F2F4F7"/>
                    </a:solidFill>
                  </a:tcPr>
                </a:tc>
                <a:tc>
                  <a:txBody>
                    <a:bodyPr/>
                    <a:lstStyle/>
                    <a:p>
                      <a:r>
                        <a:rPr sz="1250" b="0" i="0">
                          <a:solidFill>
                            <a:srgbClr val="222A33"/>
                          </a:solidFill>
                          <a:latin typeface="Calibri"/>
                        </a:rPr>
                        <a:t>Applies DES three times. Slow, and the 64-bit block allows birthday attacks on large volumes of data (Sweet32).</a:t>
                      </a:r>
                    </a:p>
                  </a:txBody>
                  <a:tcPr marL="73152" marR="73152" marT="27432" marB="27432" anchor="ctr">
                    <a:solidFill>
                      <a:srgbClr val="F2F4F7"/>
                    </a:solidFill>
                  </a:tcPr>
                </a:tc>
                <a:extLst>
                  <a:ext uri="{0D108BD9-81ED-4DB2-BD59-A6C34878D82A}">
                    <a16:rowId xmlns:a16="http://schemas.microsoft.com/office/drawing/2014/main" val="10002"/>
                  </a:ext>
                </a:extLst>
              </a:tr>
              <a:tr h="822960">
                <a:tc>
                  <a:txBody>
                    <a:bodyPr/>
                    <a:lstStyle/>
                    <a:p>
                      <a:r>
                        <a:rPr sz="1250" b="0" i="0">
                          <a:solidFill>
                            <a:srgbClr val="222A33"/>
                          </a:solidFill>
                          <a:latin typeface="Calibri"/>
                        </a:rPr>
                        <a:t>AES</a:t>
                      </a:r>
                    </a:p>
                  </a:txBody>
                  <a:tcPr marL="73152" marR="73152" marT="27432" marB="27432" anchor="ctr">
                    <a:solidFill>
                      <a:srgbClr val="FFFFFF"/>
                    </a:solidFill>
                  </a:tcPr>
                </a:tc>
                <a:tc>
                  <a:txBody>
                    <a:bodyPr/>
                    <a:lstStyle/>
                    <a:p>
                      <a:r>
                        <a:rPr sz="1250" b="0" i="0">
                          <a:solidFill>
                            <a:srgbClr val="222A33"/>
                          </a:solidFill>
                          <a:latin typeface="Calibri"/>
                        </a:rPr>
                        <a:t>128 bits</a:t>
                      </a:r>
                    </a:p>
                  </a:txBody>
                  <a:tcPr marL="73152" marR="73152" marT="27432" marB="27432" anchor="ctr">
                    <a:solidFill>
                      <a:srgbClr val="FFFFFF"/>
                    </a:solidFill>
                  </a:tcPr>
                </a:tc>
                <a:tc>
                  <a:txBody>
                    <a:bodyPr/>
                    <a:lstStyle/>
                    <a:p>
                      <a:r>
                        <a:rPr sz="1250" b="0" i="0">
                          <a:solidFill>
                            <a:srgbClr val="222A33"/>
                          </a:solidFill>
                          <a:latin typeface="Calibri"/>
                        </a:rPr>
                        <a:t>128, 192, or 256 bits</a:t>
                      </a:r>
                    </a:p>
                  </a:txBody>
                  <a:tcPr marL="73152" marR="73152" marT="27432" marB="27432" anchor="ctr">
                    <a:solidFill>
                      <a:srgbClr val="FFFFFF"/>
                    </a:solidFill>
                  </a:tcPr>
                </a:tc>
                <a:tc>
                  <a:txBody>
                    <a:bodyPr/>
                    <a:lstStyle/>
                    <a:p>
                      <a:r>
                        <a:rPr sz="1250" b="0" i="0">
                          <a:solidFill>
                            <a:srgbClr val="222A33"/>
                          </a:solidFill>
                          <a:latin typeface="Calibri"/>
                        </a:rPr>
                        <a:t>Current standard</a:t>
                      </a:r>
                    </a:p>
                  </a:txBody>
                  <a:tcPr marL="73152" marR="73152" marT="27432" marB="27432" anchor="ctr">
                    <a:solidFill>
                      <a:srgbClr val="FFFFFF"/>
                    </a:solidFill>
                  </a:tcPr>
                </a:tc>
                <a:tc>
                  <a:txBody>
                    <a:bodyPr/>
                    <a:lstStyle/>
                    <a:p>
                      <a:r>
                        <a:rPr sz="1250" b="0" i="0">
                          <a:solidFill>
                            <a:srgbClr val="222A33"/>
                          </a:solidFill>
                          <a:latin typeface="Calibri"/>
                        </a:rPr>
                        <a:t>Selected by open NIST competition (Rijndael, standardised 2001, FIPS 197). Fast in hardware and software.</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Recall the IPsec framework table in Week 9: this is the confidentiality row, and AES is the choice you would make today.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Block Ciphers: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CIPHERS</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Very well studied: AES has withstood over two decades of public cryptanalysis.</a:t>
            </a:r>
          </a:p>
          <a:p>
            <a:pPr marL="201168" indent="-201168">
              <a:spcAft>
                <a:spcPts val="700"/>
              </a:spcAft>
              <a:buFont typeface="Arial"/>
              <a:buChar char="–"/>
            </a:pPr>
            <a:r>
              <a:rPr sz="1300" b="0" i="0">
                <a:solidFill>
                  <a:srgbClr val="222A33"/>
                </a:solidFill>
                <a:latin typeface="Calibri"/>
              </a:rPr>
              <a:t>Hardware acceleration (AES-NI) makes it extremely fast on most servers and laptops.</a:t>
            </a:r>
          </a:p>
          <a:p>
            <a:pPr marL="201168" indent="-201168">
              <a:spcAft>
                <a:spcPts val="700"/>
              </a:spcAft>
              <a:buFont typeface="Arial"/>
              <a:buChar char="–"/>
            </a:pPr>
            <a:r>
              <a:rPr sz="1300" b="0" i="0">
                <a:solidFill>
                  <a:srgbClr val="222A33"/>
                </a:solidFill>
                <a:latin typeface="Calibri"/>
              </a:rPr>
              <a:t>Flexible: different modes suit different needs, from random-access disk encryption to authenticated network traffic.</a:t>
            </a:r>
          </a:p>
          <a:p>
            <a:pPr marL="201168" indent="-201168">
              <a:spcAft>
                <a:spcPts val="700"/>
              </a:spcAft>
              <a:buFont typeface="Arial"/>
              <a:buChar char="–"/>
            </a:pPr>
            <a:r>
              <a:rPr sz="1300" b="0" i="0">
                <a:solidFill>
                  <a:srgbClr val="222A33"/>
                </a:solidFill>
                <a:latin typeface="Calibri"/>
              </a:rPr>
              <a:t>GCM gives encryption and integrity in a single operation.</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Mode choice is easy to get wrong: ECB leaks patterns, and CBC needs careful padding handling.</a:t>
            </a:r>
          </a:p>
          <a:p>
            <a:pPr marL="201168" indent="-201168">
              <a:spcAft>
                <a:spcPts val="700"/>
              </a:spcAft>
              <a:buFont typeface="Arial"/>
              <a:buChar char="–"/>
            </a:pPr>
            <a:r>
              <a:rPr sz="1300" b="0" i="0">
                <a:solidFill>
                  <a:srgbClr val="222A33"/>
                </a:solidFill>
                <a:latin typeface="Calibri"/>
              </a:rPr>
              <a:t>Padding adds overhead, and short messages still consume a whole block.</a:t>
            </a:r>
          </a:p>
          <a:p>
            <a:pPr marL="201168" indent="-201168">
              <a:spcAft>
                <a:spcPts val="700"/>
              </a:spcAft>
              <a:buFont typeface="Arial"/>
              <a:buChar char="–"/>
            </a:pPr>
            <a:r>
              <a:rPr sz="1300" b="0" i="0">
                <a:solidFill>
                  <a:srgbClr val="222A33"/>
                </a:solidFill>
                <a:latin typeface="Calibri"/>
              </a:rPr>
              <a:t>Nonce or IV mistakes can be catastrophic in CTR and GCM.</a:t>
            </a:r>
          </a:p>
          <a:p>
            <a:pPr marL="201168" indent="-201168">
              <a:spcAft>
                <a:spcPts val="700"/>
              </a:spcAft>
              <a:buFont typeface="Arial"/>
              <a:buChar char="–"/>
            </a:pPr>
            <a:r>
              <a:rPr sz="1300" b="0" i="0">
                <a:solidFill>
                  <a:srgbClr val="222A33"/>
                </a:solidFill>
                <a:latin typeface="Calibri"/>
              </a:rPr>
              <a:t>Without hardware support, some block ciphers are slower than modern stream ciphers.</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full-disk encryption (AES-XTS), file and database encryption, TLS and IPsec bulk data (AES-GCM), Wi-Fi WPA2 and WPA3, and VPN tunnels.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Stream Ciphers: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STREAM CIPHERS</a:t>
            </a:r>
          </a:p>
        </p:txBody>
      </p:sp>
      <p:sp>
        <p:nvSpPr>
          <p:cNvPr id="4" name="Rounded Rectangle 3"/>
          <p:cNvSpPr/>
          <p:nvPr/>
        </p:nvSpPr>
        <p:spPr>
          <a:xfrm>
            <a:off x="731520" y="1920240"/>
            <a:ext cx="2194560" cy="64008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Key + nonce</a:t>
            </a:r>
          </a:p>
        </p:txBody>
      </p:sp>
      <p:sp>
        <p:nvSpPr>
          <p:cNvPr id="5" name="Rounded Rectangle 4"/>
          <p:cNvSpPr/>
          <p:nvPr/>
        </p:nvSpPr>
        <p:spPr>
          <a:xfrm>
            <a:off x="3840480" y="1920240"/>
            <a:ext cx="2560320" cy="64008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Keystream generator</a:t>
            </a:r>
          </a:p>
        </p:txBody>
      </p:sp>
      <p:cxnSp>
        <p:nvCxnSpPr>
          <p:cNvPr id="6" name="Connector 5"/>
          <p:cNvCxnSpPr/>
          <p:nvPr/>
        </p:nvCxnSpPr>
        <p:spPr>
          <a:xfrm>
            <a:off x="2926080" y="2240280"/>
            <a:ext cx="9144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3200400"/>
            <a:ext cx="219456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Plaintext stream</a:t>
            </a:r>
          </a:p>
        </p:txBody>
      </p:sp>
      <p:sp>
        <p:nvSpPr>
          <p:cNvPr id="8" name="Rounded Rectangle 7"/>
          <p:cNvSpPr/>
          <p:nvPr/>
        </p:nvSpPr>
        <p:spPr>
          <a:xfrm>
            <a:off x="7315200" y="2560320"/>
            <a:ext cx="1463040" cy="82296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latin typeface="Calibri"/>
              </a:rPr>
              <a:t>XOR</a:t>
            </a:r>
          </a:p>
        </p:txBody>
      </p:sp>
      <p:cxnSp>
        <p:nvCxnSpPr>
          <p:cNvPr id="9" name="Connector 8"/>
          <p:cNvCxnSpPr/>
          <p:nvPr/>
        </p:nvCxnSpPr>
        <p:spPr>
          <a:xfrm>
            <a:off x="6400800" y="2240280"/>
            <a:ext cx="1645920" cy="32004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926080" y="3154680"/>
            <a:ext cx="4389120" cy="36576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778240" y="2971800"/>
            <a:ext cx="73152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509760" y="2651760"/>
            <a:ext cx="201168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Ciphertext stream</a:t>
            </a:r>
          </a:p>
        </p:txBody>
      </p:sp>
      <p:sp>
        <p:nvSpPr>
          <p:cNvPr id="13" name="TextBox 12"/>
          <p:cNvSpPr txBox="1"/>
          <p:nvPr/>
        </p:nvSpPr>
        <p:spPr>
          <a:xfrm>
            <a:off x="731520" y="4114800"/>
            <a:ext cx="10698480" cy="18288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A stream cipher generates a pseudo-random keystream from the key (and a nonce), then XORs it with the plaintext one bit or byte at a time. Decryption is the same XOR with the same keystream.</a:t>
            </a:r>
          </a:p>
          <a:p>
            <a:pPr marL="201168" indent="-201168">
              <a:spcAft>
                <a:spcPts val="1100"/>
              </a:spcAft>
              <a:buFont typeface="Arial"/>
              <a:buChar char="–"/>
            </a:pPr>
            <a:r>
              <a:rPr sz="1400" b="0" i="0">
                <a:solidFill>
                  <a:srgbClr val="222A33"/>
                </a:solidFill>
                <a:latin typeface="Calibri"/>
              </a:rPr>
              <a:t>The theoretical ideal is the one-time pad: a truly random key as long as the message, used once. Shannon proved it gives perfect secrecy, but it is impractical because the key must be shared securely and never reused. Stream ciphers approximate it with a short key.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Stream Cipher Algorithms: RC4, ChaCha20, A5/1</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STREAM CIPHERS</a:t>
            </a:r>
          </a:p>
        </p:txBody>
      </p:sp>
      <p:graphicFrame>
        <p:nvGraphicFramePr>
          <p:cNvPr id="4" name="Table 3"/>
          <p:cNvGraphicFramePr>
            <a:graphicFrameLocks noGrp="1"/>
          </p:cNvGraphicFramePr>
          <p:nvPr/>
        </p:nvGraphicFramePr>
        <p:xfrm>
          <a:off x="274320" y="1737360"/>
          <a:ext cx="11612880" cy="34747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tblGrid>
              <a:tr h="868680">
                <a:tc>
                  <a:txBody>
                    <a:bodyPr/>
                    <a:lstStyle/>
                    <a:p>
                      <a:r>
                        <a:rPr sz="1300" b="1" i="0">
                          <a:solidFill>
                            <a:srgbClr val="FFFFFF"/>
                          </a:solidFill>
                          <a:latin typeface="Calibri"/>
                        </a:rPr>
                        <a:t>Algorithm</a:t>
                      </a:r>
                    </a:p>
                  </a:txBody>
                  <a:tcPr marL="73152" marR="73152" marT="27432" marB="27432" anchor="ctr">
                    <a:solidFill>
                      <a:srgbClr val="003054"/>
                    </a:solidFill>
                  </a:tcPr>
                </a:tc>
                <a:tc>
                  <a:txBody>
                    <a:bodyPr/>
                    <a:lstStyle/>
                    <a:p>
                      <a:r>
                        <a:rPr sz="1300" b="1" i="0">
                          <a:solidFill>
                            <a:srgbClr val="FFFFFF"/>
                          </a:solidFill>
                          <a:latin typeface="Calibri"/>
                        </a:rPr>
                        <a:t>Key Size</a:t>
                      </a:r>
                    </a:p>
                  </a:txBody>
                  <a:tcPr marL="73152" marR="73152" marT="27432" marB="27432" anchor="ctr">
                    <a:solidFill>
                      <a:srgbClr val="003054"/>
                    </a:solidFill>
                  </a:tcPr>
                </a:tc>
                <a:tc>
                  <a:txBody>
                    <a:bodyPr/>
                    <a:lstStyle/>
                    <a:p>
                      <a:r>
                        <a:rPr sz="1300" b="1" i="0">
                          <a:solidFill>
                            <a:srgbClr val="FFFFFF"/>
                          </a:solidFill>
                          <a:latin typeface="Calibri"/>
                        </a:rPr>
                        <a:t>Status</a:t>
                      </a:r>
                    </a:p>
                  </a:txBody>
                  <a:tcPr marL="73152" marR="73152" marT="27432" marB="27432" anchor="ctr">
                    <a:solidFill>
                      <a:srgbClr val="003054"/>
                    </a:solidFill>
                  </a:tcPr>
                </a:tc>
                <a:tc>
                  <a:txBody>
                    <a:bodyPr/>
                    <a:lstStyle/>
                    <a:p>
                      <a:r>
                        <a:rPr sz="1300" b="1" i="0">
                          <a:solidFill>
                            <a:srgbClr val="FFFFFF"/>
                          </a:solidFill>
                          <a:latin typeface="Calibri"/>
                        </a:rPr>
                        <a:t>Where It Appeared</a:t>
                      </a:r>
                    </a:p>
                  </a:txBody>
                  <a:tcPr marL="73152" marR="73152" marT="27432" marB="27432" anchor="ctr">
                    <a:solidFill>
                      <a:srgbClr val="003054"/>
                    </a:solidFill>
                  </a:tcPr>
                </a:tc>
                <a:tc>
                  <a:txBody>
                    <a:bodyPr/>
                    <a:lstStyle/>
                    <a:p>
                      <a:r>
                        <a:rPr sz="1300" b="1" i="0">
                          <a:solidFill>
                            <a:srgbClr val="FFFFFF"/>
                          </a:solidFill>
                          <a:latin typeface="Calibri"/>
                        </a:rPr>
                        <a:t>Notes</a:t>
                      </a:r>
                    </a:p>
                  </a:txBody>
                  <a:tcPr marL="73152" marR="73152" marT="27432" marB="27432" anchor="ctr">
                    <a:solidFill>
                      <a:srgbClr val="003054"/>
                    </a:solidFill>
                  </a:tcPr>
                </a:tc>
                <a:extLst>
                  <a:ext uri="{0D108BD9-81ED-4DB2-BD59-A6C34878D82A}">
                    <a16:rowId xmlns:a16="http://schemas.microsoft.com/office/drawing/2014/main" val="10000"/>
                  </a:ext>
                </a:extLst>
              </a:tr>
              <a:tr h="868680">
                <a:tc>
                  <a:txBody>
                    <a:bodyPr/>
                    <a:lstStyle/>
                    <a:p>
                      <a:r>
                        <a:rPr sz="1250" b="0" i="0">
                          <a:solidFill>
                            <a:srgbClr val="222A33"/>
                          </a:solidFill>
                          <a:latin typeface="Calibri"/>
                        </a:rPr>
                        <a:t>RC4</a:t>
                      </a:r>
                    </a:p>
                  </a:txBody>
                  <a:tcPr marL="73152" marR="73152" marT="27432" marB="27432" anchor="ctr">
                    <a:solidFill>
                      <a:srgbClr val="FFFFFF"/>
                    </a:solidFill>
                  </a:tcPr>
                </a:tc>
                <a:tc>
                  <a:txBody>
                    <a:bodyPr/>
                    <a:lstStyle/>
                    <a:p>
                      <a:r>
                        <a:rPr sz="1250" b="0" i="0">
                          <a:solidFill>
                            <a:srgbClr val="222A33"/>
                          </a:solidFill>
                          <a:latin typeface="Calibri"/>
                        </a:rPr>
                        <a:t>40 to 2048 bits</a:t>
                      </a:r>
                    </a:p>
                  </a:txBody>
                  <a:tcPr marL="73152" marR="73152" marT="27432" marB="27432" anchor="ctr">
                    <a:solidFill>
                      <a:srgbClr val="FFFFFF"/>
                    </a:solidFill>
                  </a:tcPr>
                </a:tc>
                <a:tc>
                  <a:txBody>
                    <a:bodyPr/>
                    <a:lstStyle/>
                    <a:p>
                      <a:r>
                        <a:rPr sz="1250" b="0" i="0">
                          <a:solidFill>
                            <a:srgbClr val="222A33"/>
                          </a:solidFill>
                          <a:latin typeface="Calibri"/>
                        </a:rPr>
                        <a:t>Broken, prohibited in TLS (RFC 7465)</a:t>
                      </a:r>
                    </a:p>
                  </a:txBody>
                  <a:tcPr marL="73152" marR="73152" marT="27432" marB="27432" anchor="ctr">
                    <a:solidFill>
                      <a:srgbClr val="FFFFFF"/>
                    </a:solidFill>
                  </a:tcPr>
                </a:tc>
                <a:tc>
                  <a:txBody>
                    <a:bodyPr/>
                    <a:lstStyle/>
                    <a:p>
                      <a:r>
                        <a:rPr sz="1250" b="0" i="0">
                          <a:solidFill>
                            <a:srgbClr val="222A33"/>
                          </a:solidFill>
                          <a:latin typeface="Calibri"/>
                        </a:rPr>
                        <a:t>WEP, early WPA (TKIP), SSL and TLS</a:t>
                      </a:r>
                    </a:p>
                  </a:txBody>
                  <a:tcPr marL="73152" marR="73152" marT="27432" marB="27432" anchor="ctr">
                    <a:solidFill>
                      <a:srgbClr val="FFFFFF"/>
                    </a:solidFill>
                  </a:tcPr>
                </a:tc>
                <a:tc>
                  <a:txBody>
                    <a:bodyPr/>
                    <a:lstStyle/>
                    <a:p>
                      <a:r>
                        <a:rPr sz="1250" b="0" i="0">
                          <a:solidFill>
                            <a:srgbClr val="222A33"/>
                          </a:solidFill>
                          <a:latin typeface="Calibri"/>
                        </a:rPr>
                        <a:t>Statistical biases in the keystream allow plaintext recovery. Simple and fast, which made it popular.</a:t>
                      </a:r>
                    </a:p>
                  </a:txBody>
                  <a:tcPr marL="73152" marR="73152" marT="27432" marB="27432" anchor="ctr">
                    <a:solidFill>
                      <a:srgbClr val="FFFFFF"/>
                    </a:solidFill>
                  </a:tcPr>
                </a:tc>
                <a:extLst>
                  <a:ext uri="{0D108BD9-81ED-4DB2-BD59-A6C34878D82A}">
                    <a16:rowId xmlns:a16="http://schemas.microsoft.com/office/drawing/2014/main" val="10001"/>
                  </a:ext>
                </a:extLst>
              </a:tr>
              <a:tr h="868680">
                <a:tc>
                  <a:txBody>
                    <a:bodyPr/>
                    <a:lstStyle/>
                    <a:p>
                      <a:r>
                        <a:rPr sz="1250" b="0" i="0">
                          <a:solidFill>
                            <a:srgbClr val="222A33"/>
                          </a:solidFill>
                          <a:latin typeface="Calibri"/>
                        </a:rPr>
                        <a:t>ChaCha20</a:t>
                      </a:r>
                    </a:p>
                  </a:txBody>
                  <a:tcPr marL="73152" marR="73152" marT="27432" marB="27432" anchor="ctr">
                    <a:solidFill>
                      <a:srgbClr val="F2F4F7"/>
                    </a:solidFill>
                  </a:tcPr>
                </a:tc>
                <a:tc>
                  <a:txBody>
                    <a:bodyPr/>
                    <a:lstStyle/>
                    <a:p>
                      <a:r>
                        <a:rPr sz="1250" b="0" i="0">
                          <a:solidFill>
                            <a:srgbClr val="222A33"/>
                          </a:solidFill>
                          <a:latin typeface="Calibri"/>
                        </a:rPr>
                        <a:t>256 bits</a:t>
                      </a:r>
                    </a:p>
                  </a:txBody>
                  <a:tcPr marL="73152" marR="73152" marT="27432" marB="27432" anchor="ctr">
                    <a:solidFill>
                      <a:srgbClr val="F2F4F7"/>
                    </a:solidFill>
                  </a:tcPr>
                </a:tc>
                <a:tc>
                  <a:txBody>
                    <a:bodyPr/>
                    <a:lstStyle/>
                    <a:p>
                      <a:r>
                        <a:rPr sz="1250" b="0" i="0">
                          <a:solidFill>
                            <a:srgbClr val="222A33"/>
                          </a:solidFill>
                          <a:latin typeface="Calibri"/>
                        </a:rPr>
                        <a:t>Current, recommended</a:t>
                      </a:r>
                    </a:p>
                  </a:txBody>
                  <a:tcPr marL="73152" marR="73152" marT="27432" marB="27432" anchor="ctr">
                    <a:solidFill>
                      <a:srgbClr val="F2F4F7"/>
                    </a:solidFill>
                  </a:tcPr>
                </a:tc>
                <a:tc>
                  <a:txBody>
                    <a:bodyPr/>
                    <a:lstStyle/>
                    <a:p>
                      <a:r>
                        <a:rPr sz="1250" b="0" i="0">
                          <a:solidFill>
                            <a:srgbClr val="222A33"/>
                          </a:solidFill>
                          <a:latin typeface="Calibri"/>
                        </a:rPr>
                        <a:t>TLS 1.3 (with Poly1305), WireGuard, SSH</a:t>
                      </a:r>
                    </a:p>
                  </a:txBody>
                  <a:tcPr marL="73152" marR="73152" marT="27432" marB="27432" anchor="ctr">
                    <a:solidFill>
                      <a:srgbClr val="F2F4F7"/>
                    </a:solidFill>
                  </a:tcPr>
                </a:tc>
                <a:tc>
                  <a:txBody>
                    <a:bodyPr/>
                    <a:lstStyle/>
                    <a:p>
                      <a:r>
                        <a:rPr sz="1250" b="0" i="0">
                          <a:solidFill>
                            <a:srgbClr val="222A33"/>
                          </a:solidFill>
                          <a:latin typeface="Calibri"/>
                        </a:rPr>
                        <a:t>Fast in software without special hardware, which suits mobile devices. Designed by Bernstein.</a:t>
                      </a:r>
                    </a:p>
                  </a:txBody>
                  <a:tcPr marL="73152" marR="73152" marT="27432" marB="27432" anchor="ctr">
                    <a:solidFill>
                      <a:srgbClr val="F2F4F7"/>
                    </a:solidFill>
                  </a:tcPr>
                </a:tc>
                <a:extLst>
                  <a:ext uri="{0D108BD9-81ED-4DB2-BD59-A6C34878D82A}">
                    <a16:rowId xmlns:a16="http://schemas.microsoft.com/office/drawing/2014/main" val="10002"/>
                  </a:ext>
                </a:extLst>
              </a:tr>
              <a:tr h="868680">
                <a:tc>
                  <a:txBody>
                    <a:bodyPr/>
                    <a:lstStyle/>
                    <a:p>
                      <a:r>
                        <a:rPr sz="1250" b="0" i="0">
                          <a:solidFill>
                            <a:srgbClr val="222A33"/>
                          </a:solidFill>
                          <a:latin typeface="Calibri"/>
                        </a:rPr>
                        <a:t>A5/1</a:t>
                      </a:r>
                    </a:p>
                  </a:txBody>
                  <a:tcPr marL="73152" marR="73152" marT="27432" marB="27432" anchor="ctr">
                    <a:solidFill>
                      <a:srgbClr val="FFFFFF"/>
                    </a:solidFill>
                  </a:tcPr>
                </a:tc>
                <a:tc>
                  <a:txBody>
                    <a:bodyPr/>
                    <a:lstStyle/>
                    <a:p>
                      <a:r>
                        <a:rPr sz="1250" b="0" i="0">
                          <a:solidFill>
                            <a:srgbClr val="222A33"/>
                          </a:solidFill>
                          <a:latin typeface="Calibri"/>
                        </a:rPr>
                        <a:t>64 bits</a:t>
                      </a:r>
                    </a:p>
                  </a:txBody>
                  <a:tcPr marL="73152" marR="73152" marT="27432" marB="27432" anchor="ctr">
                    <a:solidFill>
                      <a:srgbClr val="FFFFFF"/>
                    </a:solidFill>
                  </a:tcPr>
                </a:tc>
                <a:tc>
                  <a:txBody>
                    <a:bodyPr/>
                    <a:lstStyle/>
                    <a:p>
                      <a:r>
                        <a:rPr sz="1250" b="0" i="0">
                          <a:solidFill>
                            <a:srgbClr val="222A33"/>
                          </a:solidFill>
                          <a:latin typeface="Calibri"/>
                        </a:rPr>
                        <a:t>Broken in practice</a:t>
                      </a:r>
                    </a:p>
                  </a:txBody>
                  <a:tcPr marL="73152" marR="73152" marT="27432" marB="27432" anchor="ctr">
                    <a:solidFill>
                      <a:srgbClr val="FFFFFF"/>
                    </a:solidFill>
                  </a:tcPr>
                </a:tc>
                <a:tc>
                  <a:txBody>
                    <a:bodyPr/>
                    <a:lstStyle/>
                    <a:p>
                      <a:r>
                        <a:rPr sz="1250" b="0" i="0">
                          <a:solidFill>
                            <a:srgbClr val="222A33"/>
                          </a:solidFill>
                          <a:latin typeface="Calibri"/>
                        </a:rPr>
                        <a:t>GSM (2G) mobile networks</a:t>
                      </a:r>
                    </a:p>
                  </a:txBody>
                  <a:tcPr marL="73152" marR="73152" marT="27432" marB="27432" anchor="ctr">
                    <a:solidFill>
                      <a:srgbClr val="FFFFFF"/>
                    </a:solidFill>
                  </a:tcPr>
                </a:tc>
                <a:tc>
                  <a:txBody>
                    <a:bodyPr/>
                    <a:lstStyle/>
                    <a:p>
                      <a:r>
                        <a:rPr sz="1250" b="0" i="0">
                          <a:solidFill>
                            <a:srgbClr val="222A33"/>
                          </a:solidFill>
                          <a:latin typeface="Calibri"/>
                        </a:rPr>
                        <a:t>Short key and published attacks. Newer mobile generations use stronger ciphers.</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Keystream Reuse Weakness: WEP Case Study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STREAM CIPHERS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 fatal rule: never use the same keystream twice. If two messages are encrypted with the same keystream, XORing the two ciphertexts cancels the keystream and leaves the XOR of the two plaintexts. An attacker can then recover both using known or guessable content.</a:t>
            </a:r>
          </a:p>
          <a:p>
            <a:pPr marL="201168" indent="-201168">
              <a:spcAft>
                <a:spcPts val="1100"/>
              </a:spcAft>
              <a:buFont typeface="Arial"/>
              <a:buChar char="–"/>
            </a:pPr>
            <a:r>
              <a:rPr sz="1400" b="0" i="0">
                <a:solidFill>
                  <a:srgbClr val="222A33"/>
                </a:solidFill>
                <a:latin typeface="Calibri"/>
              </a:rPr>
              <a:t>WEP (the original Wi-Fi security) used RC4 with a 24-bit initialisation vector (IV) sent in the clear. A 24-bit IV has only about 16.7 million values, so on a busy network the same IV, and therefore the same keystream, repeats within a few thousand packets.</a:t>
            </a:r>
          </a:p>
          <a:p>
            <a:pPr marL="201168" indent="-201168">
              <a:spcAft>
                <a:spcPts val="1100"/>
              </a:spcAft>
              <a:buFont typeface="Arial"/>
              <a:buChar char="–"/>
            </a:pPr>
            <a:r>
              <a:rPr sz="1400" b="0" i="0">
                <a:solidFill>
                  <a:srgbClr val="222A33"/>
                </a:solidFill>
                <a:latin typeface="Calibri"/>
              </a:rPr>
              <a:t>WEP also mixed the IV directly into the RC4 key in a way that leaked key material, so attackers could recover the key itself after capturing enough traffic. The attack tools became widely available in the early 2000s.</a:t>
            </a:r>
          </a:p>
          <a:p>
            <a:pPr marL="201168" indent="-201168">
              <a:spcAft>
                <a:spcPts val="1100"/>
              </a:spcAft>
              <a:buFont typeface="Arial"/>
              <a:buChar char="–"/>
            </a:pPr>
            <a:r>
              <a:rPr sz="1400" b="0" i="0">
                <a:solidFill>
                  <a:srgbClr val="222A33"/>
                </a:solidFill>
                <a:latin typeface="Calibri"/>
              </a:rPr>
              <a:t>Lessons: nonces must never repeat, ciphers must be used in a sound construction, and a secure algorithm inside an insecure protocol is still insecure.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Stream Ciphers: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STREAM CIPHERS</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Fast and low latency: each bit or byte can be encrypted as it arrives.</a:t>
            </a:r>
          </a:p>
          <a:p>
            <a:pPr marL="201168" indent="-201168">
              <a:spcAft>
                <a:spcPts val="700"/>
              </a:spcAft>
              <a:buFont typeface="Arial"/>
              <a:buChar char="–"/>
            </a:pPr>
            <a:r>
              <a:rPr sz="1300" b="0" i="0">
                <a:solidFill>
                  <a:srgbClr val="222A33"/>
                </a:solidFill>
                <a:latin typeface="Calibri"/>
              </a:rPr>
              <a:t>No padding, and well suited to data of unknown length such as live streams.</a:t>
            </a:r>
          </a:p>
          <a:p>
            <a:pPr marL="201168" indent="-201168">
              <a:spcAft>
                <a:spcPts val="700"/>
              </a:spcAft>
              <a:buFont typeface="Arial"/>
              <a:buChar char="–"/>
            </a:pPr>
            <a:r>
              <a:rPr sz="1300" b="0" i="0">
                <a:solidFill>
                  <a:srgbClr val="222A33"/>
                </a:solidFill>
                <a:latin typeface="Calibri"/>
              </a:rPr>
              <a:t>A transmission error damages only the corrupted bit, not the following data.</a:t>
            </a:r>
          </a:p>
          <a:p>
            <a:pPr marL="201168" indent="-201168">
              <a:spcAft>
                <a:spcPts val="700"/>
              </a:spcAft>
              <a:buFont typeface="Arial"/>
              <a:buChar char="–"/>
            </a:pPr>
            <a:r>
              <a:rPr sz="1300" b="0" i="0">
                <a:solidFill>
                  <a:srgbClr val="222A33"/>
                </a:solidFill>
                <a:latin typeface="Calibri"/>
              </a:rPr>
              <a:t>Small and simple to implement, including on constrained devices.</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Keystream reuse is catastrophic and easy to cause by accident.</a:t>
            </a:r>
          </a:p>
          <a:p>
            <a:pPr marL="201168" indent="-201168">
              <a:spcAft>
                <a:spcPts val="700"/>
              </a:spcAft>
              <a:buFont typeface="Arial"/>
              <a:buChar char="–"/>
            </a:pPr>
            <a:r>
              <a:rPr sz="1300" b="0" i="0">
                <a:solidFill>
                  <a:srgbClr val="222A33"/>
                </a:solidFill>
                <a:latin typeface="Calibri"/>
              </a:rPr>
              <a:t>On its own offers no integrity: flipping a ciphertext bit flips the same plaintext bit, so a MAC or authenticated mode is required.</a:t>
            </a:r>
          </a:p>
          <a:p>
            <a:pPr marL="201168" indent="-201168">
              <a:spcAft>
                <a:spcPts val="700"/>
              </a:spcAft>
              <a:buFont typeface="Arial"/>
              <a:buChar char="–"/>
            </a:pPr>
            <a:r>
              <a:rPr sz="1300" b="0" i="0">
                <a:solidFill>
                  <a:srgbClr val="222A33"/>
                </a:solidFill>
                <a:latin typeface="Calibri"/>
              </a:rPr>
              <a:t>A weak design is hard to spot: RC4 and A5/1 both looked reasonable before they were broken.</a:t>
            </a:r>
          </a:p>
          <a:p>
            <a:pPr marL="201168" indent="-201168">
              <a:spcAft>
                <a:spcPts val="700"/>
              </a:spcAft>
              <a:buFont typeface="Arial"/>
              <a:buChar char="–"/>
            </a:pPr>
            <a:r>
              <a:rPr sz="1300" b="0" i="0">
                <a:solidFill>
                  <a:srgbClr val="222A33"/>
                </a:solidFill>
                <a:latin typeface="Calibri"/>
              </a:rPr>
              <a:t>Needs a unique nonce per message, which the protocol must manage.</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TLS 1.3 on mobile devices (ChaCha20-Poly1305), WireGuard VPN, SSH, live voice and video where low latency matters, and mobile network encryption.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Block vs Stream: Full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VS STREAM</a:t>
            </a:r>
          </a:p>
        </p:txBody>
      </p:sp>
      <p:graphicFrame>
        <p:nvGraphicFramePr>
          <p:cNvPr id="4" name="Table 3"/>
          <p:cNvGraphicFramePr>
            <a:graphicFrameLocks noGrp="1"/>
          </p:cNvGraphicFramePr>
          <p:nvPr/>
        </p:nvGraphicFramePr>
        <p:xfrm>
          <a:off x="274320" y="1737360"/>
          <a:ext cx="11612880" cy="40233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02920">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Block Cipher</a:t>
                      </a:r>
                    </a:p>
                  </a:txBody>
                  <a:tcPr marL="73152" marR="73152" marT="27432" marB="27432" anchor="ctr">
                    <a:solidFill>
                      <a:srgbClr val="003054"/>
                    </a:solidFill>
                  </a:tcPr>
                </a:tc>
                <a:tc>
                  <a:txBody>
                    <a:bodyPr/>
                    <a:lstStyle/>
                    <a:p>
                      <a:r>
                        <a:rPr sz="1300" b="1" i="0">
                          <a:solidFill>
                            <a:srgbClr val="FFFFFF"/>
                          </a:solidFill>
                          <a:latin typeface="Calibri"/>
                        </a:rPr>
                        <a:t>Stream Cipher</a:t>
                      </a:r>
                    </a:p>
                  </a:txBody>
                  <a:tcPr marL="73152" marR="73152" marT="27432" marB="27432" anchor="ctr">
                    <a:solidFill>
                      <a:srgbClr val="003054"/>
                    </a:solidFill>
                  </a:tcPr>
                </a:tc>
                <a:extLst>
                  <a:ext uri="{0D108BD9-81ED-4DB2-BD59-A6C34878D82A}">
                    <a16:rowId xmlns:a16="http://schemas.microsoft.com/office/drawing/2014/main" val="10000"/>
                  </a:ext>
                </a:extLst>
              </a:tr>
              <a:tr h="502920">
                <a:tc>
                  <a:txBody>
                    <a:bodyPr/>
                    <a:lstStyle/>
                    <a:p>
                      <a:r>
                        <a:rPr sz="1250" b="0" i="0">
                          <a:solidFill>
                            <a:srgbClr val="222A33"/>
                          </a:solidFill>
                          <a:latin typeface="Calibri"/>
                        </a:rPr>
                        <a:t>Processing unit</a:t>
                      </a:r>
                    </a:p>
                  </a:txBody>
                  <a:tcPr marL="73152" marR="73152" marT="27432" marB="27432" anchor="ctr">
                    <a:solidFill>
                      <a:srgbClr val="FFFFFF"/>
                    </a:solidFill>
                  </a:tcPr>
                </a:tc>
                <a:tc>
                  <a:txBody>
                    <a:bodyPr/>
                    <a:lstStyle/>
                    <a:p>
                      <a:r>
                        <a:rPr sz="1250" b="0" i="0">
                          <a:solidFill>
                            <a:srgbClr val="222A33"/>
                          </a:solidFill>
                          <a:latin typeface="Calibri"/>
                        </a:rPr>
                        <a:t>Fixed-size blocks (64 or 128 bits)</a:t>
                      </a:r>
                    </a:p>
                  </a:txBody>
                  <a:tcPr marL="73152" marR="73152" marT="27432" marB="27432" anchor="ctr">
                    <a:solidFill>
                      <a:srgbClr val="FFFFFF"/>
                    </a:solidFill>
                  </a:tcPr>
                </a:tc>
                <a:tc>
                  <a:txBody>
                    <a:bodyPr/>
                    <a:lstStyle/>
                    <a:p>
                      <a:r>
                        <a:rPr sz="1250" b="0" i="0">
                          <a:solidFill>
                            <a:srgbClr val="222A33"/>
                          </a:solidFill>
                          <a:latin typeface="Calibri"/>
                        </a:rPr>
                        <a:t>One bit or byte at a time</a:t>
                      </a:r>
                    </a:p>
                  </a:txBody>
                  <a:tcPr marL="73152" marR="73152" marT="27432" marB="27432" anchor="ctr">
                    <a:solidFill>
                      <a:srgbClr val="FFFFFF"/>
                    </a:solidFill>
                  </a:tcPr>
                </a:tc>
                <a:extLst>
                  <a:ext uri="{0D108BD9-81ED-4DB2-BD59-A6C34878D82A}">
                    <a16:rowId xmlns:a16="http://schemas.microsoft.com/office/drawing/2014/main" val="10001"/>
                  </a:ext>
                </a:extLst>
              </a:tr>
              <a:tr h="502920">
                <a:tc>
                  <a:txBody>
                    <a:bodyPr/>
                    <a:lstStyle/>
                    <a:p>
                      <a:r>
                        <a:rPr sz="1250" b="0" i="0">
                          <a:solidFill>
                            <a:srgbClr val="222A33"/>
                          </a:solidFill>
                          <a:latin typeface="Calibri"/>
                        </a:rPr>
                        <a:t>Padding</a:t>
                      </a:r>
                    </a:p>
                  </a:txBody>
                  <a:tcPr marL="73152" marR="73152" marT="27432" marB="27432" anchor="ctr">
                    <a:solidFill>
                      <a:srgbClr val="F2F4F7"/>
                    </a:solidFill>
                  </a:tcPr>
                </a:tc>
                <a:tc>
                  <a:txBody>
                    <a:bodyPr/>
                    <a:lstStyle/>
                    <a:p>
                      <a:r>
                        <a:rPr sz="1250" b="0" i="0">
                          <a:solidFill>
                            <a:srgbClr val="222A33"/>
                          </a:solidFill>
                          <a:latin typeface="Calibri"/>
                        </a:rPr>
                        <a:t>Required for the final block in most modes</a:t>
                      </a:r>
                    </a:p>
                  </a:txBody>
                  <a:tcPr marL="73152" marR="73152" marT="27432" marB="27432" anchor="ctr">
                    <a:solidFill>
                      <a:srgbClr val="F2F4F7"/>
                    </a:solidFill>
                  </a:tcPr>
                </a:tc>
                <a:tc>
                  <a:txBody>
                    <a:bodyPr/>
                    <a:lstStyle/>
                    <a:p>
                      <a:r>
                        <a:rPr sz="1250" b="0" i="0">
                          <a:solidFill>
                            <a:srgbClr val="222A33"/>
                          </a:solidFill>
                          <a:latin typeface="Calibri"/>
                        </a:rPr>
                        <a:t>Not needed</a:t>
                      </a:r>
                    </a:p>
                  </a:txBody>
                  <a:tcPr marL="73152" marR="73152" marT="27432" marB="27432" anchor="ctr">
                    <a:solidFill>
                      <a:srgbClr val="F2F4F7"/>
                    </a:solidFill>
                  </a:tcPr>
                </a:tc>
                <a:extLst>
                  <a:ext uri="{0D108BD9-81ED-4DB2-BD59-A6C34878D82A}">
                    <a16:rowId xmlns:a16="http://schemas.microsoft.com/office/drawing/2014/main" val="10002"/>
                  </a:ext>
                </a:extLst>
              </a:tr>
              <a:tr h="502920">
                <a:tc>
                  <a:txBody>
                    <a:bodyPr/>
                    <a:lstStyle/>
                    <a:p>
                      <a:r>
                        <a:rPr sz="1250" b="0" i="0">
                          <a:solidFill>
                            <a:srgbClr val="222A33"/>
                          </a:solidFill>
                          <a:latin typeface="Calibri"/>
                        </a:rPr>
                        <a:t>Speed and latency</a:t>
                      </a:r>
                    </a:p>
                  </a:txBody>
                  <a:tcPr marL="73152" marR="73152" marT="27432" marB="27432" anchor="ctr">
                    <a:solidFill>
                      <a:srgbClr val="FFFFFF"/>
                    </a:solidFill>
                  </a:tcPr>
                </a:tc>
                <a:tc>
                  <a:txBody>
                    <a:bodyPr/>
                    <a:lstStyle/>
                    <a:p>
                      <a:r>
                        <a:rPr sz="1250" b="0" i="0">
                          <a:solidFill>
                            <a:srgbClr val="222A33"/>
                          </a:solidFill>
                          <a:latin typeface="Calibri"/>
                        </a:rPr>
                        <a:t>Very fast with hardware support; must wait for a full block</a:t>
                      </a:r>
                    </a:p>
                  </a:txBody>
                  <a:tcPr marL="73152" marR="73152" marT="27432" marB="27432" anchor="ctr">
                    <a:solidFill>
                      <a:srgbClr val="FFFFFF"/>
                    </a:solidFill>
                  </a:tcPr>
                </a:tc>
                <a:tc>
                  <a:txBody>
                    <a:bodyPr/>
                    <a:lstStyle/>
                    <a:p>
                      <a:r>
                        <a:rPr sz="1250" b="0" i="0">
                          <a:solidFill>
                            <a:srgbClr val="222A33"/>
                          </a:solidFill>
                          <a:latin typeface="Calibri"/>
                        </a:rPr>
                        <a:t>Fast in software; low latency</a:t>
                      </a:r>
                    </a:p>
                  </a:txBody>
                  <a:tcPr marL="73152" marR="73152" marT="27432" marB="27432" anchor="ctr">
                    <a:solidFill>
                      <a:srgbClr val="FFFFFF"/>
                    </a:solidFill>
                  </a:tcPr>
                </a:tc>
                <a:extLst>
                  <a:ext uri="{0D108BD9-81ED-4DB2-BD59-A6C34878D82A}">
                    <a16:rowId xmlns:a16="http://schemas.microsoft.com/office/drawing/2014/main" val="10003"/>
                  </a:ext>
                </a:extLst>
              </a:tr>
              <a:tr h="502920">
                <a:tc>
                  <a:txBody>
                    <a:bodyPr/>
                    <a:lstStyle/>
                    <a:p>
                      <a:r>
                        <a:rPr sz="1250" b="0" i="0">
                          <a:solidFill>
                            <a:srgbClr val="222A33"/>
                          </a:solidFill>
                          <a:latin typeface="Calibri"/>
                        </a:rPr>
                        <a:t>Error propagation</a:t>
                      </a:r>
                    </a:p>
                  </a:txBody>
                  <a:tcPr marL="73152" marR="73152" marT="27432" marB="27432" anchor="ctr">
                    <a:solidFill>
                      <a:srgbClr val="F2F4F7"/>
                    </a:solidFill>
                  </a:tcPr>
                </a:tc>
                <a:tc>
                  <a:txBody>
                    <a:bodyPr/>
                    <a:lstStyle/>
                    <a:p>
                      <a:r>
                        <a:rPr sz="1250" b="0" i="0">
                          <a:solidFill>
                            <a:srgbClr val="222A33"/>
                          </a:solidFill>
                          <a:latin typeface="Calibri"/>
                        </a:rPr>
                        <a:t>Depends on the mode (CBC spreads an error into the next block)</a:t>
                      </a:r>
                    </a:p>
                  </a:txBody>
                  <a:tcPr marL="73152" marR="73152" marT="27432" marB="27432" anchor="ctr">
                    <a:solidFill>
                      <a:srgbClr val="F2F4F7"/>
                    </a:solidFill>
                  </a:tcPr>
                </a:tc>
                <a:tc>
                  <a:txBody>
                    <a:bodyPr/>
                    <a:lstStyle/>
                    <a:p>
                      <a:r>
                        <a:rPr sz="1250" b="0" i="0">
                          <a:solidFill>
                            <a:srgbClr val="222A33"/>
                          </a:solidFill>
                          <a:latin typeface="Calibri"/>
                        </a:rPr>
                        <a:t>A single bit error stays a single bit error</a:t>
                      </a:r>
                    </a:p>
                  </a:txBody>
                  <a:tcPr marL="73152" marR="73152" marT="27432" marB="27432" anchor="ctr">
                    <a:solidFill>
                      <a:srgbClr val="F2F4F7"/>
                    </a:solidFill>
                  </a:tcPr>
                </a:tc>
                <a:extLst>
                  <a:ext uri="{0D108BD9-81ED-4DB2-BD59-A6C34878D82A}">
                    <a16:rowId xmlns:a16="http://schemas.microsoft.com/office/drawing/2014/main" val="10004"/>
                  </a:ext>
                </a:extLst>
              </a:tr>
              <a:tr h="502920">
                <a:tc>
                  <a:txBody>
                    <a:bodyPr/>
                    <a:lstStyle/>
                    <a:p>
                      <a:r>
                        <a:rPr sz="1250" b="0" i="0">
                          <a:solidFill>
                            <a:srgbClr val="222A33"/>
                          </a:solidFill>
                          <a:latin typeface="Calibri"/>
                        </a:rPr>
                        <a:t>Example algorithms</a:t>
                      </a:r>
                    </a:p>
                  </a:txBody>
                  <a:tcPr marL="73152" marR="73152" marT="27432" marB="27432" anchor="ctr">
                    <a:solidFill>
                      <a:srgbClr val="FFFFFF"/>
                    </a:solidFill>
                  </a:tcPr>
                </a:tc>
                <a:tc>
                  <a:txBody>
                    <a:bodyPr/>
                    <a:lstStyle/>
                    <a:p>
                      <a:r>
                        <a:rPr sz="1250" b="0" i="0">
                          <a:solidFill>
                            <a:srgbClr val="222A33"/>
                          </a:solidFill>
                          <a:latin typeface="Calibri"/>
                        </a:rPr>
                        <a:t>DES, 3DES, AES</a:t>
                      </a:r>
                    </a:p>
                  </a:txBody>
                  <a:tcPr marL="73152" marR="73152" marT="27432" marB="27432" anchor="ctr">
                    <a:solidFill>
                      <a:srgbClr val="FFFFFF"/>
                    </a:solidFill>
                  </a:tcPr>
                </a:tc>
                <a:tc>
                  <a:txBody>
                    <a:bodyPr/>
                    <a:lstStyle/>
                    <a:p>
                      <a:r>
                        <a:rPr sz="1250" b="0" i="0">
                          <a:solidFill>
                            <a:srgbClr val="222A33"/>
                          </a:solidFill>
                          <a:latin typeface="Calibri"/>
                        </a:rPr>
                        <a:t>RC4, ChaCha20, A5/1</a:t>
                      </a:r>
                    </a:p>
                  </a:txBody>
                  <a:tcPr marL="73152" marR="73152" marT="27432" marB="27432" anchor="ctr">
                    <a:solidFill>
                      <a:srgbClr val="FFFFFF"/>
                    </a:solidFill>
                  </a:tcPr>
                </a:tc>
                <a:extLst>
                  <a:ext uri="{0D108BD9-81ED-4DB2-BD59-A6C34878D82A}">
                    <a16:rowId xmlns:a16="http://schemas.microsoft.com/office/drawing/2014/main" val="10005"/>
                  </a:ext>
                </a:extLst>
              </a:tr>
              <a:tr h="502920">
                <a:tc>
                  <a:txBody>
                    <a:bodyPr/>
                    <a:lstStyle/>
                    <a:p>
                      <a:r>
                        <a:rPr sz="1250" b="0" i="0">
                          <a:solidFill>
                            <a:srgbClr val="222A33"/>
                          </a:solidFill>
                          <a:latin typeface="Calibri"/>
                        </a:rPr>
                        <a:t>Characteristic weakness</a:t>
                      </a:r>
                    </a:p>
                  </a:txBody>
                  <a:tcPr marL="73152" marR="73152" marT="27432" marB="27432" anchor="ctr">
                    <a:solidFill>
                      <a:srgbClr val="F2F4F7"/>
                    </a:solidFill>
                  </a:tcPr>
                </a:tc>
                <a:tc>
                  <a:txBody>
                    <a:bodyPr/>
                    <a:lstStyle/>
                    <a:p>
                      <a:r>
                        <a:rPr sz="1250" b="0" i="0">
                          <a:solidFill>
                            <a:srgbClr val="222A33"/>
                          </a:solidFill>
                          <a:latin typeface="Calibri"/>
                        </a:rPr>
                        <a:t>Wrong mode or padding handling</a:t>
                      </a:r>
                    </a:p>
                  </a:txBody>
                  <a:tcPr marL="73152" marR="73152" marT="27432" marB="27432" anchor="ctr">
                    <a:solidFill>
                      <a:srgbClr val="F2F4F7"/>
                    </a:solidFill>
                  </a:tcPr>
                </a:tc>
                <a:tc>
                  <a:txBody>
                    <a:bodyPr/>
                    <a:lstStyle/>
                    <a:p>
                      <a:r>
                        <a:rPr sz="1250" b="0" i="0">
                          <a:solidFill>
                            <a:srgbClr val="222A33"/>
                          </a:solidFill>
                          <a:latin typeface="Calibri"/>
                        </a:rPr>
                        <a:t>Keystream reuse</a:t>
                      </a:r>
                    </a:p>
                  </a:txBody>
                  <a:tcPr marL="73152" marR="73152" marT="27432" marB="27432" anchor="ctr">
                    <a:solidFill>
                      <a:srgbClr val="F2F4F7"/>
                    </a:solidFill>
                  </a:tcPr>
                </a:tc>
                <a:extLst>
                  <a:ext uri="{0D108BD9-81ED-4DB2-BD59-A6C34878D82A}">
                    <a16:rowId xmlns:a16="http://schemas.microsoft.com/office/drawing/2014/main" val="10006"/>
                  </a:ext>
                </a:extLst>
              </a:tr>
              <a:tr h="502920">
                <a:tc>
                  <a:txBody>
                    <a:bodyPr/>
                    <a:lstStyle/>
                    <a:p>
                      <a:r>
                        <a:rPr sz="1250" b="0" i="0">
                          <a:solidFill>
                            <a:srgbClr val="222A33"/>
                          </a:solidFill>
                          <a:latin typeface="Calibri"/>
                        </a:rPr>
                        <a:t>Typical use</a:t>
                      </a:r>
                    </a:p>
                  </a:txBody>
                  <a:tcPr marL="73152" marR="73152" marT="27432" marB="27432" anchor="ctr">
                    <a:solidFill>
                      <a:srgbClr val="FFFFFF"/>
                    </a:solidFill>
                  </a:tcPr>
                </a:tc>
                <a:tc>
                  <a:txBody>
                    <a:bodyPr/>
                    <a:lstStyle/>
                    <a:p>
                      <a:r>
                        <a:rPr sz="1250" b="0" i="0">
                          <a:solidFill>
                            <a:srgbClr val="222A33"/>
                          </a:solidFill>
                          <a:latin typeface="Calibri"/>
                        </a:rPr>
                        <a:t>Disk, file, and bulk network encryption</a:t>
                      </a:r>
                    </a:p>
                  </a:txBody>
                  <a:tcPr marL="73152" marR="73152" marT="27432" marB="27432" anchor="ctr">
                    <a:solidFill>
                      <a:srgbClr val="FFFFFF"/>
                    </a:solidFill>
                  </a:tcPr>
                </a:tc>
                <a:tc>
                  <a:txBody>
                    <a:bodyPr/>
                    <a:lstStyle/>
                    <a:p>
                      <a:r>
                        <a:rPr sz="1250" b="0" i="0">
                          <a:solidFill>
                            <a:srgbClr val="222A33"/>
                          </a:solidFill>
                          <a:latin typeface="Calibri"/>
                        </a:rPr>
                        <a:t>Streaming, mobile, low-latency links</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Scenario: Which Would You Choose?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BLOCK VS STREAM</a:t>
            </a:r>
          </a:p>
        </p:txBody>
      </p:sp>
      <p:graphicFrame>
        <p:nvGraphicFramePr>
          <p:cNvPr id="4" name="Table 3"/>
          <p:cNvGraphicFramePr>
            <a:graphicFrameLocks noGrp="1"/>
          </p:cNvGraphicFramePr>
          <p:nvPr/>
        </p:nvGraphicFramePr>
        <p:xfrm>
          <a:off x="274320" y="1737360"/>
          <a:ext cx="11612880" cy="34747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tblGrid>
              <a:tr h="868680">
                <a:tc>
                  <a:txBody>
                    <a:bodyPr/>
                    <a:lstStyle/>
                    <a:p>
                      <a:r>
                        <a:rPr sz="1300" b="1" i="0">
                          <a:solidFill>
                            <a:srgbClr val="FFFFFF"/>
                          </a:solidFill>
                          <a:latin typeface="Calibri"/>
                        </a:rPr>
                        <a:t>Scenario</a:t>
                      </a:r>
                    </a:p>
                  </a:txBody>
                  <a:tcPr marL="73152" marR="73152" marT="27432" marB="27432" anchor="ctr">
                    <a:solidFill>
                      <a:srgbClr val="003054"/>
                    </a:solidFill>
                  </a:tcPr>
                </a:tc>
                <a:tc>
                  <a:txBody>
                    <a:bodyPr/>
                    <a:lstStyle/>
                    <a:p>
                      <a:r>
                        <a:rPr sz="1300" b="1" i="0">
                          <a:solidFill>
                            <a:srgbClr val="FFFFFF"/>
                          </a:solidFill>
                          <a:latin typeface="Calibri"/>
                        </a:rPr>
                        <a:t>Reasonable Choice</a:t>
                      </a:r>
                    </a:p>
                  </a:txBody>
                  <a:tcPr marL="73152" marR="73152" marT="27432" marB="27432" anchor="ctr">
                    <a:solidFill>
                      <a:srgbClr val="003054"/>
                    </a:solidFill>
                  </a:tcPr>
                </a:tc>
                <a:tc>
                  <a:txBody>
                    <a:bodyPr/>
                    <a:lstStyle/>
                    <a:p>
                      <a:r>
                        <a:rPr sz="1300" b="1" i="0">
                          <a:solidFill>
                            <a:srgbClr val="FFFFFF"/>
                          </a:solidFill>
                          <a:latin typeface="Calibri"/>
                        </a:rPr>
                        <a:t>Why</a:t>
                      </a:r>
                    </a:p>
                  </a:txBody>
                  <a:tcPr marL="73152" marR="73152" marT="27432" marB="27432" anchor="ctr">
                    <a:solidFill>
                      <a:srgbClr val="003054"/>
                    </a:solidFill>
                  </a:tcPr>
                </a:tc>
                <a:extLst>
                  <a:ext uri="{0D108BD9-81ED-4DB2-BD59-A6C34878D82A}">
                    <a16:rowId xmlns:a16="http://schemas.microsoft.com/office/drawing/2014/main" val="10000"/>
                  </a:ext>
                </a:extLst>
              </a:tr>
              <a:tr h="868680">
                <a:tc>
                  <a:txBody>
                    <a:bodyPr/>
                    <a:lstStyle/>
                    <a:p>
                      <a:r>
                        <a:rPr sz="1300" b="0" i="0">
                          <a:solidFill>
                            <a:srgbClr val="222A33"/>
                          </a:solidFill>
                          <a:latin typeface="Calibri"/>
                        </a:rPr>
                        <a:t>Encrypting a laptop's whole disk</a:t>
                      </a:r>
                    </a:p>
                  </a:txBody>
                  <a:tcPr marL="73152" marR="73152" marT="27432" marB="27432" anchor="ctr">
                    <a:solidFill>
                      <a:srgbClr val="FFFFFF"/>
                    </a:solidFill>
                  </a:tcPr>
                </a:tc>
                <a:tc>
                  <a:txBody>
                    <a:bodyPr/>
                    <a:lstStyle/>
                    <a:p>
                      <a:r>
                        <a:rPr sz="1300" b="0" i="0">
                          <a:solidFill>
                            <a:srgbClr val="222A33"/>
                          </a:solidFill>
                          <a:latin typeface="Calibri"/>
                        </a:rPr>
                        <a:t>Block cipher: AES in XTS mode</a:t>
                      </a:r>
                    </a:p>
                  </a:txBody>
                  <a:tcPr marL="73152" marR="73152" marT="27432" marB="27432" anchor="ctr">
                    <a:solidFill>
                      <a:srgbClr val="FFFFFF"/>
                    </a:solidFill>
                  </a:tcPr>
                </a:tc>
                <a:tc>
                  <a:txBody>
                    <a:bodyPr/>
                    <a:lstStyle/>
                    <a:p>
                      <a:r>
                        <a:rPr sz="1300" b="0" i="0">
                          <a:solidFill>
                            <a:srgbClr val="222A33"/>
                          </a:solidFill>
                          <a:latin typeface="Calibri"/>
                        </a:rPr>
                        <a:t>Data is stored in fixed-size sectors and needs random access. Hardware AES makes it nearly free.</a:t>
                      </a:r>
                    </a:p>
                  </a:txBody>
                  <a:tcPr marL="73152" marR="73152" marT="27432" marB="27432" anchor="ctr">
                    <a:solidFill>
                      <a:srgbClr val="FFFFFF"/>
                    </a:solidFill>
                  </a:tcPr>
                </a:tc>
                <a:extLst>
                  <a:ext uri="{0D108BD9-81ED-4DB2-BD59-A6C34878D82A}">
                    <a16:rowId xmlns:a16="http://schemas.microsoft.com/office/drawing/2014/main" val="10001"/>
                  </a:ext>
                </a:extLst>
              </a:tr>
              <a:tr h="868680">
                <a:tc>
                  <a:txBody>
                    <a:bodyPr/>
                    <a:lstStyle/>
                    <a:p>
                      <a:r>
                        <a:rPr sz="1300" b="0" i="0">
                          <a:solidFill>
                            <a:srgbClr val="222A33"/>
                          </a:solidFill>
                          <a:latin typeface="Calibri"/>
                        </a:rPr>
                        <a:t>A live voice call</a:t>
                      </a:r>
                    </a:p>
                  </a:txBody>
                  <a:tcPr marL="73152" marR="73152" marT="27432" marB="27432" anchor="ctr">
                    <a:solidFill>
                      <a:srgbClr val="F2F4F7"/>
                    </a:solidFill>
                  </a:tcPr>
                </a:tc>
                <a:tc>
                  <a:txBody>
                    <a:bodyPr/>
                    <a:lstStyle/>
                    <a:p>
                      <a:r>
                        <a:rPr sz="1300" b="0" i="0">
                          <a:solidFill>
                            <a:srgbClr val="222A33"/>
                          </a:solidFill>
                          <a:latin typeface="Calibri"/>
                        </a:rPr>
                        <a:t>Stream-style: AES in counter mode, or ChaCha20</a:t>
                      </a:r>
                    </a:p>
                  </a:txBody>
                  <a:tcPr marL="73152" marR="73152" marT="27432" marB="27432" anchor="ctr">
                    <a:solidFill>
                      <a:srgbClr val="F2F4F7"/>
                    </a:solidFill>
                  </a:tcPr>
                </a:tc>
                <a:tc>
                  <a:txBody>
                    <a:bodyPr/>
                    <a:lstStyle/>
                    <a:p>
                      <a:r>
                        <a:rPr sz="1300" b="0" i="0">
                          <a:solidFill>
                            <a:srgbClr val="222A33"/>
                          </a:solidFill>
                          <a:latin typeface="Calibri"/>
                        </a:rPr>
                        <a:t>Packets are small and arrive continuously, so low latency and no padding matter. Real voice systems (SRTP) use AES in counter mode.</a:t>
                      </a:r>
                    </a:p>
                  </a:txBody>
                  <a:tcPr marL="73152" marR="73152" marT="27432" marB="27432" anchor="ctr">
                    <a:solidFill>
                      <a:srgbClr val="F2F4F7"/>
                    </a:solidFill>
                  </a:tcPr>
                </a:tc>
                <a:extLst>
                  <a:ext uri="{0D108BD9-81ED-4DB2-BD59-A6C34878D82A}">
                    <a16:rowId xmlns:a16="http://schemas.microsoft.com/office/drawing/2014/main" val="10002"/>
                  </a:ext>
                </a:extLst>
              </a:tr>
              <a:tr h="868680">
                <a:tc>
                  <a:txBody>
                    <a:bodyPr/>
                    <a:lstStyle/>
                    <a:p>
                      <a:r>
                        <a:rPr sz="1300" b="0" i="0">
                          <a:solidFill>
                            <a:srgbClr val="222A33"/>
                          </a:solidFill>
                          <a:latin typeface="Calibri"/>
                        </a:rPr>
                        <a:t>A TLS web session</a:t>
                      </a:r>
                    </a:p>
                  </a:txBody>
                  <a:tcPr marL="73152" marR="73152" marT="27432" marB="27432" anchor="ctr">
                    <a:solidFill>
                      <a:srgbClr val="FFFFFF"/>
                    </a:solidFill>
                  </a:tcPr>
                </a:tc>
                <a:tc>
                  <a:txBody>
                    <a:bodyPr/>
                    <a:lstStyle/>
                    <a:p>
                      <a:r>
                        <a:rPr sz="1300" b="0" i="0">
                          <a:solidFill>
                            <a:srgbClr val="222A33"/>
                          </a:solidFill>
                          <a:latin typeface="Calibri"/>
                        </a:rPr>
                        <a:t>Either, with authentication: AES-GCM or ChaCha20-Poly1305</a:t>
                      </a:r>
                    </a:p>
                  </a:txBody>
                  <a:tcPr marL="73152" marR="73152" marT="27432" marB="27432" anchor="ctr">
                    <a:solidFill>
                      <a:srgbClr val="FFFFFF"/>
                    </a:solidFill>
                  </a:tcPr>
                </a:tc>
                <a:tc>
                  <a:txBody>
                    <a:bodyPr/>
                    <a:lstStyle/>
                    <a:p>
                      <a:r>
                        <a:rPr sz="1300" b="0" i="0">
                          <a:solidFill>
                            <a:srgbClr val="222A33"/>
                          </a:solidFill>
                          <a:latin typeface="Calibri"/>
                        </a:rPr>
                        <a:t>AES-GCM where hardware AES exists; ChaCha20-Poly1305 on phones without it. Both give encryption and integrity.</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Notice that the best answer is often a block cipher running in a stream-like mode. The real decision is the construction, not the label.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Asymmetric Encryption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A pair of keys instead of one shared secret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Key Pair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sp>
        <p:nvSpPr>
          <p:cNvPr id="4" name="Rounded Rectangle 3"/>
          <p:cNvSpPr/>
          <p:nvPr/>
        </p:nvSpPr>
        <p:spPr>
          <a:xfrm>
            <a:off x="1097280" y="1920240"/>
            <a:ext cx="4389120" cy="45720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Public key: shared openly with anyone</a:t>
            </a:r>
          </a:p>
        </p:txBody>
      </p:sp>
      <p:sp>
        <p:nvSpPr>
          <p:cNvPr id="5" name="Rounded Rectangle 4"/>
          <p:cNvSpPr/>
          <p:nvPr/>
        </p:nvSpPr>
        <p:spPr>
          <a:xfrm>
            <a:off x="6675120" y="1920240"/>
            <a:ext cx="4389120" cy="45720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Private key: never leaves its owner</a:t>
            </a:r>
          </a:p>
        </p:txBody>
      </p:sp>
      <p:sp>
        <p:nvSpPr>
          <p:cNvPr id="6" name="TextBox 5"/>
          <p:cNvSpPr txBox="1"/>
          <p:nvPr/>
        </p:nvSpPr>
        <p:spPr>
          <a:xfrm>
            <a:off x="1097280" y="2468880"/>
            <a:ext cx="4389120" cy="1463040"/>
          </a:xfrm>
          <a:prstGeom prst="rect">
            <a:avLst/>
          </a:prstGeom>
          <a:noFill/>
        </p:spPr>
        <p:txBody>
          <a:bodyPr wrap="square">
            <a:spAutoFit/>
          </a:bodyPr>
          <a:lstStyle/>
          <a:p>
            <a:pPr marL="201168" indent="-201168">
              <a:spcAft>
                <a:spcPts val="600"/>
              </a:spcAft>
              <a:buFont typeface="Arial"/>
              <a:buChar char="–"/>
            </a:pPr>
            <a:r>
              <a:rPr sz="1400" b="0" i="0">
                <a:solidFill>
                  <a:srgbClr val="222A33"/>
                </a:solidFill>
                <a:latin typeface="Calibri"/>
              </a:rPr>
              <a:t>Anyone may have it, so distribution is easy.</a:t>
            </a:r>
          </a:p>
          <a:p>
            <a:pPr marL="201168" indent="-201168">
              <a:spcAft>
                <a:spcPts val="600"/>
              </a:spcAft>
              <a:buFont typeface="Arial"/>
              <a:buChar char="–"/>
            </a:pPr>
            <a:r>
              <a:rPr sz="1400" b="0" i="0">
                <a:solidFill>
                  <a:srgbClr val="222A33"/>
                </a:solidFill>
                <a:latin typeface="Calibri"/>
              </a:rPr>
              <a:t>Used to encrypt data for the owner, or to verify the owner's signature.</a:t>
            </a:r>
          </a:p>
        </p:txBody>
      </p:sp>
      <p:sp>
        <p:nvSpPr>
          <p:cNvPr id="7" name="TextBox 6"/>
          <p:cNvSpPr txBox="1"/>
          <p:nvPr/>
        </p:nvSpPr>
        <p:spPr>
          <a:xfrm>
            <a:off x="6675120" y="2468880"/>
            <a:ext cx="4389120" cy="1463040"/>
          </a:xfrm>
          <a:prstGeom prst="rect">
            <a:avLst/>
          </a:prstGeom>
          <a:noFill/>
        </p:spPr>
        <p:txBody>
          <a:bodyPr wrap="square">
            <a:spAutoFit/>
          </a:bodyPr>
          <a:lstStyle/>
          <a:p>
            <a:pPr marL="201168" indent="-201168">
              <a:spcAft>
                <a:spcPts val="600"/>
              </a:spcAft>
              <a:buFont typeface="Arial"/>
              <a:buChar char="–"/>
            </a:pPr>
            <a:r>
              <a:rPr sz="1400" b="0" i="0">
                <a:solidFill>
                  <a:srgbClr val="222A33"/>
                </a:solidFill>
                <a:latin typeface="Calibri"/>
              </a:rPr>
              <a:t>Known only to the owner, so it must be protected.</a:t>
            </a:r>
          </a:p>
          <a:p>
            <a:pPr marL="201168" indent="-201168">
              <a:spcAft>
                <a:spcPts val="600"/>
              </a:spcAft>
              <a:buFont typeface="Arial"/>
              <a:buChar char="–"/>
            </a:pPr>
            <a:r>
              <a:rPr sz="1400" b="0" i="0">
                <a:solidFill>
                  <a:srgbClr val="222A33"/>
                </a:solidFill>
                <a:latin typeface="Calibri"/>
              </a:rPr>
              <a:t>Used to decrypt data sent to the owner, or to create the owner's signature.</a:t>
            </a:r>
          </a:p>
        </p:txBody>
      </p:sp>
      <p:sp>
        <p:nvSpPr>
          <p:cNvPr id="8" name="TextBox 7"/>
          <p:cNvSpPr txBox="1"/>
          <p:nvPr/>
        </p:nvSpPr>
        <p:spPr>
          <a:xfrm>
            <a:off x="731520" y="4023360"/>
            <a:ext cx="10698480" cy="192024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 two keys are mathematically linked: what one key does, only the other can undo. Working out the private key from the public key is computationally infeasible.</a:t>
            </a:r>
          </a:p>
          <a:p>
            <a:pPr marL="201168" indent="-201168">
              <a:spcAft>
                <a:spcPts val="1100"/>
              </a:spcAft>
              <a:buFont typeface="Arial"/>
              <a:buChar char="–"/>
            </a:pPr>
            <a:r>
              <a:rPr sz="1400" b="0" i="0">
                <a:solidFill>
                  <a:srgbClr val="222A33"/>
                </a:solidFill>
                <a:latin typeface="Calibri"/>
              </a:rPr>
              <a:t>For confidentiality: encrypt with the receiver's public key, and only the receiver's private key can decrypt. Signatures reverse the roles (private key signs, public key verifies) and are the subject of the next deck.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RSA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sp>
        <p:nvSpPr>
          <p:cNvPr id="4" name="TextBox 3"/>
          <p:cNvSpPr txBox="1"/>
          <p:nvPr/>
        </p:nvSpPr>
        <p:spPr>
          <a:xfrm>
            <a:off x="731520" y="1828800"/>
            <a:ext cx="10698480" cy="2362185"/>
          </a:xfrm>
          <a:prstGeom prst="rect">
            <a:avLst/>
          </a:prstGeom>
          <a:noFill/>
        </p:spPr>
        <p:txBody>
          <a:bodyPr wrap="square">
            <a:spAutoFit/>
          </a:bodyPr>
          <a:lstStyle/>
          <a:p>
            <a:pPr marL="201168" indent="-201168">
              <a:spcAft>
                <a:spcPts val="1100"/>
              </a:spcAft>
              <a:buFont typeface="Arial"/>
              <a:buChar char="–"/>
            </a:pPr>
            <a:r>
              <a:rPr sz="1500" b="0" i="0" dirty="0">
                <a:solidFill>
                  <a:srgbClr val="222A33"/>
                </a:solidFill>
                <a:latin typeface="Calibri"/>
              </a:rPr>
              <a:t>Mechanism: security rests on the difficulty of factoring the product of two very large prime numbers. Multiplying two primes is easy; recovering them from the product is not.</a:t>
            </a:r>
          </a:p>
          <a:p>
            <a:pPr marL="201168" indent="-201168">
              <a:spcAft>
                <a:spcPts val="1100"/>
              </a:spcAft>
              <a:buFont typeface="Arial"/>
              <a:buChar char="–"/>
            </a:pPr>
            <a:r>
              <a:rPr sz="1500" b="0" i="0" dirty="0">
                <a:solidFill>
                  <a:srgbClr val="222A33"/>
                </a:solidFill>
                <a:latin typeface="Calibri"/>
              </a:rPr>
              <a:t>Key sizes: 2048 bits is the accepted minimum today, and 3072 bits is recommended for longer-term protection. Keys under 2048 bits should not be used.</a:t>
            </a:r>
          </a:p>
          <a:p>
            <a:pPr marL="201168" indent="-201168">
              <a:spcAft>
                <a:spcPts val="1100"/>
              </a:spcAft>
              <a:buFont typeface="Arial"/>
              <a:buChar char="–"/>
            </a:pPr>
            <a:r>
              <a:rPr sz="1500" b="0" i="0" dirty="0">
                <a:solidFill>
                  <a:srgbClr val="222A33"/>
                </a:solidFill>
                <a:latin typeface="Calibri"/>
              </a:rPr>
              <a:t>Uses: key transport (encrypting a small symmetric key for the receiver) and digital signatures. RSA encrypts only small values, with a padding scheme such as </a:t>
            </a:r>
            <a:r>
              <a:rPr lang="en-US" sz="1500" dirty="0">
                <a:solidFill>
                  <a:srgbClr val="222A33"/>
                </a:solidFill>
                <a:latin typeface="Calibri"/>
              </a:rPr>
              <a:t>Optimal Asymmetric Encryption Padding (</a:t>
            </a:r>
            <a:r>
              <a:rPr sz="1500" b="0" i="0" dirty="0">
                <a:solidFill>
                  <a:srgbClr val="222A33"/>
                </a:solidFill>
                <a:latin typeface="Calibri"/>
              </a:rPr>
              <a:t>OAEP</a:t>
            </a:r>
            <a:r>
              <a:rPr lang="en-US" sz="1500" b="0" i="0" dirty="0">
                <a:solidFill>
                  <a:srgbClr val="222A33"/>
                </a:solidFill>
                <a:latin typeface="Calibri"/>
              </a:rPr>
              <a:t>)</a:t>
            </a:r>
            <a:r>
              <a:rPr sz="1500" b="0" i="0" dirty="0">
                <a:solidFill>
                  <a:srgbClr val="222A33"/>
                </a:solidFill>
                <a:latin typeface="Calibri"/>
              </a:rPr>
              <a:t>, so it is never used to encrypt bulk data directly.</a:t>
            </a:r>
          </a:p>
          <a:p>
            <a:pPr marL="201168" indent="-201168">
              <a:spcAft>
                <a:spcPts val="1100"/>
              </a:spcAft>
              <a:buFont typeface="Arial"/>
              <a:buChar char="–"/>
            </a:pPr>
            <a:r>
              <a:rPr sz="1500" b="0" i="0" dirty="0">
                <a:solidFill>
                  <a:srgbClr val="222A33"/>
                </a:solidFill>
                <a:latin typeface="Calibri"/>
              </a:rPr>
              <a:t>Status: still widely deployed, but being replaced by elliptic curve methods in new designs, and vulnerable to a large quantum computer.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dirty="0">
                <a:solidFill>
                  <a:srgbClr val="FFFFFF"/>
                </a:solidFill>
                <a:latin typeface="Cambria"/>
              </a:rPr>
              <a:t>Diffie-Hellman Key Agreement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Purpose: two parties who have never met agree on a shared secret over a public channel. Diffie-Hellman does not encrypt anything itself; it produces the shared key that symmetric encryption then uses.</a:t>
            </a:r>
          </a:p>
          <a:p>
            <a:pPr marL="201168" indent="-201168">
              <a:spcAft>
                <a:spcPts val="1100"/>
              </a:spcAft>
              <a:buFont typeface="Arial"/>
              <a:buChar char="–"/>
            </a:pPr>
            <a:r>
              <a:rPr sz="1400" b="0" i="0">
                <a:solidFill>
                  <a:srgbClr val="222A33"/>
                </a:solidFill>
                <a:latin typeface="Calibri"/>
              </a:rPr>
              <a:t>How it works, in outline: each side keeps a private value and sends a public value computed from it. Each side combines its own private value with the other's public value and arrives at the same shared secret. An eavesdropper sees both public values but cannot compute the secret, because that requires solving the discrete logarithm problem.</a:t>
            </a:r>
          </a:p>
          <a:p>
            <a:pPr marL="201168" indent="-201168">
              <a:spcAft>
                <a:spcPts val="1100"/>
              </a:spcAft>
              <a:buFont typeface="Arial"/>
              <a:buChar char="–"/>
            </a:pPr>
            <a:r>
              <a:rPr sz="1400" b="0" i="0">
                <a:solidFill>
                  <a:srgbClr val="222A33"/>
                </a:solidFill>
                <a:latin typeface="Calibri"/>
              </a:rPr>
              <a:t>Ephemeral Diffie-Hellman uses fresh values for every session, giving forward secrecy: stealing a long-term key later does not expose past sessions.</a:t>
            </a:r>
          </a:p>
          <a:p>
            <a:pPr marL="201168" indent="-201168">
              <a:spcAft>
                <a:spcPts val="1100"/>
              </a:spcAft>
              <a:buFont typeface="Arial"/>
              <a:buChar char="–"/>
            </a:pPr>
            <a:r>
              <a:rPr sz="1400" b="0" i="0">
                <a:solidFill>
                  <a:srgbClr val="222A33"/>
                </a:solidFill>
                <a:latin typeface="Calibri"/>
              </a:rPr>
              <a:t>Weakness: plain Diffie-Hellman does not authenticate the other party, so a man in the middle can agree separate secrets with each side. It must be combined with signatures or certificates, which is the topic of the next deck.</a:t>
            </a:r>
          </a:p>
          <a:p>
            <a:pPr marL="201168" indent="-201168">
              <a:spcAft>
                <a:spcPts val="1100"/>
              </a:spcAft>
              <a:buFont typeface="Arial"/>
              <a:buChar char="–"/>
            </a:pPr>
            <a:r>
              <a:rPr sz="1400" b="0" i="0">
                <a:solidFill>
                  <a:srgbClr val="222A33"/>
                </a:solidFill>
                <a:latin typeface="Calibri"/>
              </a:rPr>
              <a:t>Callback: the Diffie-Hellman group in the IPsec framework table (Week 9) selects the size of the numbers used.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517DF-00FE-0429-78AC-DC24D6F7D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FF78B-6661-85FB-9B1D-634CEE85BA55}"/>
              </a:ext>
            </a:extLst>
          </p:cNvPr>
          <p:cNvSpPr>
            <a:spLocks noGrp="1"/>
          </p:cNvSpPr>
          <p:nvPr>
            <p:ph type="title"/>
          </p:nvPr>
        </p:nvSpPr>
        <p:spPr/>
        <p:txBody>
          <a:bodyPr anchor="b"/>
          <a:lstStyle/>
          <a:p>
            <a:r>
              <a:rPr sz="2400" b="1" i="0" dirty="0">
                <a:solidFill>
                  <a:srgbClr val="FFFFFF"/>
                </a:solidFill>
                <a:latin typeface="Cambria"/>
              </a:rPr>
              <a:t>Diffie-Hellman Key Agreement</a:t>
            </a:r>
          </a:p>
        </p:txBody>
      </p:sp>
      <p:sp>
        <p:nvSpPr>
          <p:cNvPr id="3" name="TextBox 2">
            <a:extLst>
              <a:ext uri="{FF2B5EF4-FFF2-40B4-BE49-F238E27FC236}">
                <a16:creationId xmlns:a16="http://schemas.microsoft.com/office/drawing/2014/main" id="{D804144C-77F2-F3C6-330F-6887EBEA8C6C}"/>
              </a:ext>
            </a:extLst>
          </p:cNvPr>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pic>
        <p:nvPicPr>
          <p:cNvPr id="5" name="Picture 4" descr="Diffie-Hellman Key Exchange">
            <a:extLst>
              <a:ext uri="{FF2B5EF4-FFF2-40B4-BE49-F238E27FC236}">
                <a16:creationId xmlns:a16="http://schemas.microsoft.com/office/drawing/2014/main" id="{EDB5A77F-D80F-E5BB-36E3-1C4C41F59A55}"/>
              </a:ext>
            </a:extLst>
          </p:cNvPr>
          <p:cNvPicPr>
            <a:picLocks noChangeAspect="1"/>
          </p:cNvPicPr>
          <p:nvPr/>
        </p:nvPicPr>
        <p:blipFill>
          <a:blip r:embed="rId2"/>
          <a:stretch>
            <a:fillRect/>
          </a:stretch>
        </p:blipFill>
        <p:spPr>
          <a:xfrm>
            <a:off x="5979031" y="1927373"/>
            <a:ext cx="5503951" cy="4036589"/>
          </a:xfrm>
          <a:prstGeom prst="rect">
            <a:avLst/>
          </a:prstGeom>
        </p:spPr>
      </p:pic>
      <p:pic>
        <p:nvPicPr>
          <p:cNvPr id="6" name="Picture 5" descr="The Diffie–Hellman Key Exchange - James D. McCaffreyJames D. McCaffrey">
            <a:extLst>
              <a:ext uri="{FF2B5EF4-FFF2-40B4-BE49-F238E27FC236}">
                <a16:creationId xmlns:a16="http://schemas.microsoft.com/office/drawing/2014/main" id="{021AF2EF-C520-FBE8-928C-70BD05FFFD7F}"/>
              </a:ext>
            </a:extLst>
          </p:cNvPr>
          <p:cNvPicPr>
            <a:picLocks noChangeAspect="1"/>
          </p:cNvPicPr>
          <p:nvPr/>
        </p:nvPicPr>
        <p:blipFill>
          <a:blip r:embed="rId3"/>
          <a:stretch>
            <a:fillRect/>
          </a:stretch>
        </p:blipFill>
        <p:spPr>
          <a:xfrm>
            <a:off x="1989512" y="1859692"/>
            <a:ext cx="2103855" cy="4171950"/>
          </a:xfrm>
          <a:prstGeom prst="rect">
            <a:avLst/>
          </a:prstGeom>
        </p:spPr>
      </p:pic>
    </p:spTree>
    <p:extLst>
      <p:ext uri="{BB962C8B-B14F-4D97-AF65-F5344CB8AC3E}">
        <p14:creationId xmlns:p14="http://schemas.microsoft.com/office/powerpoint/2010/main" val="782089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Elliptic Curve Cryptography (ECC)</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Mechanism: the same style of key pair, but based on the difficulty of the discrete logarithm problem on an elliptic curve instead of on factoring or ordinary modular arithmetic.</a:t>
            </a:r>
          </a:p>
          <a:p>
            <a:pPr marL="201168" indent="-201168">
              <a:spcAft>
                <a:spcPts val="1100"/>
              </a:spcAft>
              <a:buFont typeface="Arial"/>
              <a:buChar char="–"/>
            </a:pPr>
            <a:r>
              <a:rPr sz="1400" b="0" i="0">
                <a:solidFill>
                  <a:srgbClr val="222A33"/>
                </a:solidFill>
                <a:latin typeface="Calibri"/>
              </a:rPr>
              <a:t>The main advantage is size. A 256-bit elliptic curve key gives roughly the security of a 3072-bit RSA key, so keys, signatures, and computation are all smaller and faster.</a:t>
            </a:r>
          </a:p>
          <a:p>
            <a:pPr marL="201168" indent="-201168">
              <a:spcAft>
                <a:spcPts val="1100"/>
              </a:spcAft>
              <a:buFont typeface="Arial"/>
              <a:buChar char="–"/>
            </a:pPr>
            <a:r>
              <a:rPr sz="1400" b="0" i="0">
                <a:solidFill>
                  <a:srgbClr val="222A33"/>
                </a:solidFill>
                <a:latin typeface="Calibri"/>
              </a:rPr>
              <a:t>Common forms: ECDH (key agreement) and ECDSA (signatures), using curves such as P-256 and Curve25519.</a:t>
            </a:r>
          </a:p>
          <a:p>
            <a:pPr marL="201168" indent="-201168">
              <a:spcAft>
                <a:spcPts val="1100"/>
              </a:spcAft>
              <a:buFont typeface="Arial"/>
              <a:buChar char="–"/>
            </a:pPr>
            <a:r>
              <a:rPr sz="1400" b="0" i="0">
                <a:solidFill>
                  <a:srgbClr val="222A33"/>
                </a:solidFill>
                <a:latin typeface="Calibri"/>
              </a:rPr>
              <a:t>This makes ECC especially attractive for mobile devices, smart cards, and IoT, and it is now the default in TLS 1.3 and many VPNs.</a:t>
            </a:r>
          </a:p>
          <a:p>
            <a:pPr marL="201168" indent="-201168">
              <a:spcAft>
                <a:spcPts val="1100"/>
              </a:spcAft>
              <a:buFont typeface="Arial"/>
              <a:buChar char="–"/>
            </a:pPr>
            <a:r>
              <a:rPr sz="1400" b="0" i="0">
                <a:solidFill>
                  <a:srgbClr val="222A33"/>
                </a:solidFill>
                <a:latin typeface="Calibri"/>
              </a:rPr>
              <a:t>Like RSA and Diffie-Hellman, it would be broken by a large quantum computer. NIST has standardised post-quantum replacements, which are now beginning to be deployed.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RSA vs Diffie-Hellman vs ECC</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graphicFrame>
        <p:nvGraphicFramePr>
          <p:cNvPr id="4" name="Table 3"/>
          <p:cNvGraphicFramePr>
            <a:graphicFrameLocks noGrp="1"/>
          </p:cNvGraphicFramePr>
          <p:nvPr/>
        </p:nvGraphicFramePr>
        <p:xfrm>
          <a:off x="274320" y="1737360"/>
          <a:ext cx="11612880" cy="356616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594360">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RSA</a:t>
                      </a:r>
                    </a:p>
                  </a:txBody>
                  <a:tcPr marL="73152" marR="73152" marT="27432" marB="27432" anchor="ctr">
                    <a:solidFill>
                      <a:srgbClr val="003054"/>
                    </a:solidFill>
                  </a:tcPr>
                </a:tc>
                <a:tc>
                  <a:txBody>
                    <a:bodyPr/>
                    <a:lstStyle/>
                    <a:p>
                      <a:r>
                        <a:rPr sz="1300" b="1" i="0">
                          <a:solidFill>
                            <a:srgbClr val="FFFFFF"/>
                          </a:solidFill>
                          <a:latin typeface="Calibri"/>
                        </a:rPr>
                        <a:t>Diffie-Hellman</a:t>
                      </a:r>
                    </a:p>
                  </a:txBody>
                  <a:tcPr marL="73152" marR="73152" marT="27432" marB="27432" anchor="ctr">
                    <a:solidFill>
                      <a:srgbClr val="003054"/>
                    </a:solidFill>
                  </a:tcPr>
                </a:tc>
                <a:tc>
                  <a:txBody>
                    <a:bodyPr/>
                    <a:lstStyle/>
                    <a:p>
                      <a:r>
                        <a:rPr sz="1300" b="1" i="0">
                          <a:solidFill>
                            <a:srgbClr val="FFFFFF"/>
                          </a:solidFill>
                          <a:latin typeface="Calibri"/>
                        </a:rPr>
                        <a:t>ECC</a:t>
                      </a:r>
                    </a:p>
                  </a:txBody>
                  <a:tcPr marL="73152" marR="73152" marT="27432" marB="27432" anchor="ctr">
                    <a:solidFill>
                      <a:srgbClr val="003054"/>
                    </a:solidFill>
                  </a:tcPr>
                </a:tc>
                <a:extLst>
                  <a:ext uri="{0D108BD9-81ED-4DB2-BD59-A6C34878D82A}">
                    <a16:rowId xmlns:a16="http://schemas.microsoft.com/office/drawing/2014/main" val="10000"/>
                  </a:ext>
                </a:extLst>
              </a:tr>
              <a:tr h="594360">
                <a:tc>
                  <a:txBody>
                    <a:bodyPr/>
                    <a:lstStyle/>
                    <a:p>
                      <a:r>
                        <a:rPr sz="1250" b="0" i="0">
                          <a:solidFill>
                            <a:srgbClr val="222A33"/>
                          </a:solidFill>
                          <a:latin typeface="Calibri"/>
                        </a:rPr>
                        <a:t>Main purpose</a:t>
                      </a:r>
                    </a:p>
                  </a:txBody>
                  <a:tcPr marL="73152" marR="73152" marT="27432" marB="27432" anchor="ctr">
                    <a:solidFill>
                      <a:srgbClr val="FFFFFF"/>
                    </a:solidFill>
                  </a:tcPr>
                </a:tc>
                <a:tc>
                  <a:txBody>
                    <a:bodyPr/>
                    <a:lstStyle/>
                    <a:p>
                      <a:r>
                        <a:rPr sz="1250" b="0" i="0">
                          <a:solidFill>
                            <a:srgbClr val="222A33"/>
                          </a:solidFill>
                          <a:latin typeface="Calibri"/>
                        </a:rPr>
                        <a:t>Key transport and signatures</a:t>
                      </a:r>
                    </a:p>
                  </a:txBody>
                  <a:tcPr marL="73152" marR="73152" marT="27432" marB="27432" anchor="ctr">
                    <a:solidFill>
                      <a:srgbClr val="FFFFFF"/>
                    </a:solidFill>
                  </a:tcPr>
                </a:tc>
                <a:tc>
                  <a:txBody>
                    <a:bodyPr/>
                    <a:lstStyle/>
                    <a:p>
                      <a:r>
                        <a:rPr sz="1250" b="0" i="0">
                          <a:solidFill>
                            <a:srgbClr val="222A33"/>
                          </a:solidFill>
                          <a:latin typeface="Calibri"/>
                        </a:rPr>
                        <a:t>Key agreement</a:t>
                      </a:r>
                    </a:p>
                  </a:txBody>
                  <a:tcPr marL="73152" marR="73152" marT="27432" marB="27432" anchor="ctr">
                    <a:solidFill>
                      <a:srgbClr val="FFFFFF"/>
                    </a:solidFill>
                  </a:tcPr>
                </a:tc>
                <a:tc>
                  <a:txBody>
                    <a:bodyPr/>
                    <a:lstStyle/>
                    <a:p>
                      <a:r>
                        <a:rPr sz="1250" b="0" i="0">
                          <a:solidFill>
                            <a:srgbClr val="222A33"/>
                          </a:solidFill>
                          <a:latin typeface="Calibri"/>
                        </a:rPr>
                        <a:t>Key agreement (ECDH) and signatures (ECDSA)</a:t>
                      </a:r>
                    </a:p>
                  </a:txBody>
                  <a:tcPr marL="73152" marR="73152" marT="27432" marB="27432" anchor="ctr">
                    <a:solidFill>
                      <a:srgbClr val="FFFFFF"/>
                    </a:solidFill>
                  </a:tcPr>
                </a:tc>
                <a:extLst>
                  <a:ext uri="{0D108BD9-81ED-4DB2-BD59-A6C34878D82A}">
                    <a16:rowId xmlns:a16="http://schemas.microsoft.com/office/drawing/2014/main" val="10001"/>
                  </a:ext>
                </a:extLst>
              </a:tr>
              <a:tr h="594360">
                <a:tc>
                  <a:txBody>
                    <a:bodyPr/>
                    <a:lstStyle/>
                    <a:p>
                      <a:r>
                        <a:rPr sz="1250" b="0" i="0">
                          <a:solidFill>
                            <a:srgbClr val="222A33"/>
                          </a:solidFill>
                          <a:latin typeface="Calibri"/>
                        </a:rPr>
                        <a:t>Hard problem</a:t>
                      </a:r>
                    </a:p>
                  </a:txBody>
                  <a:tcPr marL="73152" marR="73152" marT="27432" marB="27432" anchor="ctr">
                    <a:solidFill>
                      <a:srgbClr val="F2F4F7"/>
                    </a:solidFill>
                  </a:tcPr>
                </a:tc>
                <a:tc>
                  <a:txBody>
                    <a:bodyPr/>
                    <a:lstStyle/>
                    <a:p>
                      <a:r>
                        <a:rPr sz="1250" b="0" i="0">
                          <a:solidFill>
                            <a:srgbClr val="222A33"/>
                          </a:solidFill>
                          <a:latin typeface="Calibri"/>
                        </a:rPr>
                        <a:t>Integer factoring</a:t>
                      </a:r>
                    </a:p>
                  </a:txBody>
                  <a:tcPr marL="73152" marR="73152" marT="27432" marB="27432" anchor="ctr">
                    <a:solidFill>
                      <a:srgbClr val="F2F4F7"/>
                    </a:solidFill>
                  </a:tcPr>
                </a:tc>
                <a:tc>
                  <a:txBody>
                    <a:bodyPr/>
                    <a:lstStyle/>
                    <a:p>
                      <a:r>
                        <a:rPr sz="1250" b="0" i="0">
                          <a:solidFill>
                            <a:srgbClr val="222A33"/>
                          </a:solidFill>
                          <a:latin typeface="Calibri"/>
                        </a:rPr>
                        <a:t>Discrete logarithm</a:t>
                      </a:r>
                    </a:p>
                  </a:txBody>
                  <a:tcPr marL="73152" marR="73152" marT="27432" marB="27432" anchor="ctr">
                    <a:solidFill>
                      <a:srgbClr val="F2F4F7"/>
                    </a:solidFill>
                  </a:tcPr>
                </a:tc>
                <a:tc>
                  <a:txBody>
                    <a:bodyPr/>
                    <a:lstStyle/>
                    <a:p>
                      <a:r>
                        <a:rPr sz="1250" b="0" i="0">
                          <a:solidFill>
                            <a:srgbClr val="222A33"/>
                          </a:solidFill>
                          <a:latin typeface="Calibri"/>
                        </a:rPr>
                        <a:t>Elliptic curve discrete logarithm</a:t>
                      </a:r>
                    </a:p>
                  </a:txBody>
                  <a:tcPr marL="73152" marR="73152" marT="27432" marB="27432" anchor="ctr">
                    <a:solidFill>
                      <a:srgbClr val="F2F4F7"/>
                    </a:solidFill>
                  </a:tcPr>
                </a:tc>
                <a:extLst>
                  <a:ext uri="{0D108BD9-81ED-4DB2-BD59-A6C34878D82A}">
                    <a16:rowId xmlns:a16="http://schemas.microsoft.com/office/drawing/2014/main" val="10002"/>
                  </a:ext>
                </a:extLst>
              </a:tr>
              <a:tr h="594360">
                <a:tc>
                  <a:txBody>
                    <a:bodyPr/>
                    <a:lstStyle/>
                    <a:p>
                      <a:r>
                        <a:rPr sz="1250" b="0" i="0">
                          <a:solidFill>
                            <a:srgbClr val="222A33"/>
                          </a:solidFill>
                          <a:latin typeface="Calibri"/>
                        </a:rPr>
                        <a:t>Key size for about 128-bit security</a:t>
                      </a:r>
                    </a:p>
                  </a:txBody>
                  <a:tcPr marL="73152" marR="73152" marT="27432" marB="27432" anchor="ctr">
                    <a:solidFill>
                      <a:srgbClr val="FFFFFF"/>
                    </a:solidFill>
                  </a:tcPr>
                </a:tc>
                <a:tc>
                  <a:txBody>
                    <a:bodyPr/>
                    <a:lstStyle/>
                    <a:p>
                      <a:r>
                        <a:rPr sz="1250" b="0" i="0">
                          <a:solidFill>
                            <a:srgbClr val="222A33"/>
                          </a:solidFill>
                          <a:latin typeface="Calibri"/>
                        </a:rPr>
                        <a:t>3072 bits</a:t>
                      </a:r>
                    </a:p>
                  </a:txBody>
                  <a:tcPr marL="73152" marR="73152" marT="27432" marB="27432" anchor="ctr">
                    <a:solidFill>
                      <a:srgbClr val="FFFFFF"/>
                    </a:solidFill>
                  </a:tcPr>
                </a:tc>
                <a:tc>
                  <a:txBody>
                    <a:bodyPr/>
                    <a:lstStyle/>
                    <a:p>
                      <a:r>
                        <a:rPr sz="1250" b="0" i="0">
                          <a:solidFill>
                            <a:srgbClr val="222A33"/>
                          </a:solidFill>
                          <a:latin typeface="Calibri"/>
                        </a:rPr>
                        <a:t>3072 bits</a:t>
                      </a:r>
                    </a:p>
                  </a:txBody>
                  <a:tcPr marL="73152" marR="73152" marT="27432" marB="27432" anchor="ctr">
                    <a:solidFill>
                      <a:srgbClr val="FFFFFF"/>
                    </a:solidFill>
                  </a:tcPr>
                </a:tc>
                <a:tc>
                  <a:txBody>
                    <a:bodyPr/>
                    <a:lstStyle/>
                    <a:p>
                      <a:r>
                        <a:rPr sz="1250" b="0" i="0">
                          <a:solidFill>
                            <a:srgbClr val="222A33"/>
                          </a:solidFill>
                          <a:latin typeface="Calibri"/>
                        </a:rPr>
                        <a:t>256 bits</a:t>
                      </a:r>
                    </a:p>
                  </a:txBody>
                  <a:tcPr marL="73152" marR="73152" marT="27432" marB="27432" anchor="ctr">
                    <a:solidFill>
                      <a:srgbClr val="FFFFFF"/>
                    </a:solidFill>
                  </a:tcPr>
                </a:tc>
                <a:extLst>
                  <a:ext uri="{0D108BD9-81ED-4DB2-BD59-A6C34878D82A}">
                    <a16:rowId xmlns:a16="http://schemas.microsoft.com/office/drawing/2014/main" val="10003"/>
                  </a:ext>
                </a:extLst>
              </a:tr>
              <a:tr h="594360">
                <a:tc>
                  <a:txBody>
                    <a:bodyPr/>
                    <a:lstStyle/>
                    <a:p>
                      <a:r>
                        <a:rPr sz="1250" b="0" i="0">
                          <a:solidFill>
                            <a:srgbClr val="222A33"/>
                          </a:solidFill>
                          <a:latin typeface="Calibri"/>
                        </a:rPr>
                        <a:t>Provides forward secrecy?</a:t>
                      </a:r>
                    </a:p>
                  </a:txBody>
                  <a:tcPr marL="73152" marR="73152" marT="27432" marB="27432" anchor="ctr">
                    <a:solidFill>
                      <a:srgbClr val="F2F4F7"/>
                    </a:solidFill>
                  </a:tcPr>
                </a:tc>
                <a:tc>
                  <a:txBody>
                    <a:bodyPr/>
                    <a:lstStyle/>
                    <a:p>
                      <a:r>
                        <a:rPr sz="1250" b="0" i="0">
                          <a:solidFill>
                            <a:srgbClr val="222A33"/>
                          </a:solidFill>
                          <a:latin typeface="Calibri"/>
                        </a:rPr>
                        <a:t>Not by itself</a:t>
                      </a:r>
                    </a:p>
                  </a:txBody>
                  <a:tcPr marL="73152" marR="73152" marT="27432" marB="27432" anchor="ctr">
                    <a:solidFill>
                      <a:srgbClr val="F2F4F7"/>
                    </a:solidFill>
                  </a:tcPr>
                </a:tc>
                <a:tc>
                  <a:txBody>
                    <a:bodyPr/>
                    <a:lstStyle/>
                    <a:p>
                      <a:r>
                        <a:rPr sz="1250" b="0" i="0">
                          <a:solidFill>
                            <a:srgbClr val="222A33"/>
                          </a:solidFill>
                          <a:latin typeface="Calibri"/>
                        </a:rPr>
                        <a:t>Yes, when ephemeral</a:t>
                      </a:r>
                    </a:p>
                  </a:txBody>
                  <a:tcPr marL="73152" marR="73152" marT="27432" marB="27432" anchor="ctr">
                    <a:solidFill>
                      <a:srgbClr val="F2F4F7"/>
                    </a:solidFill>
                  </a:tcPr>
                </a:tc>
                <a:tc>
                  <a:txBody>
                    <a:bodyPr/>
                    <a:lstStyle/>
                    <a:p>
                      <a:r>
                        <a:rPr sz="1250" b="0" i="0">
                          <a:solidFill>
                            <a:srgbClr val="222A33"/>
                          </a:solidFill>
                          <a:latin typeface="Calibri"/>
                        </a:rPr>
                        <a:t>Yes, when ephemeral (ECDHE)</a:t>
                      </a:r>
                    </a:p>
                  </a:txBody>
                  <a:tcPr marL="73152" marR="73152" marT="27432" marB="27432" anchor="ctr">
                    <a:solidFill>
                      <a:srgbClr val="F2F4F7"/>
                    </a:solidFill>
                  </a:tcPr>
                </a:tc>
                <a:extLst>
                  <a:ext uri="{0D108BD9-81ED-4DB2-BD59-A6C34878D82A}">
                    <a16:rowId xmlns:a16="http://schemas.microsoft.com/office/drawing/2014/main" val="10004"/>
                  </a:ext>
                </a:extLst>
              </a:tr>
              <a:tr h="594360">
                <a:tc>
                  <a:txBody>
                    <a:bodyPr/>
                    <a:lstStyle/>
                    <a:p>
                      <a:r>
                        <a:rPr sz="1250" b="0" i="0">
                          <a:solidFill>
                            <a:srgbClr val="222A33"/>
                          </a:solidFill>
                          <a:latin typeface="Calibri"/>
                        </a:rPr>
                        <a:t>Typical weakness</a:t>
                      </a:r>
                    </a:p>
                  </a:txBody>
                  <a:tcPr marL="73152" marR="73152" marT="27432" marB="27432" anchor="ctr">
                    <a:solidFill>
                      <a:srgbClr val="FFFFFF"/>
                    </a:solidFill>
                  </a:tcPr>
                </a:tc>
                <a:tc>
                  <a:txBody>
                    <a:bodyPr/>
                    <a:lstStyle/>
                    <a:p>
                      <a:r>
                        <a:rPr sz="1250" b="0" i="0">
                          <a:solidFill>
                            <a:srgbClr val="222A33"/>
                          </a:solidFill>
                          <a:latin typeface="Calibri"/>
                        </a:rPr>
                        <a:t>Large keys, slow</a:t>
                      </a:r>
                    </a:p>
                  </a:txBody>
                  <a:tcPr marL="73152" marR="73152" marT="27432" marB="27432" anchor="ctr">
                    <a:solidFill>
                      <a:srgbClr val="FFFFFF"/>
                    </a:solidFill>
                  </a:tcPr>
                </a:tc>
                <a:tc>
                  <a:txBody>
                    <a:bodyPr/>
                    <a:lstStyle/>
                    <a:p>
                      <a:r>
                        <a:rPr sz="1250" b="0" i="0">
                          <a:solidFill>
                            <a:srgbClr val="222A33"/>
                          </a:solidFill>
                          <a:latin typeface="Calibri"/>
                        </a:rPr>
                        <a:t>No authentication on its own</a:t>
                      </a:r>
                    </a:p>
                  </a:txBody>
                  <a:tcPr marL="73152" marR="73152" marT="27432" marB="27432" anchor="ctr">
                    <a:solidFill>
                      <a:srgbClr val="FFFFFF"/>
                    </a:solidFill>
                  </a:tcPr>
                </a:tc>
                <a:tc>
                  <a:txBody>
                    <a:bodyPr/>
                    <a:lstStyle/>
                    <a:p>
                      <a:r>
                        <a:rPr sz="1250" b="0" i="0">
                          <a:solidFill>
                            <a:srgbClr val="222A33"/>
                          </a:solidFill>
                          <a:latin typeface="Calibri"/>
                        </a:rPr>
                        <a:t>Implementation and curve choice</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All three share the same long-term threat: a sufficiently large quantum computer.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Asymmetric Encryption: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ASYMMETRIC ENCRYPTION</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Solves key distribution: the public key can be published openly.</a:t>
            </a:r>
          </a:p>
          <a:p>
            <a:pPr marL="201168" indent="-201168">
              <a:spcAft>
                <a:spcPts val="700"/>
              </a:spcAft>
              <a:buFont typeface="Arial"/>
              <a:buChar char="–"/>
            </a:pPr>
            <a:r>
              <a:rPr sz="1300" b="0" i="0">
                <a:solidFill>
                  <a:srgbClr val="222A33"/>
                </a:solidFill>
                <a:latin typeface="Calibri"/>
              </a:rPr>
              <a:t>Scales well: n users need only n key pairs, not n(n-1)/2 shared secrets.</a:t>
            </a:r>
          </a:p>
          <a:p>
            <a:pPr marL="201168" indent="-201168">
              <a:spcAft>
                <a:spcPts val="700"/>
              </a:spcAft>
              <a:buFont typeface="Arial"/>
              <a:buChar char="–"/>
            </a:pPr>
            <a:r>
              <a:rPr sz="1300" b="0" i="0">
                <a:solidFill>
                  <a:srgbClr val="222A33"/>
                </a:solidFill>
                <a:latin typeface="Calibri"/>
              </a:rPr>
              <a:t>Enables digital signatures, and therefore authentication and non-repudiation.</a:t>
            </a:r>
          </a:p>
          <a:p>
            <a:pPr marL="201168" indent="-201168">
              <a:spcAft>
                <a:spcPts val="700"/>
              </a:spcAft>
              <a:buFont typeface="Arial"/>
              <a:buChar char="–"/>
            </a:pPr>
            <a:r>
              <a:rPr sz="1300" b="0" i="0">
                <a:solidFill>
                  <a:srgbClr val="222A33"/>
                </a:solidFill>
                <a:latin typeface="Calibri"/>
              </a:rPr>
              <a:t>Allows two strangers to establish a secret over an open network.</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Orders of magnitude slower than symmetric encryption, so unsuitable for bulk data.</a:t>
            </a:r>
          </a:p>
          <a:p>
            <a:pPr marL="201168" indent="-201168">
              <a:spcAft>
                <a:spcPts val="700"/>
              </a:spcAft>
              <a:buFont typeface="Arial"/>
              <a:buChar char="–"/>
            </a:pPr>
            <a:r>
              <a:rPr sz="1300" b="0" i="0">
                <a:solidFill>
                  <a:srgbClr val="222A33"/>
                </a:solidFill>
                <a:latin typeface="Calibri"/>
              </a:rPr>
              <a:t>Larger keys and larger outputs.</a:t>
            </a:r>
          </a:p>
          <a:p>
            <a:pPr marL="201168" indent="-201168">
              <a:spcAft>
                <a:spcPts val="700"/>
              </a:spcAft>
              <a:buFont typeface="Arial"/>
              <a:buChar char="–"/>
            </a:pPr>
            <a:r>
              <a:rPr sz="1300" b="0" i="0">
                <a:solidFill>
                  <a:srgbClr val="222A33"/>
                </a:solidFill>
                <a:latin typeface="Calibri"/>
              </a:rPr>
              <a:t>You must be sure a public key really belongs to its claimed owner. This is the problem certificates solve.</a:t>
            </a:r>
          </a:p>
          <a:p>
            <a:pPr marL="201168" indent="-201168">
              <a:spcAft>
                <a:spcPts val="700"/>
              </a:spcAft>
              <a:buFont typeface="Arial"/>
              <a:buChar char="–"/>
            </a:pPr>
            <a:r>
              <a:rPr sz="1300" b="0" i="0">
                <a:solidFill>
                  <a:srgbClr val="222A33"/>
                </a:solidFill>
                <a:latin typeface="Calibri"/>
              </a:rPr>
              <a:t>RSA, Diffie-Hellman, and ECC are all vulnerable to a future quantum computer.</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key exchange in TLS and IKE, digital signatures and certificates, SSH authentication, and secure email (S/MIME and PGP).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Symmetric vs Asymmetric, and Hybrid Encryption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Using each where it is strongest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Symmetric vs Asymmetric: Full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COMPARISON</a:t>
            </a:r>
          </a:p>
        </p:txBody>
      </p:sp>
      <p:graphicFrame>
        <p:nvGraphicFramePr>
          <p:cNvPr id="4" name="Table 3"/>
          <p:cNvGraphicFramePr>
            <a:graphicFrameLocks noGrp="1"/>
          </p:cNvGraphicFramePr>
          <p:nvPr/>
        </p:nvGraphicFramePr>
        <p:xfrm>
          <a:off x="274320" y="1737360"/>
          <a:ext cx="11612880" cy="41148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57200">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Symmetric</a:t>
                      </a:r>
                    </a:p>
                  </a:txBody>
                  <a:tcPr marL="73152" marR="73152" marT="27432" marB="27432" anchor="ctr">
                    <a:solidFill>
                      <a:srgbClr val="003054"/>
                    </a:solidFill>
                  </a:tcPr>
                </a:tc>
                <a:tc>
                  <a:txBody>
                    <a:bodyPr/>
                    <a:lstStyle/>
                    <a:p>
                      <a:r>
                        <a:rPr sz="1300" b="1" i="0">
                          <a:solidFill>
                            <a:srgbClr val="FFFFFF"/>
                          </a:solidFill>
                          <a:latin typeface="Calibri"/>
                        </a:rPr>
                        <a:t>Asymmetric</a:t>
                      </a:r>
                    </a:p>
                  </a:txBody>
                  <a:tcPr marL="73152" marR="73152" marT="27432" marB="27432" anchor="ctr">
                    <a:solidFill>
                      <a:srgbClr val="003054"/>
                    </a:solidFill>
                  </a:tcPr>
                </a:tc>
                <a:extLst>
                  <a:ext uri="{0D108BD9-81ED-4DB2-BD59-A6C34878D82A}">
                    <a16:rowId xmlns:a16="http://schemas.microsoft.com/office/drawing/2014/main" val="10000"/>
                  </a:ext>
                </a:extLst>
              </a:tr>
              <a:tr h="457200">
                <a:tc>
                  <a:txBody>
                    <a:bodyPr/>
                    <a:lstStyle/>
                    <a:p>
                      <a:r>
                        <a:rPr sz="1250" b="0" i="0">
                          <a:solidFill>
                            <a:srgbClr val="222A33"/>
                          </a:solidFill>
                          <a:latin typeface="Calibri"/>
                        </a:rPr>
                        <a:t>Keys</a:t>
                      </a:r>
                    </a:p>
                  </a:txBody>
                  <a:tcPr marL="73152" marR="73152" marT="27432" marB="27432" anchor="ctr">
                    <a:solidFill>
                      <a:srgbClr val="FFFFFF"/>
                    </a:solidFill>
                  </a:tcPr>
                </a:tc>
                <a:tc>
                  <a:txBody>
                    <a:bodyPr/>
                    <a:lstStyle/>
                    <a:p>
                      <a:r>
                        <a:rPr sz="1250" b="0" i="0">
                          <a:solidFill>
                            <a:srgbClr val="222A33"/>
                          </a:solidFill>
                          <a:latin typeface="Calibri"/>
                        </a:rPr>
                        <a:t>One shared secret key</a:t>
                      </a:r>
                    </a:p>
                  </a:txBody>
                  <a:tcPr marL="73152" marR="73152" marT="27432" marB="27432" anchor="ctr">
                    <a:solidFill>
                      <a:srgbClr val="FFFFFF"/>
                    </a:solidFill>
                  </a:tcPr>
                </a:tc>
                <a:tc>
                  <a:txBody>
                    <a:bodyPr/>
                    <a:lstStyle/>
                    <a:p>
                      <a:r>
                        <a:rPr sz="1250" b="0" i="0">
                          <a:solidFill>
                            <a:srgbClr val="222A33"/>
                          </a:solidFill>
                          <a:latin typeface="Calibri"/>
                        </a:rPr>
                        <a:t>A public and private key pair</a:t>
                      </a:r>
                    </a:p>
                  </a:txBody>
                  <a:tcPr marL="73152" marR="73152" marT="27432" marB="27432" anchor="ctr">
                    <a:solidFill>
                      <a:srgbClr val="FFFFFF"/>
                    </a:solidFill>
                  </a:tcPr>
                </a:tc>
                <a:extLst>
                  <a:ext uri="{0D108BD9-81ED-4DB2-BD59-A6C34878D82A}">
                    <a16:rowId xmlns:a16="http://schemas.microsoft.com/office/drawing/2014/main" val="10001"/>
                  </a:ext>
                </a:extLst>
              </a:tr>
              <a:tr h="457200">
                <a:tc>
                  <a:txBody>
                    <a:bodyPr/>
                    <a:lstStyle/>
                    <a:p>
                      <a:r>
                        <a:rPr sz="1250" b="0" i="0">
                          <a:solidFill>
                            <a:srgbClr val="222A33"/>
                          </a:solidFill>
                          <a:latin typeface="Calibri"/>
                        </a:rPr>
                        <a:t>Speed</a:t>
                      </a:r>
                    </a:p>
                  </a:txBody>
                  <a:tcPr marL="73152" marR="73152" marT="27432" marB="27432" anchor="ctr">
                    <a:solidFill>
                      <a:srgbClr val="F2F4F7"/>
                    </a:solidFill>
                  </a:tcPr>
                </a:tc>
                <a:tc>
                  <a:txBody>
                    <a:bodyPr/>
                    <a:lstStyle/>
                    <a:p>
                      <a:r>
                        <a:rPr sz="1250" b="0" i="0">
                          <a:solidFill>
                            <a:srgbClr val="222A33"/>
                          </a:solidFill>
                          <a:latin typeface="Calibri"/>
                        </a:rPr>
                        <a:t>Very fast</a:t>
                      </a:r>
                    </a:p>
                  </a:txBody>
                  <a:tcPr marL="73152" marR="73152" marT="27432" marB="27432" anchor="ctr">
                    <a:solidFill>
                      <a:srgbClr val="F2F4F7"/>
                    </a:solidFill>
                  </a:tcPr>
                </a:tc>
                <a:tc>
                  <a:txBody>
                    <a:bodyPr/>
                    <a:lstStyle/>
                    <a:p>
                      <a:r>
                        <a:rPr sz="1250" b="0" i="0">
                          <a:solidFill>
                            <a:srgbClr val="222A33"/>
                          </a:solidFill>
                          <a:latin typeface="Calibri"/>
                        </a:rPr>
                        <a:t>Much slower</a:t>
                      </a:r>
                    </a:p>
                  </a:txBody>
                  <a:tcPr marL="73152" marR="73152" marT="27432" marB="27432" anchor="ctr">
                    <a:solidFill>
                      <a:srgbClr val="F2F4F7"/>
                    </a:solidFill>
                  </a:tcPr>
                </a:tc>
                <a:extLst>
                  <a:ext uri="{0D108BD9-81ED-4DB2-BD59-A6C34878D82A}">
                    <a16:rowId xmlns:a16="http://schemas.microsoft.com/office/drawing/2014/main" val="10002"/>
                  </a:ext>
                </a:extLst>
              </a:tr>
              <a:tr h="457200">
                <a:tc>
                  <a:txBody>
                    <a:bodyPr/>
                    <a:lstStyle/>
                    <a:p>
                      <a:r>
                        <a:rPr sz="1250" b="0" i="0">
                          <a:solidFill>
                            <a:srgbClr val="222A33"/>
                          </a:solidFill>
                          <a:latin typeface="Calibri"/>
                        </a:rPr>
                        <a:t>Key distribution</a:t>
                      </a:r>
                    </a:p>
                  </a:txBody>
                  <a:tcPr marL="73152" marR="73152" marT="27432" marB="27432" anchor="ctr">
                    <a:solidFill>
                      <a:srgbClr val="FFFFFF"/>
                    </a:solidFill>
                  </a:tcPr>
                </a:tc>
                <a:tc>
                  <a:txBody>
                    <a:bodyPr/>
                    <a:lstStyle/>
                    <a:p>
                      <a:r>
                        <a:rPr sz="1250" b="0" i="0">
                          <a:solidFill>
                            <a:srgbClr val="222A33"/>
                          </a:solidFill>
                          <a:latin typeface="Calibri"/>
                        </a:rPr>
                        <a:t>Difficult: the secret must be shared first</a:t>
                      </a:r>
                    </a:p>
                  </a:txBody>
                  <a:tcPr marL="73152" marR="73152" marT="27432" marB="27432" anchor="ctr">
                    <a:solidFill>
                      <a:srgbClr val="FFFFFF"/>
                    </a:solidFill>
                  </a:tcPr>
                </a:tc>
                <a:tc>
                  <a:txBody>
                    <a:bodyPr/>
                    <a:lstStyle/>
                    <a:p>
                      <a:r>
                        <a:rPr sz="1250" b="0" i="0">
                          <a:solidFill>
                            <a:srgbClr val="222A33"/>
                          </a:solidFill>
                          <a:latin typeface="Calibri"/>
                        </a:rPr>
                        <a:t>Easy: the public key can be published</a:t>
                      </a:r>
                    </a:p>
                  </a:txBody>
                  <a:tcPr marL="73152" marR="73152" marT="27432" marB="27432" anchor="ctr">
                    <a:solidFill>
                      <a:srgbClr val="FFFFFF"/>
                    </a:solidFill>
                  </a:tcPr>
                </a:tc>
                <a:extLst>
                  <a:ext uri="{0D108BD9-81ED-4DB2-BD59-A6C34878D82A}">
                    <a16:rowId xmlns:a16="http://schemas.microsoft.com/office/drawing/2014/main" val="10003"/>
                  </a:ext>
                </a:extLst>
              </a:tr>
              <a:tr h="457200">
                <a:tc>
                  <a:txBody>
                    <a:bodyPr/>
                    <a:lstStyle/>
                    <a:p>
                      <a:r>
                        <a:rPr sz="1250" b="0" i="0">
                          <a:solidFill>
                            <a:srgbClr val="222A33"/>
                          </a:solidFill>
                          <a:latin typeface="Calibri"/>
                        </a:rPr>
                        <a:t>Keys needed for n users</a:t>
                      </a:r>
                    </a:p>
                  </a:txBody>
                  <a:tcPr marL="73152" marR="73152" marT="27432" marB="27432" anchor="ctr">
                    <a:solidFill>
                      <a:srgbClr val="F2F4F7"/>
                    </a:solidFill>
                  </a:tcPr>
                </a:tc>
                <a:tc>
                  <a:txBody>
                    <a:bodyPr/>
                    <a:lstStyle/>
                    <a:p>
                      <a:r>
                        <a:rPr sz="1250" b="0" i="0">
                          <a:solidFill>
                            <a:srgbClr val="222A33"/>
                          </a:solidFill>
                          <a:latin typeface="Calibri"/>
                        </a:rPr>
                        <a:t>n(n-1)/2</a:t>
                      </a:r>
                    </a:p>
                  </a:txBody>
                  <a:tcPr marL="73152" marR="73152" marT="27432" marB="27432" anchor="ctr">
                    <a:solidFill>
                      <a:srgbClr val="F2F4F7"/>
                    </a:solidFill>
                  </a:tcPr>
                </a:tc>
                <a:tc>
                  <a:txBody>
                    <a:bodyPr/>
                    <a:lstStyle/>
                    <a:p>
                      <a:r>
                        <a:rPr sz="1250" b="0" i="0">
                          <a:solidFill>
                            <a:srgbClr val="222A33"/>
                          </a:solidFill>
                          <a:latin typeface="Calibri"/>
                        </a:rPr>
                        <a:t>n key pairs</a:t>
                      </a:r>
                    </a:p>
                  </a:txBody>
                  <a:tcPr marL="73152" marR="73152" marT="27432" marB="27432" anchor="ctr">
                    <a:solidFill>
                      <a:srgbClr val="F2F4F7"/>
                    </a:solidFill>
                  </a:tcPr>
                </a:tc>
                <a:extLst>
                  <a:ext uri="{0D108BD9-81ED-4DB2-BD59-A6C34878D82A}">
                    <a16:rowId xmlns:a16="http://schemas.microsoft.com/office/drawing/2014/main" val="10004"/>
                  </a:ext>
                </a:extLst>
              </a:tr>
              <a:tr h="457200">
                <a:tc>
                  <a:txBody>
                    <a:bodyPr/>
                    <a:lstStyle/>
                    <a:p>
                      <a:r>
                        <a:rPr sz="1250" b="0" i="0">
                          <a:solidFill>
                            <a:srgbClr val="222A33"/>
                          </a:solidFill>
                          <a:latin typeface="Calibri"/>
                        </a:rPr>
                        <a:t>Security services</a:t>
                      </a:r>
                    </a:p>
                  </a:txBody>
                  <a:tcPr marL="73152" marR="73152" marT="27432" marB="27432" anchor="ctr">
                    <a:solidFill>
                      <a:srgbClr val="FFFFFF"/>
                    </a:solidFill>
                  </a:tcPr>
                </a:tc>
                <a:tc>
                  <a:txBody>
                    <a:bodyPr/>
                    <a:lstStyle/>
                    <a:p>
                      <a:r>
                        <a:rPr sz="1250" b="0" i="0">
                          <a:solidFill>
                            <a:srgbClr val="222A33"/>
                          </a:solidFill>
                          <a:latin typeface="Calibri"/>
                        </a:rPr>
                        <a:t>Confidentiality (with a MAC, integrity)</a:t>
                      </a:r>
                    </a:p>
                  </a:txBody>
                  <a:tcPr marL="73152" marR="73152" marT="27432" marB="27432" anchor="ctr">
                    <a:solidFill>
                      <a:srgbClr val="FFFFFF"/>
                    </a:solidFill>
                  </a:tcPr>
                </a:tc>
                <a:tc>
                  <a:txBody>
                    <a:bodyPr/>
                    <a:lstStyle/>
                    <a:p>
                      <a:r>
                        <a:rPr sz="1250" b="0" i="0">
                          <a:solidFill>
                            <a:srgbClr val="222A33"/>
                          </a:solidFill>
                          <a:latin typeface="Calibri"/>
                        </a:rPr>
                        <a:t>Confidentiality, authentication, non-repudiation (signatures)</a:t>
                      </a:r>
                    </a:p>
                  </a:txBody>
                  <a:tcPr marL="73152" marR="73152" marT="27432" marB="27432" anchor="ctr">
                    <a:solidFill>
                      <a:srgbClr val="FFFFFF"/>
                    </a:solidFill>
                  </a:tcPr>
                </a:tc>
                <a:extLst>
                  <a:ext uri="{0D108BD9-81ED-4DB2-BD59-A6C34878D82A}">
                    <a16:rowId xmlns:a16="http://schemas.microsoft.com/office/drawing/2014/main" val="10005"/>
                  </a:ext>
                </a:extLst>
              </a:tr>
              <a:tr h="457200">
                <a:tc>
                  <a:txBody>
                    <a:bodyPr/>
                    <a:lstStyle/>
                    <a:p>
                      <a:r>
                        <a:rPr sz="1250" b="0" i="0">
                          <a:solidFill>
                            <a:srgbClr val="222A33"/>
                          </a:solidFill>
                          <a:latin typeface="Calibri"/>
                        </a:rPr>
                        <a:t>Typical key size</a:t>
                      </a:r>
                    </a:p>
                  </a:txBody>
                  <a:tcPr marL="73152" marR="73152" marT="27432" marB="27432" anchor="ctr">
                    <a:solidFill>
                      <a:srgbClr val="F2F4F7"/>
                    </a:solidFill>
                  </a:tcPr>
                </a:tc>
                <a:tc>
                  <a:txBody>
                    <a:bodyPr/>
                    <a:lstStyle/>
                    <a:p>
                      <a:r>
                        <a:rPr sz="1250" b="0" i="0">
                          <a:solidFill>
                            <a:srgbClr val="222A33"/>
                          </a:solidFill>
                          <a:latin typeface="Calibri"/>
                        </a:rPr>
                        <a:t>128 to 256 bits</a:t>
                      </a:r>
                    </a:p>
                  </a:txBody>
                  <a:tcPr marL="73152" marR="73152" marT="27432" marB="27432" anchor="ctr">
                    <a:solidFill>
                      <a:srgbClr val="F2F4F7"/>
                    </a:solidFill>
                  </a:tcPr>
                </a:tc>
                <a:tc>
                  <a:txBody>
                    <a:bodyPr/>
                    <a:lstStyle/>
                    <a:p>
                      <a:r>
                        <a:rPr sz="1250" b="0" i="0">
                          <a:solidFill>
                            <a:srgbClr val="222A33"/>
                          </a:solidFill>
                          <a:latin typeface="Calibri"/>
                        </a:rPr>
                        <a:t>256 bits (ECC) to 3072 bits (RSA)</a:t>
                      </a:r>
                    </a:p>
                  </a:txBody>
                  <a:tcPr marL="73152" marR="73152" marT="27432" marB="27432" anchor="ctr">
                    <a:solidFill>
                      <a:srgbClr val="F2F4F7"/>
                    </a:solidFill>
                  </a:tcPr>
                </a:tc>
                <a:extLst>
                  <a:ext uri="{0D108BD9-81ED-4DB2-BD59-A6C34878D82A}">
                    <a16:rowId xmlns:a16="http://schemas.microsoft.com/office/drawing/2014/main" val="10006"/>
                  </a:ext>
                </a:extLst>
              </a:tr>
              <a:tr h="457200">
                <a:tc>
                  <a:txBody>
                    <a:bodyPr/>
                    <a:lstStyle/>
                    <a:p>
                      <a:r>
                        <a:rPr sz="1250" b="0" i="0">
                          <a:solidFill>
                            <a:srgbClr val="222A33"/>
                          </a:solidFill>
                          <a:latin typeface="Calibri"/>
                        </a:rPr>
                        <a:t>Examples</a:t>
                      </a:r>
                    </a:p>
                  </a:txBody>
                  <a:tcPr marL="73152" marR="73152" marT="27432" marB="27432" anchor="ctr">
                    <a:solidFill>
                      <a:srgbClr val="FFFFFF"/>
                    </a:solidFill>
                  </a:tcPr>
                </a:tc>
                <a:tc>
                  <a:txBody>
                    <a:bodyPr/>
                    <a:lstStyle/>
                    <a:p>
                      <a:r>
                        <a:rPr sz="1250" b="0" i="0">
                          <a:solidFill>
                            <a:srgbClr val="222A33"/>
                          </a:solidFill>
                          <a:latin typeface="Calibri"/>
                        </a:rPr>
                        <a:t>AES, ChaCha20</a:t>
                      </a:r>
                    </a:p>
                  </a:txBody>
                  <a:tcPr marL="73152" marR="73152" marT="27432" marB="27432" anchor="ctr">
                    <a:solidFill>
                      <a:srgbClr val="FFFFFF"/>
                    </a:solidFill>
                  </a:tcPr>
                </a:tc>
                <a:tc>
                  <a:txBody>
                    <a:bodyPr/>
                    <a:lstStyle/>
                    <a:p>
                      <a:r>
                        <a:rPr sz="1250" b="0" i="0">
                          <a:solidFill>
                            <a:srgbClr val="222A33"/>
                          </a:solidFill>
                          <a:latin typeface="Calibri"/>
                        </a:rPr>
                        <a:t>RSA, Diffie-Hellman, ECC</a:t>
                      </a:r>
                    </a:p>
                  </a:txBody>
                  <a:tcPr marL="73152" marR="73152" marT="27432" marB="27432" anchor="ctr">
                    <a:solidFill>
                      <a:srgbClr val="FFFFFF"/>
                    </a:solidFill>
                  </a:tcPr>
                </a:tc>
                <a:extLst>
                  <a:ext uri="{0D108BD9-81ED-4DB2-BD59-A6C34878D82A}">
                    <a16:rowId xmlns:a16="http://schemas.microsoft.com/office/drawing/2014/main" val="10007"/>
                  </a:ext>
                </a:extLst>
              </a:tr>
              <a:tr h="457200">
                <a:tc>
                  <a:txBody>
                    <a:bodyPr/>
                    <a:lstStyle/>
                    <a:p>
                      <a:r>
                        <a:rPr sz="1250" b="0" i="0">
                          <a:solidFill>
                            <a:srgbClr val="222A33"/>
                          </a:solidFill>
                          <a:latin typeface="Calibri"/>
                        </a:rPr>
                        <a:t>Best used for</a:t>
                      </a:r>
                    </a:p>
                  </a:txBody>
                  <a:tcPr marL="73152" marR="73152" marT="27432" marB="27432" anchor="ctr">
                    <a:solidFill>
                      <a:srgbClr val="F2F4F7"/>
                    </a:solidFill>
                  </a:tcPr>
                </a:tc>
                <a:tc>
                  <a:txBody>
                    <a:bodyPr/>
                    <a:lstStyle/>
                    <a:p>
                      <a:r>
                        <a:rPr sz="1250" b="0" i="0">
                          <a:solidFill>
                            <a:srgbClr val="222A33"/>
                          </a:solidFill>
                          <a:latin typeface="Calibri"/>
                        </a:rPr>
                        <a:t>Encrypting bulk data</a:t>
                      </a:r>
                    </a:p>
                  </a:txBody>
                  <a:tcPr marL="73152" marR="73152" marT="27432" marB="27432" anchor="ctr">
                    <a:solidFill>
                      <a:srgbClr val="F2F4F7"/>
                    </a:solidFill>
                  </a:tcPr>
                </a:tc>
                <a:tc>
                  <a:txBody>
                    <a:bodyPr/>
                    <a:lstStyle/>
                    <a:p>
                      <a:r>
                        <a:rPr sz="1250" b="0" i="0">
                          <a:solidFill>
                            <a:srgbClr val="222A33"/>
                          </a:solidFill>
                          <a:latin typeface="Calibri"/>
                        </a:rPr>
                        <a:t>Key exchange and signatures</a:t>
                      </a:r>
                    </a:p>
                  </a:txBody>
                  <a:tcPr marL="73152" marR="73152" marT="27432" marB="27432" anchor="ctr">
                    <a:solidFill>
                      <a:srgbClr val="F2F4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Hybrid Encryption: The Synthesis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COMPARISON</a:t>
            </a:r>
          </a:p>
        </p:txBody>
      </p:sp>
      <p:sp>
        <p:nvSpPr>
          <p:cNvPr id="4" name="Rounded Rectangle 3"/>
          <p:cNvSpPr/>
          <p:nvPr/>
        </p:nvSpPr>
        <p:spPr>
          <a:xfrm>
            <a:off x="731520" y="1920240"/>
            <a:ext cx="2194560" cy="50292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Alice</a:t>
            </a:r>
          </a:p>
        </p:txBody>
      </p:sp>
      <p:sp>
        <p:nvSpPr>
          <p:cNvPr id="5" name="Rounded Rectangle 4"/>
          <p:cNvSpPr/>
          <p:nvPr/>
        </p:nvSpPr>
        <p:spPr>
          <a:xfrm>
            <a:off x="9235440" y="1920240"/>
            <a:ext cx="2194560" cy="50292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Bob</a:t>
            </a:r>
          </a:p>
        </p:txBody>
      </p:sp>
      <p:sp>
        <p:nvSpPr>
          <p:cNvPr id="6" name="Rounded Rectangle 5"/>
          <p:cNvSpPr/>
          <p:nvPr/>
        </p:nvSpPr>
        <p:spPr>
          <a:xfrm>
            <a:off x="3566160" y="2743200"/>
            <a:ext cx="5029200" cy="77724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Phase 1, handshake: asymmetric cryptography (RSA, DH, ECDH) agrees a session key. Slow, but used once.</a:t>
            </a:r>
          </a:p>
        </p:txBody>
      </p:sp>
      <p:cxnSp>
        <p:nvCxnSpPr>
          <p:cNvPr id="7" name="Connector 6"/>
          <p:cNvCxnSpPr/>
          <p:nvPr/>
        </p:nvCxnSpPr>
        <p:spPr>
          <a:xfrm>
            <a:off x="2926080" y="3127248"/>
            <a:ext cx="640080" cy="0"/>
          </a:xfrm>
          <a:prstGeom prst="line">
            <a:avLst/>
          </a:prstGeom>
          <a:ln w="25400">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95360" y="3127248"/>
            <a:ext cx="640080" cy="0"/>
          </a:xfrm>
          <a:prstGeom prst="line">
            <a:avLst/>
          </a:prstGeom>
          <a:ln w="25400">
            <a:solidFill>
              <a:srgbClr val="6B768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66160" y="3931920"/>
            <a:ext cx="5029200" cy="77724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Phase 2, bulk data: symmetric cryptography (AES, ChaCha20) uses the session key. Fast, used for everything.</a:t>
            </a:r>
          </a:p>
        </p:txBody>
      </p:sp>
      <p:cxnSp>
        <p:nvCxnSpPr>
          <p:cNvPr id="10" name="Connector 9"/>
          <p:cNvCxnSpPr/>
          <p:nvPr/>
        </p:nvCxnSpPr>
        <p:spPr>
          <a:xfrm>
            <a:off x="2926080" y="4315968"/>
            <a:ext cx="640080" cy="0"/>
          </a:xfrm>
          <a:prstGeom prst="line">
            <a:avLst/>
          </a:prstGeom>
          <a:ln w="25400">
            <a:solidFill>
              <a:srgbClr val="6B768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95360" y="4315968"/>
            <a:ext cx="640080" cy="0"/>
          </a:xfrm>
          <a:prstGeom prst="line">
            <a:avLst/>
          </a:prstGeom>
          <a:ln w="25400">
            <a:solidFill>
              <a:srgbClr val="6B768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4846320"/>
            <a:ext cx="10698480" cy="118872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Asymmetric cryptography solves distribution but is slow. Symmetric cryptography is fast but cannot distribute its own keys. Hybrid encryption uses each for the job it does well.</a:t>
            </a:r>
          </a:p>
          <a:p>
            <a:pPr marL="201168" indent="-201168">
              <a:spcAft>
                <a:spcPts val="1100"/>
              </a:spcAft>
              <a:buFont typeface="Arial"/>
              <a:buChar char="–"/>
            </a:pPr>
            <a:r>
              <a:rPr sz="1400" b="0" i="0">
                <a:solidFill>
                  <a:srgbClr val="222A33"/>
                </a:solidFill>
                <a:latin typeface="Calibri"/>
              </a:rPr>
              <a:t>The session key is temporary, so each connection gets a fresh key, limiting the damage if one is ever exposed.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Worked Example: TLS and IPsec Are Hybrid Systems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COMPARISON</a:t>
            </a:r>
          </a:p>
        </p:txBody>
      </p:sp>
      <p:graphicFrame>
        <p:nvGraphicFramePr>
          <p:cNvPr id="4" name="Table 3"/>
          <p:cNvGraphicFramePr>
            <a:graphicFrameLocks noGrp="1"/>
          </p:cNvGraphicFramePr>
          <p:nvPr/>
        </p:nvGraphicFramePr>
        <p:xfrm>
          <a:off x="274320" y="1737360"/>
          <a:ext cx="11612880" cy="3108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777240">
                <a:tc>
                  <a:txBody>
                    <a:bodyPr/>
                    <a:lstStyle/>
                    <a:p>
                      <a:r>
                        <a:rPr sz="1300" b="1" i="0">
                          <a:solidFill>
                            <a:srgbClr val="FFFFFF"/>
                          </a:solidFill>
                          <a:latin typeface="Calibri"/>
                        </a:rPr>
                        <a:t>Protocol</a:t>
                      </a:r>
                    </a:p>
                  </a:txBody>
                  <a:tcPr marL="73152" marR="73152" marT="27432" marB="27432" anchor="ctr">
                    <a:solidFill>
                      <a:srgbClr val="003054"/>
                    </a:solidFill>
                  </a:tcPr>
                </a:tc>
                <a:tc>
                  <a:txBody>
                    <a:bodyPr/>
                    <a:lstStyle/>
                    <a:p>
                      <a:r>
                        <a:rPr sz="1300" b="1" i="0">
                          <a:solidFill>
                            <a:srgbClr val="FFFFFF"/>
                          </a:solidFill>
                          <a:latin typeface="Calibri"/>
                        </a:rPr>
                        <a:t>Asymmetric Part (setup)</a:t>
                      </a:r>
                    </a:p>
                  </a:txBody>
                  <a:tcPr marL="73152" marR="73152" marT="27432" marB="27432" anchor="ctr">
                    <a:solidFill>
                      <a:srgbClr val="003054"/>
                    </a:solidFill>
                  </a:tcPr>
                </a:tc>
                <a:tc>
                  <a:txBody>
                    <a:bodyPr/>
                    <a:lstStyle/>
                    <a:p>
                      <a:r>
                        <a:rPr sz="1300" b="1" i="0">
                          <a:solidFill>
                            <a:srgbClr val="FFFFFF"/>
                          </a:solidFill>
                          <a:latin typeface="Calibri"/>
                        </a:rPr>
                        <a:t>Symmetric Part (data)</a:t>
                      </a:r>
                    </a:p>
                  </a:txBody>
                  <a:tcPr marL="73152" marR="73152" marT="27432" marB="27432" anchor="ctr">
                    <a:solidFill>
                      <a:srgbClr val="003054"/>
                    </a:solidFill>
                  </a:tcPr>
                </a:tc>
                <a:extLst>
                  <a:ext uri="{0D108BD9-81ED-4DB2-BD59-A6C34878D82A}">
                    <a16:rowId xmlns:a16="http://schemas.microsoft.com/office/drawing/2014/main" val="10000"/>
                  </a:ext>
                </a:extLst>
              </a:tr>
              <a:tr h="777240">
                <a:tc>
                  <a:txBody>
                    <a:bodyPr/>
                    <a:lstStyle/>
                    <a:p>
                      <a:r>
                        <a:rPr sz="1300" b="0" i="0">
                          <a:solidFill>
                            <a:srgbClr val="222A33"/>
                          </a:solidFill>
                          <a:latin typeface="Calibri"/>
                        </a:rPr>
                        <a:t>TLS 1.3 (web, SSL VPN)</a:t>
                      </a:r>
                    </a:p>
                  </a:txBody>
                  <a:tcPr marL="73152" marR="73152" marT="27432" marB="27432" anchor="ctr">
                    <a:solidFill>
                      <a:srgbClr val="FFFFFF"/>
                    </a:solidFill>
                  </a:tcPr>
                </a:tc>
                <a:tc>
                  <a:txBody>
                    <a:bodyPr/>
                    <a:lstStyle/>
                    <a:p>
                      <a:r>
                        <a:rPr sz="1300" b="0" i="0">
                          <a:solidFill>
                            <a:srgbClr val="222A33"/>
                          </a:solidFill>
                          <a:latin typeface="Calibri"/>
                        </a:rPr>
                        <a:t>ECDHE key agreement, authenticated with a certificate and signature</a:t>
                      </a:r>
                    </a:p>
                  </a:txBody>
                  <a:tcPr marL="73152" marR="73152" marT="27432" marB="27432" anchor="ctr">
                    <a:solidFill>
                      <a:srgbClr val="FFFFFF"/>
                    </a:solidFill>
                  </a:tcPr>
                </a:tc>
                <a:tc>
                  <a:txBody>
                    <a:bodyPr/>
                    <a:lstStyle/>
                    <a:p>
                      <a:r>
                        <a:rPr sz="1300" b="0" i="0">
                          <a:solidFill>
                            <a:srgbClr val="222A33"/>
                          </a:solidFill>
                          <a:latin typeface="Calibri"/>
                        </a:rPr>
                        <a:t>AES-GCM or ChaCha20-Poly1305 for all application data</a:t>
                      </a:r>
                    </a:p>
                  </a:txBody>
                  <a:tcPr marL="73152" marR="73152" marT="27432" marB="27432" anchor="ctr">
                    <a:solidFill>
                      <a:srgbClr val="FFFFFF"/>
                    </a:solidFill>
                  </a:tcPr>
                </a:tc>
                <a:extLst>
                  <a:ext uri="{0D108BD9-81ED-4DB2-BD59-A6C34878D82A}">
                    <a16:rowId xmlns:a16="http://schemas.microsoft.com/office/drawing/2014/main" val="10001"/>
                  </a:ext>
                </a:extLst>
              </a:tr>
              <a:tr h="777240">
                <a:tc>
                  <a:txBody>
                    <a:bodyPr/>
                    <a:lstStyle/>
                    <a:p>
                      <a:r>
                        <a:rPr sz="1300" b="0" i="0">
                          <a:solidFill>
                            <a:srgbClr val="222A33"/>
                          </a:solidFill>
                          <a:latin typeface="Calibri"/>
                        </a:rPr>
                        <a:t>IPsec (IKE, then ESP)</a:t>
                      </a:r>
                    </a:p>
                  </a:txBody>
                  <a:tcPr marL="73152" marR="73152" marT="27432" marB="27432" anchor="ctr">
                    <a:solidFill>
                      <a:srgbClr val="F2F4F7"/>
                    </a:solidFill>
                  </a:tcPr>
                </a:tc>
                <a:tc>
                  <a:txBody>
                    <a:bodyPr/>
                    <a:lstStyle/>
                    <a:p>
                      <a:r>
                        <a:rPr sz="1300" b="0" i="0">
                          <a:solidFill>
                            <a:srgbClr val="222A33"/>
                          </a:solidFill>
                          <a:latin typeface="Calibri"/>
                        </a:rPr>
                        <a:t>IKE uses a Diffie-Hellman exchange and authentication (pre-shared key or certificates) to build the keys</a:t>
                      </a:r>
                    </a:p>
                  </a:txBody>
                  <a:tcPr marL="73152" marR="73152" marT="27432" marB="27432" anchor="ctr">
                    <a:solidFill>
                      <a:srgbClr val="F2F4F7"/>
                    </a:solidFill>
                  </a:tcPr>
                </a:tc>
                <a:tc>
                  <a:txBody>
                    <a:bodyPr/>
                    <a:lstStyle/>
                    <a:p>
                      <a:r>
                        <a:rPr sz="1300" b="0" i="0">
                          <a:solidFill>
                            <a:srgbClr val="222A33"/>
                          </a:solidFill>
                          <a:latin typeface="Calibri"/>
                        </a:rPr>
                        <a:t>ESP encrypts traffic with AES, often in GCM mode</a:t>
                      </a:r>
                    </a:p>
                  </a:txBody>
                  <a:tcPr marL="73152" marR="73152" marT="27432" marB="27432" anchor="ctr">
                    <a:solidFill>
                      <a:srgbClr val="F2F4F7"/>
                    </a:solidFill>
                  </a:tcPr>
                </a:tc>
                <a:extLst>
                  <a:ext uri="{0D108BD9-81ED-4DB2-BD59-A6C34878D82A}">
                    <a16:rowId xmlns:a16="http://schemas.microsoft.com/office/drawing/2014/main" val="10002"/>
                  </a:ext>
                </a:extLst>
              </a:tr>
              <a:tr h="777240">
                <a:tc>
                  <a:txBody>
                    <a:bodyPr/>
                    <a:lstStyle/>
                    <a:p>
                      <a:r>
                        <a:rPr sz="1300" b="0" i="0">
                          <a:solidFill>
                            <a:srgbClr val="222A33"/>
                          </a:solidFill>
                          <a:latin typeface="Calibri"/>
                        </a:rPr>
                        <a:t>SSH</a:t>
                      </a:r>
                    </a:p>
                  </a:txBody>
                  <a:tcPr marL="73152" marR="73152" marT="27432" marB="27432" anchor="ctr">
                    <a:solidFill>
                      <a:srgbClr val="FFFFFF"/>
                    </a:solidFill>
                  </a:tcPr>
                </a:tc>
                <a:tc>
                  <a:txBody>
                    <a:bodyPr/>
                    <a:lstStyle/>
                    <a:p>
                      <a:r>
                        <a:rPr sz="1300" b="0" i="0">
                          <a:solidFill>
                            <a:srgbClr val="222A33"/>
                          </a:solidFill>
                          <a:latin typeface="Calibri"/>
                        </a:rPr>
                        <a:t>Key exchange (such as Curve25519) and host and user authentication</a:t>
                      </a:r>
                    </a:p>
                  </a:txBody>
                  <a:tcPr marL="73152" marR="73152" marT="27432" marB="27432" anchor="ctr">
                    <a:solidFill>
                      <a:srgbClr val="FFFFFF"/>
                    </a:solidFill>
                  </a:tcPr>
                </a:tc>
                <a:tc>
                  <a:txBody>
                    <a:bodyPr/>
                    <a:lstStyle/>
                    <a:p>
                      <a:r>
                        <a:rPr sz="1300" b="0" i="0">
                          <a:solidFill>
                            <a:srgbClr val="222A33"/>
                          </a:solidFill>
                          <a:latin typeface="Calibri"/>
                        </a:rPr>
                        <a:t>AES or ChaCha20 for the session</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In every case the expensive asymmetric step happens once at the start, then fast symmetric encryption carries the data.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Cryptography provides confidentiality, integrity, authentication, and non-repudiation. Encryption provides the first of these; the next deck covers the rest.</a:t>
            </a:r>
          </a:p>
          <a:p>
            <a:pPr marL="201168" indent="-201168">
              <a:spcAft>
                <a:spcPts val="1100"/>
              </a:spcAft>
              <a:buFont typeface="Arial"/>
              <a:buChar char="–"/>
            </a:pPr>
            <a:r>
              <a:rPr sz="1500" b="0" i="0">
                <a:solidFill>
                  <a:srgbClr val="222A33"/>
                </a:solidFill>
                <a:latin typeface="Calibri"/>
              </a:rPr>
              <a:t>Kerckhoffs's principle: the algorithm is public and the key is the secret. Classical ciphers failed on key space and frequency patterns, which taught the principles of confusion and diffusion.</a:t>
            </a:r>
          </a:p>
          <a:p>
            <a:pPr marL="201168" indent="-201168">
              <a:spcAft>
                <a:spcPts val="1100"/>
              </a:spcAft>
              <a:buFont typeface="Arial"/>
              <a:buChar char="–"/>
            </a:pPr>
            <a:r>
              <a:rPr sz="1500" b="0" i="0">
                <a:solidFill>
                  <a:srgbClr val="222A33"/>
                </a:solidFill>
                <a:latin typeface="Calibri"/>
              </a:rPr>
              <a:t>Block ciphers (AES) encrypt fixed blocks and depend on the mode of operation. Stream ciphers (ChaCha20) encrypt a keystream and depend on never reusing a nonce. CTR and GCM blur the line between them.</a:t>
            </a:r>
          </a:p>
          <a:p>
            <a:pPr marL="201168" indent="-201168">
              <a:spcAft>
                <a:spcPts val="1100"/>
              </a:spcAft>
              <a:buFont typeface="Arial"/>
              <a:buChar char="–"/>
            </a:pPr>
            <a:r>
              <a:rPr sz="1500" b="0" i="0">
                <a:solidFill>
                  <a:srgbClr val="222A33"/>
                </a:solidFill>
                <a:latin typeface="Calibri"/>
              </a:rPr>
              <a:t>Asymmetric cryptography (RSA, Diffie-Hellman, ECC) solves key distribution but is slow. Hybrid encryption combines both, and that is how TLS, IKE, and SSH work.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Coming Up</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Next deck: integrity, signatures, and PKI. Hash functions, MACs and HMAC, digital signatures, X.509 certificates, certificate authorities, and a full TLS handshake walkthrough.</a:t>
            </a:r>
          </a:p>
          <a:p>
            <a:pPr marL="201168" indent="-201168">
              <a:spcAft>
                <a:spcPts val="1100"/>
              </a:spcAft>
              <a:buFont typeface="Arial"/>
              <a:buChar char="–"/>
            </a:pPr>
            <a:r>
              <a:rPr sz="1500" b="0" i="0">
                <a:solidFill>
                  <a:srgbClr val="222A33"/>
                </a:solidFill>
                <a:latin typeface="Calibri"/>
              </a:rPr>
              <a:t>One open question from today carries forward: when you receive a public key, how do you know it belongs to who it claims to? Diffie-Hellman without authentication is open to a man in the middle. Certificates are the answer.</a:t>
            </a:r>
          </a:p>
          <a:p>
            <a:pPr marL="201168" indent="-201168">
              <a:spcAft>
                <a:spcPts val="1100"/>
              </a:spcAft>
              <a:buFont typeface="Arial"/>
              <a:buChar char="–"/>
            </a:pPr>
            <a:r>
              <a:rPr sz="1500" b="0" i="0">
                <a:solidFill>
                  <a:srgbClr val="222A33"/>
                </a:solidFill>
                <a:latin typeface="Calibri"/>
              </a:rPr>
              <a:t>Tutorial worksheet: study-notes questions covering today's material, for the mid-semester test and final exam.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Stallings, Cryptography and Network Security: Principles and Practice, 8th Ed., Pearson.</a:t>
            </a:r>
          </a:p>
          <a:p>
            <a:pPr marL="201168" indent="-201168">
              <a:spcAft>
                <a:spcPts val="1100"/>
              </a:spcAft>
              <a:buFont typeface="Arial"/>
              <a:buChar char="–"/>
            </a:pPr>
            <a:r>
              <a:rPr sz="1600" b="0" i="0">
                <a:solidFill>
                  <a:srgbClr val="222A33"/>
                </a:solidFill>
                <a:latin typeface="Calibri"/>
              </a:rPr>
              <a:t>Santos and Stuppi, CCNA Security 210-260 Official Cert Guide, Cisco Press.</a:t>
            </a:r>
          </a:p>
          <a:p>
            <a:pPr marL="201168" indent="-201168">
              <a:spcAft>
                <a:spcPts val="1100"/>
              </a:spcAft>
              <a:buFont typeface="Arial"/>
              <a:buChar char="–"/>
            </a:pPr>
            <a:r>
              <a:rPr sz="1600" b="0" i="0">
                <a:solidFill>
                  <a:srgbClr val="222A33"/>
                </a:solidFill>
                <a:latin typeface="Calibri"/>
              </a:rPr>
              <a:t>NIST FIPS 197, Advanced Encryption Standard (AES).</a:t>
            </a:r>
          </a:p>
          <a:p>
            <a:pPr marL="201168" indent="-201168">
              <a:spcAft>
                <a:spcPts val="1100"/>
              </a:spcAft>
              <a:buFont typeface="Arial"/>
              <a:buChar char="–"/>
            </a:pPr>
            <a:r>
              <a:rPr sz="1600" b="0" i="0">
                <a:solidFill>
                  <a:srgbClr val="222A33"/>
                </a:solidFill>
                <a:latin typeface="Calibri"/>
              </a:rPr>
              <a:t>IETF RFC 8446, The Transport Layer Security (TLS) Protocol Version 1.3.</a:t>
            </a:r>
          </a:p>
          <a:p>
            <a:pPr marL="201168" indent="-201168">
              <a:spcAft>
                <a:spcPts val="1100"/>
              </a:spcAft>
              <a:buFont typeface="Arial"/>
              <a:buChar char="–"/>
            </a:pPr>
            <a:r>
              <a:rPr sz="1600" b="0" i="0">
                <a:solidFill>
                  <a:srgbClr val="222A33"/>
                </a:solidFill>
                <a:latin typeface="Calibri"/>
              </a:rPr>
              <a:t>IETF RFC 7465, Prohibiting RC4 Cipher Suites.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573</TotalTime>
  <Words>5025</Words>
  <Application>Microsoft Office PowerPoint</Application>
  <PresentationFormat>Widescreen</PresentationFormat>
  <Paragraphs>495</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Aptos</vt:lpstr>
      <vt:lpstr>Aptos Display</vt:lpstr>
      <vt:lpstr>Arial</vt:lpstr>
      <vt:lpstr>Calibri</vt:lpstr>
      <vt:lpstr>Cambria</vt:lpstr>
      <vt:lpstr>Office Theme</vt:lpstr>
      <vt:lpstr>PowerPoint Presentation</vt:lpstr>
      <vt:lpstr>Today's Agenda</vt:lpstr>
      <vt:lpstr>Learning Outcomes for Today</vt:lpstr>
      <vt:lpstr>Foundations</vt:lpstr>
      <vt:lpstr>Why Cryptography Exists</vt:lpstr>
      <vt:lpstr>The Four Security Services</vt:lpstr>
      <vt:lpstr>Terminology</vt:lpstr>
      <vt:lpstr>Kerckhoffs's Principle</vt:lpstr>
      <vt:lpstr>Callback: Week 9 Was Built From These Primitives</vt:lpstr>
      <vt:lpstr>Classical Ciphers</vt:lpstr>
      <vt:lpstr>Substitution and Transposition</vt:lpstr>
      <vt:lpstr>Caesar Cipher</vt:lpstr>
      <vt:lpstr>Vigenere Cipher</vt:lpstr>
      <vt:lpstr>Why Classical Ciphers Fail</vt:lpstr>
      <vt:lpstr>What Carried Forward: Confusion and Diffusion</vt:lpstr>
      <vt:lpstr>Symmetric Encryption</vt:lpstr>
      <vt:lpstr>The Symmetric Model</vt:lpstr>
      <vt:lpstr>The Key Distribution Problem</vt:lpstr>
      <vt:lpstr>Symmetric Encryption: Strengths, Weaknesses, Use Cases</vt:lpstr>
      <vt:lpstr>Block vs Stream Ciphers</vt:lpstr>
      <vt:lpstr>Where Block and Stream Ciphers Fit</vt:lpstr>
      <vt:lpstr>Block Ciphers: Mechanism</vt:lpstr>
      <vt:lpstr>Modes of Operation I: ECB and CBC</vt:lpstr>
      <vt:lpstr>Modes of Operation II: CTR and GCM</vt:lpstr>
      <vt:lpstr>Block Cipher Algorithms: DES, 3DES, AES</vt:lpstr>
      <vt:lpstr>Block Ciphers: Strengths, Weaknesses, Use Cases</vt:lpstr>
      <vt:lpstr>Stream Ciphers: Mechanism</vt:lpstr>
      <vt:lpstr>Stream Cipher Algorithms: RC4, ChaCha20, A5/1</vt:lpstr>
      <vt:lpstr>The Keystream Reuse Weakness: WEP Case Study</vt:lpstr>
      <vt:lpstr>Stream Ciphers: Strengths, Weaknesses, Use Cases</vt:lpstr>
      <vt:lpstr>Block vs Stream: Full Comparison</vt:lpstr>
      <vt:lpstr>Scenario: Which Would You Choose?</vt:lpstr>
      <vt:lpstr>Asymmetric Encryption</vt:lpstr>
      <vt:lpstr>The Key Pair</vt:lpstr>
      <vt:lpstr>RSA</vt:lpstr>
      <vt:lpstr>Diffie-Hellman Key Agreement</vt:lpstr>
      <vt:lpstr>Diffie-Hellman Key Agreement</vt:lpstr>
      <vt:lpstr>Elliptic Curve Cryptography (ECC)</vt:lpstr>
      <vt:lpstr>RSA vs Diffie-Hellman vs ECC</vt:lpstr>
      <vt:lpstr>Asymmetric Encryption: Strengths, Weaknesses, Use Cases</vt:lpstr>
      <vt:lpstr>Symmetric vs Asymmetric, and Hybrid Encryption</vt:lpstr>
      <vt:lpstr>Symmetric vs Asymmetric: Full Comparison</vt:lpstr>
      <vt:lpstr>Hybrid Encryption: The Synthesis</vt:lpstr>
      <vt:lpstr>Worked Example: TLS and IPsec Are Hybrid Systems</vt:lpstr>
      <vt:lpstr>Summary</vt:lpstr>
      <vt:lpstr>Coming Up</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204</cp:revision>
  <dcterms:created xsi:type="dcterms:W3CDTF">2026-02-25T14:32:17Z</dcterms:created>
  <dcterms:modified xsi:type="dcterms:W3CDTF">2026-10-07T12:18:47Z</dcterms:modified>
</cp:coreProperties>
</file>