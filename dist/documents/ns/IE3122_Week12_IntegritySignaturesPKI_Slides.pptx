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60AE"/>
    <a:srgbClr val="EBEFF6"/>
    <a:srgbClr val="FDFDFE"/>
    <a:srgbClr val="C8ECFC"/>
    <a:srgbClr val="003054"/>
    <a:srgbClr val="0070C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CD222C-B643-89C9-9A17-45CCB3EA1EE4}" v="153" dt="2026-04-22T09:12:40.049"/>
    <p1510:client id="{3462B1AA-9905-A3D4-6989-70D618815ED0}" v="161" dt="2026-04-22T09:10:51.725"/>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3969" autoAdjust="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5A265B-85F9-4AB9-A7F7-F201F3EC6124}" type="datetimeFigureOut">
              <a:rPr lang="en-US" smtClean="0"/>
              <a:t>10/7/2026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EDF255-290D-41DE-BD04-0A7C06A1BC10}" type="slidenum">
              <a:rPr lang="en-US" smtClean="0"/>
              <a:t>‹#›</a:t>
            </a:fld>
            <a:endParaRPr lang="en-US"/>
          </a:p>
        </p:txBody>
      </p:sp>
    </p:spTree>
    <p:extLst>
      <p:ext uri="{BB962C8B-B14F-4D97-AF65-F5344CB8AC3E}">
        <p14:creationId xmlns:p14="http://schemas.microsoft.com/office/powerpoint/2010/main" val="278463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36BA-4D0C-582A-D90D-A5050C3B570A}"/>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50835A14-CC45-415E-91D7-B390853369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CA3511F-336C-5F04-B406-EAC188B39250}"/>
              </a:ext>
            </a:extLst>
          </p:cNvPr>
          <p:cNvSpPr>
            <a:spLocks noGrp="1"/>
          </p:cNvSpPr>
          <p:nvPr>
            <p:ph type="dt" sz="half" idx="10"/>
          </p:nvPr>
        </p:nvSpPr>
        <p:spPr/>
        <p:txBody>
          <a:bodyPr/>
          <a:lstStyle/>
          <a:p>
            <a:fld id="{DCA9E3F6-6859-4CA3-A09E-D0F7F72ACFE0}" type="datetime1">
              <a:rPr lang="en-US" smtClean="0"/>
              <a:t>10/7/2026</a:t>
            </a:fld>
            <a:endParaRPr lang="en-US"/>
          </a:p>
        </p:txBody>
      </p:sp>
      <p:sp>
        <p:nvSpPr>
          <p:cNvPr id="5" name="Footer Placeholder 4">
            <a:extLst>
              <a:ext uri="{FF2B5EF4-FFF2-40B4-BE49-F238E27FC236}">
                <a16:creationId xmlns:a16="http://schemas.microsoft.com/office/drawing/2014/main" id="{02544DD8-8DE2-49BF-2256-D6C974530B7F}"/>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9AE118B-A9C0-2539-EE0E-7F976FEA3DD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9910337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D9DBE-034D-F88C-332A-467E245C0A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C86D88A-9AB2-CE18-CCE1-4CE93CF5FAA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8E28A8-BA96-F50D-807E-BE9AFD5BB942}"/>
              </a:ext>
            </a:extLst>
          </p:cNvPr>
          <p:cNvSpPr>
            <a:spLocks noGrp="1"/>
          </p:cNvSpPr>
          <p:nvPr>
            <p:ph type="dt" sz="half" idx="10"/>
          </p:nvPr>
        </p:nvSpPr>
        <p:spPr/>
        <p:txBody>
          <a:bodyPr/>
          <a:lstStyle/>
          <a:p>
            <a:fld id="{26FF9165-B718-4A05-ABEA-493F7CF226F4}" type="datetime1">
              <a:rPr lang="en-US" smtClean="0"/>
              <a:t>10/7/2026</a:t>
            </a:fld>
            <a:endParaRPr lang="en-US"/>
          </a:p>
        </p:txBody>
      </p:sp>
      <p:sp>
        <p:nvSpPr>
          <p:cNvPr id="5" name="Footer Placeholder 4">
            <a:extLst>
              <a:ext uri="{FF2B5EF4-FFF2-40B4-BE49-F238E27FC236}">
                <a16:creationId xmlns:a16="http://schemas.microsoft.com/office/drawing/2014/main" id="{DF9172DB-9131-6C85-8238-09E061156DF0}"/>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FFB35A60-C9F7-6C8C-1CB6-26C1644CF7DC}"/>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24436209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6D231-9473-3376-B7F9-2B9B0001BF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098136-DBDE-3025-06A8-1C273FCE09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E3572A-62DD-CA9F-E4DD-D035DA296BC3}"/>
              </a:ext>
            </a:extLst>
          </p:cNvPr>
          <p:cNvSpPr>
            <a:spLocks noGrp="1"/>
          </p:cNvSpPr>
          <p:nvPr>
            <p:ph type="dt" sz="half" idx="10"/>
          </p:nvPr>
        </p:nvSpPr>
        <p:spPr/>
        <p:txBody>
          <a:bodyPr/>
          <a:lstStyle/>
          <a:p>
            <a:fld id="{BFF99AE2-4C36-4768-AD66-E53AE3B69896}" type="datetime1">
              <a:rPr lang="en-US" smtClean="0"/>
              <a:t>10/7/2026</a:t>
            </a:fld>
            <a:endParaRPr lang="en-US"/>
          </a:p>
        </p:txBody>
      </p:sp>
      <p:sp>
        <p:nvSpPr>
          <p:cNvPr id="5" name="Footer Placeholder 4">
            <a:extLst>
              <a:ext uri="{FF2B5EF4-FFF2-40B4-BE49-F238E27FC236}">
                <a16:creationId xmlns:a16="http://schemas.microsoft.com/office/drawing/2014/main" id="{CEB06F99-EECF-A28B-02D8-6E9260C98AC3}"/>
              </a:ext>
            </a:extLst>
          </p:cNvPr>
          <p:cNvSpPr>
            <a:spLocks noGrp="1"/>
          </p:cNvSpPr>
          <p:nvPr>
            <p:ph type="ftr" sz="quarter" idx="11"/>
          </p:nvPr>
        </p:nvSpPr>
        <p:spPr/>
        <p:txBody>
          <a:bodyPr/>
          <a:lstStyle/>
          <a:p>
            <a:r>
              <a:rPr lang="en-US"/>
              <a:t>BSc (Hons) in Information Technology</a:t>
            </a:r>
          </a:p>
        </p:txBody>
      </p:sp>
      <p:sp>
        <p:nvSpPr>
          <p:cNvPr id="6" name="Slide Number Placeholder 5">
            <a:extLst>
              <a:ext uri="{FF2B5EF4-FFF2-40B4-BE49-F238E27FC236}">
                <a16:creationId xmlns:a16="http://schemas.microsoft.com/office/drawing/2014/main" id="{A0497C3B-FDFB-646C-AA5A-1D48D6DB0C4F}"/>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00616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D8290-BA90-4A7A-864A-9F9331466B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188928-35DF-C4DA-EEF3-AF71B4FDE9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324945-DF26-5646-D08A-6A42E8E1EC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7E4C70D-C5D2-DE0E-5A4D-5C54D957BBF0}"/>
              </a:ext>
            </a:extLst>
          </p:cNvPr>
          <p:cNvSpPr>
            <a:spLocks noGrp="1"/>
          </p:cNvSpPr>
          <p:nvPr>
            <p:ph type="dt" sz="half" idx="10"/>
          </p:nvPr>
        </p:nvSpPr>
        <p:spPr/>
        <p:txBody>
          <a:bodyPr/>
          <a:lstStyle/>
          <a:p>
            <a:fld id="{8D61E677-F796-43F6-BC96-25B1E0E4BB94}" type="datetime1">
              <a:rPr lang="en-US" smtClean="0"/>
              <a:t>10/7/2026</a:t>
            </a:fld>
            <a:endParaRPr lang="en-US"/>
          </a:p>
        </p:txBody>
      </p:sp>
      <p:sp>
        <p:nvSpPr>
          <p:cNvPr id="6" name="Footer Placeholder 5">
            <a:extLst>
              <a:ext uri="{FF2B5EF4-FFF2-40B4-BE49-F238E27FC236}">
                <a16:creationId xmlns:a16="http://schemas.microsoft.com/office/drawing/2014/main" id="{3F936F4D-2522-DF44-1C34-3B60B4B4BEB9}"/>
              </a:ext>
            </a:extLst>
          </p:cNvPr>
          <p:cNvSpPr>
            <a:spLocks noGrp="1"/>
          </p:cNvSpPr>
          <p:nvPr>
            <p:ph type="ftr" sz="quarter" idx="11"/>
          </p:nvPr>
        </p:nvSpPr>
        <p:spPr/>
        <p:txBody>
          <a:bodyPr/>
          <a:lstStyle/>
          <a:p>
            <a:r>
              <a:rPr lang="en-US"/>
              <a:t>BSc (Hons) in Information Technology</a:t>
            </a:r>
          </a:p>
        </p:txBody>
      </p:sp>
      <p:sp>
        <p:nvSpPr>
          <p:cNvPr id="7" name="Slide Number Placeholder 6">
            <a:extLst>
              <a:ext uri="{FF2B5EF4-FFF2-40B4-BE49-F238E27FC236}">
                <a16:creationId xmlns:a16="http://schemas.microsoft.com/office/drawing/2014/main" id="{EAD36A2C-43F6-FE22-6DC6-758D53EBA043}"/>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743063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B5137-4489-DD84-A8A0-C614F15F12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9641754-800C-4717-0512-67D3739D2F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E28F263-D07C-28BF-3BB6-9B65279454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DEA40D-AAC1-9598-D1AF-7635335E1F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06D1A6-36AD-89AE-1A4F-1E8B9A77E7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E20158-925C-A7E9-5222-5E66069D1F9C}"/>
              </a:ext>
            </a:extLst>
          </p:cNvPr>
          <p:cNvSpPr>
            <a:spLocks noGrp="1"/>
          </p:cNvSpPr>
          <p:nvPr>
            <p:ph type="dt" sz="half" idx="10"/>
          </p:nvPr>
        </p:nvSpPr>
        <p:spPr/>
        <p:txBody>
          <a:bodyPr/>
          <a:lstStyle/>
          <a:p>
            <a:fld id="{7CEC14BC-1BD6-4166-8FDC-A0F77CFEB6BC}" type="datetime1">
              <a:rPr lang="en-US" smtClean="0"/>
              <a:t>10/7/2026</a:t>
            </a:fld>
            <a:endParaRPr lang="en-US"/>
          </a:p>
        </p:txBody>
      </p:sp>
      <p:sp>
        <p:nvSpPr>
          <p:cNvPr id="8" name="Footer Placeholder 7">
            <a:extLst>
              <a:ext uri="{FF2B5EF4-FFF2-40B4-BE49-F238E27FC236}">
                <a16:creationId xmlns:a16="http://schemas.microsoft.com/office/drawing/2014/main" id="{74889187-3B4A-58A4-0C3B-C7E850F66B05}"/>
              </a:ext>
            </a:extLst>
          </p:cNvPr>
          <p:cNvSpPr>
            <a:spLocks noGrp="1"/>
          </p:cNvSpPr>
          <p:nvPr>
            <p:ph type="ftr" sz="quarter" idx="11"/>
          </p:nvPr>
        </p:nvSpPr>
        <p:spPr/>
        <p:txBody>
          <a:bodyPr/>
          <a:lstStyle/>
          <a:p>
            <a:r>
              <a:rPr lang="en-US"/>
              <a:t>BSc (Hons) in Information Technology</a:t>
            </a:r>
          </a:p>
        </p:txBody>
      </p:sp>
      <p:sp>
        <p:nvSpPr>
          <p:cNvPr id="9" name="Slide Number Placeholder 8">
            <a:extLst>
              <a:ext uri="{FF2B5EF4-FFF2-40B4-BE49-F238E27FC236}">
                <a16:creationId xmlns:a16="http://schemas.microsoft.com/office/drawing/2014/main" id="{308F996D-4AE8-BB7F-D3A1-995EE754271E}"/>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4149834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80101-22BA-32E5-2060-4A9C785ACDB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1593B0A-96D8-DA75-C76E-DA71825A01AE}"/>
              </a:ext>
            </a:extLst>
          </p:cNvPr>
          <p:cNvSpPr>
            <a:spLocks noGrp="1"/>
          </p:cNvSpPr>
          <p:nvPr>
            <p:ph type="dt" sz="half" idx="10"/>
          </p:nvPr>
        </p:nvSpPr>
        <p:spPr/>
        <p:txBody>
          <a:bodyPr/>
          <a:lstStyle/>
          <a:p>
            <a:fld id="{3A9FD351-5A68-4A1F-946B-20C3567895CF}" type="datetime1">
              <a:rPr lang="en-US" smtClean="0"/>
              <a:t>10/7/2026</a:t>
            </a:fld>
            <a:endParaRPr lang="en-US"/>
          </a:p>
        </p:txBody>
      </p:sp>
      <p:sp>
        <p:nvSpPr>
          <p:cNvPr id="4" name="Footer Placeholder 3">
            <a:extLst>
              <a:ext uri="{FF2B5EF4-FFF2-40B4-BE49-F238E27FC236}">
                <a16:creationId xmlns:a16="http://schemas.microsoft.com/office/drawing/2014/main" id="{5B881D16-288F-8034-9059-C666E54D7B15}"/>
              </a:ext>
            </a:extLst>
          </p:cNvPr>
          <p:cNvSpPr>
            <a:spLocks noGrp="1"/>
          </p:cNvSpPr>
          <p:nvPr>
            <p:ph type="ftr" sz="quarter" idx="11"/>
          </p:nvPr>
        </p:nvSpPr>
        <p:spPr/>
        <p:txBody>
          <a:bodyPr/>
          <a:lstStyle/>
          <a:p>
            <a:r>
              <a:rPr lang="en-US"/>
              <a:t>BSc (Hons) in Information Technology</a:t>
            </a:r>
          </a:p>
        </p:txBody>
      </p:sp>
      <p:sp>
        <p:nvSpPr>
          <p:cNvPr id="5" name="Slide Number Placeholder 4">
            <a:extLst>
              <a:ext uri="{FF2B5EF4-FFF2-40B4-BE49-F238E27FC236}">
                <a16:creationId xmlns:a16="http://schemas.microsoft.com/office/drawing/2014/main" id="{CE065B0D-78DE-91A7-D803-150A4D18B266}"/>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1397684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7D95D1-8997-87CC-14A9-30F3E28ED848}"/>
              </a:ext>
            </a:extLst>
          </p:cNvPr>
          <p:cNvSpPr>
            <a:spLocks noGrp="1"/>
          </p:cNvSpPr>
          <p:nvPr>
            <p:ph type="dt" sz="half" idx="10"/>
          </p:nvPr>
        </p:nvSpPr>
        <p:spPr/>
        <p:txBody>
          <a:bodyPr/>
          <a:lstStyle/>
          <a:p>
            <a:fld id="{2BA7CCCF-53CF-49A2-8E4E-6C875B11F612}" type="datetime1">
              <a:rPr lang="en-US" smtClean="0"/>
              <a:t>10/7/2026</a:t>
            </a:fld>
            <a:endParaRPr lang="en-US"/>
          </a:p>
        </p:txBody>
      </p:sp>
      <p:sp>
        <p:nvSpPr>
          <p:cNvPr id="3" name="Footer Placeholder 2">
            <a:extLst>
              <a:ext uri="{FF2B5EF4-FFF2-40B4-BE49-F238E27FC236}">
                <a16:creationId xmlns:a16="http://schemas.microsoft.com/office/drawing/2014/main" id="{8185F0F5-689E-656C-326C-0DF47574D589}"/>
              </a:ext>
            </a:extLst>
          </p:cNvPr>
          <p:cNvSpPr>
            <a:spLocks noGrp="1"/>
          </p:cNvSpPr>
          <p:nvPr>
            <p:ph type="ftr" sz="quarter" idx="11"/>
          </p:nvPr>
        </p:nvSpPr>
        <p:spPr/>
        <p:txBody>
          <a:bodyPr/>
          <a:lstStyle/>
          <a:p>
            <a:r>
              <a:rPr lang="en-US"/>
              <a:t>BSc (Hons) in Information Technology</a:t>
            </a:r>
          </a:p>
        </p:txBody>
      </p:sp>
      <p:sp>
        <p:nvSpPr>
          <p:cNvPr id="4" name="Slide Number Placeholder 3">
            <a:extLst>
              <a:ext uri="{FF2B5EF4-FFF2-40B4-BE49-F238E27FC236}">
                <a16:creationId xmlns:a16="http://schemas.microsoft.com/office/drawing/2014/main" id="{2948FF23-2E61-3111-9C42-8D84E4817CB5}"/>
              </a:ext>
            </a:extLst>
          </p:cNvPr>
          <p:cNvSpPr>
            <a:spLocks noGrp="1"/>
          </p:cNvSpPr>
          <p:nvPr>
            <p:ph type="sldNum" sz="quarter" idx="12"/>
          </p:nvPr>
        </p:nvSpPr>
        <p:spPr/>
        <p:txBody>
          <a:bodyPr/>
          <a:lstStyle/>
          <a:p>
            <a:fld id="{B05DC659-408D-4781-A84D-B150AC404B91}" type="slidenum">
              <a:rPr lang="en-US" smtClean="0"/>
              <a:t>‹#›</a:t>
            </a:fld>
            <a:endParaRPr lang="en-US"/>
          </a:p>
        </p:txBody>
      </p:sp>
    </p:spTree>
    <p:extLst>
      <p:ext uri="{BB962C8B-B14F-4D97-AF65-F5344CB8AC3E}">
        <p14:creationId xmlns:p14="http://schemas.microsoft.com/office/powerpoint/2010/main" val="510882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0A2505E-CFD5-8901-B1E4-35E1DFF8B637}"/>
              </a:ext>
            </a:extLst>
          </p:cNvPr>
          <p:cNvSpPr/>
          <p:nvPr userDrawn="1"/>
        </p:nvSpPr>
        <p:spPr>
          <a:xfrm>
            <a:off x="3048000" y="6176963"/>
            <a:ext cx="9143994" cy="667612"/>
          </a:xfrm>
          <a:prstGeom prst="rect">
            <a:avLst/>
          </a:prstGeom>
          <a:solidFill>
            <a:srgbClr val="003054"/>
          </a:solidFill>
          <a:ln>
            <a:solidFill>
              <a:srgbClr val="0000C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7" name="Rectangle 6">
            <a:extLst>
              <a:ext uri="{FF2B5EF4-FFF2-40B4-BE49-F238E27FC236}">
                <a16:creationId xmlns:a16="http://schemas.microsoft.com/office/drawing/2014/main" id="{E0A7784B-71B0-4A27-69C4-436C1E401103}"/>
              </a:ext>
            </a:extLst>
          </p:cNvPr>
          <p:cNvSpPr/>
          <p:nvPr userDrawn="1"/>
        </p:nvSpPr>
        <p:spPr>
          <a:xfrm>
            <a:off x="0" y="1"/>
            <a:ext cx="12192000" cy="1690688"/>
          </a:xfrm>
          <a:prstGeom prst="rect">
            <a:avLst/>
          </a:prstGeom>
          <a:solidFill>
            <a:srgbClr val="003054"/>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0070C0"/>
              </a:solidFill>
            </a:endParaRPr>
          </a:p>
        </p:txBody>
      </p:sp>
      <p:sp>
        <p:nvSpPr>
          <p:cNvPr id="2" name="Title Placeholder 1">
            <a:extLst>
              <a:ext uri="{FF2B5EF4-FFF2-40B4-BE49-F238E27FC236}">
                <a16:creationId xmlns:a16="http://schemas.microsoft.com/office/drawing/2014/main" id="{F41F2622-3876-DB58-BA22-E1EC5EDCEED2}"/>
              </a:ext>
            </a:extLst>
          </p:cNvPr>
          <p:cNvSpPr>
            <a:spLocks noGrp="1"/>
          </p:cNvSpPr>
          <p:nvPr>
            <p:ph type="title"/>
          </p:nvPr>
        </p:nvSpPr>
        <p:spPr>
          <a:xfrm>
            <a:off x="838200" y="22657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4F546EC-E134-9B17-EE99-C27C18DC9F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82DB5F-A581-B2FE-E227-EF8B4134FA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ADC54051-F9E3-4634-8E2D-FEE7EC79C47F}" type="datetime1">
              <a:rPr lang="en-US" smtClean="0"/>
              <a:t>10/7/2026</a:t>
            </a:fld>
            <a:endParaRPr lang="en-US"/>
          </a:p>
        </p:txBody>
      </p:sp>
      <p:sp>
        <p:nvSpPr>
          <p:cNvPr id="5" name="Footer Placeholder 4">
            <a:extLst>
              <a:ext uri="{FF2B5EF4-FFF2-40B4-BE49-F238E27FC236}">
                <a16:creationId xmlns:a16="http://schemas.microsoft.com/office/drawing/2014/main" id="{884CB4C9-6F98-0B0C-A82A-07D2BA3BC1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r>
              <a:rPr lang="en-US">
                <a:solidFill>
                  <a:schemeClr val="bg1"/>
                </a:solidFill>
              </a:rPr>
              <a:t>BSc (Hons) in Information Technology</a:t>
            </a:r>
          </a:p>
        </p:txBody>
      </p:sp>
      <p:sp>
        <p:nvSpPr>
          <p:cNvPr id="6" name="Slide Number Placeholder 5">
            <a:extLst>
              <a:ext uri="{FF2B5EF4-FFF2-40B4-BE49-F238E27FC236}">
                <a16:creationId xmlns:a16="http://schemas.microsoft.com/office/drawing/2014/main" id="{A08E30B7-3975-EABC-A921-0B090B3CE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B05DC659-408D-4781-A84D-B150AC404B91}" type="slidenum">
              <a:rPr lang="en-US" smtClean="0"/>
              <a:pPr/>
              <a:t>‹#›</a:t>
            </a:fld>
            <a:endParaRPr lang="en-US"/>
          </a:p>
        </p:txBody>
      </p:sp>
      <p:pic>
        <p:nvPicPr>
          <p:cNvPr id="10" name="Picture 9">
            <a:extLst>
              <a:ext uri="{FF2B5EF4-FFF2-40B4-BE49-F238E27FC236}">
                <a16:creationId xmlns:a16="http://schemas.microsoft.com/office/drawing/2014/main" id="{937B7A56-4602-F3E4-33AF-7961B3348122}"/>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52913" y="6221220"/>
            <a:ext cx="2850179" cy="590320"/>
          </a:xfrm>
          <a:prstGeom prst="rect">
            <a:avLst/>
          </a:prstGeom>
        </p:spPr>
      </p:pic>
    </p:spTree>
    <p:extLst>
      <p:ext uri="{BB962C8B-B14F-4D97-AF65-F5344CB8AC3E}">
        <p14:creationId xmlns:p14="http://schemas.microsoft.com/office/powerpoint/2010/main" val="38161847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931920"/>
          </a:xfrm>
          <a:prstGeom prst="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371600"/>
            <a:ext cx="10332720" cy="1645920"/>
          </a:xfrm>
          <a:prstGeom prst="rect">
            <a:avLst/>
          </a:prstGeom>
          <a:noFill/>
        </p:spPr>
        <p:txBody>
          <a:bodyPr wrap="square">
            <a:spAutoFit/>
          </a:bodyPr>
          <a:lstStyle/>
          <a:p>
            <a:r>
              <a:rPr sz="3200" b="1" i="0">
                <a:solidFill>
                  <a:srgbClr val="FFFFFF"/>
                </a:solidFill>
                <a:latin typeface="Cambria"/>
              </a:rPr>
              <a:t>Integrity, Signatures, and PKI</a:t>
            </a:r>
          </a:p>
        </p:txBody>
      </p:sp>
      <p:sp>
        <p:nvSpPr>
          <p:cNvPr id="4" name="TextBox 3"/>
          <p:cNvSpPr txBox="1"/>
          <p:nvPr/>
        </p:nvSpPr>
        <p:spPr>
          <a:xfrm>
            <a:off x="914400" y="2926080"/>
            <a:ext cx="10332720" cy="914400"/>
          </a:xfrm>
          <a:prstGeom prst="rect">
            <a:avLst/>
          </a:prstGeom>
          <a:noFill/>
        </p:spPr>
        <p:txBody>
          <a:bodyPr wrap="square">
            <a:spAutoFit/>
          </a:bodyPr>
          <a:lstStyle/>
          <a:p>
            <a:r>
              <a:rPr sz="2000" b="0" i="0">
                <a:solidFill>
                  <a:srgbClr val="FFFFFF"/>
                </a:solidFill>
                <a:latin typeface="Calibri"/>
              </a:rPr>
              <a:t>IE3122: Network Security | Week 12</a:t>
            </a:r>
          </a:p>
          <a:p>
            <a:r>
              <a:rPr sz="1500" b="0" i="1">
                <a:solidFill>
                  <a:srgbClr val="FFFFFF"/>
                </a:solidFill>
                <a:latin typeface="Calibri"/>
              </a:rPr>
              <a:t>Hashes, MACs, digital signatures, certificates, and how TLS uses them all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Today's Agenda</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Hash functions: what they guarantee, how they fail, and where they are used</a:t>
            </a:r>
          </a:p>
          <a:p>
            <a:pPr marL="201168" indent="-201168">
              <a:spcAft>
                <a:spcPts val="1100"/>
              </a:spcAft>
              <a:buFont typeface="Arial"/>
              <a:buChar char="–"/>
            </a:pPr>
            <a:r>
              <a:rPr sz="1600" b="0" i="0">
                <a:solidFill>
                  <a:srgbClr val="222A33"/>
                </a:solidFill>
                <a:latin typeface="Calibri"/>
              </a:rPr>
              <a:t>MACs and HMAC: adding a secret key to a hash</a:t>
            </a:r>
          </a:p>
          <a:p>
            <a:pPr marL="201168" indent="-201168">
              <a:spcAft>
                <a:spcPts val="1100"/>
              </a:spcAft>
              <a:buFont typeface="Arial"/>
              <a:buChar char="–"/>
            </a:pPr>
            <a:r>
              <a:rPr sz="1600" b="0" i="0">
                <a:solidFill>
                  <a:srgbClr val="222A33"/>
                </a:solidFill>
                <a:latin typeface="Calibri"/>
              </a:rPr>
              <a:t>Digital signatures: integrity, authentication, and non-repudiation together</a:t>
            </a:r>
          </a:p>
          <a:p>
            <a:pPr marL="201168" indent="-201168">
              <a:spcAft>
                <a:spcPts val="1100"/>
              </a:spcAft>
              <a:buFont typeface="Arial"/>
              <a:buChar char="–"/>
            </a:pPr>
            <a:r>
              <a:rPr sz="1600" b="0" i="0">
                <a:solidFill>
                  <a:srgbClr val="222A33"/>
                </a:solidFill>
                <a:latin typeface="Calibri"/>
              </a:rPr>
              <a:t>Digital certificates: binding an identity to a public key</a:t>
            </a:r>
          </a:p>
          <a:p>
            <a:pPr marL="201168" indent="-201168">
              <a:spcAft>
                <a:spcPts val="1100"/>
              </a:spcAft>
              <a:buFont typeface="Arial"/>
              <a:buChar char="–"/>
            </a:pPr>
            <a:r>
              <a:rPr sz="1600" b="0" i="0">
                <a:solidFill>
                  <a:srgbClr val="222A33"/>
                </a:solidFill>
                <a:latin typeface="Calibri"/>
              </a:rPr>
              <a:t>PKI: certificate authorities, chains of trust, revocation, and what happens when trust fails</a:t>
            </a:r>
          </a:p>
          <a:p>
            <a:pPr marL="201168" indent="-201168">
              <a:spcAft>
                <a:spcPts val="1100"/>
              </a:spcAft>
              <a:buFont typeface="Arial"/>
              <a:buChar char="–"/>
            </a:pPr>
            <a:r>
              <a:rPr sz="1600" b="0" i="0">
                <a:solidFill>
                  <a:srgbClr val="222A33"/>
                </a:solidFill>
                <a:latin typeface="Calibri"/>
              </a:rPr>
              <a:t>Putting it together: a full TLS handshake, and a short look at PKI on Cisco devices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Learning Outcomes for Today</a:t>
            </a:r>
          </a:p>
        </p:txBody>
      </p:sp>
      <p:sp>
        <p:nvSpPr>
          <p:cNvPr id="3" name="TextBox 2"/>
          <p:cNvSpPr txBox="1"/>
          <p:nvPr/>
        </p:nvSpPr>
        <p:spPr>
          <a:xfrm>
            <a:off x="731520" y="1828800"/>
            <a:ext cx="10698480" cy="4023360"/>
          </a:xfrm>
          <a:prstGeom prst="rect">
            <a:avLst/>
          </a:prstGeom>
          <a:noFill/>
        </p:spPr>
        <p:txBody>
          <a:bodyPr wrap="square">
            <a:spAutoFit/>
          </a:bodyPr>
          <a:lstStyle/>
          <a:p>
            <a:pPr marL="0" indent="0">
              <a:spcAft>
                <a:spcPts val="400"/>
              </a:spcAft>
              <a:buNone/>
            </a:pPr>
            <a:r>
              <a:rPr sz="1700" b="1" i="0">
                <a:solidFill>
                  <a:srgbClr val="003054"/>
                </a:solidFill>
                <a:latin typeface="Calibri"/>
              </a:rPr>
              <a:t>LO3</a:t>
            </a:r>
          </a:p>
          <a:p>
            <a:pPr marL="201168" indent="-201168">
              <a:spcAft>
                <a:spcPts val="1600"/>
              </a:spcAft>
              <a:buFont typeface="Arial"/>
              <a:buChar char="–"/>
            </a:pPr>
            <a:r>
              <a:rPr sz="1700" b="0" i="0">
                <a:solidFill>
                  <a:srgbClr val="222A33"/>
                </a:solidFill>
                <a:latin typeface="Calibri"/>
              </a:rPr>
              <a:t>Analyse security requirements and recommend appropriate technologies.</a:t>
            </a:r>
          </a:p>
          <a:p>
            <a:pPr marL="0" indent="0">
              <a:spcAft>
                <a:spcPts val="400"/>
              </a:spcAft>
              <a:buNone/>
            </a:pPr>
            <a:r>
              <a:rPr sz="1700" b="1" i="0">
                <a:solidFill>
                  <a:srgbClr val="003054"/>
                </a:solidFill>
                <a:latin typeface="Calibri"/>
              </a:rPr>
              <a:t>LO4</a:t>
            </a:r>
          </a:p>
          <a:p>
            <a:pPr marL="201168" indent="-201168">
              <a:spcAft>
                <a:spcPts val="1600"/>
              </a:spcAft>
              <a:buFont typeface="Arial"/>
              <a:buChar char="–"/>
            </a:pPr>
            <a:r>
              <a:rPr sz="1700" b="0" i="0">
                <a:solidFill>
                  <a:srgbClr val="222A33"/>
                </a:solidFill>
                <a:latin typeface="Calibri"/>
              </a:rPr>
              <a:t>Evaluate different security technologies, compare them, and identify appropriate use cases.</a:t>
            </a:r>
          </a:p>
          <a:p>
            <a:pPr marL="0" indent="0">
              <a:spcAft>
                <a:spcPts val="400"/>
              </a:spcAft>
              <a:buNone/>
            </a:pPr>
            <a:r>
              <a:rPr sz="1700" b="1" i="0">
                <a:solidFill>
                  <a:srgbClr val="003054"/>
                </a:solidFill>
                <a:latin typeface="Calibri"/>
              </a:rPr>
              <a:t>LO5</a:t>
            </a:r>
          </a:p>
          <a:p>
            <a:pPr marL="201168" indent="-201168">
              <a:spcAft>
                <a:spcPts val="1600"/>
              </a:spcAft>
              <a:buFont typeface="Arial"/>
              <a:buChar char="–"/>
            </a:pPr>
            <a:r>
              <a:rPr sz="1700" b="0" i="0">
                <a:solidFill>
                  <a:srgbClr val="222A33"/>
                </a:solidFill>
                <a:latin typeface="Calibri"/>
              </a:rPr>
              <a:t>Configure security technologies to satisfy specific requirements (introduced at the end of this deck).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Hash Functions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A fingerprint for 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What a Hash Function 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HASH FUNCTIONS</a:t>
            </a:r>
          </a:p>
        </p:txBody>
      </p:sp>
      <p:graphicFrame>
        <p:nvGraphicFramePr>
          <p:cNvPr id="4" name="Table 3"/>
          <p:cNvGraphicFramePr>
            <a:graphicFrameLocks noGrp="1"/>
          </p:cNvGraphicFramePr>
          <p:nvPr/>
        </p:nvGraphicFramePr>
        <p:xfrm>
          <a:off x="274320" y="1737360"/>
          <a:ext cx="11612880" cy="384048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640080">
                <a:tc>
                  <a:txBody>
                    <a:bodyPr/>
                    <a:lstStyle/>
                    <a:p>
                      <a:r>
                        <a:rPr sz="1300" b="1" i="0">
                          <a:solidFill>
                            <a:srgbClr val="FFFFFF"/>
                          </a:solidFill>
                          <a:latin typeface="Calibri"/>
                        </a:rPr>
                        <a:t>Property</a:t>
                      </a:r>
                    </a:p>
                  </a:txBody>
                  <a:tcPr marL="73152" marR="73152" marT="27432" marB="27432" anchor="ctr">
                    <a:solidFill>
                      <a:srgbClr val="003054"/>
                    </a:solidFill>
                  </a:tcPr>
                </a:tc>
                <a:tc>
                  <a:txBody>
                    <a:bodyPr/>
                    <a:lstStyle/>
                    <a:p>
                      <a:r>
                        <a:rPr sz="1300" b="1" i="0">
                          <a:solidFill>
                            <a:srgbClr val="FFFFFF"/>
                          </a:solidFill>
                          <a:latin typeface="Calibri"/>
                        </a:rPr>
                        <a:t>Meaning</a:t>
                      </a:r>
                    </a:p>
                  </a:txBody>
                  <a:tcPr marL="73152" marR="73152" marT="27432" marB="27432" anchor="ctr">
                    <a:solidFill>
                      <a:srgbClr val="003054"/>
                    </a:solidFill>
                  </a:tcPr>
                </a:tc>
                <a:tc>
                  <a:txBody>
                    <a:bodyPr/>
                    <a:lstStyle/>
                    <a:p>
                      <a:r>
                        <a:rPr sz="1300" b="1" i="0">
                          <a:solidFill>
                            <a:srgbClr val="FFFFFF"/>
                          </a:solidFill>
                          <a:latin typeface="Calibri"/>
                        </a:rPr>
                        <a:t>What Goes Wrong Without It</a:t>
                      </a:r>
                    </a:p>
                  </a:txBody>
                  <a:tcPr marL="73152" marR="73152" marT="27432" marB="27432" anchor="ctr">
                    <a:solidFill>
                      <a:srgbClr val="003054"/>
                    </a:solidFill>
                  </a:tcPr>
                </a:tc>
                <a:extLst>
                  <a:ext uri="{0D108BD9-81ED-4DB2-BD59-A6C34878D82A}">
                    <a16:rowId xmlns:a16="http://schemas.microsoft.com/office/drawing/2014/main" val="10000"/>
                  </a:ext>
                </a:extLst>
              </a:tr>
              <a:tr h="640080">
                <a:tc>
                  <a:txBody>
                    <a:bodyPr/>
                    <a:lstStyle/>
                    <a:p>
                      <a:r>
                        <a:rPr sz="1250" b="0" i="0">
                          <a:solidFill>
                            <a:srgbClr val="222A33"/>
                          </a:solidFill>
                          <a:latin typeface="Calibri"/>
                        </a:rPr>
                        <a:t>Fixed-size output</a:t>
                      </a:r>
                    </a:p>
                  </a:txBody>
                  <a:tcPr marL="73152" marR="73152" marT="27432" marB="27432" anchor="ctr">
                    <a:solidFill>
                      <a:srgbClr val="FFFFFF"/>
                    </a:solidFill>
                  </a:tcPr>
                </a:tc>
                <a:tc>
                  <a:txBody>
                    <a:bodyPr/>
                    <a:lstStyle/>
                    <a:p>
                      <a:r>
                        <a:rPr sz="1250" b="0" i="0">
                          <a:solidFill>
                            <a:srgbClr val="222A33"/>
                          </a:solidFill>
                          <a:latin typeface="Calibri"/>
                        </a:rPr>
                        <a:t>Any input, from one byte to a whole disk image, produces a digest of the same length</a:t>
                      </a:r>
                    </a:p>
                  </a:txBody>
                  <a:tcPr marL="73152" marR="73152" marT="27432" marB="27432" anchor="ctr">
                    <a:solidFill>
                      <a:srgbClr val="FFFFFF"/>
                    </a:solidFill>
                  </a:tcPr>
                </a:tc>
                <a:tc>
                  <a:txBody>
                    <a:bodyPr/>
                    <a:lstStyle/>
                    <a:p>
                      <a:r>
                        <a:rPr sz="1250" b="0" i="0">
                          <a:solidFill>
                            <a:srgbClr val="222A33"/>
                          </a:solidFill>
                          <a:latin typeface="Calibri"/>
                        </a:rPr>
                        <a:t>Digests could not be compared or stored uniformly</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1250" b="0" i="0">
                          <a:solidFill>
                            <a:srgbClr val="222A33"/>
                          </a:solidFill>
                          <a:latin typeface="Calibri"/>
                        </a:rPr>
                        <a:t>Deterministic</a:t>
                      </a:r>
                    </a:p>
                  </a:txBody>
                  <a:tcPr marL="73152" marR="73152" marT="27432" marB="27432" anchor="ctr">
                    <a:solidFill>
                      <a:srgbClr val="F2F4F7"/>
                    </a:solidFill>
                  </a:tcPr>
                </a:tc>
                <a:tc>
                  <a:txBody>
                    <a:bodyPr/>
                    <a:lstStyle/>
                    <a:p>
                      <a:r>
                        <a:rPr sz="1250" b="0" i="0">
                          <a:solidFill>
                            <a:srgbClr val="222A33"/>
                          </a:solidFill>
                          <a:latin typeface="Calibri"/>
                        </a:rPr>
                        <a:t>The same input always gives the same digest</a:t>
                      </a:r>
                    </a:p>
                  </a:txBody>
                  <a:tcPr marL="73152" marR="73152" marT="27432" marB="27432" anchor="ctr">
                    <a:solidFill>
                      <a:srgbClr val="F2F4F7"/>
                    </a:solidFill>
                  </a:tcPr>
                </a:tc>
                <a:tc>
                  <a:txBody>
                    <a:bodyPr/>
                    <a:lstStyle/>
                    <a:p>
                      <a:r>
                        <a:rPr sz="1250" b="0" i="0">
                          <a:solidFill>
                            <a:srgbClr val="222A33"/>
                          </a:solidFill>
                          <a:latin typeface="Calibri"/>
                        </a:rPr>
                        <a:t>Two parties could never agree that data is unchanged</a:t>
                      </a:r>
                    </a:p>
                  </a:txBody>
                  <a:tcPr marL="73152" marR="73152" marT="27432" marB="27432" anchor="ctr">
                    <a:solidFill>
                      <a:srgbClr val="F2F4F7"/>
                    </a:solidFill>
                  </a:tcPr>
                </a:tc>
                <a:extLst>
                  <a:ext uri="{0D108BD9-81ED-4DB2-BD59-A6C34878D82A}">
                    <a16:rowId xmlns:a16="http://schemas.microsoft.com/office/drawing/2014/main" val="10002"/>
                  </a:ext>
                </a:extLst>
              </a:tr>
              <a:tr h="640080">
                <a:tc>
                  <a:txBody>
                    <a:bodyPr/>
                    <a:lstStyle/>
                    <a:p>
                      <a:r>
                        <a:rPr sz="1250" b="0" i="0">
                          <a:solidFill>
                            <a:srgbClr val="222A33"/>
                          </a:solidFill>
                          <a:latin typeface="Calibri"/>
                        </a:rPr>
                        <a:t>One-way (preimage resistant)</a:t>
                      </a:r>
                    </a:p>
                  </a:txBody>
                  <a:tcPr marL="73152" marR="73152" marT="27432" marB="27432" anchor="ctr">
                    <a:solidFill>
                      <a:srgbClr val="FFFFFF"/>
                    </a:solidFill>
                  </a:tcPr>
                </a:tc>
                <a:tc>
                  <a:txBody>
                    <a:bodyPr/>
                    <a:lstStyle/>
                    <a:p>
                      <a:r>
                        <a:rPr sz="1250" b="0" i="0">
                          <a:solidFill>
                            <a:srgbClr val="222A33"/>
                          </a:solidFill>
                          <a:latin typeface="Calibri"/>
                        </a:rPr>
                        <a:t>Given a digest, it is infeasible to find any input that produces it</a:t>
                      </a:r>
                    </a:p>
                  </a:txBody>
                  <a:tcPr marL="73152" marR="73152" marT="27432" marB="27432" anchor="ctr">
                    <a:solidFill>
                      <a:srgbClr val="FFFFFF"/>
                    </a:solidFill>
                  </a:tcPr>
                </a:tc>
                <a:tc>
                  <a:txBody>
                    <a:bodyPr/>
                    <a:lstStyle/>
                    <a:p>
                      <a:r>
                        <a:rPr sz="1250" b="0" i="0">
                          <a:solidFill>
                            <a:srgbClr val="222A33"/>
                          </a:solidFill>
                          <a:latin typeface="Calibri"/>
                        </a:rPr>
                        <a:t>Stored password digests could be reversed</a:t>
                      </a:r>
                    </a:p>
                  </a:txBody>
                  <a:tcPr marL="73152" marR="73152" marT="27432" marB="27432" anchor="ctr">
                    <a:solidFill>
                      <a:srgbClr val="FFFFFF"/>
                    </a:solidFill>
                  </a:tcPr>
                </a:tc>
                <a:extLst>
                  <a:ext uri="{0D108BD9-81ED-4DB2-BD59-A6C34878D82A}">
                    <a16:rowId xmlns:a16="http://schemas.microsoft.com/office/drawing/2014/main" val="10003"/>
                  </a:ext>
                </a:extLst>
              </a:tr>
              <a:tr h="640080">
                <a:tc>
                  <a:txBody>
                    <a:bodyPr/>
                    <a:lstStyle/>
                    <a:p>
                      <a:r>
                        <a:rPr sz="1250" b="0" i="0">
                          <a:solidFill>
                            <a:srgbClr val="222A33"/>
                          </a:solidFill>
                          <a:latin typeface="Calibri"/>
                        </a:rPr>
                        <a:t>Second-preimage resistant</a:t>
                      </a:r>
                    </a:p>
                  </a:txBody>
                  <a:tcPr marL="73152" marR="73152" marT="27432" marB="27432" anchor="ctr">
                    <a:solidFill>
                      <a:srgbClr val="F2F4F7"/>
                    </a:solidFill>
                  </a:tcPr>
                </a:tc>
                <a:tc>
                  <a:txBody>
                    <a:bodyPr/>
                    <a:lstStyle/>
                    <a:p>
                      <a:r>
                        <a:rPr sz="1250" b="0" i="0">
                          <a:solidFill>
                            <a:srgbClr val="222A33"/>
                          </a:solidFill>
                          <a:latin typeface="Calibri"/>
                        </a:rPr>
                        <a:t>Given one input, it is infeasible to find a different input with the same digest</a:t>
                      </a:r>
                    </a:p>
                  </a:txBody>
                  <a:tcPr marL="73152" marR="73152" marT="27432" marB="27432" anchor="ctr">
                    <a:solidFill>
                      <a:srgbClr val="F2F4F7"/>
                    </a:solidFill>
                  </a:tcPr>
                </a:tc>
                <a:tc>
                  <a:txBody>
                    <a:bodyPr/>
                    <a:lstStyle/>
                    <a:p>
                      <a:r>
                        <a:rPr sz="1250" b="0" i="0">
                          <a:solidFill>
                            <a:srgbClr val="222A33"/>
                          </a:solidFill>
                          <a:latin typeface="Calibri"/>
                        </a:rPr>
                        <a:t>An attacker could swap a document for a forgery</a:t>
                      </a:r>
                    </a:p>
                  </a:txBody>
                  <a:tcPr marL="73152" marR="73152" marT="27432" marB="27432" anchor="ctr">
                    <a:solidFill>
                      <a:srgbClr val="F2F4F7"/>
                    </a:solidFill>
                  </a:tcPr>
                </a:tc>
                <a:extLst>
                  <a:ext uri="{0D108BD9-81ED-4DB2-BD59-A6C34878D82A}">
                    <a16:rowId xmlns:a16="http://schemas.microsoft.com/office/drawing/2014/main" val="10004"/>
                  </a:ext>
                </a:extLst>
              </a:tr>
              <a:tr h="640080">
                <a:tc>
                  <a:txBody>
                    <a:bodyPr/>
                    <a:lstStyle/>
                    <a:p>
                      <a:r>
                        <a:rPr sz="1250" b="0" i="0">
                          <a:solidFill>
                            <a:srgbClr val="222A33"/>
                          </a:solidFill>
                          <a:latin typeface="Calibri"/>
                        </a:rPr>
                        <a:t>Collision resistant</a:t>
                      </a:r>
                    </a:p>
                  </a:txBody>
                  <a:tcPr marL="73152" marR="73152" marT="27432" marB="27432" anchor="ctr">
                    <a:solidFill>
                      <a:srgbClr val="FFFFFF"/>
                    </a:solidFill>
                  </a:tcPr>
                </a:tc>
                <a:tc>
                  <a:txBody>
                    <a:bodyPr/>
                    <a:lstStyle/>
                    <a:p>
                      <a:r>
                        <a:rPr sz="1250" b="0" i="0">
                          <a:solidFill>
                            <a:srgbClr val="222A33"/>
                          </a:solidFill>
                          <a:latin typeface="Calibri"/>
                        </a:rPr>
                        <a:t>It is infeasible to find any two inputs with the same digest</a:t>
                      </a:r>
                    </a:p>
                  </a:txBody>
                  <a:tcPr marL="73152" marR="73152" marT="27432" marB="27432" anchor="ctr">
                    <a:solidFill>
                      <a:srgbClr val="FFFFFF"/>
                    </a:solidFill>
                  </a:tcPr>
                </a:tc>
                <a:tc>
                  <a:txBody>
                    <a:bodyPr/>
                    <a:lstStyle/>
                    <a:p>
                      <a:r>
                        <a:rPr sz="1250" b="0" i="0">
                          <a:solidFill>
                            <a:srgbClr val="222A33"/>
                          </a:solidFill>
                          <a:latin typeface="Calibri"/>
                        </a:rPr>
                        <a:t>Signed documents could be replaced by a colliding twin</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Avalanche Effect: A Worked Example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HASH FUNCTIONS</a:t>
            </a:r>
          </a:p>
        </p:txBody>
      </p:sp>
      <p:sp>
        <p:nvSpPr>
          <p:cNvPr id="4" name="TextBox 3"/>
          <p:cNvSpPr txBox="1"/>
          <p:nvPr/>
        </p:nvSpPr>
        <p:spPr>
          <a:xfrm>
            <a:off x="731520" y="1828800"/>
            <a:ext cx="10698480" cy="9144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Change one character of the message and the digest changes completely. Here are two messages that differ in a single digit, hashed with SHA-256 (first 32 of 64 hex characters shown):</a:t>
            </a:r>
          </a:p>
        </p:txBody>
      </p:sp>
      <p:graphicFrame>
        <p:nvGraphicFramePr>
          <p:cNvPr id="5" name="Table 4"/>
          <p:cNvGraphicFramePr>
            <a:graphicFrameLocks noGrp="1"/>
          </p:cNvGraphicFramePr>
          <p:nvPr/>
        </p:nvGraphicFramePr>
        <p:xfrm>
          <a:off x="914400" y="2743200"/>
          <a:ext cx="10241280" cy="1371600"/>
        </p:xfrm>
        <a:graphic>
          <a:graphicData uri="http://schemas.openxmlformats.org/drawingml/2006/table">
            <a:tbl>
              <a:tblPr firstRow="1" bandRow="1">
                <a:tableStyleId>{5C22544A-7EE6-4342-B048-85BDC9FD1C3A}</a:tableStyleId>
              </a:tblPr>
              <a:tblGrid>
                <a:gridCol w="384048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457200">
                <a:tc>
                  <a:txBody>
                    <a:bodyPr/>
                    <a:lstStyle/>
                    <a:p>
                      <a:r>
                        <a:rPr sz="1300" b="1" i="0">
                          <a:solidFill>
                            <a:srgbClr val="FFFFFF"/>
                          </a:solidFill>
                          <a:latin typeface="Calibri"/>
                        </a:rPr>
                        <a:t>Input</a:t>
                      </a:r>
                    </a:p>
                  </a:txBody>
                  <a:tcPr marL="73152" marR="73152" marT="27432" marB="27432" anchor="ctr">
                    <a:solidFill>
                      <a:srgbClr val="003054"/>
                    </a:solidFill>
                  </a:tcPr>
                </a:tc>
                <a:tc>
                  <a:txBody>
                    <a:bodyPr/>
                    <a:lstStyle/>
                    <a:p>
                      <a:r>
                        <a:rPr sz="1300" b="1" i="0">
                          <a:solidFill>
                            <a:srgbClr val="FFFFFF"/>
                          </a:solidFill>
                          <a:latin typeface="Calibri"/>
                        </a:rPr>
                        <a:t>SHA-256 Digest (first 32 hex characters)</a:t>
                      </a:r>
                    </a:p>
                  </a:txBody>
                  <a:tcPr marL="73152" marR="73152" marT="27432" marB="27432" anchor="ctr">
                    <a:solidFill>
                      <a:srgbClr val="003054"/>
                    </a:solidFill>
                  </a:tcPr>
                </a:tc>
                <a:extLst>
                  <a:ext uri="{0D108BD9-81ED-4DB2-BD59-A6C34878D82A}">
                    <a16:rowId xmlns:a16="http://schemas.microsoft.com/office/drawing/2014/main" val="10000"/>
                  </a:ext>
                </a:extLst>
              </a:tr>
              <a:tr h="457200">
                <a:tc>
                  <a:txBody>
                    <a:bodyPr/>
                    <a:lstStyle/>
                    <a:p>
                      <a:r>
                        <a:rPr sz="1400" b="0" i="0">
                          <a:solidFill>
                            <a:srgbClr val="222A33"/>
                          </a:solidFill>
                          <a:latin typeface="Calibri"/>
                        </a:rPr>
                        <a:t>Pay Alice 100 dollars</a:t>
                      </a:r>
                    </a:p>
                  </a:txBody>
                  <a:tcPr marL="73152" marR="73152" marT="27432" marB="27432" anchor="ctr">
                    <a:solidFill>
                      <a:srgbClr val="FFFFFF"/>
                    </a:solidFill>
                  </a:tcPr>
                </a:tc>
                <a:tc>
                  <a:txBody>
                    <a:bodyPr/>
                    <a:lstStyle/>
                    <a:p>
                      <a:r>
                        <a:rPr sz="1400" b="0" i="0">
                          <a:solidFill>
                            <a:srgbClr val="222A33"/>
                          </a:solidFill>
                          <a:latin typeface="Calibri"/>
                        </a:rPr>
                        <a:t>2a31bcf4ca7789bc833e8aedb1e97f1b</a:t>
                      </a:r>
                    </a:p>
                  </a:txBody>
                  <a:tcPr marL="73152" marR="73152" marT="27432" marB="27432" anchor="ctr">
                    <a:solidFill>
                      <a:srgbClr val="FFFFFF"/>
                    </a:solidFill>
                  </a:tcPr>
                </a:tc>
                <a:extLst>
                  <a:ext uri="{0D108BD9-81ED-4DB2-BD59-A6C34878D82A}">
                    <a16:rowId xmlns:a16="http://schemas.microsoft.com/office/drawing/2014/main" val="10001"/>
                  </a:ext>
                </a:extLst>
              </a:tr>
              <a:tr h="457200">
                <a:tc>
                  <a:txBody>
                    <a:bodyPr/>
                    <a:lstStyle/>
                    <a:p>
                      <a:r>
                        <a:rPr sz="1400" b="0" i="0">
                          <a:solidFill>
                            <a:srgbClr val="222A33"/>
                          </a:solidFill>
                          <a:latin typeface="Calibri"/>
                        </a:rPr>
                        <a:t>Pay Alice 900 dollars</a:t>
                      </a:r>
                    </a:p>
                  </a:txBody>
                  <a:tcPr marL="73152" marR="73152" marT="27432" marB="27432" anchor="ctr">
                    <a:solidFill>
                      <a:srgbClr val="F2F4F7"/>
                    </a:solidFill>
                  </a:tcPr>
                </a:tc>
                <a:tc>
                  <a:txBody>
                    <a:bodyPr/>
                    <a:lstStyle/>
                    <a:p>
                      <a:r>
                        <a:rPr sz="1400" b="0" i="0">
                          <a:solidFill>
                            <a:srgbClr val="222A33"/>
                          </a:solidFill>
                          <a:latin typeface="Calibri"/>
                        </a:rPr>
                        <a:t>995a973968487cb07d6ebd53fb8379d0</a:t>
                      </a:r>
                    </a:p>
                  </a:txBody>
                  <a:tcPr marL="73152" marR="73152" marT="27432" marB="27432" anchor="ctr">
                    <a:solidFill>
                      <a:srgbClr val="F2F4F7"/>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731520" y="4297680"/>
            <a:ext cx="10698480" cy="164592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The two full 256-bit digests differ in 133 of 256 bits, close to the expected half. There is no visible relationship between the input change and the output change.</a:t>
            </a:r>
          </a:p>
          <a:p>
            <a:pPr marL="201168" indent="-201168">
              <a:spcAft>
                <a:spcPts val="1100"/>
              </a:spcAft>
              <a:buFont typeface="Arial"/>
              <a:buChar char="–"/>
            </a:pPr>
            <a:r>
              <a:rPr sz="1400" b="0" i="0">
                <a:solidFill>
                  <a:srgbClr val="222A33"/>
                </a:solidFill>
                <a:latin typeface="Calibri"/>
              </a:rPr>
              <a:t>This is why a digest works as a tamper alarm: an attacker cannot make a small, targeted edit and get a small, predictable digest change. It is the same avalanche idea met in Deck A, where one flipped input bit changes about half of a block cipher's output.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Hash Algorithms: MD5, SHA-1, SHA-2, SHA-3</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HASH FUNCTIONS</a:t>
            </a:r>
          </a:p>
        </p:txBody>
      </p:sp>
      <p:graphicFrame>
        <p:nvGraphicFramePr>
          <p:cNvPr id="4" name="Table 3"/>
          <p:cNvGraphicFramePr>
            <a:graphicFrameLocks noGrp="1"/>
          </p:cNvGraphicFramePr>
          <p:nvPr/>
        </p:nvGraphicFramePr>
        <p:xfrm>
          <a:off x="274320" y="1737360"/>
          <a:ext cx="11612880" cy="365760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gridCol w="4389120">
                  <a:extLst>
                    <a:ext uri="{9D8B030D-6E8A-4147-A177-3AD203B41FA5}">
                      <a16:colId xmlns:a16="http://schemas.microsoft.com/office/drawing/2014/main" val="20003"/>
                    </a:ext>
                  </a:extLst>
                </a:gridCol>
              </a:tblGrid>
              <a:tr h="731520">
                <a:tc>
                  <a:txBody>
                    <a:bodyPr/>
                    <a:lstStyle/>
                    <a:p>
                      <a:r>
                        <a:rPr sz="1300" b="1" i="0">
                          <a:solidFill>
                            <a:srgbClr val="FFFFFF"/>
                          </a:solidFill>
                          <a:latin typeface="Calibri"/>
                        </a:rPr>
                        <a:t>Algorithm</a:t>
                      </a:r>
                    </a:p>
                  </a:txBody>
                  <a:tcPr marL="73152" marR="73152" marT="27432" marB="27432" anchor="ctr">
                    <a:solidFill>
                      <a:srgbClr val="003054"/>
                    </a:solidFill>
                  </a:tcPr>
                </a:tc>
                <a:tc>
                  <a:txBody>
                    <a:bodyPr/>
                    <a:lstStyle/>
                    <a:p>
                      <a:r>
                        <a:rPr sz="1300" b="1" i="0">
                          <a:solidFill>
                            <a:srgbClr val="FFFFFF"/>
                          </a:solidFill>
                          <a:latin typeface="Calibri"/>
                        </a:rPr>
                        <a:t>Digest Size</a:t>
                      </a:r>
                    </a:p>
                  </a:txBody>
                  <a:tcPr marL="73152" marR="73152" marT="27432" marB="27432" anchor="ctr">
                    <a:solidFill>
                      <a:srgbClr val="003054"/>
                    </a:solidFill>
                  </a:tcPr>
                </a:tc>
                <a:tc>
                  <a:txBody>
                    <a:bodyPr/>
                    <a:lstStyle/>
                    <a:p>
                      <a:r>
                        <a:rPr sz="1300" b="1" i="0">
                          <a:solidFill>
                            <a:srgbClr val="FFFFFF"/>
                          </a:solidFill>
                          <a:latin typeface="Calibri"/>
                        </a:rPr>
                        <a:t>Status</a:t>
                      </a:r>
                    </a:p>
                  </a:txBody>
                  <a:tcPr marL="73152" marR="73152" marT="27432" marB="27432" anchor="ctr">
                    <a:solidFill>
                      <a:srgbClr val="003054"/>
                    </a:solidFill>
                  </a:tcPr>
                </a:tc>
                <a:tc>
                  <a:txBody>
                    <a:bodyPr/>
                    <a:lstStyle/>
                    <a:p>
                      <a:r>
                        <a:rPr sz="1300" b="1" i="0">
                          <a:solidFill>
                            <a:srgbClr val="FFFFFF"/>
                          </a:solidFill>
                          <a:latin typeface="Calibri"/>
                        </a:rPr>
                        <a:t>Notes</a:t>
                      </a:r>
                    </a:p>
                  </a:txBody>
                  <a:tcPr marL="73152" marR="73152" marT="27432" marB="27432" anchor="ctr">
                    <a:solidFill>
                      <a:srgbClr val="003054"/>
                    </a:solidFill>
                  </a:tcPr>
                </a:tc>
                <a:extLst>
                  <a:ext uri="{0D108BD9-81ED-4DB2-BD59-A6C34878D82A}">
                    <a16:rowId xmlns:a16="http://schemas.microsoft.com/office/drawing/2014/main" val="10000"/>
                  </a:ext>
                </a:extLst>
              </a:tr>
              <a:tr h="731520">
                <a:tc>
                  <a:txBody>
                    <a:bodyPr/>
                    <a:lstStyle/>
                    <a:p>
                      <a:r>
                        <a:rPr sz="1250" b="0" i="0">
                          <a:solidFill>
                            <a:srgbClr val="222A33"/>
                          </a:solidFill>
                          <a:latin typeface="Calibri"/>
                        </a:rPr>
                        <a:t>MD5</a:t>
                      </a:r>
                    </a:p>
                  </a:txBody>
                  <a:tcPr marL="73152" marR="73152" marT="27432" marB="27432" anchor="ctr">
                    <a:solidFill>
                      <a:srgbClr val="FFFFFF"/>
                    </a:solidFill>
                  </a:tcPr>
                </a:tc>
                <a:tc>
                  <a:txBody>
                    <a:bodyPr/>
                    <a:lstStyle/>
                    <a:p>
                      <a:r>
                        <a:rPr sz="1250" b="0" i="0">
                          <a:solidFill>
                            <a:srgbClr val="222A33"/>
                          </a:solidFill>
                          <a:latin typeface="Calibri"/>
                        </a:rPr>
                        <a:t>128 bits</a:t>
                      </a:r>
                    </a:p>
                  </a:txBody>
                  <a:tcPr marL="73152" marR="73152" marT="27432" marB="27432" anchor="ctr">
                    <a:solidFill>
                      <a:srgbClr val="FFFFFF"/>
                    </a:solidFill>
                  </a:tcPr>
                </a:tc>
                <a:tc>
                  <a:txBody>
                    <a:bodyPr/>
                    <a:lstStyle/>
                    <a:p>
                      <a:r>
                        <a:rPr sz="1250" b="0" i="0">
                          <a:solidFill>
                            <a:srgbClr val="222A33"/>
                          </a:solidFill>
                          <a:latin typeface="Calibri"/>
                        </a:rPr>
                        <a:t>Broken, do not use for security</a:t>
                      </a:r>
                    </a:p>
                  </a:txBody>
                  <a:tcPr marL="73152" marR="73152" marT="27432" marB="27432" anchor="ctr">
                    <a:solidFill>
                      <a:srgbClr val="FFFFFF"/>
                    </a:solidFill>
                  </a:tcPr>
                </a:tc>
                <a:tc>
                  <a:txBody>
                    <a:bodyPr/>
                    <a:lstStyle/>
                    <a:p>
                      <a:r>
                        <a:rPr sz="1250" b="0" i="0">
                          <a:solidFill>
                            <a:srgbClr val="222A33"/>
                          </a:solidFill>
                          <a:latin typeface="Calibri"/>
                        </a:rPr>
                        <a:t>Practical collisions since 2004. Collisions were used to forge a CA certificate in 2008.</a:t>
                      </a:r>
                    </a:p>
                  </a:txBody>
                  <a:tcPr marL="73152" marR="73152" marT="27432" marB="27432" anchor="ctr">
                    <a:solidFill>
                      <a:srgbClr val="FFFFFF"/>
                    </a:solidFill>
                  </a:tcPr>
                </a:tc>
                <a:extLst>
                  <a:ext uri="{0D108BD9-81ED-4DB2-BD59-A6C34878D82A}">
                    <a16:rowId xmlns:a16="http://schemas.microsoft.com/office/drawing/2014/main" val="10001"/>
                  </a:ext>
                </a:extLst>
              </a:tr>
              <a:tr h="731520">
                <a:tc>
                  <a:txBody>
                    <a:bodyPr/>
                    <a:lstStyle/>
                    <a:p>
                      <a:r>
                        <a:rPr sz="1250" b="0" i="0">
                          <a:solidFill>
                            <a:srgbClr val="222A33"/>
                          </a:solidFill>
                          <a:latin typeface="Calibri"/>
                        </a:rPr>
                        <a:t>SHA-1</a:t>
                      </a:r>
                    </a:p>
                  </a:txBody>
                  <a:tcPr marL="73152" marR="73152" marT="27432" marB="27432" anchor="ctr">
                    <a:solidFill>
                      <a:srgbClr val="F2F4F7"/>
                    </a:solidFill>
                  </a:tcPr>
                </a:tc>
                <a:tc>
                  <a:txBody>
                    <a:bodyPr/>
                    <a:lstStyle/>
                    <a:p>
                      <a:r>
                        <a:rPr sz="1250" b="0" i="0">
                          <a:solidFill>
                            <a:srgbClr val="222A33"/>
                          </a:solidFill>
                          <a:latin typeface="Calibri"/>
                        </a:rPr>
                        <a:t>160 bits</a:t>
                      </a:r>
                    </a:p>
                  </a:txBody>
                  <a:tcPr marL="73152" marR="73152" marT="27432" marB="27432" anchor="ctr">
                    <a:solidFill>
                      <a:srgbClr val="F2F4F7"/>
                    </a:solidFill>
                  </a:tcPr>
                </a:tc>
                <a:tc>
                  <a:txBody>
                    <a:bodyPr/>
                    <a:lstStyle/>
                    <a:p>
                      <a:r>
                        <a:rPr sz="1250" b="0" i="0">
                          <a:solidFill>
                            <a:srgbClr val="222A33"/>
                          </a:solidFill>
                          <a:latin typeface="Calibri"/>
                        </a:rPr>
                        <a:t>Deprecated</a:t>
                      </a:r>
                    </a:p>
                  </a:txBody>
                  <a:tcPr marL="73152" marR="73152" marT="27432" marB="27432" anchor="ctr">
                    <a:solidFill>
                      <a:srgbClr val="F2F4F7"/>
                    </a:solidFill>
                  </a:tcPr>
                </a:tc>
                <a:tc>
                  <a:txBody>
                    <a:bodyPr/>
                    <a:lstStyle/>
                    <a:p>
                      <a:r>
                        <a:rPr sz="1250" b="0" i="0">
                          <a:solidFill>
                            <a:srgbClr val="222A33"/>
                          </a:solidFill>
                          <a:latin typeface="Calibri"/>
                        </a:rPr>
                        <a:t>The first practical collision (SHAttered) was demonstrated in 2017. Browsers and CAs no longer accept it.</a:t>
                      </a:r>
                    </a:p>
                  </a:txBody>
                  <a:tcPr marL="73152" marR="73152" marT="27432" marB="27432" anchor="ctr">
                    <a:solidFill>
                      <a:srgbClr val="F2F4F7"/>
                    </a:solidFill>
                  </a:tcPr>
                </a:tc>
                <a:extLst>
                  <a:ext uri="{0D108BD9-81ED-4DB2-BD59-A6C34878D82A}">
                    <a16:rowId xmlns:a16="http://schemas.microsoft.com/office/drawing/2014/main" val="10002"/>
                  </a:ext>
                </a:extLst>
              </a:tr>
              <a:tr h="731520">
                <a:tc>
                  <a:txBody>
                    <a:bodyPr/>
                    <a:lstStyle/>
                    <a:p>
                      <a:r>
                        <a:rPr sz="1250" b="0" i="0">
                          <a:solidFill>
                            <a:srgbClr val="222A33"/>
                          </a:solidFill>
                          <a:latin typeface="Calibri"/>
                        </a:rPr>
                        <a:t>SHA-2 (SHA-256, SHA-512)</a:t>
                      </a:r>
                    </a:p>
                  </a:txBody>
                  <a:tcPr marL="73152" marR="73152" marT="27432" marB="27432" anchor="ctr">
                    <a:solidFill>
                      <a:srgbClr val="FFFFFF"/>
                    </a:solidFill>
                  </a:tcPr>
                </a:tc>
                <a:tc>
                  <a:txBody>
                    <a:bodyPr/>
                    <a:lstStyle/>
                    <a:p>
                      <a:r>
                        <a:rPr sz="1250" b="0" i="0">
                          <a:solidFill>
                            <a:srgbClr val="222A33"/>
                          </a:solidFill>
                          <a:latin typeface="Calibri"/>
                        </a:rPr>
                        <a:t>256 or 512 bits</a:t>
                      </a:r>
                    </a:p>
                  </a:txBody>
                  <a:tcPr marL="73152" marR="73152" marT="27432" marB="27432" anchor="ctr">
                    <a:solidFill>
                      <a:srgbClr val="FFFFFF"/>
                    </a:solidFill>
                  </a:tcPr>
                </a:tc>
                <a:tc>
                  <a:txBody>
                    <a:bodyPr/>
                    <a:lstStyle/>
                    <a:p>
                      <a:r>
                        <a:rPr sz="1250" b="0" i="0">
                          <a:solidFill>
                            <a:srgbClr val="222A33"/>
                          </a:solidFill>
                          <a:latin typeface="Calibri"/>
                        </a:rPr>
                        <a:t>Current standard</a:t>
                      </a:r>
                    </a:p>
                  </a:txBody>
                  <a:tcPr marL="73152" marR="73152" marT="27432" marB="27432" anchor="ctr">
                    <a:solidFill>
                      <a:srgbClr val="FFFFFF"/>
                    </a:solidFill>
                  </a:tcPr>
                </a:tc>
                <a:tc>
                  <a:txBody>
                    <a:bodyPr/>
                    <a:lstStyle/>
                    <a:p>
                      <a:r>
                        <a:rPr sz="1250" b="0" i="0">
                          <a:solidFill>
                            <a:srgbClr val="222A33"/>
                          </a:solidFill>
                          <a:latin typeface="Calibri"/>
                        </a:rPr>
                        <a:t>The default choice today. Used in certificates, TLS, IPsec, and software signing.</a:t>
                      </a:r>
                    </a:p>
                  </a:txBody>
                  <a:tcPr marL="73152" marR="73152" marT="27432" marB="27432" anchor="ctr">
                    <a:solidFill>
                      <a:srgbClr val="FFFFFF"/>
                    </a:solidFill>
                  </a:tcPr>
                </a:tc>
                <a:extLst>
                  <a:ext uri="{0D108BD9-81ED-4DB2-BD59-A6C34878D82A}">
                    <a16:rowId xmlns:a16="http://schemas.microsoft.com/office/drawing/2014/main" val="10003"/>
                  </a:ext>
                </a:extLst>
              </a:tr>
              <a:tr h="731520">
                <a:tc>
                  <a:txBody>
                    <a:bodyPr/>
                    <a:lstStyle/>
                    <a:p>
                      <a:r>
                        <a:rPr sz="1250" b="0" i="0">
                          <a:solidFill>
                            <a:srgbClr val="222A33"/>
                          </a:solidFill>
                          <a:latin typeface="Calibri"/>
                        </a:rPr>
                        <a:t>SHA-3</a:t>
                      </a:r>
                    </a:p>
                  </a:txBody>
                  <a:tcPr marL="73152" marR="73152" marT="27432" marB="27432" anchor="ctr">
                    <a:solidFill>
                      <a:srgbClr val="F2F4F7"/>
                    </a:solidFill>
                  </a:tcPr>
                </a:tc>
                <a:tc>
                  <a:txBody>
                    <a:bodyPr/>
                    <a:lstStyle/>
                    <a:p>
                      <a:r>
                        <a:rPr sz="1250" b="0" i="0">
                          <a:solidFill>
                            <a:srgbClr val="222A33"/>
                          </a:solidFill>
                          <a:latin typeface="Calibri"/>
                        </a:rPr>
                        <a:t>224 to 512 bits</a:t>
                      </a:r>
                    </a:p>
                  </a:txBody>
                  <a:tcPr marL="73152" marR="73152" marT="27432" marB="27432" anchor="ctr">
                    <a:solidFill>
                      <a:srgbClr val="F2F4F7"/>
                    </a:solidFill>
                  </a:tcPr>
                </a:tc>
                <a:tc>
                  <a:txBody>
                    <a:bodyPr/>
                    <a:lstStyle/>
                    <a:p>
                      <a:r>
                        <a:rPr sz="1250" b="0" i="0">
                          <a:solidFill>
                            <a:srgbClr val="222A33"/>
                          </a:solidFill>
                          <a:latin typeface="Calibri"/>
                        </a:rPr>
                        <a:t>Current, alternative</a:t>
                      </a:r>
                    </a:p>
                  </a:txBody>
                  <a:tcPr marL="73152" marR="73152" marT="27432" marB="27432" anchor="ctr">
                    <a:solidFill>
                      <a:srgbClr val="F2F4F7"/>
                    </a:solidFill>
                  </a:tcPr>
                </a:tc>
                <a:tc>
                  <a:txBody>
                    <a:bodyPr/>
                    <a:lstStyle/>
                    <a:p>
                      <a:r>
                        <a:rPr sz="1250" b="0" i="0">
                          <a:solidFill>
                            <a:srgbClr val="222A33"/>
                          </a:solidFill>
                          <a:latin typeface="Calibri"/>
                        </a:rPr>
                        <a:t>Standardised in 2015. A different internal design (Keccak), so a weakness in SHA-2 would not automatically affect it.</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Recall the IPsec framework table in Week 9: this is the integrity row, where MD5 and SHA-1 have been replaced by SHA-2.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Attacks on Hashes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HASH FUNCTIONS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Collision attacks: find two different inputs with the same digest. The birthday paradox means this needs only about 2^(n/2) work for an n-bit hash, so a 128-bit hash like MD5 offers just 64 bits of collision resistance, and SHA-256 offers 128. This is why digest length matters.</a:t>
            </a:r>
          </a:p>
          <a:p>
            <a:pPr marL="201168" indent="-201168">
              <a:spcAft>
                <a:spcPts val="1100"/>
              </a:spcAft>
              <a:buFont typeface="Arial"/>
              <a:buChar char="–"/>
            </a:pPr>
            <a:r>
              <a:rPr sz="1400" b="0" i="0">
                <a:solidFill>
                  <a:srgbClr val="222A33"/>
                </a:solidFill>
                <a:latin typeface="Calibri"/>
              </a:rPr>
              <a:t>Brute force and dictionary attacks: for short or predictable inputs such as passwords, the attacker simply hashes guesses until one matches. Hashing is fast, which helps the attacker here.</a:t>
            </a:r>
          </a:p>
          <a:p>
            <a:pPr marL="201168" indent="-201168">
              <a:spcAft>
                <a:spcPts val="1100"/>
              </a:spcAft>
              <a:buFont typeface="Arial"/>
              <a:buChar char="–"/>
            </a:pPr>
            <a:r>
              <a:rPr sz="1400" b="0" i="0">
                <a:solidFill>
                  <a:srgbClr val="222A33"/>
                </a:solidFill>
                <a:latin typeface="Calibri"/>
              </a:rPr>
              <a:t>Rainbow tables: precomputed tables of digests for common passwords, so an unsalted password digest is looked up rather than computed.</a:t>
            </a:r>
          </a:p>
          <a:p>
            <a:pPr marL="201168" indent="-201168">
              <a:spcAft>
                <a:spcPts val="1100"/>
              </a:spcAft>
              <a:buFont typeface="Arial"/>
              <a:buChar char="–"/>
            </a:pPr>
            <a:r>
              <a:rPr sz="1400" b="0" i="0">
                <a:solidFill>
                  <a:srgbClr val="222A33"/>
                </a:solidFill>
                <a:latin typeface="Calibri"/>
              </a:rPr>
              <a:t>Defences for passwords: add a unique random salt to each password before hashing so precomputed tables are useless, and use a deliberately slow password hashing function (bcrypt, scrypt, Argon2, or PBKDF2) instead of a plain fast hash.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Hash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HASH FUNCTIONS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File and download integrity: a software vendor publishes the digest of a download. You hash your copy and compare. Caution: the digest must reach you over a trusted channel, because an attacker who can replace the file can also replace a digest published beside it.</a:t>
            </a:r>
          </a:p>
          <a:p>
            <a:pPr marL="201168" indent="-201168">
              <a:spcAft>
                <a:spcPts val="1100"/>
              </a:spcAft>
              <a:buFont typeface="Arial"/>
              <a:buChar char="–"/>
            </a:pPr>
            <a:r>
              <a:rPr sz="1400" b="0" i="0">
                <a:solidFill>
                  <a:srgbClr val="222A33"/>
                </a:solidFill>
                <a:latin typeface="Calibri"/>
              </a:rPr>
              <a:t>Password storage: systems store a salted, slow hash of the password, never the password. A stolen database then does not directly reveal the passwords. Recall Week 10: this protects the local AAA user database.</a:t>
            </a:r>
          </a:p>
          <a:p>
            <a:pPr marL="201168" indent="-201168">
              <a:spcAft>
                <a:spcPts val="1100"/>
              </a:spcAft>
              <a:buFont typeface="Arial"/>
              <a:buChar char="–"/>
            </a:pPr>
            <a:r>
              <a:rPr sz="1400" b="0" i="0">
                <a:solidFill>
                  <a:srgbClr val="222A33"/>
                </a:solidFill>
                <a:latin typeface="Calibri"/>
              </a:rPr>
              <a:t>Digital signatures: signing a short digest is far cheaper than signing a whole message. This is the use that leads into the signature section.</a:t>
            </a:r>
          </a:p>
          <a:p>
            <a:pPr marL="201168" indent="-201168">
              <a:spcAft>
                <a:spcPts val="1100"/>
              </a:spcAft>
              <a:buFont typeface="Arial"/>
              <a:buChar char="–"/>
            </a:pPr>
            <a:r>
              <a:rPr sz="1400" b="0" i="0">
                <a:solidFill>
                  <a:srgbClr val="222A33"/>
                </a:solidFill>
                <a:latin typeface="Calibri"/>
              </a:rPr>
              <a:t>Forensics and evidence: a digest recorded when evidence is collected proves later that the evidence has not changed.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Hash Functions: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HASH FUNCTIONS</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Very fast, and the digest is small regardless of input size.</a:t>
            </a:r>
          </a:p>
          <a:p>
            <a:pPr marL="201168" indent="-201168">
              <a:spcAft>
                <a:spcPts val="700"/>
              </a:spcAft>
              <a:buFont typeface="Arial"/>
              <a:buChar char="–"/>
            </a:pPr>
            <a:r>
              <a:rPr sz="1300" b="0" i="0">
                <a:solidFill>
                  <a:srgbClr val="222A33"/>
                </a:solidFill>
                <a:latin typeface="Calibri"/>
              </a:rPr>
              <a:t>No key to manage or distribute.</a:t>
            </a:r>
          </a:p>
          <a:p>
            <a:pPr marL="201168" indent="-201168">
              <a:spcAft>
                <a:spcPts val="700"/>
              </a:spcAft>
              <a:buFont typeface="Arial"/>
              <a:buChar char="–"/>
            </a:pPr>
            <a:r>
              <a:rPr sz="1300" b="0" i="0">
                <a:solidFill>
                  <a:srgbClr val="222A33"/>
                </a:solidFill>
                <a:latin typeface="Calibri"/>
              </a:rPr>
              <a:t>Detects any accidental or deliberate change to data (with a secure SHA-2 or SHA-3 hash).</a:t>
            </a:r>
          </a:p>
          <a:p>
            <a:pPr marL="201168" indent="-201168">
              <a:spcAft>
                <a:spcPts val="700"/>
              </a:spcAft>
              <a:buFont typeface="Arial"/>
              <a:buChar char="–"/>
            </a:pPr>
            <a:r>
              <a:rPr sz="1300" b="0" i="0">
                <a:solidFill>
                  <a:srgbClr val="222A33"/>
                </a:solidFill>
                <a:latin typeface="Calibri"/>
              </a:rPr>
              <a:t>A building block for MACs, signatures, and password storage.</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No secret: anyone can compute a hash, so an attacker who alters a message can simply recompute the digest.</a:t>
            </a:r>
          </a:p>
          <a:p>
            <a:pPr marL="201168" indent="-201168">
              <a:spcAft>
                <a:spcPts val="700"/>
              </a:spcAft>
              <a:buFont typeface="Arial"/>
              <a:buChar char="–"/>
            </a:pPr>
            <a:r>
              <a:rPr sz="1300" b="0" i="0">
                <a:solidFill>
                  <a:srgbClr val="222A33"/>
                </a:solidFill>
                <a:latin typeface="Calibri"/>
              </a:rPr>
              <a:t>Provides integrity only when the digest itself is protected or delivered securely.</a:t>
            </a:r>
          </a:p>
          <a:p>
            <a:pPr marL="201168" indent="-201168">
              <a:spcAft>
                <a:spcPts val="700"/>
              </a:spcAft>
              <a:buFont typeface="Arial"/>
              <a:buChar char="–"/>
            </a:pPr>
            <a:r>
              <a:rPr sz="1300" b="0" i="0">
                <a:solidFill>
                  <a:srgbClr val="222A33"/>
                </a:solidFill>
                <a:latin typeface="Calibri"/>
              </a:rPr>
              <a:t>Fast hashing makes password guessing fast unless a slow password hash is used.</a:t>
            </a:r>
          </a:p>
          <a:p>
            <a:pPr marL="201168" indent="-201168">
              <a:spcAft>
                <a:spcPts val="700"/>
              </a:spcAft>
              <a:buFont typeface="Arial"/>
              <a:buChar char="–"/>
            </a:pPr>
            <a:r>
              <a:rPr sz="1300" b="0" i="0">
                <a:solidFill>
                  <a:srgbClr val="222A33"/>
                </a:solidFill>
                <a:latin typeface="Calibri"/>
              </a:rPr>
              <a:t>Older algorithms (MD5, SHA-1) are broken, and old systems still use them.</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download verification, salted password storage, the digest step inside digital signatures and certificates, forensic evidence, and detecting file tampering.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MACs and HMAC</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Adding a secret key to the digest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Why a Hash Alone Is Not Enough</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MACS</a:t>
            </a:r>
          </a:p>
        </p:txBody>
      </p:sp>
      <p:sp>
        <p:nvSpPr>
          <p:cNvPr id="4" name="Rounded Rectangle 3"/>
          <p:cNvSpPr/>
          <p:nvPr/>
        </p:nvSpPr>
        <p:spPr>
          <a:xfrm>
            <a:off x="731520" y="1920240"/>
            <a:ext cx="219456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Alice</a:t>
            </a:r>
          </a:p>
        </p:txBody>
      </p:sp>
      <p:sp>
        <p:nvSpPr>
          <p:cNvPr id="5" name="Rounded Rectangle 4"/>
          <p:cNvSpPr/>
          <p:nvPr/>
        </p:nvSpPr>
        <p:spPr>
          <a:xfrm>
            <a:off x="4983480" y="1920240"/>
            <a:ext cx="2194560" cy="64008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Mallory (attacker)</a:t>
            </a:r>
          </a:p>
        </p:txBody>
      </p:sp>
      <p:sp>
        <p:nvSpPr>
          <p:cNvPr id="6" name="Rounded Rectangle 5"/>
          <p:cNvSpPr/>
          <p:nvPr/>
        </p:nvSpPr>
        <p:spPr>
          <a:xfrm>
            <a:off x="9235440" y="1920240"/>
            <a:ext cx="219456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Bob</a:t>
            </a:r>
          </a:p>
        </p:txBody>
      </p:sp>
      <p:cxnSp>
        <p:nvCxnSpPr>
          <p:cNvPr id="7" name="Connector 6"/>
          <p:cNvCxnSpPr/>
          <p:nvPr/>
        </p:nvCxnSpPr>
        <p:spPr>
          <a:xfrm>
            <a:off x="2926080" y="2240280"/>
            <a:ext cx="20574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178040" y="2240280"/>
            <a:ext cx="20574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2788920"/>
            <a:ext cx="402336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222A33"/>
                </a:solidFill>
                <a:latin typeface="Calibri"/>
              </a:rPr>
              <a:t>Alice sends: Pay Carol 100, plus its SHA-256 digest</a:t>
            </a:r>
          </a:p>
        </p:txBody>
      </p:sp>
      <p:sp>
        <p:nvSpPr>
          <p:cNvPr id="10" name="Rounded Rectangle 9"/>
          <p:cNvSpPr/>
          <p:nvPr/>
        </p:nvSpPr>
        <p:spPr>
          <a:xfrm>
            <a:off x="7406640" y="2788920"/>
            <a:ext cx="402336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222A33"/>
                </a:solidFill>
                <a:latin typeface="Calibri"/>
              </a:rPr>
              <a:t>Bob receives: Pay Mallory 9000, plus a fresh digest of that new text</a:t>
            </a:r>
          </a:p>
        </p:txBody>
      </p:sp>
      <p:sp>
        <p:nvSpPr>
          <p:cNvPr id="11" name="TextBox 10"/>
          <p:cNvSpPr txBox="1"/>
          <p:nvPr/>
        </p:nvSpPr>
        <p:spPr>
          <a:xfrm>
            <a:off x="731520" y="3840480"/>
            <a:ext cx="10698480" cy="210312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Mallory intercepts the message, edits it, and recomputes the digest. Bob checks the digest, finds it matches the message, and accepts the forgery. The hash proved the message was consistent, not that Alice sent it.</a:t>
            </a:r>
          </a:p>
          <a:p>
            <a:pPr marL="201168" indent="-201168">
              <a:spcAft>
                <a:spcPts val="1100"/>
              </a:spcAft>
              <a:buFont typeface="Arial"/>
              <a:buChar char="–"/>
            </a:pPr>
            <a:r>
              <a:rPr sz="1400" b="0" i="0">
                <a:solidFill>
                  <a:srgbClr val="222A33"/>
                </a:solidFill>
                <a:latin typeface="Calibri"/>
              </a:rPr>
              <a:t>The missing ingredient is a secret that Mallory does not have. Mixing a shared key into the calculation produces a Message Authentication Code (MAC): only someone who holds the key can produce a valid one.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MAC Concept and HMAC</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MACS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A MAC takes a message and a shared secret key and produces a short tag. The sender attaches the tag; the receiver recomputes it with the same key and compares. A match proves both integrity and that the sender held the key.</a:t>
            </a:r>
          </a:p>
          <a:p>
            <a:pPr marL="201168" indent="-201168">
              <a:spcAft>
                <a:spcPts val="1100"/>
              </a:spcAft>
              <a:buFont typeface="Arial"/>
              <a:buChar char="–"/>
            </a:pPr>
            <a:r>
              <a:rPr sz="1400" b="0" i="0">
                <a:solidFill>
                  <a:srgbClr val="222A33"/>
                </a:solidFill>
                <a:latin typeface="Calibri"/>
              </a:rPr>
              <a:t>HMAC is the standard way to build a MAC from a hash function. It hashes the message twice, mixing the key in at both stages: HMAC(K, m) = H( (K xor opad) || H( (K xor ipad) || m ) ). The double construction avoids weaknesses of naively hashing key and message together.</a:t>
            </a:r>
          </a:p>
          <a:p>
            <a:pPr marL="201168" indent="-201168">
              <a:spcAft>
                <a:spcPts val="1100"/>
              </a:spcAft>
              <a:buFont typeface="Arial"/>
              <a:buChar char="–"/>
            </a:pPr>
            <a:r>
              <a:rPr sz="1400" b="0" i="0">
                <a:solidFill>
                  <a:srgbClr val="222A33"/>
                </a:solidFill>
                <a:latin typeface="Calibri"/>
              </a:rPr>
              <a:t>Common forms: HMAC-SHA256 and HMAC-SHA512. The hash inside may even be one with known collision weaknesses, because HMAC is far more robust than the bare hash, though new designs should still use SHA-2.</a:t>
            </a:r>
          </a:p>
          <a:p>
            <a:pPr marL="201168" indent="-201168">
              <a:spcAft>
                <a:spcPts val="1100"/>
              </a:spcAft>
              <a:buFont typeface="Arial"/>
              <a:buChar char="–"/>
            </a:pPr>
            <a:r>
              <a:rPr sz="1400" b="0" i="0">
                <a:solidFill>
                  <a:srgbClr val="222A33"/>
                </a:solidFill>
                <a:latin typeface="Calibri"/>
              </a:rPr>
              <a:t>Callback: the integrity row of the IPsec framework table in Week 9 is HMAC. IPsec and TLS both attach a MAC (or use an authenticated mode such as GCM) to every protected packet.</a:t>
            </a:r>
          </a:p>
        </p:txBody>
      </p:sp>
      <p:pic>
        <p:nvPicPr>
          <p:cNvPr id="5" name="Picture 4" descr="Medium">
            <a:extLst>
              <a:ext uri="{FF2B5EF4-FFF2-40B4-BE49-F238E27FC236}">
                <a16:creationId xmlns:a16="http://schemas.microsoft.com/office/drawing/2014/main" id="{1ACA9D00-D0F3-4904-146B-0B1E53A840A8}"/>
              </a:ext>
            </a:extLst>
          </p:cNvPr>
          <p:cNvPicPr>
            <a:picLocks noChangeAspect="1"/>
          </p:cNvPicPr>
          <p:nvPr/>
        </p:nvPicPr>
        <p:blipFill>
          <a:blip r:embed="rId2"/>
          <a:stretch>
            <a:fillRect/>
          </a:stretch>
        </p:blipFill>
        <p:spPr>
          <a:xfrm>
            <a:off x="5334000" y="3981116"/>
            <a:ext cx="4055652" cy="251112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MACs: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MACS</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Provides integrity and origin authentication among key holders.</a:t>
            </a:r>
          </a:p>
          <a:p>
            <a:pPr marL="201168" indent="-201168">
              <a:spcAft>
                <a:spcPts val="700"/>
              </a:spcAft>
              <a:buFont typeface="Arial"/>
              <a:buChar char="–"/>
            </a:pPr>
            <a:r>
              <a:rPr sz="1300" b="0" i="0">
                <a:solidFill>
                  <a:srgbClr val="222A33"/>
                </a:solidFill>
                <a:latin typeface="Calibri"/>
              </a:rPr>
              <a:t>Fast: a hash and a few extra operations, with no asymmetric mathematics.</a:t>
            </a:r>
          </a:p>
          <a:p>
            <a:pPr marL="201168" indent="-201168">
              <a:spcAft>
                <a:spcPts val="700"/>
              </a:spcAft>
              <a:buFont typeface="Arial"/>
              <a:buChar char="–"/>
            </a:pPr>
            <a:r>
              <a:rPr sz="1300" b="0" i="0">
                <a:solidFill>
                  <a:srgbClr val="222A33"/>
                </a:solidFill>
                <a:latin typeface="Calibri"/>
              </a:rPr>
              <a:t>Simple and well understood, with long-standing standards (RFC 2104).</a:t>
            </a:r>
          </a:p>
          <a:p>
            <a:pPr marL="201168" indent="-201168">
              <a:spcAft>
                <a:spcPts val="700"/>
              </a:spcAft>
              <a:buFont typeface="Arial"/>
              <a:buChar char="–"/>
            </a:pPr>
            <a:r>
              <a:rPr sz="1300" b="0" i="0">
                <a:solidFill>
                  <a:srgbClr val="222A33"/>
                </a:solidFill>
                <a:latin typeface="Calibri"/>
              </a:rPr>
              <a:t>An attacker without the key cannot forge a valid tag.</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The key distribution problem returns: both ends need the same secret in advance.</a:t>
            </a:r>
          </a:p>
          <a:p>
            <a:pPr marL="201168" indent="-201168">
              <a:spcAft>
                <a:spcPts val="700"/>
              </a:spcAft>
              <a:buFont typeface="Arial"/>
              <a:buChar char="–"/>
            </a:pPr>
            <a:r>
              <a:rPr sz="1300" b="0" i="0">
                <a:solidFill>
                  <a:srgbClr val="222A33"/>
                </a:solidFill>
                <a:latin typeface="Calibri"/>
              </a:rPr>
              <a:t>No non-repudiation: both parties hold the key, so either could have produced any tag.</a:t>
            </a:r>
          </a:p>
          <a:p>
            <a:pPr marL="201168" indent="-201168">
              <a:spcAft>
                <a:spcPts val="700"/>
              </a:spcAft>
              <a:buFont typeface="Arial"/>
              <a:buChar char="–"/>
            </a:pPr>
            <a:r>
              <a:rPr sz="1300" b="0" i="0">
                <a:solidFill>
                  <a:srgbClr val="222A33"/>
                </a:solidFill>
                <a:latin typeface="Calibri"/>
              </a:rPr>
              <a:t>A leaked key lets an attacker forge messages in both directions.</a:t>
            </a:r>
          </a:p>
          <a:p>
            <a:pPr marL="201168" indent="-201168">
              <a:spcAft>
                <a:spcPts val="700"/>
              </a:spcAft>
              <a:buFont typeface="Arial"/>
              <a:buChar char="–"/>
            </a:pPr>
            <a:r>
              <a:rPr sz="1300" b="0" i="0">
                <a:solidFill>
                  <a:srgbClr val="222A33"/>
                </a:solidFill>
                <a:latin typeface="Calibri"/>
              </a:rPr>
              <a:t>Does not stop replay of a captured valid message unless a sequence number or timestamp is included.</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IPsec and TLS packet integrity, API request signing between servers, session tokens (such as JWT HS256), and routing protocol authentication (recall OSPF and EIGRP MD5 and SHA authentication in Week 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Digital Signatures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Proving who signed, and that nothing changed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How Signing and Verifying Work</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SIGNATURES</a:t>
            </a:r>
          </a:p>
        </p:txBody>
      </p:sp>
      <p:sp>
        <p:nvSpPr>
          <p:cNvPr id="4" name="Rectangle 3"/>
          <p:cNvSpPr/>
          <p:nvPr/>
        </p:nvSpPr>
        <p:spPr>
          <a:xfrm>
            <a:off x="548640" y="1783080"/>
            <a:ext cx="182880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i="0">
                <a:solidFill>
                  <a:srgbClr val="003054"/>
                </a:solidFill>
                <a:latin typeface="Calibri"/>
              </a:rPr>
              <a:t>SENDER</a:t>
            </a:r>
          </a:p>
        </p:txBody>
      </p:sp>
      <p:sp>
        <p:nvSpPr>
          <p:cNvPr id="5" name="Rounded Rectangle 4"/>
          <p:cNvSpPr/>
          <p:nvPr/>
        </p:nvSpPr>
        <p:spPr>
          <a:xfrm>
            <a:off x="548640" y="2103120"/>
            <a:ext cx="1463040" cy="566928"/>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Message</a:t>
            </a:r>
          </a:p>
        </p:txBody>
      </p:sp>
      <p:sp>
        <p:nvSpPr>
          <p:cNvPr id="6" name="Rounded Rectangle 5"/>
          <p:cNvSpPr/>
          <p:nvPr/>
        </p:nvSpPr>
        <p:spPr>
          <a:xfrm>
            <a:off x="2468880" y="2103120"/>
            <a:ext cx="1188720" cy="566928"/>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Hash</a:t>
            </a:r>
          </a:p>
        </p:txBody>
      </p:sp>
      <p:sp>
        <p:nvSpPr>
          <p:cNvPr id="7" name="Rounded Rectangle 6"/>
          <p:cNvSpPr/>
          <p:nvPr/>
        </p:nvSpPr>
        <p:spPr>
          <a:xfrm>
            <a:off x="4114800" y="2103120"/>
            <a:ext cx="1280160" cy="566928"/>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Digest</a:t>
            </a:r>
          </a:p>
        </p:txBody>
      </p:sp>
      <p:sp>
        <p:nvSpPr>
          <p:cNvPr id="8" name="Rounded Rectangle 7"/>
          <p:cNvSpPr/>
          <p:nvPr/>
        </p:nvSpPr>
        <p:spPr>
          <a:xfrm>
            <a:off x="5852160" y="2103120"/>
            <a:ext cx="2743200" cy="56692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Sign digest with sender's PRIVATE key</a:t>
            </a:r>
          </a:p>
        </p:txBody>
      </p:sp>
      <p:sp>
        <p:nvSpPr>
          <p:cNvPr id="9" name="Rounded Rectangle 8"/>
          <p:cNvSpPr/>
          <p:nvPr/>
        </p:nvSpPr>
        <p:spPr>
          <a:xfrm>
            <a:off x="9052560" y="2103120"/>
            <a:ext cx="1645920" cy="566928"/>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Signature</a:t>
            </a:r>
          </a:p>
        </p:txBody>
      </p:sp>
      <p:cxnSp>
        <p:nvCxnSpPr>
          <p:cNvPr id="10" name="Connector 9"/>
          <p:cNvCxnSpPr/>
          <p:nvPr/>
        </p:nvCxnSpPr>
        <p:spPr>
          <a:xfrm>
            <a:off x="2011680" y="238658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657600" y="238658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5394960" y="238658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595360" y="238658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881360" y="2103120"/>
            <a:ext cx="822960" cy="566928"/>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i="0">
                <a:solidFill>
                  <a:srgbClr val="222A33"/>
                </a:solidFill>
                <a:latin typeface="Calibri"/>
              </a:rPr>
              <a:t>sent</a:t>
            </a:r>
          </a:p>
        </p:txBody>
      </p:sp>
      <p:cxnSp>
        <p:nvCxnSpPr>
          <p:cNvPr id="15" name="Connector 14"/>
          <p:cNvCxnSpPr/>
          <p:nvPr/>
        </p:nvCxnSpPr>
        <p:spPr>
          <a:xfrm>
            <a:off x="10698480" y="2386584"/>
            <a:ext cx="18288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548640" y="2926080"/>
            <a:ext cx="182880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200" b="1" i="0">
                <a:solidFill>
                  <a:srgbClr val="003054"/>
                </a:solidFill>
                <a:latin typeface="Calibri"/>
              </a:rPr>
              <a:t>RECEIVER</a:t>
            </a:r>
          </a:p>
        </p:txBody>
      </p:sp>
      <p:sp>
        <p:nvSpPr>
          <p:cNvPr id="17" name="Rounded Rectangle 16"/>
          <p:cNvSpPr/>
          <p:nvPr/>
        </p:nvSpPr>
        <p:spPr>
          <a:xfrm>
            <a:off x="548640" y="3246120"/>
            <a:ext cx="1463040" cy="566928"/>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Message</a:t>
            </a:r>
          </a:p>
        </p:txBody>
      </p:sp>
      <p:sp>
        <p:nvSpPr>
          <p:cNvPr id="18" name="Rounded Rectangle 17"/>
          <p:cNvSpPr/>
          <p:nvPr/>
        </p:nvSpPr>
        <p:spPr>
          <a:xfrm>
            <a:off x="2468880" y="3246120"/>
            <a:ext cx="1188720" cy="566928"/>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Hash</a:t>
            </a:r>
          </a:p>
        </p:txBody>
      </p:sp>
      <p:sp>
        <p:nvSpPr>
          <p:cNvPr id="19" name="Rounded Rectangle 18"/>
          <p:cNvSpPr/>
          <p:nvPr/>
        </p:nvSpPr>
        <p:spPr>
          <a:xfrm>
            <a:off x="4114800" y="3246120"/>
            <a:ext cx="1280160" cy="566928"/>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Digest A</a:t>
            </a:r>
          </a:p>
        </p:txBody>
      </p:sp>
      <p:sp>
        <p:nvSpPr>
          <p:cNvPr id="20" name="Rounded Rectangle 19"/>
          <p:cNvSpPr/>
          <p:nvPr/>
        </p:nvSpPr>
        <p:spPr>
          <a:xfrm>
            <a:off x="548640" y="4069080"/>
            <a:ext cx="1463040" cy="566928"/>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Signature</a:t>
            </a:r>
          </a:p>
        </p:txBody>
      </p:sp>
      <p:sp>
        <p:nvSpPr>
          <p:cNvPr id="21" name="Rounded Rectangle 20"/>
          <p:cNvSpPr/>
          <p:nvPr/>
        </p:nvSpPr>
        <p:spPr>
          <a:xfrm>
            <a:off x="2468880" y="4069080"/>
            <a:ext cx="2926080" cy="56692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Verify with sender's PUBLIC key</a:t>
            </a:r>
          </a:p>
        </p:txBody>
      </p:sp>
      <p:sp>
        <p:nvSpPr>
          <p:cNvPr id="22" name="Rounded Rectangle 21"/>
          <p:cNvSpPr/>
          <p:nvPr/>
        </p:nvSpPr>
        <p:spPr>
          <a:xfrm>
            <a:off x="5852160" y="4069080"/>
            <a:ext cx="1280160" cy="566928"/>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Digest B</a:t>
            </a:r>
          </a:p>
        </p:txBody>
      </p:sp>
      <p:cxnSp>
        <p:nvCxnSpPr>
          <p:cNvPr id="23" name="Connector 22"/>
          <p:cNvCxnSpPr/>
          <p:nvPr/>
        </p:nvCxnSpPr>
        <p:spPr>
          <a:xfrm>
            <a:off x="2011680" y="352958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657600" y="352958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011680" y="435254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394960" y="4352544"/>
            <a:ext cx="4572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138160" y="3246120"/>
            <a:ext cx="3474720" cy="1389888"/>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222A33"/>
                </a:solidFill>
                <a:latin typeface="Calibri"/>
              </a:rPr>
              <a:t>Digest A equals Digest B?  Yes: the message is unaltered and came from the key owner.  No: reject it.</a:t>
            </a:r>
          </a:p>
        </p:txBody>
      </p:sp>
      <p:cxnSp>
        <p:nvCxnSpPr>
          <p:cNvPr id="28" name="Connector 27"/>
          <p:cNvCxnSpPr/>
          <p:nvPr/>
        </p:nvCxnSpPr>
        <p:spPr>
          <a:xfrm>
            <a:off x="5394960" y="3529584"/>
            <a:ext cx="2743200" cy="36576"/>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132320" y="4297680"/>
            <a:ext cx="1005840" cy="54864"/>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31520" y="4892040"/>
            <a:ext cx="10698480" cy="1005840"/>
          </a:xfrm>
          <a:prstGeom prst="rect">
            <a:avLst/>
          </a:prstGeom>
          <a:noFill/>
        </p:spPr>
        <p:txBody>
          <a:bodyPr wrap="square">
            <a:spAutoFit/>
          </a:bodyPr>
          <a:lstStyle/>
          <a:p>
            <a:pPr marL="201168" indent="-201168">
              <a:spcAft>
                <a:spcPts val="1100"/>
              </a:spcAft>
              <a:buFont typeface="Arial"/>
              <a:buChar char="–"/>
            </a:pPr>
            <a:r>
              <a:rPr sz="1300" b="0" i="0">
                <a:solidFill>
                  <a:srgbClr val="222A33"/>
                </a:solidFill>
                <a:latin typeface="Calibri"/>
              </a:rPr>
              <a:t>Sign the hash, not the whole message: asymmetric operations are slow, so the sender signs the short digest. Conceptually the digest is transformed with the private key; real schemes add padding or use signature-specific mathematics.</a:t>
            </a:r>
          </a:p>
          <a:p>
            <a:pPr marL="201168" indent="-201168">
              <a:spcAft>
                <a:spcPts val="1100"/>
              </a:spcAft>
              <a:buFont typeface="Arial"/>
              <a:buChar char="–"/>
            </a:pPr>
            <a:r>
              <a:rPr sz="1300" b="0" i="0">
                <a:solidFill>
                  <a:srgbClr val="222A33"/>
                </a:solidFill>
                <a:latin typeface="Calibri"/>
              </a:rPr>
              <a:t>Anyone with the public key can verify, but only the private key holder can sign.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What a Signature Guarantees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SIGNATURES</a:t>
            </a:r>
          </a:p>
        </p:txBody>
      </p:sp>
      <p:graphicFrame>
        <p:nvGraphicFramePr>
          <p:cNvPr id="4" name="Table 3"/>
          <p:cNvGraphicFramePr>
            <a:graphicFrameLocks noGrp="1"/>
          </p:cNvGraphicFramePr>
          <p:nvPr/>
        </p:nvGraphicFramePr>
        <p:xfrm>
          <a:off x="274320" y="1737360"/>
          <a:ext cx="11612880" cy="25603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8869680">
                  <a:extLst>
                    <a:ext uri="{9D8B030D-6E8A-4147-A177-3AD203B41FA5}">
                      <a16:colId xmlns:a16="http://schemas.microsoft.com/office/drawing/2014/main" val="20001"/>
                    </a:ext>
                  </a:extLst>
                </a:gridCol>
              </a:tblGrid>
              <a:tr h="640080">
                <a:tc>
                  <a:txBody>
                    <a:bodyPr/>
                    <a:lstStyle/>
                    <a:p>
                      <a:r>
                        <a:rPr sz="1300" b="1" i="0">
                          <a:solidFill>
                            <a:srgbClr val="FFFFFF"/>
                          </a:solidFill>
                          <a:latin typeface="Calibri"/>
                        </a:rPr>
                        <a:t>Guarantee</a:t>
                      </a:r>
                    </a:p>
                  </a:txBody>
                  <a:tcPr marL="73152" marR="73152" marT="27432" marB="27432" anchor="ctr">
                    <a:solidFill>
                      <a:srgbClr val="003054"/>
                    </a:solidFill>
                  </a:tcPr>
                </a:tc>
                <a:tc>
                  <a:txBody>
                    <a:bodyPr/>
                    <a:lstStyle/>
                    <a:p>
                      <a:r>
                        <a:rPr sz="1300" b="1" i="0">
                          <a:solidFill>
                            <a:srgbClr val="FFFFFF"/>
                          </a:solidFill>
                          <a:latin typeface="Calibri"/>
                        </a:rPr>
                        <a:t>How the Signature Provides It</a:t>
                      </a:r>
                    </a:p>
                  </a:txBody>
                  <a:tcPr marL="73152" marR="73152" marT="27432" marB="27432" anchor="ctr">
                    <a:solidFill>
                      <a:srgbClr val="003054"/>
                    </a:solidFill>
                  </a:tcPr>
                </a:tc>
                <a:extLst>
                  <a:ext uri="{0D108BD9-81ED-4DB2-BD59-A6C34878D82A}">
                    <a16:rowId xmlns:a16="http://schemas.microsoft.com/office/drawing/2014/main" val="10000"/>
                  </a:ext>
                </a:extLst>
              </a:tr>
              <a:tr h="640080">
                <a:tc>
                  <a:txBody>
                    <a:bodyPr/>
                    <a:lstStyle/>
                    <a:p>
                      <a:r>
                        <a:rPr sz="1400" b="0" i="0">
                          <a:solidFill>
                            <a:srgbClr val="222A33"/>
                          </a:solidFill>
                          <a:latin typeface="Calibri"/>
                        </a:rPr>
                        <a:t>Integrity</a:t>
                      </a:r>
                    </a:p>
                  </a:txBody>
                  <a:tcPr marL="73152" marR="73152" marT="27432" marB="27432" anchor="ctr">
                    <a:solidFill>
                      <a:srgbClr val="FFFFFF"/>
                    </a:solidFill>
                  </a:tcPr>
                </a:tc>
                <a:tc>
                  <a:txBody>
                    <a:bodyPr/>
                    <a:lstStyle/>
                    <a:p>
                      <a:r>
                        <a:rPr sz="1400" b="0" i="0">
                          <a:solidFill>
                            <a:srgbClr val="222A33"/>
                          </a:solidFill>
                          <a:latin typeface="Calibri"/>
                        </a:rPr>
                        <a:t>Any change to the message changes its digest, so verification fails.</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1400" b="0" i="0">
                          <a:solidFill>
                            <a:srgbClr val="222A33"/>
                          </a:solidFill>
                          <a:latin typeface="Calibri"/>
                        </a:rPr>
                        <a:t>Authentication</a:t>
                      </a:r>
                    </a:p>
                  </a:txBody>
                  <a:tcPr marL="73152" marR="73152" marT="27432" marB="27432" anchor="ctr">
                    <a:solidFill>
                      <a:srgbClr val="F2F4F7"/>
                    </a:solidFill>
                  </a:tcPr>
                </a:tc>
                <a:tc>
                  <a:txBody>
                    <a:bodyPr/>
                    <a:lstStyle/>
                    <a:p>
                      <a:r>
                        <a:rPr sz="1400" b="0" i="0">
                          <a:solidFill>
                            <a:srgbClr val="222A33"/>
                          </a:solidFill>
                          <a:latin typeface="Calibri"/>
                        </a:rPr>
                        <a:t>Only the holder of the private key could have produced a signature that verifies with the matching public key.</a:t>
                      </a:r>
                    </a:p>
                  </a:txBody>
                  <a:tcPr marL="73152" marR="73152" marT="27432" marB="27432" anchor="ctr">
                    <a:solidFill>
                      <a:srgbClr val="F2F4F7"/>
                    </a:solidFill>
                  </a:tcPr>
                </a:tc>
                <a:extLst>
                  <a:ext uri="{0D108BD9-81ED-4DB2-BD59-A6C34878D82A}">
                    <a16:rowId xmlns:a16="http://schemas.microsoft.com/office/drawing/2014/main" val="10002"/>
                  </a:ext>
                </a:extLst>
              </a:tr>
              <a:tr h="640080">
                <a:tc>
                  <a:txBody>
                    <a:bodyPr/>
                    <a:lstStyle/>
                    <a:p>
                      <a:r>
                        <a:rPr sz="1400" b="0" i="0">
                          <a:solidFill>
                            <a:srgbClr val="222A33"/>
                          </a:solidFill>
                          <a:latin typeface="Calibri"/>
                        </a:rPr>
                        <a:t>Non-repudiation</a:t>
                      </a:r>
                    </a:p>
                  </a:txBody>
                  <a:tcPr marL="73152" marR="73152" marT="27432" marB="27432" anchor="ctr">
                    <a:solidFill>
                      <a:srgbClr val="FFFFFF"/>
                    </a:solidFill>
                  </a:tcPr>
                </a:tc>
                <a:tc>
                  <a:txBody>
                    <a:bodyPr/>
                    <a:lstStyle/>
                    <a:p>
                      <a:r>
                        <a:rPr sz="1400" b="0" i="0">
                          <a:solidFill>
                            <a:srgbClr val="222A33"/>
                          </a:solidFill>
                          <a:latin typeface="Calibri"/>
                        </a:rPr>
                        <a:t>Only the signer has the private key, so the signer cannot credibly deny signing. A third party can verify this without any shared secret.</a:t>
                      </a:r>
                    </a:p>
                  </a:txBody>
                  <a:tcPr marL="73152" marR="73152" marT="27432" marB="27432" anchor="ctr">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731520" y="4572000"/>
            <a:ext cx="10698480" cy="118872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These guarantees hold only if two assumptions hold: the private key has stayed private, and the public key really belongs to the claimed signer. The second assumption is the subject of the certificate section.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Signature Algorithms: RSA, DSA, ECDSA, EdDSA</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SIGNATURES</a:t>
            </a:r>
          </a:p>
        </p:txBody>
      </p:sp>
      <p:graphicFrame>
        <p:nvGraphicFramePr>
          <p:cNvPr id="4" name="Table 3"/>
          <p:cNvGraphicFramePr>
            <a:graphicFrameLocks noGrp="1"/>
          </p:cNvGraphicFramePr>
          <p:nvPr/>
        </p:nvGraphicFramePr>
        <p:xfrm>
          <a:off x="274320" y="1737360"/>
          <a:ext cx="11612880" cy="384048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3566160">
                  <a:extLst>
                    <a:ext uri="{9D8B030D-6E8A-4147-A177-3AD203B41FA5}">
                      <a16:colId xmlns:a16="http://schemas.microsoft.com/office/drawing/2014/main" val="20004"/>
                    </a:ext>
                  </a:extLst>
                </a:gridCol>
              </a:tblGrid>
              <a:tr h="768096">
                <a:tc>
                  <a:txBody>
                    <a:bodyPr/>
                    <a:lstStyle/>
                    <a:p>
                      <a:r>
                        <a:rPr sz="1300" b="1" i="0">
                          <a:solidFill>
                            <a:srgbClr val="FFFFFF"/>
                          </a:solidFill>
                          <a:latin typeface="Calibri"/>
                        </a:rPr>
                        <a:t>Algorithm</a:t>
                      </a:r>
                    </a:p>
                  </a:txBody>
                  <a:tcPr marL="73152" marR="73152" marT="27432" marB="27432" anchor="ctr">
                    <a:solidFill>
                      <a:srgbClr val="003054"/>
                    </a:solidFill>
                  </a:tcPr>
                </a:tc>
                <a:tc>
                  <a:txBody>
                    <a:bodyPr/>
                    <a:lstStyle/>
                    <a:p>
                      <a:r>
                        <a:rPr sz="1300" b="1" i="0">
                          <a:solidFill>
                            <a:srgbClr val="FFFFFF"/>
                          </a:solidFill>
                          <a:latin typeface="Calibri"/>
                        </a:rPr>
                        <a:t>Based On</a:t>
                      </a:r>
                    </a:p>
                  </a:txBody>
                  <a:tcPr marL="73152" marR="73152" marT="27432" marB="27432" anchor="ctr">
                    <a:solidFill>
                      <a:srgbClr val="003054"/>
                    </a:solidFill>
                  </a:tcPr>
                </a:tc>
                <a:tc>
                  <a:txBody>
                    <a:bodyPr/>
                    <a:lstStyle/>
                    <a:p>
                      <a:r>
                        <a:rPr sz="1300" b="1" i="0">
                          <a:solidFill>
                            <a:srgbClr val="FFFFFF"/>
                          </a:solidFill>
                          <a:latin typeface="Calibri"/>
                        </a:rPr>
                        <a:t>Typical Size</a:t>
                      </a:r>
                    </a:p>
                  </a:txBody>
                  <a:tcPr marL="73152" marR="73152" marT="27432" marB="27432" anchor="ctr">
                    <a:solidFill>
                      <a:srgbClr val="003054"/>
                    </a:solidFill>
                  </a:tcPr>
                </a:tc>
                <a:tc>
                  <a:txBody>
                    <a:bodyPr/>
                    <a:lstStyle/>
                    <a:p>
                      <a:r>
                        <a:rPr sz="1300" b="1" i="0">
                          <a:solidFill>
                            <a:srgbClr val="FFFFFF"/>
                          </a:solidFill>
                          <a:latin typeface="Calibri"/>
                        </a:rPr>
                        <a:t>Status</a:t>
                      </a:r>
                    </a:p>
                  </a:txBody>
                  <a:tcPr marL="73152" marR="73152" marT="27432" marB="27432" anchor="ctr">
                    <a:solidFill>
                      <a:srgbClr val="003054"/>
                    </a:solidFill>
                  </a:tcPr>
                </a:tc>
                <a:tc>
                  <a:txBody>
                    <a:bodyPr/>
                    <a:lstStyle/>
                    <a:p>
                      <a:r>
                        <a:rPr sz="1300" b="1" i="0">
                          <a:solidFill>
                            <a:srgbClr val="FFFFFF"/>
                          </a:solidFill>
                          <a:latin typeface="Calibri"/>
                        </a:rPr>
                        <a:t>Notes</a:t>
                      </a:r>
                    </a:p>
                  </a:txBody>
                  <a:tcPr marL="73152" marR="73152" marT="27432" marB="27432" anchor="ctr">
                    <a:solidFill>
                      <a:srgbClr val="003054"/>
                    </a:solidFill>
                  </a:tcPr>
                </a:tc>
                <a:extLst>
                  <a:ext uri="{0D108BD9-81ED-4DB2-BD59-A6C34878D82A}">
                    <a16:rowId xmlns:a16="http://schemas.microsoft.com/office/drawing/2014/main" val="10000"/>
                  </a:ext>
                </a:extLst>
              </a:tr>
              <a:tr h="768096">
                <a:tc>
                  <a:txBody>
                    <a:bodyPr/>
                    <a:lstStyle/>
                    <a:p>
                      <a:r>
                        <a:rPr sz="1200" b="0" i="0">
                          <a:solidFill>
                            <a:srgbClr val="222A33"/>
                          </a:solidFill>
                          <a:latin typeface="Calibri"/>
                        </a:rPr>
                        <a:t>RSA</a:t>
                      </a:r>
                    </a:p>
                  </a:txBody>
                  <a:tcPr marL="73152" marR="73152" marT="27432" marB="27432" anchor="ctr">
                    <a:solidFill>
                      <a:srgbClr val="FFFFFF"/>
                    </a:solidFill>
                  </a:tcPr>
                </a:tc>
                <a:tc>
                  <a:txBody>
                    <a:bodyPr/>
                    <a:lstStyle/>
                    <a:p>
                      <a:r>
                        <a:rPr sz="1200" b="0" i="0">
                          <a:solidFill>
                            <a:srgbClr val="222A33"/>
                          </a:solidFill>
                          <a:latin typeface="Calibri"/>
                        </a:rPr>
                        <a:t>Integer factoring</a:t>
                      </a:r>
                    </a:p>
                  </a:txBody>
                  <a:tcPr marL="73152" marR="73152" marT="27432" marB="27432" anchor="ctr">
                    <a:solidFill>
                      <a:srgbClr val="FFFFFF"/>
                    </a:solidFill>
                  </a:tcPr>
                </a:tc>
                <a:tc>
                  <a:txBody>
                    <a:bodyPr/>
                    <a:lstStyle/>
                    <a:p>
                      <a:r>
                        <a:rPr sz="1200" b="0" i="0">
                          <a:solidFill>
                            <a:srgbClr val="222A33"/>
                          </a:solidFill>
                          <a:latin typeface="Calibri"/>
                        </a:rPr>
                        <a:t>2048 to 3072 bit keys; signature as long as the key</a:t>
                      </a:r>
                    </a:p>
                  </a:txBody>
                  <a:tcPr marL="73152" marR="73152" marT="27432" marB="27432" anchor="ctr">
                    <a:solidFill>
                      <a:srgbClr val="FFFFFF"/>
                    </a:solidFill>
                  </a:tcPr>
                </a:tc>
                <a:tc>
                  <a:txBody>
                    <a:bodyPr/>
                    <a:lstStyle/>
                    <a:p>
                      <a:r>
                        <a:rPr sz="1200" b="0" i="0">
                          <a:solidFill>
                            <a:srgbClr val="222A33"/>
                          </a:solidFill>
                          <a:latin typeface="Calibri"/>
                        </a:rPr>
                        <a:t>Widely used</a:t>
                      </a:r>
                    </a:p>
                  </a:txBody>
                  <a:tcPr marL="73152" marR="73152" marT="27432" marB="27432" anchor="ctr">
                    <a:solidFill>
                      <a:srgbClr val="FFFFFF"/>
                    </a:solidFill>
                  </a:tcPr>
                </a:tc>
                <a:tc>
                  <a:txBody>
                    <a:bodyPr/>
                    <a:lstStyle/>
                    <a:p>
                      <a:r>
                        <a:rPr sz="1200" b="0" i="0">
                          <a:solidFill>
                            <a:srgbClr val="222A33"/>
                          </a:solidFill>
                          <a:latin typeface="Calibri"/>
                        </a:rPr>
                        <a:t>The most common in certificates. Use the PSS padding scheme for new designs.</a:t>
                      </a:r>
                    </a:p>
                  </a:txBody>
                  <a:tcPr marL="73152" marR="73152" marT="27432" marB="27432" anchor="ctr">
                    <a:solidFill>
                      <a:srgbClr val="FFFFFF"/>
                    </a:solidFill>
                  </a:tcPr>
                </a:tc>
                <a:extLst>
                  <a:ext uri="{0D108BD9-81ED-4DB2-BD59-A6C34878D82A}">
                    <a16:rowId xmlns:a16="http://schemas.microsoft.com/office/drawing/2014/main" val="10001"/>
                  </a:ext>
                </a:extLst>
              </a:tr>
              <a:tr h="768096">
                <a:tc>
                  <a:txBody>
                    <a:bodyPr/>
                    <a:lstStyle/>
                    <a:p>
                      <a:r>
                        <a:rPr sz="1200" b="0" i="0">
                          <a:solidFill>
                            <a:srgbClr val="222A33"/>
                          </a:solidFill>
                          <a:latin typeface="Calibri"/>
                        </a:rPr>
                        <a:t>DSA</a:t>
                      </a:r>
                    </a:p>
                  </a:txBody>
                  <a:tcPr marL="73152" marR="73152" marT="27432" marB="27432" anchor="ctr">
                    <a:solidFill>
                      <a:srgbClr val="F2F4F7"/>
                    </a:solidFill>
                  </a:tcPr>
                </a:tc>
                <a:tc>
                  <a:txBody>
                    <a:bodyPr/>
                    <a:lstStyle/>
                    <a:p>
                      <a:r>
                        <a:rPr sz="1200" b="0" i="0">
                          <a:solidFill>
                            <a:srgbClr val="222A33"/>
                          </a:solidFill>
                          <a:latin typeface="Calibri"/>
                        </a:rPr>
                        <a:t>Discrete logarithm</a:t>
                      </a:r>
                    </a:p>
                  </a:txBody>
                  <a:tcPr marL="73152" marR="73152" marT="27432" marB="27432" anchor="ctr">
                    <a:solidFill>
                      <a:srgbClr val="F2F4F7"/>
                    </a:solidFill>
                  </a:tcPr>
                </a:tc>
                <a:tc>
                  <a:txBody>
                    <a:bodyPr/>
                    <a:lstStyle/>
                    <a:p>
                      <a:r>
                        <a:rPr sz="1200" b="0" i="0">
                          <a:solidFill>
                            <a:srgbClr val="222A33"/>
                          </a:solidFill>
                          <a:latin typeface="Calibri"/>
                        </a:rPr>
                        <a:t>2048 bit keys</a:t>
                      </a:r>
                    </a:p>
                  </a:txBody>
                  <a:tcPr marL="73152" marR="73152" marT="27432" marB="27432" anchor="ctr">
                    <a:solidFill>
                      <a:srgbClr val="F2F4F7"/>
                    </a:solidFill>
                  </a:tcPr>
                </a:tc>
                <a:tc>
                  <a:txBody>
                    <a:bodyPr/>
                    <a:lstStyle/>
                    <a:p>
                      <a:r>
                        <a:rPr sz="1200" b="0" i="0">
                          <a:solidFill>
                            <a:srgbClr val="222A33"/>
                          </a:solidFill>
                          <a:latin typeface="Calibri"/>
                        </a:rPr>
                        <a:t>Legacy</a:t>
                      </a:r>
                    </a:p>
                  </a:txBody>
                  <a:tcPr marL="73152" marR="73152" marT="27432" marB="27432" anchor="ctr">
                    <a:solidFill>
                      <a:srgbClr val="F2F4F7"/>
                    </a:solidFill>
                  </a:tcPr>
                </a:tc>
                <a:tc>
                  <a:txBody>
                    <a:bodyPr/>
                    <a:lstStyle/>
                    <a:p>
                      <a:r>
                        <a:rPr sz="1200" b="0" i="0">
                          <a:solidFill>
                            <a:srgbClr val="222A33"/>
                          </a:solidFill>
                          <a:latin typeface="Calibri"/>
                        </a:rPr>
                        <a:t>No longer approved for creating new signatures in recent NIST standards. You may still meet it in old systems.</a:t>
                      </a:r>
                    </a:p>
                  </a:txBody>
                  <a:tcPr marL="73152" marR="73152" marT="27432" marB="27432" anchor="ctr">
                    <a:solidFill>
                      <a:srgbClr val="F2F4F7"/>
                    </a:solidFill>
                  </a:tcPr>
                </a:tc>
                <a:extLst>
                  <a:ext uri="{0D108BD9-81ED-4DB2-BD59-A6C34878D82A}">
                    <a16:rowId xmlns:a16="http://schemas.microsoft.com/office/drawing/2014/main" val="10002"/>
                  </a:ext>
                </a:extLst>
              </a:tr>
              <a:tr h="768096">
                <a:tc>
                  <a:txBody>
                    <a:bodyPr/>
                    <a:lstStyle/>
                    <a:p>
                      <a:r>
                        <a:rPr sz="1200" b="0" i="0">
                          <a:solidFill>
                            <a:srgbClr val="222A33"/>
                          </a:solidFill>
                          <a:latin typeface="Calibri"/>
                        </a:rPr>
                        <a:t>ECDSA</a:t>
                      </a:r>
                    </a:p>
                  </a:txBody>
                  <a:tcPr marL="73152" marR="73152" marT="27432" marB="27432" anchor="ctr">
                    <a:solidFill>
                      <a:srgbClr val="FFFFFF"/>
                    </a:solidFill>
                  </a:tcPr>
                </a:tc>
                <a:tc>
                  <a:txBody>
                    <a:bodyPr/>
                    <a:lstStyle/>
                    <a:p>
                      <a:r>
                        <a:rPr sz="1200" b="0" i="0">
                          <a:solidFill>
                            <a:srgbClr val="222A33"/>
                          </a:solidFill>
                          <a:latin typeface="Calibri"/>
                        </a:rPr>
                        <a:t>Elliptic curve</a:t>
                      </a:r>
                    </a:p>
                  </a:txBody>
                  <a:tcPr marL="73152" marR="73152" marT="27432" marB="27432" anchor="ctr">
                    <a:solidFill>
                      <a:srgbClr val="FFFFFF"/>
                    </a:solidFill>
                  </a:tcPr>
                </a:tc>
                <a:tc>
                  <a:txBody>
                    <a:bodyPr/>
                    <a:lstStyle/>
                    <a:p>
                      <a:r>
                        <a:rPr sz="1200" b="0" i="0">
                          <a:solidFill>
                            <a:srgbClr val="222A33"/>
                          </a:solidFill>
                          <a:latin typeface="Calibri"/>
                        </a:rPr>
                        <a:t>256 bit keys; signatures about 64 bytes</a:t>
                      </a:r>
                    </a:p>
                  </a:txBody>
                  <a:tcPr marL="73152" marR="73152" marT="27432" marB="27432" anchor="ctr">
                    <a:solidFill>
                      <a:srgbClr val="FFFFFF"/>
                    </a:solidFill>
                  </a:tcPr>
                </a:tc>
                <a:tc>
                  <a:txBody>
                    <a:bodyPr/>
                    <a:lstStyle/>
                    <a:p>
                      <a:r>
                        <a:rPr sz="1200" b="0" i="0">
                          <a:solidFill>
                            <a:srgbClr val="222A33"/>
                          </a:solidFill>
                          <a:latin typeface="Calibri"/>
                        </a:rPr>
                        <a:t>Widely used</a:t>
                      </a:r>
                    </a:p>
                  </a:txBody>
                  <a:tcPr marL="73152" marR="73152" marT="27432" marB="27432" anchor="ctr">
                    <a:solidFill>
                      <a:srgbClr val="FFFFFF"/>
                    </a:solidFill>
                  </a:tcPr>
                </a:tc>
                <a:tc>
                  <a:txBody>
                    <a:bodyPr/>
                    <a:lstStyle/>
                    <a:p>
                      <a:r>
                        <a:rPr sz="1200" b="0" i="0">
                          <a:solidFill>
                            <a:srgbClr val="222A33"/>
                          </a:solidFill>
                          <a:latin typeface="Calibri"/>
                        </a:rPr>
                        <a:t>Small and fast. Needs a fresh random value for every signature: reusing one leaks the private key.</a:t>
                      </a:r>
                    </a:p>
                  </a:txBody>
                  <a:tcPr marL="73152" marR="73152" marT="27432" marB="27432" anchor="ctr">
                    <a:solidFill>
                      <a:srgbClr val="FFFFFF"/>
                    </a:solidFill>
                  </a:tcPr>
                </a:tc>
                <a:extLst>
                  <a:ext uri="{0D108BD9-81ED-4DB2-BD59-A6C34878D82A}">
                    <a16:rowId xmlns:a16="http://schemas.microsoft.com/office/drawing/2014/main" val="10003"/>
                  </a:ext>
                </a:extLst>
              </a:tr>
              <a:tr h="768096">
                <a:tc>
                  <a:txBody>
                    <a:bodyPr/>
                    <a:lstStyle/>
                    <a:p>
                      <a:r>
                        <a:rPr sz="1200" b="0" i="0">
                          <a:solidFill>
                            <a:srgbClr val="222A33"/>
                          </a:solidFill>
                          <a:latin typeface="Calibri"/>
                        </a:rPr>
                        <a:t>EdDSA (Ed25519)</a:t>
                      </a:r>
                    </a:p>
                  </a:txBody>
                  <a:tcPr marL="73152" marR="73152" marT="27432" marB="27432" anchor="ctr">
                    <a:solidFill>
                      <a:srgbClr val="F2F4F7"/>
                    </a:solidFill>
                  </a:tcPr>
                </a:tc>
                <a:tc>
                  <a:txBody>
                    <a:bodyPr/>
                    <a:lstStyle/>
                    <a:p>
                      <a:r>
                        <a:rPr sz="1200" b="0" i="0">
                          <a:solidFill>
                            <a:srgbClr val="222A33"/>
                          </a:solidFill>
                          <a:latin typeface="Calibri"/>
                        </a:rPr>
                        <a:t>Elliptic curve</a:t>
                      </a:r>
                    </a:p>
                  </a:txBody>
                  <a:tcPr marL="73152" marR="73152" marT="27432" marB="27432" anchor="ctr">
                    <a:solidFill>
                      <a:srgbClr val="F2F4F7"/>
                    </a:solidFill>
                  </a:tcPr>
                </a:tc>
                <a:tc>
                  <a:txBody>
                    <a:bodyPr/>
                    <a:lstStyle/>
                    <a:p>
                      <a:r>
                        <a:rPr sz="1200" b="0" i="0">
                          <a:solidFill>
                            <a:srgbClr val="222A33"/>
                          </a:solidFill>
                          <a:latin typeface="Calibri"/>
                        </a:rPr>
                        <a:t>256 bit keys; signatures 64 bytes</a:t>
                      </a:r>
                    </a:p>
                  </a:txBody>
                  <a:tcPr marL="73152" marR="73152" marT="27432" marB="27432" anchor="ctr">
                    <a:solidFill>
                      <a:srgbClr val="F2F4F7"/>
                    </a:solidFill>
                  </a:tcPr>
                </a:tc>
                <a:tc>
                  <a:txBody>
                    <a:bodyPr/>
                    <a:lstStyle/>
                    <a:p>
                      <a:r>
                        <a:rPr sz="1200" b="0" i="0">
                          <a:solidFill>
                            <a:srgbClr val="222A33"/>
                          </a:solidFill>
                          <a:latin typeface="Calibri"/>
                        </a:rPr>
                        <a:t>Modern</a:t>
                      </a:r>
                    </a:p>
                  </a:txBody>
                  <a:tcPr marL="73152" marR="73152" marT="27432" marB="27432" anchor="ctr">
                    <a:solidFill>
                      <a:srgbClr val="F2F4F7"/>
                    </a:solidFill>
                  </a:tcPr>
                </a:tc>
                <a:tc>
                  <a:txBody>
                    <a:bodyPr/>
                    <a:lstStyle/>
                    <a:p>
                      <a:r>
                        <a:rPr sz="1200" b="0" i="0">
                          <a:solidFill>
                            <a:srgbClr val="222A33"/>
                          </a:solidFill>
                          <a:latin typeface="Calibri"/>
                        </a:rPr>
                        <a:t>Deterministic, so it avoids the random-value pitfall. Used in SSH and increasingly in TLS.</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Why Non-Repudiation Needs Asymmetric Keys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SIGNATURES</a:t>
            </a:r>
          </a:p>
        </p:txBody>
      </p:sp>
      <p:sp>
        <p:nvSpPr>
          <p:cNvPr id="4" name="Rounded Rectangle 3"/>
          <p:cNvSpPr/>
          <p:nvPr/>
        </p:nvSpPr>
        <p:spPr>
          <a:xfrm>
            <a:off x="54864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MAC (shared key)</a:t>
            </a:r>
          </a:p>
        </p:txBody>
      </p:sp>
      <p:sp>
        <p:nvSpPr>
          <p:cNvPr id="5" name="Rounded Rectangle 4"/>
          <p:cNvSpPr/>
          <p:nvPr/>
        </p:nvSpPr>
        <p:spPr>
          <a:xfrm>
            <a:off x="621792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Digital signature (key pair)</a:t>
            </a:r>
          </a:p>
        </p:txBody>
      </p:sp>
      <p:sp>
        <p:nvSpPr>
          <p:cNvPr id="6" name="TextBox 5"/>
          <p:cNvSpPr txBox="1"/>
          <p:nvPr/>
        </p:nvSpPr>
        <p:spPr>
          <a:xfrm>
            <a:off x="548640" y="2286000"/>
            <a:ext cx="5394960" cy="2377440"/>
          </a:xfrm>
          <a:prstGeom prst="rect">
            <a:avLst/>
          </a:prstGeom>
          <a:noFill/>
        </p:spPr>
        <p:txBody>
          <a:bodyPr wrap="square">
            <a:spAutoFit/>
          </a:bodyPr>
          <a:lstStyle/>
          <a:p>
            <a:pPr marL="201168" indent="-201168">
              <a:spcAft>
                <a:spcPts val="800"/>
              </a:spcAft>
              <a:buFont typeface="Arial"/>
              <a:buChar char="–"/>
            </a:pPr>
            <a:r>
              <a:rPr sz="1400" b="0" i="0">
                <a:solidFill>
                  <a:srgbClr val="222A33"/>
                </a:solidFill>
                <a:latin typeface="Calibri"/>
              </a:rPr>
              <a:t>Alice and Bob both hold the key, so either could have produced any given tag.</a:t>
            </a:r>
          </a:p>
          <a:p>
            <a:pPr marL="201168" indent="-201168">
              <a:spcAft>
                <a:spcPts val="800"/>
              </a:spcAft>
              <a:buFont typeface="Arial"/>
              <a:buChar char="–"/>
            </a:pPr>
            <a:r>
              <a:rPr sz="1400" b="0" i="0">
                <a:solidFill>
                  <a:srgbClr val="222A33"/>
                </a:solidFill>
                <a:latin typeface="Calibri"/>
              </a:rPr>
              <a:t>If Alice later claims she never sent a message, Bob cannot prove otherwise: he could have made the tag himself.</a:t>
            </a:r>
          </a:p>
          <a:p>
            <a:pPr marL="201168" indent="-201168">
              <a:spcAft>
                <a:spcPts val="800"/>
              </a:spcAft>
              <a:buFont typeface="Arial"/>
              <a:buChar char="–"/>
            </a:pPr>
            <a:r>
              <a:rPr sz="1400" b="0" i="0">
                <a:solidFill>
                  <a:srgbClr val="222A33"/>
                </a:solidFill>
                <a:latin typeface="Calibri"/>
              </a:rPr>
              <a:t>Good for protecting a conversation between two trusting parties. Useless as evidence for a third party.</a:t>
            </a:r>
          </a:p>
        </p:txBody>
      </p:sp>
      <p:sp>
        <p:nvSpPr>
          <p:cNvPr id="7" name="TextBox 6"/>
          <p:cNvSpPr txBox="1"/>
          <p:nvPr/>
        </p:nvSpPr>
        <p:spPr>
          <a:xfrm>
            <a:off x="6217920" y="2286000"/>
            <a:ext cx="5394960" cy="2377440"/>
          </a:xfrm>
          <a:prstGeom prst="rect">
            <a:avLst/>
          </a:prstGeom>
          <a:noFill/>
        </p:spPr>
        <p:txBody>
          <a:bodyPr wrap="square">
            <a:spAutoFit/>
          </a:bodyPr>
          <a:lstStyle/>
          <a:p>
            <a:pPr marL="201168" indent="-201168">
              <a:spcAft>
                <a:spcPts val="800"/>
              </a:spcAft>
              <a:buFont typeface="Arial"/>
              <a:buChar char="–"/>
            </a:pPr>
            <a:r>
              <a:rPr sz="1400" b="0" i="0">
                <a:solidFill>
                  <a:srgbClr val="222A33"/>
                </a:solidFill>
                <a:latin typeface="Calibri"/>
              </a:rPr>
              <a:t>Only Alice holds the private key, so only Alice could have signed.</a:t>
            </a:r>
          </a:p>
          <a:p>
            <a:pPr marL="201168" indent="-201168">
              <a:spcAft>
                <a:spcPts val="800"/>
              </a:spcAft>
              <a:buFont typeface="Arial"/>
              <a:buChar char="–"/>
            </a:pPr>
            <a:r>
              <a:rPr sz="1400" b="0" i="0">
                <a:solidFill>
                  <a:srgbClr val="222A33"/>
                </a:solidFill>
                <a:latin typeface="Calibri"/>
              </a:rPr>
              <a:t>Anyone, including a judge or auditor, can verify with her public key. Bob cannot forge her signature.</a:t>
            </a:r>
          </a:p>
          <a:p>
            <a:pPr marL="201168" indent="-201168">
              <a:spcAft>
                <a:spcPts val="800"/>
              </a:spcAft>
              <a:buFont typeface="Arial"/>
              <a:buChar char="–"/>
            </a:pPr>
            <a:r>
              <a:rPr sz="1400" b="0" i="0">
                <a:solidFill>
                  <a:srgbClr val="222A33"/>
                </a:solidFill>
                <a:latin typeface="Calibri"/>
              </a:rPr>
              <a:t>This is what makes contracts, software updates, and audit records provable.</a:t>
            </a:r>
          </a:p>
        </p:txBody>
      </p:sp>
      <p:sp>
        <p:nvSpPr>
          <p:cNvPr id="8" name="Rounded Rectangle 7"/>
          <p:cNvSpPr/>
          <p:nvPr/>
        </p:nvSpPr>
        <p:spPr>
          <a:xfrm>
            <a:off x="548640" y="4754880"/>
            <a:ext cx="11064240" cy="10515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Callback: Week 2 defined non-repudiation as a goal, and Week 10's command accounting recorded who ran what. A log is only strong evidence if it cannot be altered or denied afterwards, so high-assurance audit records are digitally signed.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Digital Signatures: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SIGNATURES</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Provides integrity, authentication, and non-repudiation together.</a:t>
            </a:r>
          </a:p>
          <a:p>
            <a:pPr marL="201168" indent="-201168">
              <a:spcAft>
                <a:spcPts val="700"/>
              </a:spcAft>
              <a:buFont typeface="Arial"/>
              <a:buChar char="–"/>
            </a:pPr>
            <a:r>
              <a:rPr sz="1300" b="0" i="0">
                <a:solidFill>
                  <a:srgbClr val="222A33"/>
                </a:solidFill>
                <a:latin typeface="Calibri"/>
              </a:rPr>
              <a:t>Verifiable by anyone with the public key, with no shared secret.</a:t>
            </a:r>
          </a:p>
          <a:p>
            <a:pPr marL="201168" indent="-201168">
              <a:spcAft>
                <a:spcPts val="700"/>
              </a:spcAft>
              <a:buFont typeface="Arial"/>
              <a:buChar char="–"/>
            </a:pPr>
            <a:r>
              <a:rPr sz="1300" b="0" i="0">
                <a:solidFill>
                  <a:srgbClr val="222A33"/>
                </a:solidFill>
                <a:latin typeface="Calibri"/>
              </a:rPr>
              <a:t>Scales: each signer needs only one key pair.</a:t>
            </a:r>
          </a:p>
          <a:p>
            <a:pPr marL="201168" indent="-201168">
              <a:spcAft>
                <a:spcPts val="700"/>
              </a:spcAft>
              <a:buFont typeface="Arial"/>
              <a:buChar char="–"/>
            </a:pPr>
            <a:r>
              <a:rPr sz="1300" b="0" i="0">
                <a:solidFill>
                  <a:srgbClr val="222A33"/>
                </a:solidFill>
                <a:latin typeface="Calibri"/>
              </a:rPr>
              <a:t>Underpins certificates, secure updates, and code signing.</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Slower than a MAC, and signatures are larger.</a:t>
            </a:r>
          </a:p>
          <a:p>
            <a:pPr marL="201168" indent="-201168">
              <a:spcAft>
                <a:spcPts val="700"/>
              </a:spcAft>
              <a:buFont typeface="Arial"/>
              <a:buChar char="–"/>
            </a:pPr>
            <a:r>
              <a:rPr sz="1300" b="0" i="0">
                <a:solidFill>
                  <a:srgbClr val="222A33"/>
                </a:solidFill>
                <a:latin typeface="Calibri"/>
              </a:rPr>
              <a:t>Everything depends on the private key staying private: a stolen key lets an attacker sign as the owner.</a:t>
            </a:r>
          </a:p>
          <a:p>
            <a:pPr marL="201168" indent="-201168">
              <a:spcAft>
                <a:spcPts val="700"/>
              </a:spcAft>
              <a:buFont typeface="Arial"/>
              <a:buChar char="–"/>
            </a:pPr>
            <a:r>
              <a:rPr sz="1300" b="0" i="0">
                <a:solidFill>
                  <a:srgbClr val="222A33"/>
                </a:solidFill>
                <a:latin typeface="Calibri"/>
              </a:rPr>
              <a:t>A signature only proves possession of a key. It does not prove who that key belongs to.</a:t>
            </a:r>
          </a:p>
          <a:p>
            <a:pPr marL="201168" indent="-201168">
              <a:spcAft>
                <a:spcPts val="700"/>
              </a:spcAft>
              <a:buFont typeface="Arial"/>
              <a:buChar char="–"/>
            </a:pPr>
            <a:r>
              <a:rPr sz="1300" b="0" i="0">
                <a:solidFill>
                  <a:srgbClr val="222A33"/>
                </a:solidFill>
                <a:latin typeface="Calibri"/>
              </a:rPr>
              <a:t>Current algorithms would be broken by a large quantum computer.</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certificates, software and firmware update signing, code signing, signed email (S/MIME), contract and document signing, DNSSEC and RPKI (recall Week 5), and the handshake in TLS and SSH.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Hash vs MAC vs Digital Signature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SIGNATURES</a:t>
            </a:r>
          </a:p>
        </p:txBody>
      </p:sp>
      <p:graphicFrame>
        <p:nvGraphicFramePr>
          <p:cNvPr id="4" name="Table 3"/>
          <p:cNvGraphicFramePr>
            <a:graphicFrameLocks noGrp="1"/>
          </p:cNvGraphicFramePr>
          <p:nvPr/>
        </p:nvGraphicFramePr>
        <p:xfrm>
          <a:off x="274320" y="1737360"/>
          <a:ext cx="11612880" cy="393192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561702">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Hash</a:t>
                      </a:r>
                    </a:p>
                  </a:txBody>
                  <a:tcPr marL="73152" marR="73152" marT="27432" marB="27432" anchor="ctr">
                    <a:solidFill>
                      <a:srgbClr val="003054"/>
                    </a:solidFill>
                  </a:tcPr>
                </a:tc>
                <a:tc>
                  <a:txBody>
                    <a:bodyPr/>
                    <a:lstStyle/>
                    <a:p>
                      <a:r>
                        <a:rPr sz="1300" b="1" i="0">
                          <a:solidFill>
                            <a:srgbClr val="FFFFFF"/>
                          </a:solidFill>
                          <a:latin typeface="Calibri"/>
                        </a:rPr>
                        <a:t>MAC / HMAC</a:t>
                      </a:r>
                    </a:p>
                  </a:txBody>
                  <a:tcPr marL="73152" marR="73152" marT="27432" marB="27432" anchor="ctr">
                    <a:solidFill>
                      <a:srgbClr val="003054"/>
                    </a:solidFill>
                  </a:tcPr>
                </a:tc>
                <a:tc>
                  <a:txBody>
                    <a:bodyPr/>
                    <a:lstStyle/>
                    <a:p>
                      <a:r>
                        <a:rPr sz="1300" b="1" i="0">
                          <a:solidFill>
                            <a:srgbClr val="FFFFFF"/>
                          </a:solidFill>
                          <a:latin typeface="Calibri"/>
                        </a:rPr>
                        <a:t>Digital Signature</a:t>
                      </a:r>
                    </a:p>
                  </a:txBody>
                  <a:tcPr marL="73152" marR="73152" marT="27432" marB="27432" anchor="ctr">
                    <a:solidFill>
                      <a:srgbClr val="003054"/>
                    </a:solidFill>
                  </a:tcPr>
                </a:tc>
                <a:extLst>
                  <a:ext uri="{0D108BD9-81ED-4DB2-BD59-A6C34878D82A}">
                    <a16:rowId xmlns:a16="http://schemas.microsoft.com/office/drawing/2014/main" val="10000"/>
                  </a:ext>
                </a:extLst>
              </a:tr>
              <a:tr h="561702">
                <a:tc>
                  <a:txBody>
                    <a:bodyPr/>
                    <a:lstStyle/>
                    <a:p>
                      <a:r>
                        <a:rPr sz="1250" b="0" i="0">
                          <a:solidFill>
                            <a:srgbClr val="222A33"/>
                          </a:solidFill>
                          <a:latin typeface="Calibri"/>
                        </a:rPr>
                        <a:t>Key used</a:t>
                      </a:r>
                    </a:p>
                  </a:txBody>
                  <a:tcPr marL="73152" marR="73152" marT="27432" marB="27432" anchor="ctr">
                    <a:solidFill>
                      <a:srgbClr val="FFFFFF"/>
                    </a:solidFill>
                  </a:tcPr>
                </a:tc>
                <a:tc>
                  <a:txBody>
                    <a:bodyPr/>
                    <a:lstStyle/>
                    <a:p>
                      <a:r>
                        <a:rPr sz="1250" b="0" i="0">
                          <a:solidFill>
                            <a:srgbClr val="222A33"/>
                          </a:solidFill>
                          <a:latin typeface="Calibri"/>
                        </a:rPr>
                        <a:t>None</a:t>
                      </a:r>
                    </a:p>
                  </a:txBody>
                  <a:tcPr marL="73152" marR="73152" marT="27432" marB="27432" anchor="ctr">
                    <a:solidFill>
                      <a:srgbClr val="FFFFFF"/>
                    </a:solidFill>
                  </a:tcPr>
                </a:tc>
                <a:tc>
                  <a:txBody>
                    <a:bodyPr/>
                    <a:lstStyle/>
                    <a:p>
                      <a:r>
                        <a:rPr sz="1250" b="0" i="0">
                          <a:solidFill>
                            <a:srgbClr val="222A33"/>
                          </a:solidFill>
                          <a:latin typeface="Calibri"/>
                        </a:rPr>
                        <a:t>One shared secret key</a:t>
                      </a:r>
                    </a:p>
                  </a:txBody>
                  <a:tcPr marL="73152" marR="73152" marT="27432" marB="27432" anchor="ctr">
                    <a:solidFill>
                      <a:srgbClr val="FFFFFF"/>
                    </a:solidFill>
                  </a:tcPr>
                </a:tc>
                <a:tc>
                  <a:txBody>
                    <a:bodyPr/>
                    <a:lstStyle/>
                    <a:p>
                      <a:r>
                        <a:rPr sz="1250" b="0" i="0">
                          <a:solidFill>
                            <a:srgbClr val="222A33"/>
                          </a:solidFill>
                          <a:latin typeface="Calibri"/>
                        </a:rPr>
                        <a:t>Private key to sign, public key to verify</a:t>
                      </a:r>
                    </a:p>
                  </a:txBody>
                  <a:tcPr marL="73152" marR="73152" marT="27432" marB="27432" anchor="ctr">
                    <a:solidFill>
                      <a:srgbClr val="FFFFFF"/>
                    </a:solidFill>
                  </a:tcPr>
                </a:tc>
                <a:extLst>
                  <a:ext uri="{0D108BD9-81ED-4DB2-BD59-A6C34878D82A}">
                    <a16:rowId xmlns:a16="http://schemas.microsoft.com/office/drawing/2014/main" val="10001"/>
                  </a:ext>
                </a:extLst>
              </a:tr>
              <a:tr h="561702">
                <a:tc>
                  <a:txBody>
                    <a:bodyPr/>
                    <a:lstStyle/>
                    <a:p>
                      <a:r>
                        <a:rPr sz="1250" b="0" i="0">
                          <a:solidFill>
                            <a:srgbClr val="222A33"/>
                          </a:solidFill>
                          <a:latin typeface="Calibri"/>
                        </a:rPr>
                        <a:t>Integrity</a:t>
                      </a:r>
                    </a:p>
                  </a:txBody>
                  <a:tcPr marL="73152" marR="73152" marT="27432" marB="27432" anchor="ctr">
                    <a:solidFill>
                      <a:srgbClr val="F2F4F7"/>
                    </a:solidFill>
                  </a:tcPr>
                </a:tc>
                <a:tc>
                  <a:txBody>
                    <a:bodyPr/>
                    <a:lstStyle/>
                    <a:p>
                      <a:r>
                        <a:rPr sz="1250" b="0" i="0">
                          <a:solidFill>
                            <a:srgbClr val="222A33"/>
                          </a:solidFill>
                          <a:latin typeface="Calibri"/>
                        </a:rPr>
                        <a:t>Only if the digest is delivered securely</a:t>
                      </a:r>
                    </a:p>
                  </a:txBody>
                  <a:tcPr marL="73152" marR="73152" marT="27432" marB="27432" anchor="ctr">
                    <a:solidFill>
                      <a:srgbClr val="F2F4F7"/>
                    </a:solidFill>
                  </a:tcPr>
                </a:tc>
                <a:tc>
                  <a:txBody>
                    <a:bodyPr/>
                    <a:lstStyle/>
                    <a:p>
                      <a:r>
                        <a:rPr sz="1250" b="0" i="0">
                          <a:solidFill>
                            <a:srgbClr val="222A33"/>
                          </a:solidFill>
                          <a:latin typeface="Calibri"/>
                        </a:rPr>
                        <a:t>Yes</a:t>
                      </a:r>
                    </a:p>
                  </a:txBody>
                  <a:tcPr marL="73152" marR="73152" marT="27432" marB="27432" anchor="ctr">
                    <a:solidFill>
                      <a:srgbClr val="F2F4F7"/>
                    </a:solidFill>
                  </a:tcPr>
                </a:tc>
                <a:tc>
                  <a:txBody>
                    <a:bodyPr/>
                    <a:lstStyle/>
                    <a:p>
                      <a:r>
                        <a:rPr sz="1250" b="0" i="0">
                          <a:solidFill>
                            <a:srgbClr val="222A33"/>
                          </a:solidFill>
                          <a:latin typeface="Calibri"/>
                        </a:rPr>
                        <a:t>Yes</a:t>
                      </a:r>
                    </a:p>
                  </a:txBody>
                  <a:tcPr marL="73152" marR="73152" marT="27432" marB="27432" anchor="ctr">
                    <a:solidFill>
                      <a:srgbClr val="F2F4F7"/>
                    </a:solidFill>
                  </a:tcPr>
                </a:tc>
                <a:extLst>
                  <a:ext uri="{0D108BD9-81ED-4DB2-BD59-A6C34878D82A}">
                    <a16:rowId xmlns:a16="http://schemas.microsoft.com/office/drawing/2014/main" val="10002"/>
                  </a:ext>
                </a:extLst>
              </a:tr>
              <a:tr h="561702">
                <a:tc>
                  <a:txBody>
                    <a:bodyPr/>
                    <a:lstStyle/>
                    <a:p>
                      <a:r>
                        <a:rPr sz="1250" b="0" i="0">
                          <a:solidFill>
                            <a:srgbClr val="222A33"/>
                          </a:solidFill>
                          <a:latin typeface="Calibri"/>
                        </a:rPr>
                        <a:t>Authentication</a:t>
                      </a:r>
                    </a:p>
                  </a:txBody>
                  <a:tcPr marL="73152" marR="73152" marT="27432" marB="27432" anchor="ctr">
                    <a:solidFill>
                      <a:srgbClr val="FFFFFF"/>
                    </a:solidFill>
                  </a:tcPr>
                </a:tc>
                <a:tc>
                  <a:txBody>
                    <a:bodyPr/>
                    <a:lstStyle/>
                    <a:p>
                      <a:r>
                        <a:rPr sz="1250" b="0" i="0">
                          <a:solidFill>
                            <a:srgbClr val="222A33"/>
                          </a:solidFill>
                          <a:latin typeface="Calibri"/>
                        </a:rPr>
                        <a:t>No</a:t>
                      </a:r>
                    </a:p>
                  </a:txBody>
                  <a:tcPr marL="73152" marR="73152" marT="27432" marB="27432" anchor="ctr">
                    <a:solidFill>
                      <a:srgbClr val="FFFFFF"/>
                    </a:solidFill>
                  </a:tcPr>
                </a:tc>
                <a:tc>
                  <a:txBody>
                    <a:bodyPr/>
                    <a:lstStyle/>
                    <a:p>
                      <a:r>
                        <a:rPr sz="1250" b="0" i="0">
                          <a:solidFill>
                            <a:srgbClr val="222A33"/>
                          </a:solidFill>
                          <a:latin typeface="Calibri"/>
                        </a:rPr>
                        <a:t>Yes, among key holders</a:t>
                      </a:r>
                    </a:p>
                  </a:txBody>
                  <a:tcPr marL="73152" marR="73152" marT="27432" marB="27432" anchor="ctr">
                    <a:solidFill>
                      <a:srgbClr val="FFFFFF"/>
                    </a:solidFill>
                  </a:tcPr>
                </a:tc>
                <a:tc>
                  <a:txBody>
                    <a:bodyPr/>
                    <a:lstStyle/>
                    <a:p>
                      <a:r>
                        <a:rPr sz="1250" b="0" i="0">
                          <a:solidFill>
                            <a:srgbClr val="222A33"/>
                          </a:solidFill>
                          <a:latin typeface="Calibri"/>
                        </a:rPr>
                        <a:t>Yes, of the signer</a:t>
                      </a:r>
                    </a:p>
                  </a:txBody>
                  <a:tcPr marL="73152" marR="73152" marT="27432" marB="27432" anchor="ctr">
                    <a:solidFill>
                      <a:srgbClr val="FFFFFF"/>
                    </a:solidFill>
                  </a:tcPr>
                </a:tc>
                <a:extLst>
                  <a:ext uri="{0D108BD9-81ED-4DB2-BD59-A6C34878D82A}">
                    <a16:rowId xmlns:a16="http://schemas.microsoft.com/office/drawing/2014/main" val="10003"/>
                  </a:ext>
                </a:extLst>
              </a:tr>
              <a:tr h="561702">
                <a:tc>
                  <a:txBody>
                    <a:bodyPr/>
                    <a:lstStyle/>
                    <a:p>
                      <a:r>
                        <a:rPr sz="1250" b="0" i="0">
                          <a:solidFill>
                            <a:srgbClr val="222A33"/>
                          </a:solidFill>
                          <a:latin typeface="Calibri"/>
                        </a:rPr>
                        <a:t>Non-repudiation</a:t>
                      </a:r>
                    </a:p>
                  </a:txBody>
                  <a:tcPr marL="73152" marR="73152" marT="27432" marB="27432" anchor="ctr">
                    <a:solidFill>
                      <a:srgbClr val="F2F4F7"/>
                    </a:solidFill>
                  </a:tcPr>
                </a:tc>
                <a:tc>
                  <a:txBody>
                    <a:bodyPr/>
                    <a:lstStyle/>
                    <a:p>
                      <a:r>
                        <a:rPr sz="1250" b="0" i="0">
                          <a:solidFill>
                            <a:srgbClr val="222A33"/>
                          </a:solidFill>
                          <a:latin typeface="Calibri"/>
                        </a:rPr>
                        <a:t>No</a:t>
                      </a:r>
                    </a:p>
                  </a:txBody>
                  <a:tcPr marL="73152" marR="73152" marT="27432" marB="27432" anchor="ctr">
                    <a:solidFill>
                      <a:srgbClr val="F2F4F7"/>
                    </a:solidFill>
                  </a:tcPr>
                </a:tc>
                <a:tc>
                  <a:txBody>
                    <a:bodyPr/>
                    <a:lstStyle/>
                    <a:p>
                      <a:r>
                        <a:rPr sz="1250" b="0" i="0">
                          <a:solidFill>
                            <a:srgbClr val="222A33"/>
                          </a:solidFill>
                          <a:latin typeface="Calibri"/>
                        </a:rPr>
                        <a:t>No</a:t>
                      </a:r>
                    </a:p>
                  </a:txBody>
                  <a:tcPr marL="73152" marR="73152" marT="27432" marB="27432" anchor="ctr">
                    <a:solidFill>
                      <a:srgbClr val="F2F4F7"/>
                    </a:solidFill>
                  </a:tcPr>
                </a:tc>
                <a:tc>
                  <a:txBody>
                    <a:bodyPr/>
                    <a:lstStyle/>
                    <a:p>
                      <a:r>
                        <a:rPr sz="1250" b="0" i="0">
                          <a:solidFill>
                            <a:srgbClr val="222A33"/>
                          </a:solidFill>
                          <a:latin typeface="Calibri"/>
                        </a:rPr>
                        <a:t>Yes</a:t>
                      </a:r>
                    </a:p>
                  </a:txBody>
                  <a:tcPr marL="73152" marR="73152" marT="27432" marB="27432" anchor="ctr">
                    <a:solidFill>
                      <a:srgbClr val="F2F4F7"/>
                    </a:solidFill>
                  </a:tcPr>
                </a:tc>
                <a:extLst>
                  <a:ext uri="{0D108BD9-81ED-4DB2-BD59-A6C34878D82A}">
                    <a16:rowId xmlns:a16="http://schemas.microsoft.com/office/drawing/2014/main" val="10004"/>
                  </a:ext>
                </a:extLst>
              </a:tr>
              <a:tr h="561702">
                <a:tc>
                  <a:txBody>
                    <a:bodyPr/>
                    <a:lstStyle/>
                    <a:p>
                      <a:r>
                        <a:rPr sz="1250" b="0" i="0">
                          <a:solidFill>
                            <a:srgbClr val="222A33"/>
                          </a:solidFill>
                          <a:latin typeface="Calibri"/>
                        </a:rPr>
                        <a:t>Relative speed</a:t>
                      </a:r>
                    </a:p>
                  </a:txBody>
                  <a:tcPr marL="73152" marR="73152" marT="27432" marB="27432" anchor="ctr">
                    <a:solidFill>
                      <a:srgbClr val="FFFFFF"/>
                    </a:solidFill>
                  </a:tcPr>
                </a:tc>
                <a:tc>
                  <a:txBody>
                    <a:bodyPr/>
                    <a:lstStyle/>
                    <a:p>
                      <a:r>
                        <a:rPr sz="1250" b="0" i="0">
                          <a:solidFill>
                            <a:srgbClr val="222A33"/>
                          </a:solidFill>
                          <a:latin typeface="Calibri"/>
                        </a:rPr>
                        <a:t>Fastest</a:t>
                      </a:r>
                    </a:p>
                  </a:txBody>
                  <a:tcPr marL="73152" marR="73152" marT="27432" marB="27432" anchor="ctr">
                    <a:solidFill>
                      <a:srgbClr val="FFFFFF"/>
                    </a:solidFill>
                  </a:tcPr>
                </a:tc>
                <a:tc>
                  <a:txBody>
                    <a:bodyPr/>
                    <a:lstStyle/>
                    <a:p>
                      <a:r>
                        <a:rPr sz="1250" b="0" i="0">
                          <a:solidFill>
                            <a:srgbClr val="222A33"/>
                          </a:solidFill>
                          <a:latin typeface="Calibri"/>
                        </a:rPr>
                        <a:t>Fast</a:t>
                      </a:r>
                    </a:p>
                  </a:txBody>
                  <a:tcPr marL="73152" marR="73152" marT="27432" marB="27432" anchor="ctr">
                    <a:solidFill>
                      <a:srgbClr val="FFFFFF"/>
                    </a:solidFill>
                  </a:tcPr>
                </a:tc>
                <a:tc>
                  <a:txBody>
                    <a:bodyPr/>
                    <a:lstStyle/>
                    <a:p>
                      <a:r>
                        <a:rPr sz="1250" b="0" i="0">
                          <a:solidFill>
                            <a:srgbClr val="222A33"/>
                          </a:solidFill>
                          <a:latin typeface="Calibri"/>
                        </a:rPr>
                        <a:t>Slowest</a:t>
                      </a:r>
                    </a:p>
                  </a:txBody>
                  <a:tcPr marL="73152" marR="73152" marT="27432" marB="27432" anchor="ctr">
                    <a:solidFill>
                      <a:srgbClr val="FFFFFF"/>
                    </a:solidFill>
                  </a:tcPr>
                </a:tc>
                <a:extLst>
                  <a:ext uri="{0D108BD9-81ED-4DB2-BD59-A6C34878D82A}">
                    <a16:rowId xmlns:a16="http://schemas.microsoft.com/office/drawing/2014/main" val="10005"/>
                  </a:ext>
                </a:extLst>
              </a:tr>
              <a:tr h="561708">
                <a:tc>
                  <a:txBody>
                    <a:bodyPr/>
                    <a:lstStyle/>
                    <a:p>
                      <a:r>
                        <a:rPr sz="1250" b="0" i="0">
                          <a:solidFill>
                            <a:srgbClr val="222A33"/>
                          </a:solidFill>
                          <a:latin typeface="Calibri"/>
                        </a:rPr>
                        <a:t>Typical use</a:t>
                      </a:r>
                    </a:p>
                  </a:txBody>
                  <a:tcPr marL="73152" marR="73152" marT="27432" marB="27432" anchor="ctr">
                    <a:solidFill>
                      <a:srgbClr val="F2F4F7"/>
                    </a:solidFill>
                  </a:tcPr>
                </a:tc>
                <a:tc>
                  <a:txBody>
                    <a:bodyPr/>
                    <a:lstStyle/>
                    <a:p>
                      <a:r>
                        <a:rPr sz="1250" b="0" i="0">
                          <a:solidFill>
                            <a:srgbClr val="222A33"/>
                          </a:solidFill>
                          <a:latin typeface="Calibri"/>
                        </a:rPr>
                        <a:t>File checks, password storage</a:t>
                      </a:r>
                    </a:p>
                  </a:txBody>
                  <a:tcPr marL="73152" marR="73152" marT="27432" marB="27432" anchor="ctr">
                    <a:solidFill>
                      <a:srgbClr val="F2F4F7"/>
                    </a:solidFill>
                  </a:tcPr>
                </a:tc>
                <a:tc>
                  <a:txBody>
                    <a:bodyPr/>
                    <a:lstStyle/>
                    <a:p>
                      <a:r>
                        <a:rPr sz="1250" b="0" i="0">
                          <a:solidFill>
                            <a:srgbClr val="222A33"/>
                          </a:solidFill>
                          <a:latin typeface="Calibri"/>
                        </a:rPr>
                        <a:t>Packet integrity in IPsec and TLS</a:t>
                      </a:r>
                    </a:p>
                  </a:txBody>
                  <a:tcPr marL="73152" marR="73152" marT="27432" marB="27432" anchor="ctr">
                    <a:solidFill>
                      <a:srgbClr val="F2F4F7"/>
                    </a:solidFill>
                  </a:tcPr>
                </a:tc>
                <a:tc>
                  <a:txBody>
                    <a:bodyPr/>
                    <a:lstStyle/>
                    <a:p>
                      <a:r>
                        <a:rPr sz="1250" b="0" i="0">
                          <a:solidFill>
                            <a:srgbClr val="222A33"/>
                          </a:solidFill>
                          <a:latin typeface="Calibri"/>
                        </a:rPr>
                        <a:t>Certificates, software signing, contracts</a:t>
                      </a:r>
                    </a:p>
                  </a:txBody>
                  <a:tcPr marL="73152" marR="73152" marT="27432" marB="27432"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Hook: But Whose Public Key Is This?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SIGNATURES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Everything so far assumes you hold the genuine public key of the other party. A signature verifies against a public key, but nothing in the mathematics says whose key that is.</a:t>
            </a:r>
          </a:p>
          <a:p>
            <a:pPr marL="201168" indent="-201168">
              <a:spcAft>
                <a:spcPts val="1100"/>
              </a:spcAft>
              <a:buFont typeface="Arial"/>
              <a:buChar char="–"/>
            </a:pPr>
            <a:r>
              <a:rPr sz="1500" b="0" i="0">
                <a:solidFill>
                  <a:srgbClr val="222A33"/>
                </a:solidFill>
                <a:latin typeface="Calibri"/>
              </a:rPr>
              <a:t>Suppose Mallory sits between you and a bank. When your browser asks for the bank's public key, Mallory supplies her own. Her signatures verify perfectly against her key. Her key exchange with you is just as valid. The mathematics works flawlessly, and you are talking to the attacker.</a:t>
            </a:r>
          </a:p>
          <a:p>
            <a:pPr marL="201168" indent="-201168">
              <a:spcAft>
                <a:spcPts val="1100"/>
              </a:spcAft>
              <a:buFont typeface="Arial"/>
              <a:buChar char="–"/>
            </a:pPr>
            <a:r>
              <a:rPr sz="1500" b="0" i="0">
                <a:solidFill>
                  <a:srgbClr val="222A33"/>
                </a:solidFill>
                <a:latin typeface="Calibri"/>
              </a:rPr>
              <a:t>Diffie-Hellman from Deck A has the same gap: it agrees a key, but not with whom.</a:t>
            </a:r>
          </a:p>
          <a:p>
            <a:pPr marL="201168" indent="-201168">
              <a:spcAft>
                <a:spcPts val="1100"/>
              </a:spcAft>
              <a:buFont typeface="Arial"/>
              <a:buChar char="–"/>
            </a:pPr>
            <a:r>
              <a:rPr sz="1500" b="0" i="0">
                <a:solidFill>
                  <a:srgbClr val="222A33"/>
                </a:solidFill>
                <a:latin typeface="Calibri"/>
              </a:rPr>
              <a:t>We need a trusted third party to vouch for the link between an identity and a key. That vouching document is a digital certificate.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Digital Certificates</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Binding an identity to a public key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The Man-in-the-Middle Problem</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CERTIFICATES</a:t>
            </a:r>
          </a:p>
        </p:txBody>
      </p:sp>
      <p:sp>
        <p:nvSpPr>
          <p:cNvPr id="4" name="Rounded Rectangle 3"/>
          <p:cNvSpPr/>
          <p:nvPr/>
        </p:nvSpPr>
        <p:spPr>
          <a:xfrm>
            <a:off x="731520" y="1920240"/>
            <a:ext cx="219456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Client</a:t>
            </a:r>
          </a:p>
        </p:txBody>
      </p:sp>
      <p:sp>
        <p:nvSpPr>
          <p:cNvPr id="5" name="Rounded Rectangle 4"/>
          <p:cNvSpPr/>
          <p:nvPr/>
        </p:nvSpPr>
        <p:spPr>
          <a:xfrm>
            <a:off x="4983480" y="1920240"/>
            <a:ext cx="2194560" cy="64008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Mallory</a:t>
            </a:r>
          </a:p>
        </p:txBody>
      </p:sp>
      <p:sp>
        <p:nvSpPr>
          <p:cNvPr id="6" name="Rounded Rectangle 5"/>
          <p:cNvSpPr/>
          <p:nvPr/>
        </p:nvSpPr>
        <p:spPr>
          <a:xfrm>
            <a:off x="9235440" y="1920240"/>
            <a:ext cx="2194560" cy="64008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500" b="1" i="0">
                <a:solidFill>
                  <a:srgbClr val="FFFFFF"/>
                </a:solidFill>
                <a:latin typeface="Calibri"/>
              </a:rPr>
              <a:t>Real server</a:t>
            </a:r>
          </a:p>
        </p:txBody>
      </p:sp>
      <p:cxnSp>
        <p:nvCxnSpPr>
          <p:cNvPr id="7" name="Connector 6"/>
          <p:cNvCxnSpPr/>
          <p:nvPr/>
        </p:nvCxnSpPr>
        <p:spPr>
          <a:xfrm>
            <a:off x="2926080" y="2240280"/>
            <a:ext cx="20574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178040" y="2240280"/>
            <a:ext cx="20574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31520" y="2788920"/>
            <a:ext cx="402336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222A33"/>
                </a:solidFill>
                <a:latin typeface="Calibri"/>
              </a:rPr>
              <a:t>Client receives Mallory's public key, believing it is the server's, and encrypts to it</a:t>
            </a:r>
          </a:p>
        </p:txBody>
      </p:sp>
      <p:sp>
        <p:nvSpPr>
          <p:cNvPr id="10" name="Rounded Rectangle 9"/>
          <p:cNvSpPr/>
          <p:nvPr/>
        </p:nvSpPr>
        <p:spPr>
          <a:xfrm>
            <a:off x="7406640" y="2788920"/>
            <a:ext cx="402336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0" i="0">
                <a:solidFill>
                  <a:srgbClr val="222A33"/>
                </a:solidFill>
                <a:latin typeface="Calibri"/>
              </a:rPr>
              <a:t>Mallory reads the traffic, then re-encrypts it to the real server with the real key</a:t>
            </a:r>
          </a:p>
        </p:txBody>
      </p:sp>
      <p:sp>
        <p:nvSpPr>
          <p:cNvPr id="11" name="TextBox 10"/>
          <p:cNvSpPr txBox="1"/>
          <p:nvPr/>
        </p:nvSpPr>
        <p:spPr>
          <a:xfrm>
            <a:off x="731520" y="3840480"/>
            <a:ext cx="10698480" cy="210312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Encryption and signatures cannot detect this on their own. The client has no way to tell a genuine key from Mallory's.</a:t>
            </a:r>
          </a:p>
          <a:p>
            <a:pPr marL="201168" indent="-201168">
              <a:spcAft>
                <a:spcPts val="1100"/>
              </a:spcAft>
              <a:buFont typeface="Arial"/>
              <a:buChar char="–"/>
            </a:pPr>
            <a:r>
              <a:rPr sz="1400" b="0" i="0">
                <a:solidFill>
                  <a:srgbClr val="222A33"/>
                </a:solidFill>
                <a:latin typeface="Calibri"/>
              </a:rPr>
              <a:t>The fix is an independent, trusted party that has checked the server's identity and then signs a statement binding that identity to that key. The client trusts the signer, so it can trust the key. That statement is a certificate.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What a Certificate Is: X.509</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CERTIFICATES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A digital certificate is a signed data structure that binds a subject (a person, a website, a device) to a public key. The standard format is X.509 (RFC 5280).</a:t>
            </a:r>
          </a:p>
          <a:p>
            <a:pPr marL="201168" indent="-201168">
              <a:spcAft>
                <a:spcPts val="1100"/>
              </a:spcAft>
              <a:buFont typeface="Arial"/>
              <a:buChar char="–"/>
            </a:pPr>
            <a:r>
              <a:rPr sz="1500" b="0" i="0">
                <a:solidFill>
                  <a:srgbClr val="222A33"/>
                </a:solidFill>
                <a:latin typeface="Calibri"/>
              </a:rPr>
              <a:t>It is signed by a Certificate Authority (CA) using the CA's private key. Anyone who trusts the CA and holds its public key can verify the signature and so trust the binding.</a:t>
            </a:r>
          </a:p>
          <a:p>
            <a:pPr marL="201168" indent="-201168">
              <a:spcAft>
                <a:spcPts val="1100"/>
              </a:spcAft>
              <a:buFont typeface="Arial"/>
              <a:buChar char="–"/>
            </a:pPr>
            <a:r>
              <a:rPr sz="1500" b="0" i="0">
                <a:solidFill>
                  <a:srgbClr val="222A33"/>
                </a:solidFill>
                <a:latin typeface="Calibri"/>
              </a:rPr>
              <a:t>Analogy: a passport. A government you trust checked who you are, bound your name to your photograph, and added a hard-to-forge seal. A border officer trusts the seal, not you. A certificate is the same with a name, a public key, and a digital signature.</a:t>
            </a:r>
          </a:p>
          <a:p>
            <a:pPr marL="201168" indent="-201168">
              <a:spcAft>
                <a:spcPts val="1100"/>
              </a:spcAft>
              <a:buFont typeface="Arial"/>
              <a:buChar char="–"/>
            </a:pPr>
            <a:r>
              <a:rPr sz="1500" b="0" i="0">
                <a:solidFill>
                  <a:srgbClr val="222A33"/>
                </a:solidFill>
                <a:latin typeface="Calibri"/>
              </a:rPr>
              <a:t>A certificate contains no secrets. It is public, and sent to anyone who asks. The private key that matches it never leaves its owner.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Certificate Anatomy</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CERTIFICATES</a:t>
            </a:r>
          </a:p>
        </p:txBody>
      </p:sp>
      <p:graphicFrame>
        <p:nvGraphicFramePr>
          <p:cNvPr id="4" name="Table 3"/>
          <p:cNvGraphicFramePr>
            <a:graphicFrameLocks noGrp="1"/>
          </p:cNvGraphicFramePr>
          <p:nvPr/>
        </p:nvGraphicFramePr>
        <p:xfrm>
          <a:off x="274320" y="1737360"/>
          <a:ext cx="11612880" cy="411480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8686800">
                  <a:extLst>
                    <a:ext uri="{9D8B030D-6E8A-4147-A177-3AD203B41FA5}">
                      <a16:colId xmlns:a16="http://schemas.microsoft.com/office/drawing/2014/main" val="20001"/>
                    </a:ext>
                  </a:extLst>
                </a:gridCol>
              </a:tblGrid>
              <a:tr h="457200">
                <a:tc>
                  <a:txBody>
                    <a:bodyPr/>
                    <a:lstStyle/>
                    <a:p>
                      <a:r>
                        <a:rPr sz="1300" b="1" i="0">
                          <a:solidFill>
                            <a:srgbClr val="FFFFFF"/>
                          </a:solidFill>
                          <a:latin typeface="Calibri"/>
                        </a:rPr>
                        <a:t>Field</a:t>
                      </a:r>
                    </a:p>
                  </a:txBody>
                  <a:tcPr marL="73152" marR="73152" marT="27432" marB="27432" anchor="ctr">
                    <a:solidFill>
                      <a:srgbClr val="003054"/>
                    </a:solidFill>
                  </a:tcPr>
                </a:tc>
                <a:tc>
                  <a:txBody>
                    <a:bodyPr/>
                    <a:lstStyle/>
                    <a:p>
                      <a:r>
                        <a:rPr sz="1300" b="1" i="0">
                          <a:solidFill>
                            <a:srgbClr val="FFFFFF"/>
                          </a:solidFill>
                          <a:latin typeface="Calibri"/>
                        </a:rPr>
                        <a:t>What It Contains</a:t>
                      </a:r>
                    </a:p>
                  </a:txBody>
                  <a:tcPr marL="73152" marR="73152" marT="27432" marB="27432" anchor="ctr">
                    <a:solidFill>
                      <a:srgbClr val="003054"/>
                    </a:solidFill>
                  </a:tcPr>
                </a:tc>
                <a:extLst>
                  <a:ext uri="{0D108BD9-81ED-4DB2-BD59-A6C34878D82A}">
                    <a16:rowId xmlns:a16="http://schemas.microsoft.com/office/drawing/2014/main" val="10000"/>
                  </a:ext>
                </a:extLst>
              </a:tr>
              <a:tr h="457200">
                <a:tc>
                  <a:txBody>
                    <a:bodyPr/>
                    <a:lstStyle/>
                    <a:p>
                      <a:r>
                        <a:rPr sz="1200" b="0" i="0">
                          <a:solidFill>
                            <a:srgbClr val="222A33"/>
                          </a:solidFill>
                          <a:latin typeface="Calibri"/>
                        </a:rPr>
                        <a:t>Version and serial number</a:t>
                      </a:r>
                    </a:p>
                  </a:txBody>
                  <a:tcPr marL="73152" marR="73152" marT="27432" marB="27432" anchor="ctr">
                    <a:solidFill>
                      <a:srgbClr val="FFFFFF"/>
                    </a:solidFill>
                  </a:tcPr>
                </a:tc>
                <a:tc>
                  <a:txBody>
                    <a:bodyPr/>
                    <a:lstStyle/>
                    <a:p>
                      <a:r>
                        <a:rPr sz="1200" b="0" i="0">
                          <a:solidFill>
                            <a:srgbClr val="222A33"/>
                          </a:solidFill>
                          <a:latin typeface="Calibri"/>
                        </a:rPr>
                        <a:t>X.509 version (normally v3) and a number unique to this certificate within the issuing CA</a:t>
                      </a:r>
                    </a:p>
                  </a:txBody>
                  <a:tcPr marL="73152" marR="73152" marT="27432" marB="27432" anchor="ctr">
                    <a:solidFill>
                      <a:srgbClr val="FFFFFF"/>
                    </a:solidFill>
                  </a:tcPr>
                </a:tc>
                <a:extLst>
                  <a:ext uri="{0D108BD9-81ED-4DB2-BD59-A6C34878D82A}">
                    <a16:rowId xmlns:a16="http://schemas.microsoft.com/office/drawing/2014/main" val="10001"/>
                  </a:ext>
                </a:extLst>
              </a:tr>
              <a:tr h="457200">
                <a:tc>
                  <a:txBody>
                    <a:bodyPr/>
                    <a:lstStyle/>
                    <a:p>
                      <a:r>
                        <a:rPr sz="1200" b="0" i="0">
                          <a:solidFill>
                            <a:srgbClr val="222A33"/>
                          </a:solidFill>
                          <a:latin typeface="Calibri"/>
                        </a:rPr>
                        <a:t>Signature algorithm</a:t>
                      </a:r>
                    </a:p>
                  </a:txBody>
                  <a:tcPr marL="73152" marR="73152" marT="27432" marB="27432" anchor="ctr">
                    <a:solidFill>
                      <a:srgbClr val="F2F4F7"/>
                    </a:solidFill>
                  </a:tcPr>
                </a:tc>
                <a:tc>
                  <a:txBody>
                    <a:bodyPr/>
                    <a:lstStyle/>
                    <a:p>
                      <a:r>
                        <a:rPr sz="1200" b="0" i="0">
                          <a:solidFill>
                            <a:srgbClr val="222A33"/>
                          </a:solidFill>
                          <a:latin typeface="Calibri"/>
                        </a:rPr>
                        <a:t>How the CA signed it, for example SHA-256 with RSA or ECDSA</a:t>
                      </a:r>
                    </a:p>
                  </a:txBody>
                  <a:tcPr marL="73152" marR="73152" marT="27432" marB="27432" anchor="ctr">
                    <a:solidFill>
                      <a:srgbClr val="F2F4F7"/>
                    </a:solidFill>
                  </a:tcPr>
                </a:tc>
                <a:extLst>
                  <a:ext uri="{0D108BD9-81ED-4DB2-BD59-A6C34878D82A}">
                    <a16:rowId xmlns:a16="http://schemas.microsoft.com/office/drawing/2014/main" val="10002"/>
                  </a:ext>
                </a:extLst>
              </a:tr>
              <a:tr h="457200">
                <a:tc>
                  <a:txBody>
                    <a:bodyPr/>
                    <a:lstStyle/>
                    <a:p>
                      <a:r>
                        <a:rPr sz="1200" b="0" i="0">
                          <a:solidFill>
                            <a:srgbClr val="222A33"/>
                          </a:solidFill>
                          <a:latin typeface="Calibri"/>
                        </a:rPr>
                        <a:t>Issuer</a:t>
                      </a:r>
                    </a:p>
                  </a:txBody>
                  <a:tcPr marL="73152" marR="73152" marT="27432" marB="27432" anchor="ctr">
                    <a:solidFill>
                      <a:srgbClr val="FFFFFF"/>
                    </a:solidFill>
                  </a:tcPr>
                </a:tc>
                <a:tc>
                  <a:txBody>
                    <a:bodyPr/>
                    <a:lstStyle/>
                    <a:p>
                      <a:r>
                        <a:rPr sz="1200" b="0" i="0">
                          <a:solidFill>
                            <a:srgbClr val="222A33"/>
                          </a:solidFill>
                          <a:latin typeface="Calibri"/>
                        </a:rPr>
                        <a:t>The CA that issued and signed the certificate</a:t>
                      </a:r>
                    </a:p>
                  </a:txBody>
                  <a:tcPr marL="73152" marR="73152" marT="27432" marB="27432" anchor="ctr">
                    <a:solidFill>
                      <a:srgbClr val="FFFFFF"/>
                    </a:solidFill>
                  </a:tcPr>
                </a:tc>
                <a:extLst>
                  <a:ext uri="{0D108BD9-81ED-4DB2-BD59-A6C34878D82A}">
                    <a16:rowId xmlns:a16="http://schemas.microsoft.com/office/drawing/2014/main" val="10003"/>
                  </a:ext>
                </a:extLst>
              </a:tr>
              <a:tr h="457200">
                <a:tc>
                  <a:txBody>
                    <a:bodyPr/>
                    <a:lstStyle/>
                    <a:p>
                      <a:r>
                        <a:rPr sz="1200" b="0" i="0">
                          <a:solidFill>
                            <a:srgbClr val="222A33"/>
                          </a:solidFill>
                          <a:latin typeface="Calibri"/>
                        </a:rPr>
                        <a:t>Validity</a:t>
                      </a:r>
                    </a:p>
                  </a:txBody>
                  <a:tcPr marL="73152" marR="73152" marT="27432" marB="27432" anchor="ctr">
                    <a:solidFill>
                      <a:srgbClr val="F2F4F7"/>
                    </a:solidFill>
                  </a:tcPr>
                </a:tc>
                <a:tc>
                  <a:txBody>
                    <a:bodyPr/>
                    <a:lstStyle/>
                    <a:p>
                      <a:r>
                        <a:rPr sz="1200" b="0" i="0">
                          <a:solidFill>
                            <a:srgbClr val="222A33"/>
                          </a:solidFill>
                          <a:latin typeface="Calibri"/>
                        </a:rPr>
                        <a:t>The Not Before and Not After dates. Outside this window the certificate is invalid</a:t>
                      </a:r>
                    </a:p>
                  </a:txBody>
                  <a:tcPr marL="73152" marR="73152" marT="27432" marB="27432" anchor="ctr">
                    <a:solidFill>
                      <a:srgbClr val="F2F4F7"/>
                    </a:solidFill>
                  </a:tcPr>
                </a:tc>
                <a:extLst>
                  <a:ext uri="{0D108BD9-81ED-4DB2-BD59-A6C34878D82A}">
                    <a16:rowId xmlns:a16="http://schemas.microsoft.com/office/drawing/2014/main" val="10004"/>
                  </a:ext>
                </a:extLst>
              </a:tr>
              <a:tr h="457200">
                <a:tc>
                  <a:txBody>
                    <a:bodyPr/>
                    <a:lstStyle/>
                    <a:p>
                      <a:r>
                        <a:rPr sz="1200" b="0" i="0">
                          <a:solidFill>
                            <a:srgbClr val="222A33"/>
                          </a:solidFill>
                          <a:latin typeface="Calibri"/>
                        </a:rPr>
                        <a:t>Subject</a:t>
                      </a:r>
                    </a:p>
                  </a:txBody>
                  <a:tcPr marL="73152" marR="73152" marT="27432" marB="27432" anchor="ctr">
                    <a:solidFill>
                      <a:srgbClr val="FFFFFF"/>
                    </a:solidFill>
                  </a:tcPr>
                </a:tc>
                <a:tc>
                  <a:txBody>
                    <a:bodyPr/>
                    <a:lstStyle/>
                    <a:p>
                      <a:r>
                        <a:rPr sz="1200" b="0" i="0">
                          <a:solidFill>
                            <a:srgbClr val="222A33"/>
                          </a:solidFill>
                          <a:latin typeface="Calibri"/>
                        </a:rPr>
                        <a:t>The identity being certified, such as the website's domain name</a:t>
                      </a:r>
                    </a:p>
                  </a:txBody>
                  <a:tcPr marL="73152" marR="73152" marT="27432" marB="27432" anchor="ctr">
                    <a:solidFill>
                      <a:srgbClr val="FFFFFF"/>
                    </a:solidFill>
                  </a:tcPr>
                </a:tc>
                <a:extLst>
                  <a:ext uri="{0D108BD9-81ED-4DB2-BD59-A6C34878D82A}">
                    <a16:rowId xmlns:a16="http://schemas.microsoft.com/office/drawing/2014/main" val="10005"/>
                  </a:ext>
                </a:extLst>
              </a:tr>
              <a:tr h="457200">
                <a:tc>
                  <a:txBody>
                    <a:bodyPr/>
                    <a:lstStyle/>
                    <a:p>
                      <a:r>
                        <a:rPr sz="1200" b="0" i="0">
                          <a:solidFill>
                            <a:srgbClr val="222A33"/>
                          </a:solidFill>
                          <a:latin typeface="Calibri"/>
                        </a:rPr>
                        <a:t>Subject public key</a:t>
                      </a:r>
                    </a:p>
                  </a:txBody>
                  <a:tcPr marL="73152" marR="73152" marT="27432" marB="27432" anchor="ctr">
                    <a:solidFill>
                      <a:srgbClr val="F2F4F7"/>
                    </a:solidFill>
                  </a:tcPr>
                </a:tc>
                <a:tc>
                  <a:txBody>
                    <a:bodyPr/>
                    <a:lstStyle/>
                    <a:p>
                      <a:r>
                        <a:rPr sz="1200" b="0" i="0">
                          <a:solidFill>
                            <a:srgbClr val="222A33"/>
                          </a:solidFill>
                          <a:latin typeface="Calibri"/>
                        </a:rPr>
                        <a:t>The public key being bound to that identity, and its algorithm</a:t>
                      </a:r>
                    </a:p>
                  </a:txBody>
                  <a:tcPr marL="73152" marR="73152" marT="27432" marB="27432" anchor="ctr">
                    <a:solidFill>
                      <a:srgbClr val="F2F4F7"/>
                    </a:solidFill>
                  </a:tcPr>
                </a:tc>
                <a:extLst>
                  <a:ext uri="{0D108BD9-81ED-4DB2-BD59-A6C34878D82A}">
                    <a16:rowId xmlns:a16="http://schemas.microsoft.com/office/drawing/2014/main" val="10006"/>
                  </a:ext>
                </a:extLst>
              </a:tr>
              <a:tr h="457200">
                <a:tc>
                  <a:txBody>
                    <a:bodyPr/>
                    <a:lstStyle/>
                    <a:p>
                      <a:r>
                        <a:rPr sz="1200" b="0" i="0">
                          <a:solidFill>
                            <a:srgbClr val="222A33"/>
                          </a:solidFill>
                          <a:latin typeface="Calibri"/>
                        </a:rPr>
                        <a:t>Extensions</a:t>
                      </a:r>
                    </a:p>
                  </a:txBody>
                  <a:tcPr marL="73152" marR="73152" marT="27432" marB="27432" anchor="ctr">
                    <a:solidFill>
                      <a:srgbClr val="FFFFFF"/>
                    </a:solidFill>
                  </a:tcPr>
                </a:tc>
                <a:tc>
                  <a:txBody>
                    <a:bodyPr/>
                    <a:lstStyle/>
                    <a:p>
                      <a:r>
                        <a:rPr sz="1200" b="0" i="0">
                          <a:solidFill>
                            <a:srgbClr val="222A33"/>
                          </a:solidFill>
                          <a:latin typeface="Calibri"/>
                        </a:rPr>
                        <a:t>Subject Alternative Name (all valid hostnames), Key Usage, Basic Constraints (is this a CA?), and where to check revocation (CRL or OCSP)</a:t>
                      </a:r>
                    </a:p>
                  </a:txBody>
                  <a:tcPr marL="73152" marR="73152" marT="27432" marB="27432" anchor="ctr">
                    <a:solidFill>
                      <a:srgbClr val="FFFFFF"/>
                    </a:solidFill>
                  </a:tcPr>
                </a:tc>
                <a:extLst>
                  <a:ext uri="{0D108BD9-81ED-4DB2-BD59-A6C34878D82A}">
                    <a16:rowId xmlns:a16="http://schemas.microsoft.com/office/drawing/2014/main" val="10007"/>
                  </a:ext>
                </a:extLst>
              </a:tr>
              <a:tr h="457200">
                <a:tc>
                  <a:txBody>
                    <a:bodyPr/>
                    <a:lstStyle/>
                    <a:p>
                      <a:r>
                        <a:rPr sz="1200" b="0" i="0">
                          <a:solidFill>
                            <a:srgbClr val="222A33"/>
                          </a:solidFill>
                          <a:latin typeface="Calibri"/>
                        </a:rPr>
                        <a:t>CA signature</a:t>
                      </a:r>
                    </a:p>
                  </a:txBody>
                  <a:tcPr marL="73152" marR="73152" marT="27432" marB="27432" anchor="ctr">
                    <a:solidFill>
                      <a:srgbClr val="F2F4F7"/>
                    </a:solidFill>
                  </a:tcPr>
                </a:tc>
                <a:tc>
                  <a:txBody>
                    <a:bodyPr/>
                    <a:lstStyle/>
                    <a:p>
                      <a:r>
                        <a:rPr sz="1200" b="0" i="0">
                          <a:solidFill>
                            <a:srgbClr val="222A33"/>
                          </a:solidFill>
                          <a:latin typeface="Calibri"/>
                        </a:rPr>
                        <a:t>The issuer's digital signature over all of the above</a:t>
                      </a:r>
                    </a:p>
                  </a:txBody>
                  <a:tcPr marL="73152" marR="73152" marT="27432" marB="27432" anchor="ctr">
                    <a:solidFill>
                      <a:srgbClr val="F2F4F7"/>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How a Certificate Is Verified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CERTIFICATES</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900"/>
              </a:spcAft>
              <a:buFont typeface="Arial"/>
              <a:buChar char="–"/>
            </a:pPr>
            <a:r>
              <a:rPr sz="1400" b="0" i="0">
                <a:solidFill>
                  <a:srgbClr val="222A33"/>
                </a:solidFill>
                <a:latin typeface="Calibri"/>
              </a:rPr>
              <a:t>Step 1, dates: is today inside the Not Before to Not After window?</a:t>
            </a:r>
          </a:p>
          <a:p>
            <a:pPr marL="201168" indent="-201168">
              <a:spcAft>
                <a:spcPts val="900"/>
              </a:spcAft>
              <a:buFont typeface="Arial"/>
              <a:buChar char="–"/>
            </a:pPr>
            <a:r>
              <a:rPr sz="1400" b="0" i="0">
                <a:solidFill>
                  <a:srgbClr val="222A33"/>
                </a:solidFill>
                <a:latin typeface="Calibri"/>
              </a:rPr>
              <a:t>Step 2, name: does the Subject or Subject Alternative Name match the host you meant to reach? A valid certificate for another site must fail.</a:t>
            </a:r>
          </a:p>
          <a:p>
            <a:pPr marL="201168" indent="-201168">
              <a:spcAft>
                <a:spcPts val="900"/>
              </a:spcAft>
              <a:buFont typeface="Arial"/>
              <a:buChar char="–"/>
            </a:pPr>
            <a:r>
              <a:rPr sz="1400" b="0" i="0">
                <a:solidFill>
                  <a:srgbClr val="222A33"/>
                </a:solidFill>
                <a:latin typeface="Calibri"/>
              </a:rPr>
              <a:t>Step 3, signature: verify the CA's signature using the issuer's public key. This proves the contents have not been altered since issuance.</a:t>
            </a:r>
          </a:p>
          <a:p>
            <a:pPr marL="201168" indent="-201168">
              <a:spcAft>
                <a:spcPts val="900"/>
              </a:spcAft>
              <a:buFont typeface="Arial"/>
              <a:buChar char="–"/>
            </a:pPr>
            <a:r>
              <a:rPr sz="1400" b="0" i="0">
                <a:solidFill>
                  <a:srgbClr val="222A33"/>
                </a:solidFill>
                <a:latin typeface="Calibri"/>
              </a:rPr>
              <a:t>Step 4, chain: is the issuer itself trusted? If it is an intermediate, repeat steps 1 to 3 up the chain until a root the client already trusts is reached.</a:t>
            </a:r>
          </a:p>
          <a:p>
            <a:pPr marL="201168" indent="-201168">
              <a:spcAft>
                <a:spcPts val="900"/>
              </a:spcAft>
              <a:buFont typeface="Arial"/>
              <a:buChar char="–"/>
            </a:pPr>
            <a:r>
              <a:rPr sz="1400" b="0" i="0">
                <a:solidFill>
                  <a:srgbClr val="222A33"/>
                </a:solidFill>
                <a:latin typeface="Calibri"/>
              </a:rPr>
              <a:t>Step 5, revocation: has the certificate been revoked before it expired? (CRL or OCSP, covered in the PKI section.)</a:t>
            </a:r>
          </a:p>
          <a:p>
            <a:pPr marL="201168" indent="-201168">
              <a:spcAft>
                <a:spcPts val="900"/>
              </a:spcAft>
              <a:buFont typeface="Arial"/>
              <a:buChar char="–"/>
            </a:pPr>
            <a:r>
              <a:rPr sz="1400" b="0" i="0">
                <a:solidFill>
                  <a:srgbClr val="222A33"/>
                </a:solidFill>
                <a:latin typeface="Calibri"/>
              </a:rPr>
              <a:t>Step 6, possession: the server proves it holds the matching private key by signing something during the handshake. Without this, anyone could replay a copied certificate.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Certificate Types: DV, OV, EV, Self-Signed</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DIGITAL CERTIFICATES</a:t>
            </a:r>
          </a:p>
        </p:txBody>
      </p:sp>
      <p:graphicFrame>
        <p:nvGraphicFramePr>
          <p:cNvPr id="4" name="Table 3"/>
          <p:cNvGraphicFramePr>
            <a:graphicFrameLocks noGrp="1"/>
          </p:cNvGraphicFramePr>
          <p:nvPr/>
        </p:nvGraphicFramePr>
        <p:xfrm>
          <a:off x="274320" y="1737360"/>
          <a:ext cx="11612880" cy="384048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768096">
                <a:tc>
                  <a:txBody>
                    <a:bodyPr/>
                    <a:lstStyle/>
                    <a:p>
                      <a:r>
                        <a:rPr sz="1300" b="1" i="0">
                          <a:solidFill>
                            <a:srgbClr val="FFFFFF"/>
                          </a:solidFill>
                          <a:latin typeface="Calibri"/>
                        </a:rPr>
                        <a:t>Type</a:t>
                      </a:r>
                    </a:p>
                  </a:txBody>
                  <a:tcPr marL="73152" marR="73152" marT="27432" marB="27432" anchor="ctr">
                    <a:solidFill>
                      <a:srgbClr val="003054"/>
                    </a:solidFill>
                  </a:tcPr>
                </a:tc>
                <a:tc>
                  <a:txBody>
                    <a:bodyPr/>
                    <a:lstStyle/>
                    <a:p>
                      <a:r>
                        <a:rPr sz="1300" b="1" i="0">
                          <a:solidFill>
                            <a:srgbClr val="FFFFFF"/>
                          </a:solidFill>
                          <a:latin typeface="Calibri"/>
                        </a:rPr>
                        <a:t>What the CA Verifies</a:t>
                      </a:r>
                    </a:p>
                  </a:txBody>
                  <a:tcPr marL="73152" marR="73152" marT="27432" marB="27432" anchor="ctr">
                    <a:solidFill>
                      <a:srgbClr val="003054"/>
                    </a:solidFill>
                  </a:tcPr>
                </a:tc>
                <a:tc>
                  <a:txBody>
                    <a:bodyPr/>
                    <a:lstStyle/>
                    <a:p>
                      <a:r>
                        <a:rPr sz="1300" b="1" i="0">
                          <a:solidFill>
                            <a:srgbClr val="FFFFFF"/>
                          </a:solidFill>
                          <a:latin typeface="Calibri"/>
                        </a:rPr>
                        <a:t>Typical Use</a:t>
                      </a:r>
                    </a:p>
                  </a:txBody>
                  <a:tcPr marL="73152" marR="73152" marT="27432" marB="27432" anchor="ctr">
                    <a:solidFill>
                      <a:srgbClr val="003054"/>
                    </a:solidFill>
                  </a:tcPr>
                </a:tc>
                <a:tc>
                  <a:txBody>
                    <a:bodyPr/>
                    <a:lstStyle/>
                    <a:p>
                      <a:r>
                        <a:rPr sz="1300" b="1" i="0">
                          <a:solidFill>
                            <a:srgbClr val="FFFFFF"/>
                          </a:solidFill>
                          <a:latin typeface="Calibri"/>
                        </a:rPr>
                        <a:t>Trade-off</a:t>
                      </a:r>
                    </a:p>
                  </a:txBody>
                  <a:tcPr marL="73152" marR="73152" marT="27432" marB="27432" anchor="ctr">
                    <a:solidFill>
                      <a:srgbClr val="003054"/>
                    </a:solidFill>
                  </a:tcPr>
                </a:tc>
                <a:extLst>
                  <a:ext uri="{0D108BD9-81ED-4DB2-BD59-A6C34878D82A}">
                    <a16:rowId xmlns:a16="http://schemas.microsoft.com/office/drawing/2014/main" val="10000"/>
                  </a:ext>
                </a:extLst>
              </a:tr>
              <a:tr h="768096">
                <a:tc>
                  <a:txBody>
                    <a:bodyPr/>
                    <a:lstStyle/>
                    <a:p>
                      <a:r>
                        <a:rPr sz="1200" b="0" i="0">
                          <a:solidFill>
                            <a:srgbClr val="222A33"/>
                          </a:solidFill>
                          <a:latin typeface="Calibri"/>
                        </a:rPr>
                        <a:t>Domain Validated (DV)</a:t>
                      </a:r>
                    </a:p>
                  </a:txBody>
                  <a:tcPr marL="73152" marR="73152" marT="27432" marB="27432" anchor="ctr">
                    <a:solidFill>
                      <a:srgbClr val="FFFFFF"/>
                    </a:solidFill>
                  </a:tcPr>
                </a:tc>
                <a:tc>
                  <a:txBody>
                    <a:bodyPr/>
                    <a:lstStyle/>
                    <a:p>
                      <a:r>
                        <a:rPr sz="1200" b="0" i="0">
                          <a:solidFill>
                            <a:srgbClr val="222A33"/>
                          </a:solidFill>
                          <a:latin typeface="Calibri"/>
                        </a:rPr>
                        <a:t>Only that the applicant controls the domain name</a:t>
                      </a:r>
                    </a:p>
                  </a:txBody>
                  <a:tcPr marL="73152" marR="73152" marT="27432" marB="27432" anchor="ctr">
                    <a:solidFill>
                      <a:srgbClr val="FFFFFF"/>
                    </a:solidFill>
                  </a:tcPr>
                </a:tc>
                <a:tc>
                  <a:txBody>
                    <a:bodyPr/>
                    <a:lstStyle/>
                    <a:p>
                      <a:r>
                        <a:rPr sz="1200" b="0" i="0">
                          <a:solidFill>
                            <a:srgbClr val="222A33"/>
                          </a:solidFill>
                          <a:latin typeface="Calibri"/>
                        </a:rPr>
                        <a:t>Most websites, automated issuance</a:t>
                      </a:r>
                    </a:p>
                  </a:txBody>
                  <a:tcPr marL="73152" marR="73152" marT="27432" marB="27432" anchor="ctr">
                    <a:solidFill>
                      <a:srgbClr val="FFFFFF"/>
                    </a:solidFill>
                  </a:tcPr>
                </a:tc>
                <a:tc>
                  <a:txBody>
                    <a:bodyPr/>
                    <a:lstStyle/>
                    <a:p>
                      <a:r>
                        <a:rPr sz="1200" b="0" i="0">
                          <a:solidFill>
                            <a:srgbClr val="222A33"/>
                          </a:solidFill>
                          <a:latin typeface="Calibri"/>
                        </a:rPr>
                        <a:t>Fast and cheap, but says nothing about who is behind the site</a:t>
                      </a:r>
                    </a:p>
                  </a:txBody>
                  <a:tcPr marL="73152" marR="73152" marT="27432" marB="27432" anchor="ctr">
                    <a:solidFill>
                      <a:srgbClr val="FFFFFF"/>
                    </a:solidFill>
                  </a:tcPr>
                </a:tc>
                <a:extLst>
                  <a:ext uri="{0D108BD9-81ED-4DB2-BD59-A6C34878D82A}">
                    <a16:rowId xmlns:a16="http://schemas.microsoft.com/office/drawing/2014/main" val="10001"/>
                  </a:ext>
                </a:extLst>
              </a:tr>
              <a:tr h="768096">
                <a:tc>
                  <a:txBody>
                    <a:bodyPr/>
                    <a:lstStyle/>
                    <a:p>
                      <a:r>
                        <a:rPr sz="1200" b="0" i="0">
                          <a:solidFill>
                            <a:srgbClr val="222A33"/>
                          </a:solidFill>
                          <a:latin typeface="Calibri"/>
                        </a:rPr>
                        <a:t>Organisation Validated (OV)</a:t>
                      </a:r>
                    </a:p>
                  </a:txBody>
                  <a:tcPr marL="73152" marR="73152" marT="27432" marB="27432" anchor="ctr">
                    <a:solidFill>
                      <a:srgbClr val="F2F4F7"/>
                    </a:solidFill>
                  </a:tcPr>
                </a:tc>
                <a:tc>
                  <a:txBody>
                    <a:bodyPr/>
                    <a:lstStyle/>
                    <a:p>
                      <a:r>
                        <a:rPr sz="1200" b="0" i="0">
                          <a:solidFill>
                            <a:srgbClr val="222A33"/>
                          </a:solidFill>
                          <a:latin typeface="Calibri"/>
                        </a:rPr>
                        <a:t>Domain control plus the organisation's legal existence</a:t>
                      </a:r>
                    </a:p>
                  </a:txBody>
                  <a:tcPr marL="73152" marR="73152" marT="27432" marB="27432" anchor="ctr">
                    <a:solidFill>
                      <a:srgbClr val="F2F4F7"/>
                    </a:solidFill>
                  </a:tcPr>
                </a:tc>
                <a:tc>
                  <a:txBody>
                    <a:bodyPr/>
                    <a:lstStyle/>
                    <a:p>
                      <a:r>
                        <a:rPr sz="1200" b="0" i="0">
                          <a:solidFill>
                            <a:srgbClr val="222A33"/>
                          </a:solidFill>
                          <a:latin typeface="Calibri"/>
                        </a:rPr>
                        <a:t>Business and institutional sites</a:t>
                      </a:r>
                    </a:p>
                  </a:txBody>
                  <a:tcPr marL="73152" marR="73152" marT="27432" marB="27432" anchor="ctr">
                    <a:solidFill>
                      <a:srgbClr val="F2F4F7"/>
                    </a:solidFill>
                  </a:tcPr>
                </a:tc>
                <a:tc>
                  <a:txBody>
                    <a:bodyPr/>
                    <a:lstStyle/>
                    <a:p>
                      <a:r>
                        <a:rPr sz="1200" b="0" i="0">
                          <a:solidFill>
                            <a:srgbClr val="222A33"/>
                          </a:solidFill>
                          <a:latin typeface="Calibri"/>
                        </a:rPr>
                        <a:t>More assurance, slower issuance</a:t>
                      </a:r>
                    </a:p>
                  </a:txBody>
                  <a:tcPr marL="73152" marR="73152" marT="27432" marB="27432" anchor="ctr">
                    <a:solidFill>
                      <a:srgbClr val="F2F4F7"/>
                    </a:solidFill>
                  </a:tcPr>
                </a:tc>
                <a:extLst>
                  <a:ext uri="{0D108BD9-81ED-4DB2-BD59-A6C34878D82A}">
                    <a16:rowId xmlns:a16="http://schemas.microsoft.com/office/drawing/2014/main" val="10002"/>
                  </a:ext>
                </a:extLst>
              </a:tr>
              <a:tr h="768096">
                <a:tc>
                  <a:txBody>
                    <a:bodyPr/>
                    <a:lstStyle/>
                    <a:p>
                      <a:r>
                        <a:rPr sz="1200" b="0" i="0">
                          <a:solidFill>
                            <a:srgbClr val="222A33"/>
                          </a:solidFill>
                          <a:latin typeface="Calibri"/>
                        </a:rPr>
                        <a:t>Extended Validation (EV)</a:t>
                      </a:r>
                    </a:p>
                  </a:txBody>
                  <a:tcPr marL="73152" marR="73152" marT="27432" marB="27432" anchor="ctr">
                    <a:solidFill>
                      <a:srgbClr val="FFFFFF"/>
                    </a:solidFill>
                  </a:tcPr>
                </a:tc>
                <a:tc>
                  <a:txBody>
                    <a:bodyPr/>
                    <a:lstStyle/>
                    <a:p>
                      <a:r>
                        <a:rPr sz="1200" b="0" i="0">
                          <a:solidFill>
                            <a:srgbClr val="222A33"/>
                          </a:solidFill>
                          <a:latin typeface="Calibri"/>
                        </a:rPr>
                        <a:t>A more rigorous check of the organisation's identity</a:t>
                      </a:r>
                    </a:p>
                  </a:txBody>
                  <a:tcPr marL="73152" marR="73152" marT="27432" marB="27432" anchor="ctr">
                    <a:solidFill>
                      <a:srgbClr val="FFFFFF"/>
                    </a:solidFill>
                  </a:tcPr>
                </a:tc>
                <a:tc>
                  <a:txBody>
                    <a:bodyPr/>
                    <a:lstStyle/>
                    <a:p>
                      <a:r>
                        <a:rPr sz="1200" b="0" i="0">
                          <a:solidFill>
                            <a:srgbClr val="222A33"/>
                          </a:solidFill>
                          <a:latin typeface="Calibri"/>
                        </a:rPr>
                        <a:t>Banks and high-risk sites</a:t>
                      </a:r>
                    </a:p>
                  </a:txBody>
                  <a:tcPr marL="73152" marR="73152" marT="27432" marB="27432" anchor="ctr">
                    <a:solidFill>
                      <a:srgbClr val="FFFFFF"/>
                    </a:solidFill>
                  </a:tcPr>
                </a:tc>
                <a:tc>
                  <a:txBody>
                    <a:bodyPr/>
                    <a:lstStyle/>
                    <a:p>
                      <a:r>
                        <a:rPr sz="1200" b="0" i="0">
                          <a:solidFill>
                            <a:srgbClr val="222A33"/>
                          </a:solidFill>
                          <a:latin typeface="Calibri"/>
                        </a:rPr>
                        <a:t>Highest vetting, though browsers now display it far less prominently</a:t>
                      </a:r>
                    </a:p>
                  </a:txBody>
                  <a:tcPr marL="73152" marR="73152" marT="27432" marB="27432" anchor="ctr">
                    <a:solidFill>
                      <a:srgbClr val="FFFFFF"/>
                    </a:solidFill>
                  </a:tcPr>
                </a:tc>
                <a:extLst>
                  <a:ext uri="{0D108BD9-81ED-4DB2-BD59-A6C34878D82A}">
                    <a16:rowId xmlns:a16="http://schemas.microsoft.com/office/drawing/2014/main" val="10003"/>
                  </a:ext>
                </a:extLst>
              </a:tr>
              <a:tr h="768096">
                <a:tc>
                  <a:txBody>
                    <a:bodyPr/>
                    <a:lstStyle/>
                    <a:p>
                      <a:r>
                        <a:rPr sz="1200" b="0" i="0">
                          <a:solidFill>
                            <a:srgbClr val="222A33"/>
                          </a:solidFill>
                          <a:latin typeface="Calibri"/>
                        </a:rPr>
                        <a:t>Self-signed</a:t>
                      </a:r>
                    </a:p>
                  </a:txBody>
                  <a:tcPr marL="73152" marR="73152" marT="27432" marB="27432" anchor="ctr">
                    <a:solidFill>
                      <a:srgbClr val="F2F4F7"/>
                    </a:solidFill>
                  </a:tcPr>
                </a:tc>
                <a:tc>
                  <a:txBody>
                    <a:bodyPr/>
                    <a:lstStyle/>
                    <a:p>
                      <a:r>
                        <a:rPr sz="1200" b="0" i="0">
                          <a:solidFill>
                            <a:srgbClr val="222A33"/>
                          </a:solidFill>
                          <a:latin typeface="Calibri"/>
                        </a:rPr>
                        <a:t>Nothing: the subject signs its own certificate</a:t>
                      </a:r>
                    </a:p>
                  </a:txBody>
                  <a:tcPr marL="73152" marR="73152" marT="27432" marB="27432" anchor="ctr">
                    <a:solidFill>
                      <a:srgbClr val="F2F4F7"/>
                    </a:solidFill>
                  </a:tcPr>
                </a:tc>
                <a:tc>
                  <a:txBody>
                    <a:bodyPr/>
                    <a:lstStyle/>
                    <a:p>
                      <a:r>
                        <a:rPr sz="1200" b="0" i="0">
                          <a:solidFill>
                            <a:srgbClr val="222A33"/>
                          </a:solidFill>
                          <a:latin typeface="Calibri"/>
                        </a:rPr>
                        <a:t>Labs, internal tests, some devices</a:t>
                      </a:r>
                    </a:p>
                  </a:txBody>
                  <a:tcPr marL="73152" marR="73152" marT="27432" marB="27432" anchor="ctr">
                    <a:solidFill>
                      <a:srgbClr val="F2F4F7"/>
                    </a:solidFill>
                  </a:tcPr>
                </a:tc>
                <a:tc>
                  <a:txBody>
                    <a:bodyPr/>
                    <a:lstStyle/>
                    <a:p>
                      <a:r>
                        <a:rPr sz="1200" b="0" i="0">
                          <a:solidFill>
                            <a:srgbClr val="222A33"/>
                          </a:solidFill>
                          <a:latin typeface="Calibri"/>
                        </a:rPr>
                        <a:t>No third party vouches for it, so browsers warn and users must trust it manually</a:t>
                      </a:r>
                    </a:p>
                  </a:txBody>
                  <a:tcPr marL="73152" marR="73152" marT="27432" marB="27432" anchor="ctr">
                    <a:solidFill>
                      <a:srgbClr val="F2F4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Public Key Infrastructure</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The system that makes certificates trustworthy at scale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PKI Components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PKI</a:t>
            </a:r>
          </a:p>
        </p:txBody>
      </p:sp>
      <p:graphicFrame>
        <p:nvGraphicFramePr>
          <p:cNvPr id="4" name="Table 3"/>
          <p:cNvGraphicFramePr>
            <a:graphicFrameLocks noGrp="1"/>
          </p:cNvGraphicFramePr>
          <p:nvPr/>
        </p:nvGraphicFramePr>
        <p:xfrm>
          <a:off x="274320" y="1737360"/>
          <a:ext cx="11612880" cy="3566160"/>
        </p:xfrm>
        <a:graphic>
          <a:graphicData uri="http://schemas.openxmlformats.org/drawingml/2006/table">
            <a:tbl>
              <a:tblPr firstRow="1" bandRow="1">
                <a:tableStyleId>{5C22544A-7EE6-4342-B048-85BDC9FD1C3A}</a:tableStyleId>
              </a:tblPr>
              <a:tblGrid>
                <a:gridCol w="3291840">
                  <a:extLst>
                    <a:ext uri="{9D8B030D-6E8A-4147-A177-3AD203B41FA5}">
                      <a16:colId xmlns:a16="http://schemas.microsoft.com/office/drawing/2014/main" val="20000"/>
                    </a:ext>
                  </a:extLst>
                </a:gridCol>
                <a:gridCol w="8321040">
                  <a:extLst>
                    <a:ext uri="{9D8B030D-6E8A-4147-A177-3AD203B41FA5}">
                      <a16:colId xmlns:a16="http://schemas.microsoft.com/office/drawing/2014/main" val="20001"/>
                    </a:ext>
                  </a:extLst>
                </a:gridCol>
              </a:tblGrid>
              <a:tr h="594360">
                <a:tc>
                  <a:txBody>
                    <a:bodyPr/>
                    <a:lstStyle/>
                    <a:p>
                      <a:r>
                        <a:rPr sz="1300" b="1" i="0">
                          <a:solidFill>
                            <a:srgbClr val="FFFFFF"/>
                          </a:solidFill>
                          <a:latin typeface="Calibri"/>
                        </a:rPr>
                        <a:t>Component</a:t>
                      </a:r>
                    </a:p>
                  </a:txBody>
                  <a:tcPr marL="73152" marR="73152" marT="27432" marB="27432" anchor="ctr">
                    <a:solidFill>
                      <a:srgbClr val="003054"/>
                    </a:solidFill>
                  </a:tcPr>
                </a:tc>
                <a:tc>
                  <a:txBody>
                    <a:bodyPr/>
                    <a:lstStyle/>
                    <a:p>
                      <a:r>
                        <a:rPr sz="1300" b="1" i="0">
                          <a:solidFill>
                            <a:srgbClr val="FFFFFF"/>
                          </a:solidFill>
                          <a:latin typeface="Calibri"/>
                        </a:rPr>
                        <a:t>Role</a:t>
                      </a:r>
                    </a:p>
                  </a:txBody>
                  <a:tcPr marL="73152" marR="73152" marT="27432" marB="27432" anchor="ctr">
                    <a:solidFill>
                      <a:srgbClr val="003054"/>
                    </a:solidFill>
                  </a:tcPr>
                </a:tc>
                <a:extLst>
                  <a:ext uri="{0D108BD9-81ED-4DB2-BD59-A6C34878D82A}">
                    <a16:rowId xmlns:a16="http://schemas.microsoft.com/office/drawing/2014/main" val="10000"/>
                  </a:ext>
                </a:extLst>
              </a:tr>
              <a:tr h="594360">
                <a:tc>
                  <a:txBody>
                    <a:bodyPr/>
                    <a:lstStyle/>
                    <a:p>
                      <a:r>
                        <a:rPr sz="1300" b="0" i="0">
                          <a:solidFill>
                            <a:srgbClr val="222A33"/>
                          </a:solidFill>
                          <a:latin typeface="Calibri"/>
                        </a:rPr>
                        <a:t>Certificate Authority (CA)</a:t>
                      </a:r>
                    </a:p>
                  </a:txBody>
                  <a:tcPr marL="73152" marR="73152" marT="27432" marB="27432" anchor="ctr">
                    <a:solidFill>
                      <a:srgbClr val="FFFFFF"/>
                    </a:solidFill>
                  </a:tcPr>
                </a:tc>
                <a:tc>
                  <a:txBody>
                    <a:bodyPr/>
                    <a:lstStyle/>
                    <a:p>
                      <a:r>
                        <a:rPr sz="1300" b="0" i="0">
                          <a:solidFill>
                            <a:srgbClr val="222A33"/>
                          </a:solidFill>
                          <a:latin typeface="Calibri"/>
                        </a:rPr>
                        <a:t>Issues, signs, and revokes certificates. Its private key is the root of trust and must be guarded extremely carefully.</a:t>
                      </a:r>
                    </a:p>
                  </a:txBody>
                  <a:tcPr marL="73152" marR="73152" marT="27432" marB="27432" anchor="ctr">
                    <a:solidFill>
                      <a:srgbClr val="FFFFFF"/>
                    </a:solidFill>
                  </a:tcPr>
                </a:tc>
                <a:extLst>
                  <a:ext uri="{0D108BD9-81ED-4DB2-BD59-A6C34878D82A}">
                    <a16:rowId xmlns:a16="http://schemas.microsoft.com/office/drawing/2014/main" val="10001"/>
                  </a:ext>
                </a:extLst>
              </a:tr>
              <a:tr h="594360">
                <a:tc>
                  <a:txBody>
                    <a:bodyPr/>
                    <a:lstStyle/>
                    <a:p>
                      <a:r>
                        <a:rPr sz="1300" b="0" i="0">
                          <a:solidFill>
                            <a:srgbClr val="222A33"/>
                          </a:solidFill>
                          <a:latin typeface="Calibri"/>
                        </a:rPr>
                        <a:t>Registration Authority (RA)</a:t>
                      </a:r>
                    </a:p>
                  </a:txBody>
                  <a:tcPr marL="73152" marR="73152" marT="27432" marB="27432" anchor="ctr">
                    <a:solidFill>
                      <a:srgbClr val="F2F4F7"/>
                    </a:solidFill>
                  </a:tcPr>
                </a:tc>
                <a:tc>
                  <a:txBody>
                    <a:bodyPr/>
                    <a:lstStyle/>
                    <a:p>
                      <a:r>
                        <a:rPr sz="1300" b="0" i="0">
                          <a:solidFill>
                            <a:srgbClr val="222A33"/>
                          </a:solidFill>
                          <a:latin typeface="Calibri"/>
                        </a:rPr>
                        <a:t>Verifies the applicant's identity on the CA's behalf, so that the CA's signing key stays isolated.</a:t>
                      </a:r>
                    </a:p>
                  </a:txBody>
                  <a:tcPr marL="73152" marR="73152" marT="27432" marB="27432" anchor="ctr">
                    <a:solidFill>
                      <a:srgbClr val="F2F4F7"/>
                    </a:solidFill>
                  </a:tcPr>
                </a:tc>
                <a:extLst>
                  <a:ext uri="{0D108BD9-81ED-4DB2-BD59-A6C34878D82A}">
                    <a16:rowId xmlns:a16="http://schemas.microsoft.com/office/drawing/2014/main" val="10002"/>
                  </a:ext>
                </a:extLst>
              </a:tr>
              <a:tr h="594360">
                <a:tc>
                  <a:txBody>
                    <a:bodyPr/>
                    <a:lstStyle/>
                    <a:p>
                      <a:r>
                        <a:rPr sz="1300" b="0" i="0">
                          <a:solidFill>
                            <a:srgbClr val="222A33"/>
                          </a:solidFill>
                          <a:latin typeface="Calibri"/>
                        </a:rPr>
                        <a:t>End entity (subscriber)</a:t>
                      </a:r>
                    </a:p>
                  </a:txBody>
                  <a:tcPr marL="73152" marR="73152" marT="27432" marB="27432" anchor="ctr">
                    <a:solidFill>
                      <a:srgbClr val="FFFFFF"/>
                    </a:solidFill>
                  </a:tcPr>
                </a:tc>
                <a:tc>
                  <a:txBody>
                    <a:bodyPr/>
                    <a:lstStyle/>
                    <a:p>
                      <a:r>
                        <a:rPr sz="1300" b="0" i="0">
                          <a:solidFill>
                            <a:srgbClr val="222A33"/>
                          </a:solidFill>
                          <a:latin typeface="Calibri"/>
                        </a:rPr>
                        <a:t>The person, server, or device that requests and uses a certificate.</a:t>
                      </a:r>
                    </a:p>
                  </a:txBody>
                  <a:tcPr marL="73152" marR="73152" marT="27432" marB="27432" anchor="ctr">
                    <a:solidFill>
                      <a:srgbClr val="FFFFFF"/>
                    </a:solidFill>
                  </a:tcPr>
                </a:tc>
                <a:extLst>
                  <a:ext uri="{0D108BD9-81ED-4DB2-BD59-A6C34878D82A}">
                    <a16:rowId xmlns:a16="http://schemas.microsoft.com/office/drawing/2014/main" val="10003"/>
                  </a:ext>
                </a:extLst>
              </a:tr>
              <a:tr h="594360">
                <a:tc>
                  <a:txBody>
                    <a:bodyPr/>
                    <a:lstStyle/>
                    <a:p>
                      <a:r>
                        <a:rPr sz="1300" b="0" i="0">
                          <a:solidFill>
                            <a:srgbClr val="222A33"/>
                          </a:solidFill>
                          <a:latin typeface="Calibri"/>
                        </a:rPr>
                        <a:t>Repository</a:t>
                      </a:r>
                    </a:p>
                  </a:txBody>
                  <a:tcPr marL="73152" marR="73152" marT="27432" marB="27432" anchor="ctr">
                    <a:solidFill>
                      <a:srgbClr val="F2F4F7"/>
                    </a:solidFill>
                  </a:tcPr>
                </a:tc>
                <a:tc>
                  <a:txBody>
                    <a:bodyPr/>
                    <a:lstStyle/>
                    <a:p>
                      <a:r>
                        <a:rPr sz="1300" b="0" i="0">
                          <a:solidFill>
                            <a:srgbClr val="222A33"/>
                          </a:solidFill>
                          <a:latin typeface="Calibri"/>
                        </a:rPr>
                        <a:t>A public directory where certificates and revocation information are published.</a:t>
                      </a:r>
                    </a:p>
                  </a:txBody>
                  <a:tcPr marL="73152" marR="73152" marT="27432" marB="27432" anchor="ctr">
                    <a:solidFill>
                      <a:srgbClr val="F2F4F7"/>
                    </a:solidFill>
                  </a:tcPr>
                </a:tc>
                <a:extLst>
                  <a:ext uri="{0D108BD9-81ED-4DB2-BD59-A6C34878D82A}">
                    <a16:rowId xmlns:a16="http://schemas.microsoft.com/office/drawing/2014/main" val="10004"/>
                  </a:ext>
                </a:extLst>
              </a:tr>
              <a:tr h="594360">
                <a:tc>
                  <a:txBody>
                    <a:bodyPr/>
                    <a:lstStyle/>
                    <a:p>
                      <a:r>
                        <a:rPr sz="1300" b="0" i="0">
                          <a:solidFill>
                            <a:srgbClr val="222A33"/>
                          </a:solidFill>
                          <a:latin typeface="Calibri"/>
                        </a:rPr>
                        <a:t>Relying party</a:t>
                      </a:r>
                    </a:p>
                  </a:txBody>
                  <a:tcPr marL="73152" marR="73152" marT="27432" marB="27432" anchor="ctr">
                    <a:solidFill>
                      <a:srgbClr val="FFFFFF"/>
                    </a:solidFill>
                  </a:tcPr>
                </a:tc>
                <a:tc>
                  <a:txBody>
                    <a:bodyPr/>
                    <a:lstStyle/>
                    <a:p>
                      <a:r>
                        <a:rPr sz="1300" b="0" i="0">
                          <a:solidFill>
                            <a:srgbClr val="222A33"/>
                          </a:solidFill>
                          <a:latin typeface="Calibri"/>
                        </a:rPr>
                        <a:t>Whoever receives a certificate and decides whether to trust it, such as a browser or a router.</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Chain of Trust: Root, Intermediate, Leaf</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PKI</a:t>
            </a:r>
          </a:p>
        </p:txBody>
      </p:sp>
      <p:sp>
        <p:nvSpPr>
          <p:cNvPr id="4" name="Rounded Rectangle 3"/>
          <p:cNvSpPr/>
          <p:nvPr/>
        </p:nvSpPr>
        <p:spPr>
          <a:xfrm>
            <a:off x="914400" y="1920240"/>
            <a:ext cx="3108960" cy="8229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Root CA: self-signed, kept offline</a:t>
            </a:r>
          </a:p>
        </p:txBody>
      </p:sp>
      <p:sp>
        <p:nvSpPr>
          <p:cNvPr id="5" name="Rounded Rectangle 4"/>
          <p:cNvSpPr/>
          <p:nvPr/>
        </p:nvSpPr>
        <p:spPr>
          <a:xfrm>
            <a:off x="4572000" y="1920240"/>
            <a:ext cx="3108960" cy="8229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Intermediate CA: signed by the root</a:t>
            </a:r>
          </a:p>
        </p:txBody>
      </p:sp>
      <p:sp>
        <p:nvSpPr>
          <p:cNvPr id="6" name="Rounded Rectangle 5"/>
          <p:cNvSpPr/>
          <p:nvPr/>
        </p:nvSpPr>
        <p:spPr>
          <a:xfrm>
            <a:off x="8229600" y="1920240"/>
            <a:ext cx="3108960" cy="82296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300" b="1" i="0">
                <a:solidFill>
                  <a:srgbClr val="FFFFFF"/>
                </a:solidFill>
                <a:latin typeface="Calibri"/>
              </a:rPr>
              <a:t>Leaf certificate: signed by the intermediate</a:t>
            </a:r>
          </a:p>
        </p:txBody>
      </p:sp>
      <p:cxnSp>
        <p:nvCxnSpPr>
          <p:cNvPr id="7" name="Connector 6"/>
          <p:cNvCxnSpPr/>
          <p:nvPr/>
        </p:nvCxnSpPr>
        <p:spPr>
          <a:xfrm>
            <a:off x="4023360" y="2331720"/>
            <a:ext cx="548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7680960" y="2331720"/>
            <a:ext cx="548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2880360"/>
            <a:ext cx="3108960" cy="45720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i="0">
                <a:solidFill>
                  <a:srgbClr val="222A33"/>
                </a:solidFill>
                <a:latin typeface="Calibri"/>
              </a:rPr>
              <a:t>Trusted because it is in the root store</a:t>
            </a:r>
          </a:p>
        </p:txBody>
      </p:sp>
      <p:sp>
        <p:nvSpPr>
          <p:cNvPr id="10" name="Rounded Rectangle 9"/>
          <p:cNvSpPr/>
          <p:nvPr/>
        </p:nvSpPr>
        <p:spPr>
          <a:xfrm>
            <a:off x="4572000" y="2880360"/>
            <a:ext cx="3108960" cy="45720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i="0">
                <a:solidFill>
                  <a:srgbClr val="222A33"/>
                </a:solidFill>
                <a:latin typeface="Calibri"/>
              </a:rPr>
              <a:t>Does the day-to-day signing</a:t>
            </a:r>
          </a:p>
        </p:txBody>
      </p:sp>
      <p:sp>
        <p:nvSpPr>
          <p:cNvPr id="11" name="Rounded Rectangle 10"/>
          <p:cNvSpPr/>
          <p:nvPr/>
        </p:nvSpPr>
        <p:spPr>
          <a:xfrm>
            <a:off x="8229600" y="2880360"/>
            <a:ext cx="3108960" cy="45720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0" i="0">
                <a:solidFill>
                  <a:srgbClr val="222A33"/>
                </a:solidFill>
                <a:latin typeface="Calibri"/>
              </a:rPr>
              <a:t>The website or device's own certificate</a:t>
            </a:r>
          </a:p>
        </p:txBody>
      </p:sp>
      <p:sp>
        <p:nvSpPr>
          <p:cNvPr id="12" name="TextBox 11"/>
          <p:cNvSpPr txBox="1"/>
          <p:nvPr/>
        </p:nvSpPr>
        <p:spPr>
          <a:xfrm>
            <a:off x="731520" y="3657600"/>
            <a:ext cx="10698480" cy="21945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Why an intermediate: the root's private key is so valuable that it is kept offline and used rarely. An intermediate does the daily signing, so if it is compromised, only it needs to be revoked and replaced, not the root.</a:t>
            </a:r>
          </a:p>
          <a:p>
            <a:pPr marL="201168" indent="-201168">
              <a:spcAft>
                <a:spcPts val="1100"/>
              </a:spcAft>
              <a:buFont typeface="Arial"/>
              <a:buChar char="–"/>
            </a:pPr>
            <a:r>
              <a:rPr sz="1400" b="0" i="0">
                <a:solidFill>
                  <a:srgbClr val="222A33"/>
                </a:solidFill>
                <a:latin typeface="Calibri"/>
              </a:rPr>
              <a:t>A server normally sends its leaf and intermediate together. The client already holds the root, and verifies each link in turn, exactly as in verification step 4.</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Root Stores: Trust Is a Policy Decision</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PKI</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A root certificate is trusted simply because it is already installed in the relying party's root store. Operating systems and browsers ship with a curated list of a few hundred roots, and their vendors decide who is on it.</a:t>
            </a:r>
          </a:p>
          <a:p>
            <a:pPr marL="201168" indent="-201168">
              <a:spcAft>
                <a:spcPts val="1100"/>
              </a:spcAft>
              <a:buFont typeface="Arial"/>
              <a:buChar char="–"/>
            </a:pPr>
            <a:r>
              <a:rPr sz="1500" b="0" i="0">
                <a:solidFill>
                  <a:srgbClr val="222A33"/>
                </a:solidFill>
                <a:latin typeface="Calibri"/>
              </a:rPr>
              <a:t>Trust is therefore a policy decision, not a mathematical fact. A CA earns a place by passing audits, and can be removed if it misbehaves.</a:t>
            </a:r>
          </a:p>
          <a:p>
            <a:pPr marL="201168" indent="-201168">
              <a:spcAft>
                <a:spcPts val="1100"/>
              </a:spcAft>
              <a:buFont typeface="Arial"/>
              <a:buChar char="–"/>
            </a:pPr>
            <a:r>
              <a:rPr sz="1500" b="0" i="0">
                <a:solidFill>
                  <a:srgbClr val="222A33"/>
                </a:solidFill>
                <a:latin typeface="Calibri"/>
              </a:rPr>
              <a:t>Organisations can add their own internal root through device management, so internal servers and devices are trusted without a public CA. Whoever controls that root can issue certificates the whole organisation will trust.</a:t>
            </a:r>
          </a:p>
          <a:p>
            <a:pPr marL="201168" indent="-201168">
              <a:spcAft>
                <a:spcPts val="1100"/>
              </a:spcAft>
              <a:buFont typeface="Arial"/>
              <a:buChar char="–"/>
            </a:pPr>
            <a:r>
              <a:rPr sz="1500" b="0" i="0">
                <a:solidFill>
                  <a:srgbClr val="222A33"/>
                </a:solidFill>
                <a:latin typeface="Calibri"/>
              </a:rPr>
              <a:t>Callback to Week 5: RPKI used the same idea of a chain of trust from a trust anchor, with regional internet registries at the top, to authenticate who owns an IP prefix. The structure is similar; the trust anchors are different.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Revocation: CRL vs OCSP</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PKI</a:t>
            </a:r>
          </a:p>
        </p:txBody>
      </p:sp>
      <p:graphicFrame>
        <p:nvGraphicFramePr>
          <p:cNvPr id="4" name="Table 3"/>
          <p:cNvGraphicFramePr>
            <a:graphicFrameLocks noGrp="1"/>
          </p:cNvGraphicFramePr>
          <p:nvPr/>
        </p:nvGraphicFramePr>
        <p:xfrm>
          <a:off x="274320" y="1737360"/>
          <a:ext cx="11612880" cy="38404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640080">
                <a:tc>
                  <a:txBody>
                    <a:bodyPr/>
                    <a:lstStyle/>
                    <a:p>
                      <a:r>
                        <a:rPr sz="1300" b="1" i="0">
                          <a:solidFill>
                            <a:srgbClr val="FFFFFF"/>
                          </a:solidFill>
                          <a:latin typeface="Calibri"/>
                        </a:rPr>
                        <a:t>Aspect</a:t>
                      </a:r>
                    </a:p>
                  </a:txBody>
                  <a:tcPr marL="73152" marR="73152" marT="27432" marB="27432" anchor="ctr">
                    <a:solidFill>
                      <a:srgbClr val="003054"/>
                    </a:solidFill>
                  </a:tcPr>
                </a:tc>
                <a:tc>
                  <a:txBody>
                    <a:bodyPr/>
                    <a:lstStyle/>
                    <a:p>
                      <a:r>
                        <a:rPr sz="1300" b="1" i="0">
                          <a:solidFill>
                            <a:srgbClr val="FFFFFF"/>
                          </a:solidFill>
                          <a:latin typeface="Calibri"/>
                        </a:rPr>
                        <a:t>CRL (Certificate Revocation List)</a:t>
                      </a:r>
                    </a:p>
                  </a:txBody>
                  <a:tcPr marL="73152" marR="73152" marT="27432" marB="27432" anchor="ctr">
                    <a:solidFill>
                      <a:srgbClr val="003054"/>
                    </a:solidFill>
                  </a:tcPr>
                </a:tc>
                <a:tc>
                  <a:txBody>
                    <a:bodyPr/>
                    <a:lstStyle/>
                    <a:p>
                      <a:r>
                        <a:rPr sz="1300" b="1" i="0">
                          <a:solidFill>
                            <a:srgbClr val="FFFFFF"/>
                          </a:solidFill>
                          <a:latin typeface="Calibri"/>
                        </a:rPr>
                        <a:t>OCSP (Online Certificate Status Protocol)</a:t>
                      </a:r>
                    </a:p>
                  </a:txBody>
                  <a:tcPr marL="73152" marR="73152" marT="27432" marB="27432" anchor="ctr">
                    <a:solidFill>
                      <a:srgbClr val="003054"/>
                    </a:solidFill>
                  </a:tcPr>
                </a:tc>
                <a:extLst>
                  <a:ext uri="{0D108BD9-81ED-4DB2-BD59-A6C34878D82A}">
                    <a16:rowId xmlns:a16="http://schemas.microsoft.com/office/drawing/2014/main" val="10000"/>
                  </a:ext>
                </a:extLst>
              </a:tr>
              <a:tr h="640080">
                <a:tc>
                  <a:txBody>
                    <a:bodyPr/>
                    <a:lstStyle/>
                    <a:p>
                      <a:r>
                        <a:rPr sz="1200" b="0" i="0">
                          <a:solidFill>
                            <a:srgbClr val="222A33"/>
                          </a:solidFill>
                          <a:latin typeface="Calibri"/>
                        </a:rPr>
                        <a:t>How it works</a:t>
                      </a:r>
                    </a:p>
                  </a:txBody>
                  <a:tcPr marL="73152" marR="73152" marT="27432" marB="27432" anchor="ctr">
                    <a:solidFill>
                      <a:srgbClr val="FFFFFF"/>
                    </a:solidFill>
                  </a:tcPr>
                </a:tc>
                <a:tc>
                  <a:txBody>
                    <a:bodyPr/>
                    <a:lstStyle/>
                    <a:p>
                      <a:r>
                        <a:rPr sz="1200" b="0" i="0">
                          <a:solidFill>
                            <a:srgbClr val="222A33"/>
                          </a:solidFill>
                          <a:latin typeface="Calibri"/>
                        </a:rPr>
                        <a:t>The CA publishes a signed list of revoked serial numbers; clients download it</a:t>
                      </a:r>
                    </a:p>
                  </a:txBody>
                  <a:tcPr marL="73152" marR="73152" marT="27432" marB="27432" anchor="ctr">
                    <a:solidFill>
                      <a:srgbClr val="FFFFFF"/>
                    </a:solidFill>
                  </a:tcPr>
                </a:tc>
                <a:tc>
                  <a:txBody>
                    <a:bodyPr/>
                    <a:lstStyle/>
                    <a:p>
                      <a:r>
                        <a:rPr sz="1200" b="0" i="0">
                          <a:solidFill>
                            <a:srgbClr val="222A33"/>
                          </a:solidFill>
                          <a:latin typeface="Calibri"/>
                        </a:rPr>
                        <a:t>The client asks a CA responder about one certificate and gets a signed good, revoked, or unknown reply</a:t>
                      </a:r>
                    </a:p>
                  </a:txBody>
                  <a:tcPr marL="73152" marR="73152" marT="27432" marB="27432" anchor="ctr">
                    <a:solidFill>
                      <a:srgbClr val="FFFFFF"/>
                    </a:solidFill>
                  </a:tcPr>
                </a:tc>
                <a:extLst>
                  <a:ext uri="{0D108BD9-81ED-4DB2-BD59-A6C34878D82A}">
                    <a16:rowId xmlns:a16="http://schemas.microsoft.com/office/drawing/2014/main" val="10001"/>
                  </a:ext>
                </a:extLst>
              </a:tr>
              <a:tr h="640080">
                <a:tc>
                  <a:txBody>
                    <a:bodyPr/>
                    <a:lstStyle/>
                    <a:p>
                      <a:r>
                        <a:rPr sz="1200" b="0" i="0">
                          <a:solidFill>
                            <a:srgbClr val="222A33"/>
                          </a:solidFill>
                          <a:latin typeface="Calibri"/>
                        </a:rPr>
                        <a:t>Freshness</a:t>
                      </a:r>
                    </a:p>
                  </a:txBody>
                  <a:tcPr marL="73152" marR="73152" marT="27432" marB="27432" anchor="ctr">
                    <a:solidFill>
                      <a:srgbClr val="F2F4F7"/>
                    </a:solidFill>
                  </a:tcPr>
                </a:tc>
                <a:tc>
                  <a:txBody>
                    <a:bodyPr/>
                    <a:lstStyle/>
                    <a:p>
                      <a:r>
                        <a:rPr sz="1200" b="0" i="0">
                          <a:solidFill>
                            <a:srgbClr val="222A33"/>
                          </a:solidFill>
                          <a:latin typeface="Calibri"/>
                        </a:rPr>
                        <a:t>Only as current as the last published list</a:t>
                      </a:r>
                    </a:p>
                  </a:txBody>
                  <a:tcPr marL="73152" marR="73152" marT="27432" marB="27432" anchor="ctr">
                    <a:solidFill>
                      <a:srgbClr val="F2F4F7"/>
                    </a:solidFill>
                  </a:tcPr>
                </a:tc>
                <a:tc>
                  <a:txBody>
                    <a:bodyPr/>
                    <a:lstStyle/>
                    <a:p>
                      <a:r>
                        <a:rPr sz="1200" b="0" i="0">
                          <a:solidFill>
                            <a:srgbClr val="222A33"/>
                          </a:solidFill>
                          <a:latin typeface="Calibri"/>
                        </a:rPr>
                        <a:t>Near real time</a:t>
                      </a:r>
                    </a:p>
                  </a:txBody>
                  <a:tcPr marL="73152" marR="73152" marT="27432" marB="27432" anchor="ctr">
                    <a:solidFill>
                      <a:srgbClr val="F2F4F7"/>
                    </a:solidFill>
                  </a:tcPr>
                </a:tc>
                <a:extLst>
                  <a:ext uri="{0D108BD9-81ED-4DB2-BD59-A6C34878D82A}">
                    <a16:rowId xmlns:a16="http://schemas.microsoft.com/office/drawing/2014/main" val="10002"/>
                  </a:ext>
                </a:extLst>
              </a:tr>
              <a:tr h="640080">
                <a:tc>
                  <a:txBody>
                    <a:bodyPr/>
                    <a:lstStyle/>
                    <a:p>
                      <a:r>
                        <a:rPr sz="1200" b="0" i="0">
                          <a:solidFill>
                            <a:srgbClr val="222A33"/>
                          </a:solidFill>
                          <a:latin typeface="Calibri"/>
                        </a:rPr>
                        <a:t>Size and load</a:t>
                      </a:r>
                    </a:p>
                  </a:txBody>
                  <a:tcPr marL="73152" marR="73152" marT="27432" marB="27432" anchor="ctr">
                    <a:solidFill>
                      <a:srgbClr val="FFFFFF"/>
                    </a:solidFill>
                  </a:tcPr>
                </a:tc>
                <a:tc>
                  <a:txBody>
                    <a:bodyPr/>
                    <a:lstStyle/>
                    <a:p>
                      <a:r>
                        <a:rPr sz="1200" b="0" i="0">
                          <a:solidFill>
                            <a:srgbClr val="222A33"/>
                          </a:solidFill>
                          <a:latin typeface="Calibri"/>
                        </a:rPr>
                        <a:t>Lists can grow large</a:t>
                      </a:r>
                    </a:p>
                  </a:txBody>
                  <a:tcPr marL="73152" marR="73152" marT="27432" marB="27432" anchor="ctr">
                    <a:solidFill>
                      <a:srgbClr val="FFFFFF"/>
                    </a:solidFill>
                  </a:tcPr>
                </a:tc>
                <a:tc>
                  <a:txBody>
                    <a:bodyPr/>
                    <a:lstStyle/>
                    <a:p>
                      <a:r>
                        <a:rPr sz="1200" b="0" i="0">
                          <a:solidFill>
                            <a:srgbClr val="222A33"/>
                          </a:solidFill>
                          <a:latin typeface="Calibri"/>
                        </a:rPr>
                        <a:t>One small query per certificate, but heavy load on the responder</a:t>
                      </a:r>
                    </a:p>
                  </a:txBody>
                  <a:tcPr marL="73152" marR="73152" marT="27432" marB="27432" anchor="ctr">
                    <a:solidFill>
                      <a:srgbClr val="FFFFFF"/>
                    </a:solidFill>
                  </a:tcPr>
                </a:tc>
                <a:extLst>
                  <a:ext uri="{0D108BD9-81ED-4DB2-BD59-A6C34878D82A}">
                    <a16:rowId xmlns:a16="http://schemas.microsoft.com/office/drawing/2014/main" val="10003"/>
                  </a:ext>
                </a:extLst>
              </a:tr>
              <a:tr h="640080">
                <a:tc>
                  <a:txBody>
                    <a:bodyPr/>
                    <a:lstStyle/>
                    <a:p>
                      <a:r>
                        <a:rPr sz="1200" b="0" i="0">
                          <a:solidFill>
                            <a:srgbClr val="222A33"/>
                          </a:solidFill>
                          <a:latin typeface="Calibri"/>
                        </a:rPr>
                        <a:t>Privacy</a:t>
                      </a:r>
                    </a:p>
                  </a:txBody>
                  <a:tcPr marL="73152" marR="73152" marT="27432" marB="27432" anchor="ctr">
                    <a:solidFill>
                      <a:srgbClr val="F2F4F7"/>
                    </a:solidFill>
                  </a:tcPr>
                </a:tc>
                <a:tc>
                  <a:txBody>
                    <a:bodyPr/>
                    <a:lstStyle/>
                    <a:p>
                      <a:r>
                        <a:rPr sz="1200" b="0" i="0">
                          <a:solidFill>
                            <a:srgbClr val="222A33"/>
                          </a:solidFill>
                          <a:latin typeface="Calibri"/>
                        </a:rPr>
                        <a:t>No per-site information leaked</a:t>
                      </a:r>
                    </a:p>
                  </a:txBody>
                  <a:tcPr marL="73152" marR="73152" marT="27432" marB="27432" anchor="ctr">
                    <a:solidFill>
                      <a:srgbClr val="F2F4F7"/>
                    </a:solidFill>
                  </a:tcPr>
                </a:tc>
                <a:tc>
                  <a:txBody>
                    <a:bodyPr/>
                    <a:lstStyle/>
                    <a:p>
                      <a:r>
                        <a:rPr sz="1200" b="0" i="0">
                          <a:solidFill>
                            <a:srgbClr val="222A33"/>
                          </a:solidFill>
                          <a:latin typeface="Calibri"/>
                        </a:rPr>
                        <a:t>The responder learns which sites the client visits (reduced by OCSP stapling)</a:t>
                      </a:r>
                    </a:p>
                  </a:txBody>
                  <a:tcPr marL="73152" marR="73152" marT="27432" marB="27432" anchor="ctr">
                    <a:solidFill>
                      <a:srgbClr val="F2F4F7"/>
                    </a:solidFill>
                  </a:tcPr>
                </a:tc>
                <a:extLst>
                  <a:ext uri="{0D108BD9-81ED-4DB2-BD59-A6C34878D82A}">
                    <a16:rowId xmlns:a16="http://schemas.microsoft.com/office/drawing/2014/main" val="10004"/>
                  </a:ext>
                </a:extLst>
              </a:tr>
              <a:tr h="640080">
                <a:tc>
                  <a:txBody>
                    <a:bodyPr/>
                    <a:lstStyle/>
                    <a:p>
                      <a:r>
                        <a:rPr sz="1200" b="0" i="0">
                          <a:solidFill>
                            <a:srgbClr val="222A33"/>
                          </a:solidFill>
                          <a:latin typeface="Calibri"/>
                        </a:rPr>
                        <a:t>If the service is down</a:t>
                      </a:r>
                    </a:p>
                  </a:txBody>
                  <a:tcPr marL="73152" marR="73152" marT="27432" marB="27432" anchor="ctr">
                    <a:solidFill>
                      <a:srgbClr val="FFFFFF"/>
                    </a:solidFill>
                  </a:tcPr>
                </a:tc>
                <a:tc>
                  <a:txBody>
                    <a:bodyPr/>
                    <a:lstStyle/>
                    <a:p>
                      <a:r>
                        <a:rPr sz="1200" b="0" i="0">
                          <a:solidFill>
                            <a:srgbClr val="222A33"/>
                          </a:solidFill>
                          <a:latin typeface="Calibri"/>
                        </a:rPr>
                        <a:t>Cached copy may still work</a:t>
                      </a:r>
                    </a:p>
                  </a:txBody>
                  <a:tcPr marL="73152" marR="73152" marT="27432" marB="27432" anchor="ctr">
                    <a:solidFill>
                      <a:srgbClr val="FFFFFF"/>
                    </a:solidFill>
                  </a:tcPr>
                </a:tc>
                <a:tc>
                  <a:txBody>
                    <a:bodyPr/>
                    <a:lstStyle/>
                    <a:p>
                      <a:r>
                        <a:rPr sz="1200" b="0" i="0">
                          <a:solidFill>
                            <a:srgbClr val="222A33"/>
                          </a:solidFill>
                          <a:latin typeface="Calibri"/>
                        </a:rPr>
                        <a:t>Clients often fail open, which weakens the check</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OCSP stapling lets the server attach a recent signed OCSP reply, so the client need not ask. The industry is also shifting back towards CRLs for scale and privacy reasons.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Certificate Lifecycle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PKI</a:t>
            </a:r>
          </a:p>
        </p:txBody>
      </p:sp>
      <p:sp>
        <p:nvSpPr>
          <p:cNvPr id="4" name="Rounded Rectangle 3"/>
          <p:cNvSpPr/>
          <p:nvPr/>
        </p:nvSpPr>
        <p:spPr>
          <a:xfrm>
            <a:off x="594360" y="2011680"/>
            <a:ext cx="1645920" cy="822960"/>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Generate key pair</a:t>
            </a:r>
          </a:p>
        </p:txBody>
      </p:sp>
      <p:cxnSp>
        <p:nvCxnSpPr>
          <p:cNvPr id="5" name="Connector 4"/>
          <p:cNvCxnSpPr/>
          <p:nvPr/>
        </p:nvCxnSpPr>
        <p:spPr>
          <a:xfrm>
            <a:off x="2240280" y="2423160"/>
            <a:ext cx="228599"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468879" y="2011680"/>
            <a:ext cx="1645920" cy="8229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Submit request (CSR)</a:t>
            </a:r>
          </a:p>
        </p:txBody>
      </p:sp>
      <p:cxnSp>
        <p:nvCxnSpPr>
          <p:cNvPr id="7" name="Connector 6"/>
          <p:cNvCxnSpPr/>
          <p:nvPr/>
        </p:nvCxnSpPr>
        <p:spPr>
          <a:xfrm>
            <a:off x="4114800" y="2423160"/>
            <a:ext cx="2286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43400" y="2011680"/>
            <a:ext cx="1645920" cy="822960"/>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Verify identity (RA)</a:t>
            </a:r>
          </a:p>
        </p:txBody>
      </p:sp>
      <p:cxnSp>
        <p:nvCxnSpPr>
          <p:cNvPr id="9" name="Connector 8"/>
          <p:cNvCxnSpPr/>
          <p:nvPr/>
        </p:nvCxnSpPr>
        <p:spPr>
          <a:xfrm>
            <a:off x="5989320" y="2423160"/>
            <a:ext cx="2286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17920" y="2011680"/>
            <a:ext cx="1645920" cy="822960"/>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CA issues certificate</a:t>
            </a:r>
          </a:p>
        </p:txBody>
      </p:sp>
      <p:cxnSp>
        <p:nvCxnSpPr>
          <p:cNvPr id="11" name="Connector 10"/>
          <p:cNvCxnSpPr/>
          <p:nvPr/>
        </p:nvCxnSpPr>
        <p:spPr>
          <a:xfrm>
            <a:off x="7863840" y="2423160"/>
            <a:ext cx="22860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92440" y="2011680"/>
            <a:ext cx="1645920" cy="822960"/>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Deploy and use</a:t>
            </a:r>
          </a:p>
        </p:txBody>
      </p:sp>
      <p:cxnSp>
        <p:nvCxnSpPr>
          <p:cNvPr id="13" name="Connector 12"/>
          <p:cNvCxnSpPr/>
          <p:nvPr/>
        </p:nvCxnSpPr>
        <p:spPr>
          <a:xfrm>
            <a:off x="9738360" y="2423160"/>
            <a:ext cx="228599"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966959" y="2011680"/>
            <a:ext cx="1645920" cy="822960"/>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Renew or revoke</a:t>
            </a:r>
          </a:p>
        </p:txBody>
      </p:sp>
      <p:sp>
        <p:nvSpPr>
          <p:cNvPr id="15" name="TextBox 14"/>
          <p:cNvSpPr txBox="1"/>
          <p:nvPr/>
        </p:nvSpPr>
        <p:spPr>
          <a:xfrm>
            <a:off x="731520" y="3200400"/>
            <a:ext cx="10698480" cy="274320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The applicant generates the key pair itself, so the private key never travels. The Certificate Signing Request (CSR) carries only the public key and identity details.</a:t>
            </a:r>
          </a:p>
          <a:p>
            <a:pPr marL="201168" indent="-201168">
              <a:spcAft>
                <a:spcPts val="1100"/>
              </a:spcAft>
              <a:buFont typeface="Arial"/>
              <a:buChar char="–"/>
            </a:pPr>
            <a:r>
              <a:rPr sz="1400" b="0" i="0">
                <a:solidFill>
                  <a:srgbClr val="222A33"/>
                </a:solidFill>
                <a:latin typeface="Calibri"/>
              </a:rPr>
              <a:t>Certificates expire on purpose. Short lifetimes limit the damage of a stolen key, which is why public web certificates are now valid for months rather than years and are renewed automatically.</a:t>
            </a:r>
          </a:p>
          <a:p>
            <a:pPr marL="201168" indent="-201168">
              <a:spcAft>
                <a:spcPts val="1100"/>
              </a:spcAft>
              <a:buFont typeface="Arial"/>
              <a:buChar char="–"/>
            </a:pPr>
            <a:r>
              <a:rPr sz="1400" b="0" i="0">
                <a:solidFill>
                  <a:srgbClr val="222A33"/>
                </a:solidFill>
                <a:latin typeface="Calibri"/>
              </a:rPr>
              <a:t>Revocation is for emergencies: a private key is stolen, a certificate was issued wrongly, or the subject no longer exists. The CA adds it to its CRL and OCSP responses.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Case Study: DigiNotar, 2011</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PKI</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What happened: attackers broke into DigiNotar, a Dutch certificate authority, and issued fraudulent but fully valid certificates, including one for google.com. The signatures were genuine, because they were made with DigiNotar's real keys.</a:t>
            </a:r>
          </a:p>
          <a:p>
            <a:pPr marL="201168" indent="-201168">
              <a:spcAft>
                <a:spcPts val="1100"/>
              </a:spcAft>
              <a:buFont typeface="Arial"/>
              <a:buChar char="–"/>
            </a:pPr>
            <a:r>
              <a:rPr sz="1400" b="0" i="0">
                <a:solidFill>
                  <a:srgbClr val="222A33"/>
                </a:solidFill>
                <a:latin typeface="Calibri"/>
              </a:rPr>
              <a:t>Impact: the certificates were used to intercept the Gmail traffic of many users, mostly in Iran. Every browser trusted them, because DigiNotar was in every root store.</a:t>
            </a:r>
          </a:p>
          <a:p>
            <a:pPr marL="201168" indent="-201168">
              <a:spcAft>
                <a:spcPts val="1100"/>
              </a:spcAft>
              <a:buFont typeface="Arial"/>
              <a:buChar char="–"/>
            </a:pPr>
            <a:r>
              <a:rPr sz="1400" b="0" i="0">
                <a:solidFill>
                  <a:srgbClr val="222A33"/>
                </a:solidFill>
                <a:latin typeface="Calibri"/>
              </a:rPr>
              <a:t>Response: browser and operating system vendors removed DigiNotar from their root stores. Its certificates became untrusted overnight, and the company went bankrupt soon after.</a:t>
            </a:r>
          </a:p>
          <a:p>
            <a:pPr marL="201168" indent="-201168">
              <a:spcAft>
                <a:spcPts val="1100"/>
              </a:spcAft>
              <a:buFont typeface="Arial"/>
              <a:buChar char="–"/>
            </a:pPr>
            <a:r>
              <a:rPr sz="1400" b="0" i="0">
                <a:solidFill>
                  <a:srgbClr val="222A33"/>
                </a:solidFill>
                <a:latin typeface="Calibri"/>
              </a:rPr>
              <a:t>Lessons: any one trusted CA can issue a certificate for any domain, so the whole system is only as strong as its weakest CA. This led to Certificate Transparency logs, public records of issued certificates that let domain owners spot fraudulent ones, and to stricter audits.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PKI: Strengths, Weaknesses, Use Cases</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PKI</a:t>
            </a:r>
          </a:p>
        </p:txBody>
      </p:sp>
      <p:sp>
        <p:nvSpPr>
          <p:cNvPr id="4" name="Rounded Rectangle 3"/>
          <p:cNvSpPr/>
          <p:nvPr/>
        </p:nvSpPr>
        <p:spPr>
          <a:xfrm>
            <a:off x="548640" y="1828800"/>
            <a:ext cx="5394960" cy="384048"/>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Strengths</a:t>
            </a:r>
          </a:p>
        </p:txBody>
      </p:sp>
      <p:sp>
        <p:nvSpPr>
          <p:cNvPr id="5" name="Rounded Rectangle 4"/>
          <p:cNvSpPr/>
          <p:nvPr/>
        </p:nvSpPr>
        <p:spPr>
          <a:xfrm>
            <a:off x="6217920" y="1828800"/>
            <a:ext cx="5394960" cy="384048"/>
          </a:xfrm>
          <a:prstGeom prst="round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Weaknesses</a:t>
            </a:r>
          </a:p>
        </p:txBody>
      </p:sp>
      <p:sp>
        <p:nvSpPr>
          <p:cNvPr id="6" name="TextBox 5"/>
          <p:cNvSpPr txBox="1"/>
          <p:nvPr/>
        </p:nvSpPr>
        <p:spPr>
          <a:xfrm>
            <a:off x="54864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Lets strangers establish trust at internet scale without sharing secrets first.</a:t>
            </a:r>
          </a:p>
          <a:p>
            <a:pPr marL="201168" indent="-201168">
              <a:spcAft>
                <a:spcPts val="700"/>
              </a:spcAft>
              <a:buFont typeface="Arial"/>
              <a:buChar char="–"/>
            </a:pPr>
            <a:r>
              <a:rPr sz="1300" b="0" i="0">
                <a:solidFill>
                  <a:srgbClr val="222A33"/>
                </a:solidFill>
                <a:latin typeface="Calibri"/>
              </a:rPr>
              <a:t>One trust anchor can vouch for millions of identities.</a:t>
            </a:r>
          </a:p>
          <a:p>
            <a:pPr marL="201168" indent="-201168">
              <a:spcAft>
                <a:spcPts val="700"/>
              </a:spcAft>
              <a:buFont typeface="Arial"/>
              <a:buChar char="–"/>
            </a:pPr>
            <a:r>
              <a:rPr sz="1300" b="0" i="0">
                <a:solidFill>
                  <a:srgbClr val="222A33"/>
                </a:solidFill>
                <a:latin typeface="Calibri"/>
              </a:rPr>
              <a:t>Certificates expire and can be revoked, so mistakes and thefts are recoverable.</a:t>
            </a:r>
          </a:p>
          <a:p>
            <a:pPr marL="201168" indent="-201168">
              <a:spcAft>
                <a:spcPts val="700"/>
              </a:spcAft>
              <a:buFont typeface="Arial"/>
              <a:buChar char="–"/>
            </a:pPr>
            <a:r>
              <a:rPr sz="1300" b="0" i="0">
                <a:solidFill>
                  <a:srgbClr val="222A33"/>
                </a:solidFill>
                <a:latin typeface="Calibri"/>
              </a:rPr>
              <a:t>Open standards (X.509, TLS) work across every vendor.</a:t>
            </a:r>
          </a:p>
        </p:txBody>
      </p:sp>
      <p:sp>
        <p:nvSpPr>
          <p:cNvPr id="7" name="TextBox 6"/>
          <p:cNvSpPr txBox="1"/>
          <p:nvPr/>
        </p:nvSpPr>
        <p:spPr>
          <a:xfrm>
            <a:off x="6217920" y="2286000"/>
            <a:ext cx="5394960" cy="2651760"/>
          </a:xfrm>
          <a:prstGeom prst="rect">
            <a:avLst/>
          </a:prstGeom>
          <a:noFill/>
        </p:spPr>
        <p:txBody>
          <a:bodyPr wrap="square">
            <a:spAutoFit/>
          </a:bodyPr>
          <a:lstStyle/>
          <a:p>
            <a:pPr marL="201168" indent="-201168">
              <a:spcAft>
                <a:spcPts val="700"/>
              </a:spcAft>
              <a:buFont typeface="Arial"/>
              <a:buChar char="–"/>
            </a:pPr>
            <a:r>
              <a:rPr sz="1300" b="0" i="0">
                <a:solidFill>
                  <a:srgbClr val="222A33"/>
                </a:solidFill>
                <a:latin typeface="Calibri"/>
              </a:rPr>
              <a:t>Concentrates trust: a compromised CA can issue certificates for anyone (DigiNotar).</a:t>
            </a:r>
          </a:p>
          <a:p>
            <a:pPr marL="201168" indent="-201168">
              <a:spcAft>
                <a:spcPts val="700"/>
              </a:spcAft>
              <a:buFont typeface="Arial"/>
              <a:buChar char="–"/>
            </a:pPr>
            <a:r>
              <a:rPr sz="1300" b="0" i="0">
                <a:solidFill>
                  <a:srgbClr val="222A33"/>
                </a:solidFill>
                <a:latin typeface="Calibri"/>
              </a:rPr>
              <a:t>Revocation is weak in practice: clients often skip or fail open on revocation checks.</a:t>
            </a:r>
          </a:p>
          <a:p>
            <a:pPr marL="201168" indent="-201168">
              <a:spcAft>
                <a:spcPts val="700"/>
              </a:spcAft>
              <a:buFont typeface="Arial"/>
              <a:buChar char="–"/>
            </a:pPr>
            <a:r>
              <a:rPr sz="1300" b="0" i="0">
                <a:solidFill>
                  <a:srgbClr val="222A33"/>
                </a:solidFill>
                <a:latin typeface="Calibri"/>
              </a:rPr>
              <a:t>Operationally heavy: key protection, issuance, renewal, and expired certificates cause real outages.</a:t>
            </a:r>
          </a:p>
          <a:p>
            <a:pPr marL="201168" indent="-201168">
              <a:spcAft>
                <a:spcPts val="700"/>
              </a:spcAft>
              <a:buFont typeface="Arial"/>
              <a:buChar char="–"/>
            </a:pPr>
            <a:r>
              <a:rPr sz="1300" b="0" i="0">
                <a:solidFill>
                  <a:srgbClr val="222A33"/>
                </a:solidFill>
                <a:latin typeface="Calibri"/>
              </a:rPr>
              <a:t>Users routinely click through browser warnings, defeating the model.</a:t>
            </a:r>
          </a:p>
        </p:txBody>
      </p:sp>
      <p:sp>
        <p:nvSpPr>
          <p:cNvPr id="8" name="Rounded Rectangle 7"/>
          <p:cNvSpPr/>
          <p:nvPr/>
        </p:nvSpPr>
        <p:spPr>
          <a:xfrm>
            <a:off x="548640" y="5029200"/>
            <a:ext cx="11064240" cy="82296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l"/>
            <a:r>
              <a:rPr sz="1300" b="0" i="0">
                <a:solidFill>
                  <a:srgbClr val="222A33"/>
                </a:solidFill>
                <a:latin typeface="Calibri"/>
              </a:rPr>
              <a:t>Use cases: HTTPS websites, SSL VPN and IPsec device authentication, 802.1X Wi-Fi with certificates, signed email (S/MIME), code signing, and device identity in enterprise networks.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lgn="ctr"/>
            <a:r>
              <a:rPr sz="4000" b="1" i="0">
                <a:solidFill>
                  <a:srgbClr val="003054"/>
                </a:solidFill>
                <a:latin typeface="Cambria"/>
              </a:rPr>
              <a:t>Putting It Together</a:t>
            </a:r>
          </a:p>
        </p:txBody>
      </p:sp>
      <p:sp>
        <p:nvSpPr>
          <p:cNvPr id="3" name="Text Placeholder 2"/>
          <p:cNvSpPr>
            <a:spLocks noGrp="1"/>
          </p:cNvSpPr>
          <p:nvPr>
            <p:ph type="body" idx="1"/>
          </p:nvPr>
        </p:nvSpPr>
        <p:spPr/>
        <p:txBody>
          <a:bodyPr wrap="square"/>
          <a:lstStyle/>
          <a:p>
            <a:pPr algn="ctr"/>
            <a:r>
              <a:rPr sz="1800" b="0" i="1">
                <a:solidFill>
                  <a:srgbClr val="6B7682"/>
                </a:solidFill>
                <a:latin typeface="Calibri"/>
              </a:rPr>
              <a:t>One handshake, every primitive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A TLS 1.3 Handshake, Primitive by Primitive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PUTTING IT TOGETHER</a:t>
            </a:r>
          </a:p>
        </p:txBody>
      </p:sp>
      <p:sp>
        <p:nvSpPr>
          <p:cNvPr id="4" name="Rounded Rectangle 3"/>
          <p:cNvSpPr/>
          <p:nvPr/>
        </p:nvSpPr>
        <p:spPr>
          <a:xfrm>
            <a:off x="548640" y="1783080"/>
            <a:ext cx="1828800" cy="384048"/>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Client</a:t>
            </a:r>
          </a:p>
        </p:txBody>
      </p:sp>
      <p:sp>
        <p:nvSpPr>
          <p:cNvPr id="5" name="Rounded Rectangle 4"/>
          <p:cNvSpPr/>
          <p:nvPr/>
        </p:nvSpPr>
        <p:spPr>
          <a:xfrm>
            <a:off x="9784080" y="1783080"/>
            <a:ext cx="1828800" cy="384048"/>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400" b="1" i="0">
                <a:solidFill>
                  <a:srgbClr val="FFFFFF"/>
                </a:solidFill>
                <a:latin typeface="Calibri"/>
              </a:rPr>
              <a:t>Server</a:t>
            </a:r>
          </a:p>
        </p:txBody>
      </p:sp>
      <p:cxnSp>
        <p:nvCxnSpPr>
          <p:cNvPr id="6" name="Connector 5"/>
          <p:cNvCxnSpPr/>
          <p:nvPr/>
        </p:nvCxnSpPr>
        <p:spPr>
          <a:xfrm>
            <a:off x="2377440" y="2423160"/>
            <a:ext cx="7406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017520" y="2203704"/>
            <a:ext cx="6126480" cy="438912"/>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ClientHello: key share and cipher list  [ECDHE, Deck A]</a:t>
            </a:r>
          </a:p>
        </p:txBody>
      </p:sp>
      <p:cxnSp>
        <p:nvCxnSpPr>
          <p:cNvPr id="8" name="Connector 7"/>
          <p:cNvCxnSpPr/>
          <p:nvPr/>
        </p:nvCxnSpPr>
        <p:spPr>
          <a:xfrm flipH="1">
            <a:off x="2377440" y="2999232"/>
            <a:ext cx="7406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017520" y="2779776"/>
            <a:ext cx="6126480" cy="438912"/>
          </a:xfrm>
          <a:prstGeom prst="round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ServerHello: key share, both derive keys  [ECDHE, Deck A]</a:t>
            </a:r>
          </a:p>
        </p:txBody>
      </p:sp>
      <p:cxnSp>
        <p:nvCxnSpPr>
          <p:cNvPr id="10" name="Connector 9"/>
          <p:cNvCxnSpPr/>
          <p:nvPr/>
        </p:nvCxnSpPr>
        <p:spPr>
          <a:xfrm flipH="1">
            <a:off x="2377440" y="3575303"/>
            <a:ext cx="7406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017520" y="3355847"/>
            <a:ext cx="6126480" cy="438912"/>
          </a:xfrm>
          <a:prstGeom prst="roundRect">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Certificate: the server's X.509 chain  [Certificates, PKI]</a:t>
            </a:r>
          </a:p>
        </p:txBody>
      </p:sp>
      <p:cxnSp>
        <p:nvCxnSpPr>
          <p:cNvPr id="12" name="Connector 11"/>
          <p:cNvCxnSpPr/>
          <p:nvPr/>
        </p:nvCxnSpPr>
        <p:spPr>
          <a:xfrm flipH="1">
            <a:off x="2377440" y="4151376"/>
            <a:ext cx="7406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017520" y="3931920"/>
            <a:ext cx="6126480" cy="438912"/>
          </a:xfrm>
          <a:prstGeom prst="round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CertificateVerify: signature with private key  [Signature]</a:t>
            </a:r>
          </a:p>
        </p:txBody>
      </p:sp>
      <p:cxnSp>
        <p:nvCxnSpPr>
          <p:cNvPr id="14" name="Connector 13"/>
          <p:cNvCxnSpPr/>
          <p:nvPr/>
        </p:nvCxnSpPr>
        <p:spPr>
          <a:xfrm flipH="1">
            <a:off x="2377440" y="4727448"/>
            <a:ext cx="7406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017520" y="4507992"/>
            <a:ext cx="6126480" cy="438912"/>
          </a:xfrm>
          <a:prstGeom prst="roundRect">
            <a:avLst/>
          </a:prstGeom>
          <a:solidFill>
            <a:srgbClr val="6B7682"/>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Finished: MAC over the whole handshake  [HMAC]</a:t>
            </a:r>
          </a:p>
        </p:txBody>
      </p:sp>
      <p:cxnSp>
        <p:nvCxnSpPr>
          <p:cNvPr id="16" name="Connector 15"/>
          <p:cNvCxnSpPr/>
          <p:nvPr/>
        </p:nvCxnSpPr>
        <p:spPr>
          <a:xfrm>
            <a:off x="2377440" y="5303520"/>
            <a:ext cx="7406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2377440" y="5303520"/>
            <a:ext cx="7406640" cy="0"/>
          </a:xfrm>
          <a:prstGeom prst="line">
            <a:avLst/>
          </a:prstGeom>
          <a:ln w="25400">
            <a:solidFill>
              <a:srgbClr val="6B7682"/>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017520" y="5084064"/>
            <a:ext cx="6126480" cy="438912"/>
          </a:xfrm>
          <a:prstGeom prst="roundRect">
            <a:avLst/>
          </a:prstGeom>
          <a:solidFill>
            <a:srgbClr val="003054"/>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i="0">
                <a:solidFill>
                  <a:srgbClr val="FFFFFF"/>
                </a:solidFill>
                <a:latin typeface="Calibri"/>
              </a:rPr>
              <a:t>Application data  [AES-GCM or ChaCha20-Poly1305, Deck A]</a:t>
            </a:r>
          </a:p>
        </p:txBody>
      </p:sp>
      <p:sp>
        <p:nvSpPr>
          <p:cNvPr id="19" name="TextBox 18"/>
          <p:cNvSpPr txBox="1"/>
          <p:nvPr/>
        </p:nvSpPr>
        <p:spPr>
          <a:xfrm>
            <a:off x="548640" y="5760720"/>
            <a:ext cx="10515600" cy="320040"/>
          </a:xfrm>
          <a:prstGeom prst="rect">
            <a:avLst/>
          </a:prstGeom>
          <a:noFill/>
        </p:spPr>
        <p:txBody>
          <a:bodyPr wrap="square">
            <a:spAutoFit/>
          </a:bodyPr>
          <a:lstStyle/>
          <a:p>
            <a:r>
              <a:rPr sz="1000" b="0" i="1">
                <a:solidFill>
                  <a:srgbClr val="6B7682"/>
                </a:solidFill>
                <a:latin typeface="Calibri"/>
              </a:rPr>
              <a:t>In TLS 1.3 everything after ServerHello, including the certificate, is already encrypted with keys derived from the key exchange.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Which Primitive Does What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PUTTING IT TOGETHER</a:t>
            </a:r>
          </a:p>
        </p:txBody>
      </p:sp>
      <p:graphicFrame>
        <p:nvGraphicFramePr>
          <p:cNvPr id="4" name="Table 3"/>
          <p:cNvGraphicFramePr>
            <a:graphicFrameLocks noGrp="1"/>
          </p:cNvGraphicFramePr>
          <p:nvPr/>
        </p:nvGraphicFramePr>
        <p:xfrm>
          <a:off x="274320" y="1737360"/>
          <a:ext cx="11612880" cy="393192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561702">
                <a:tc>
                  <a:txBody>
                    <a:bodyPr/>
                    <a:lstStyle/>
                    <a:p>
                      <a:r>
                        <a:rPr sz="1300" b="1" i="0">
                          <a:solidFill>
                            <a:srgbClr val="FFFFFF"/>
                          </a:solidFill>
                          <a:latin typeface="Calibri"/>
                        </a:rPr>
                        <a:t>Primitive</a:t>
                      </a:r>
                    </a:p>
                  </a:txBody>
                  <a:tcPr marL="73152" marR="73152" marT="27432" marB="27432" anchor="ctr">
                    <a:solidFill>
                      <a:srgbClr val="003054"/>
                    </a:solidFill>
                  </a:tcPr>
                </a:tc>
                <a:tc>
                  <a:txBody>
                    <a:bodyPr/>
                    <a:lstStyle/>
                    <a:p>
                      <a:r>
                        <a:rPr sz="1300" b="1" i="0">
                          <a:solidFill>
                            <a:srgbClr val="FFFFFF"/>
                          </a:solidFill>
                          <a:latin typeface="Calibri"/>
                        </a:rPr>
                        <a:t>Provides</a:t>
                      </a:r>
                    </a:p>
                  </a:txBody>
                  <a:tcPr marL="73152" marR="73152" marT="27432" marB="27432" anchor="ctr">
                    <a:solidFill>
                      <a:srgbClr val="003054"/>
                    </a:solidFill>
                  </a:tcPr>
                </a:tc>
                <a:tc>
                  <a:txBody>
                    <a:bodyPr/>
                    <a:lstStyle/>
                    <a:p>
                      <a:r>
                        <a:rPr sz="1300" b="1" i="0">
                          <a:solidFill>
                            <a:srgbClr val="FFFFFF"/>
                          </a:solidFill>
                          <a:latin typeface="Calibri"/>
                        </a:rPr>
                        <a:t>Needs</a:t>
                      </a:r>
                    </a:p>
                  </a:txBody>
                  <a:tcPr marL="73152" marR="73152" marT="27432" marB="27432" anchor="ctr">
                    <a:solidFill>
                      <a:srgbClr val="003054"/>
                    </a:solidFill>
                  </a:tcPr>
                </a:tc>
                <a:tc>
                  <a:txBody>
                    <a:bodyPr/>
                    <a:lstStyle/>
                    <a:p>
                      <a:r>
                        <a:rPr sz="1300" b="1" i="0">
                          <a:solidFill>
                            <a:srgbClr val="FFFFFF"/>
                          </a:solidFill>
                          <a:latin typeface="Calibri"/>
                        </a:rPr>
                        <a:t>Example Algorithms</a:t>
                      </a:r>
                    </a:p>
                  </a:txBody>
                  <a:tcPr marL="73152" marR="73152" marT="27432" marB="27432" anchor="ctr">
                    <a:solidFill>
                      <a:srgbClr val="003054"/>
                    </a:solidFill>
                  </a:tcPr>
                </a:tc>
                <a:extLst>
                  <a:ext uri="{0D108BD9-81ED-4DB2-BD59-A6C34878D82A}">
                    <a16:rowId xmlns:a16="http://schemas.microsoft.com/office/drawing/2014/main" val="10000"/>
                  </a:ext>
                </a:extLst>
              </a:tr>
              <a:tr h="561702">
                <a:tc>
                  <a:txBody>
                    <a:bodyPr/>
                    <a:lstStyle/>
                    <a:p>
                      <a:r>
                        <a:rPr sz="1250" b="0" i="0">
                          <a:solidFill>
                            <a:srgbClr val="222A33"/>
                          </a:solidFill>
                          <a:latin typeface="Calibri"/>
                        </a:rPr>
                        <a:t>Symmetric encryption</a:t>
                      </a:r>
                    </a:p>
                  </a:txBody>
                  <a:tcPr marL="73152" marR="73152" marT="27432" marB="27432" anchor="ctr">
                    <a:solidFill>
                      <a:srgbClr val="FFFFFF"/>
                    </a:solidFill>
                  </a:tcPr>
                </a:tc>
                <a:tc>
                  <a:txBody>
                    <a:bodyPr/>
                    <a:lstStyle/>
                    <a:p>
                      <a:r>
                        <a:rPr sz="1250" b="0" i="0">
                          <a:solidFill>
                            <a:srgbClr val="222A33"/>
                          </a:solidFill>
                          <a:latin typeface="Calibri"/>
                        </a:rPr>
                        <a:t>Confidentiality of bulk data</a:t>
                      </a:r>
                    </a:p>
                  </a:txBody>
                  <a:tcPr marL="73152" marR="73152" marT="27432" marB="27432" anchor="ctr">
                    <a:solidFill>
                      <a:srgbClr val="FFFFFF"/>
                    </a:solidFill>
                  </a:tcPr>
                </a:tc>
                <a:tc>
                  <a:txBody>
                    <a:bodyPr/>
                    <a:lstStyle/>
                    <a:p>
                      <a:r>
                        <a:rPr sz="1250" b="0" i="0">
                          <a:solidFill>
                            <a:srgbClr val="222A33"/>
                          </a:solidFill>
                          <a:latin typeface="Calibri"/>
                        </a:rPr>
                        <a:t>A shared secret key</a:t>
                      </a:r>
                    </a:p>
                  </a:txBody>
                  <a:tcPr marL="73152" marR="73152" marT="27432" marB="27432" anchor="ctr">
                    <a:solidFill>
                      <a:srgbClr val="FFFFFF"/>
                    </a:solidFill>
                  </a:tcPr>
                </a:tc>
                <a:tc>
                  <a:txBody>
                    <a:bodyPr/>
                    <a:lstStyle/>
                    <a:p>
                      <a:r>
                        <a:rPr sz="1250" b="0" i="0">
                          <a:solidFill>
                            <a:srgbClr val="222A33"/>
                          </a:solidFill>
                          <a:latin typeface="Calibri"/>
                        </a:rPr>
                        <a:t>AES, ChaCha20</a:t>
                      </a:r>
                    </a:p>
                  </a:txBody>
                  <a:tcPr marL="73152" marR="73152" marT="27432" marB="27432" anchor="ctr">
                    <a:solidFill>
                      <a:srgbClr val="FFFFFF"/>
                    </a:solidFill>
                  </a:tcPr>
                </a:tc>
                <a:extLst>
                  <a:ext uri="{0D108BD9-81ED-4DB2-BD59-A6C34878D82A}">
                    <a16:rowId xmlns:a16="http://schemas.microsoft.com/office/drawing/2014/main" val="10001"/>
                  </a:ext>
                </a:extLst>
              </a:tr>
              <a:tr h="561702">
                <a:tc>
                  <a:txBody>
                    <a:bodyPr/>
                    <a:lstStyle/>
                    <a:p>
                      <a:r>
                        <a:rPr sz="1250" b="0" i="0">
                          <a:solidFill>
                            <a:srgbClr val="222A33"/>
                          </a:solidFill>
                          <a:latin typeface="Calibri"/>
                        </a:rPr>
                        <a:t>Key agreement</a:t>
                      </a:r>
                    </a:p>
                  </a:txBody>
                  <a:tcPr marL="73152" marR="73152" marT="27432" marB="27432" anchor="ctr">
                    <a:solidFill>
                      <a:srgbClr val="F2F4F7"/>
                    </a:solidFill>
                  </a:tcPr>
                </a:tc>
                <a:tc>
                  <a:txBody>
                    <a:bodyPr/>
                    <a:lstStyle/>
                    <a:p>
                      <a:r>
                        <a:rPr sz="1250" b="0" i="0">
                          <a:solidFill>
                            <a:srgbClr val="222A33"/>
                          </a:solidFill>
                          <a:latin typeface="Calibri"/>
                        </a:rPr>
                        <a:t>A shared secret over an open channel</a:t>
                      </a:r>
                    </a:p>
                  </a:txBody>
                  <a:tcPr marL="73152" marR="73152" marT="27432" marB="27432" anchor="ctr">
                    <a:solidFill>
                      <a:srgbClr val="F2F4F7"/>
                    </a:solidFill>
                  </a:tcPr>
                </a:tc>
                <a:tc>
                  <a:txBody>
                    <a:bodyPr/>
                    <a:lstStyle/>
                    <a:p>
                      <a:r>
                        <a:rPr sz="1250" b="0" i="0">
                          <a:solidFill>
                            <a:srgbClr val="222A33"/>
                          </a:solidFill>
                          <a:latin typeface="Calibri"/>
                        </a:rPr>
                        <a:t>Authentication of the peer</a:t>
                      </a:r>
                    </a:p>
                  </a:txBody>
                  <a:tcPr marL="73152" marR="73152" marT="27432" marB="27432" anchor="ctr">
                    <a:solidFill>
                      <a:srgbClr val="F2F4F7"/>
                    </a:solidFill>
                  </a:tcPr>
                </a:tc>
                <a:tc>
                  <a:txBody>
                    <a:bodyPr/>
                    <a:lstStyle/>
                    <a:p>
                      <a:r>
                        <a:rPr sz="1250" b="0" i="0">
                          <a:solidFill>
                            <a:srgbClr val="222A33"/>
                          </a:solidFill>
                          <a:latin typeface="Calibri"/>
                        </a:rPr>
                        <a:t>ECDHE, Diffie-Hellman</a:t>
                      </a:r>
                    </a:p>
                  </a:txBody>
                  <a:tcPr marL="73152" marR="73152" marT="27432" marB="27432" anchor="ctr">
                    <a:solidFill>
                      <a:srgbClr val="F2F4F7"/>
                    </a:solidFill>
                  </a:tcPr>
                </a:tc>
                <a:extLst>
                  <a:ext uri="{0D108BD9-81ED-4DB2-BD59-A6C34878D82A}">
                    <a16:rowId xmlns:a16="http://schemas.microsoft.com/office/drawing/2014/main" val="10002"/>
                  </a:ext>
                </a:extLst>
              </a:tr>
              <a:tr h="561702">
                <a:tc>
                  <a:txBody>
                    <a:bodyPr/>
                    <a:lstStyle/>
                    <a:p>
                      <a:r>
                        <a:rPr sz="1250" b="0" i="0">
                          <a:solidFill>
                            <a:srgbClr val="222A33"/>
                          </a:solidFill>
                          <a:latin typeface="Calibri"/>
                        </a:rPr>
                        <a:t>Hash function</a:t>
                      </a:r>
                    </a:p>
                  </a:txBody>
                  <a:tcPr marL="73152" marR="73152" marT="27432" marB="27432" anchor="ctr">
                    <a:solidFill>
                      <a:srgbClr val="FFFFFF"/>
                    </a:solidFill>
                  </a:tcPr>
                </a:tc>
                <a:tc>
                  <a:txBody>
                    <a:bodyPr/>
                    <a:lstStyle/>
                    <a:p>
                      <a:r>
                        <a:rPr sz="1250" b="0" i="0">
                          <a:solidFill>
                            <a:srgbClr val="222A33"/>
                          </a:solidFill>
                          <a:latin typeface="Calibri"/>
                        </a:rPr>
                        <a:t>A digest for integrity checks and signatures</a:t>
                      </a:r>
                    </a:p>
                  </a:txBody>
                  <a:tcPr marL="73152" marR="73152" marT="27432" marB="27432" anchor="ctr">
                    <a:solidFill>
                      <a:srgbClr val="FFFFFF"/>
                    </a:solidFill>
                  </a:tcPr>
                </a:tc>
                <a:tc>
                  <a:txBody>
                    <a:bodyPr/>
                    <a:lstStyle/>
                    <a:p>
                      <a:r>
                        <a:rPr sz="1250" b="0" i="0">
                          <a:solidFill>
                            <a:srgbClr val="222A33"/>
                          </a:solidFill>
                          <a:latin typeface="Calibri"/>
                        </a:rPr>
                        <a:t>Nothing secret</a:t>
                      </a:r>
                    </a:p>
                  </a:txBody>
                  <a:tcPr marL="73152" marR="73152" marT="27432" marB="27432" anchor="ctr">
                    <a:solidFill>
                      <a:srgbClr val="FFFFFF"/>
                    </a:solidFill>
                  </a:tcPr>
                </a:tc>
                <a:tc>
                  <a:txBody>
                    <a:bodyPr/>
                    <a:lstStyle/>
                    <a:p>
                      <a:r>
                        <a:rPr sz="1250" b="0" i="0">
                          <a:solidFill>
                            <a:srgbClr val="222A33"/>
                          </a:solidFill>
                          <a:latin typeface="Calibri"/>
                        </a:rPr>
                        <a:t>SHA-256, SHA-3</a:t>
                      </a:r>
                    </a:p>
                  </a:txBody>
                  <a:tcPr marL="73152" marR="73152" marT="27432" marB="27432" anchor="ctr">
                    <a:solidFill>
                      <a:srgbClr val="FFFFFF"/>
                    </a:solidFill>
                  </a:tcPr>
                </a:tc>
                <a:extLst>
                  <a:ext uri="{0D108BD9-81ED-4DB2-BD59-A6C34878D82A}">
                    <a16:rowId xmlns:a16="http://schemas.microsoft.com/office/drawing/2014/main" val="10003"/>
                  </a:ext>
                </a:extLst>
              </a:tr>
              <a:tr h="561702">
                <a:tc>
                  <a:txBody>
                    <a:bodyPr/>
                    <a:lstStyle/>
                    <a:p>
                      <a:r>
                        <a:rPr sz="1250" b="0" i="0">
                          <a:solidFill>
                            <a:srgbClr val="222A33"/>
                          </a:solidFill>
                          <a:latin typeface="Calibri"/>
                        </a:rPr>
                        <a:t>MAC / HMAC</a:t>
                      </a:r>
                    </a:p>
                  </a:txBody>
                  <a:tcPr marL="73152" marR="73152" marT="27432" marB="27432" anchor="ctr">
                    <a:solidFill>
                      <a:srgbClr val="F2F4F7"/>
                    </a:solidFill>
                  </a:tcPr>
                </a:tc>
                <a:tc>
                  <a:txBody>
                    <a:bodyPr/>
                    <a:lstStyle/>
                    <a:p>
                      <a:r>
                        <a:rPr sz="1250" b="0" i="0">
                          <a:solidFill>
                            <a:srgbClr val="222A33"/>
                          </a:solidFill>
                          <a:latin typeface="Calibri"/>
                        </a:rPr>
                        <a:t>Integrity and authentication among key holders</a:t>
                      </a:r>
                    </a:p>
                  </a:txBody>
                  <a:tcPr marL="73152" marR="73152" marT="27432" marB="27432" anchor="ctr">
                    <a:solidFill>
                      <a:srgbClr val="F2F4F7"/>
                    </a:solidFill>
                  </a:tcPr>
                </a:tc>
                <a:tc>
                  <a:txBody>
                    <a:bodyPr/>
                    <a:lstStyle/>
                    <a:p>
                      <a:r>
                        <a:rPr sz="1250" b="0" i="0">
                          <a:solidFill>
                            <a:srgbClr val="222A33"/>
                          </a:solidFill>
                          <a:latin typeface="Calibri"/>
                        </a:rPr>
                        <a:t>A shared secret key</a:t>
                      </a:r>
                    </a:p>
                  </a:txBody>
                  <a:tcPr marL="73152" marR="73152" marT="27432" marB="27432" anchor="ctr">
                    <a:solidFill>
                      <a:srgbClr val="F2F4F7"/>
                    </a:solidFill>
                  </a:tcPr>
                </a:tc>
                <a:tc>
                  <a:txBody>
                    <a:bodyPr/>
                    <a:lstStyle/>
                    <a:p>
                      <a:r>
                        <a:rPr sz="1250" b="0" i="0">
                          <a:solidFill>
                            <a:srgbClr val="222A33"/>
                          </a:solidFill>
                          <a:latin typeface="Calibri"/>
                        </a:rPr>
                        <a:t>HMAC-SHA256</a:t>
                      </a:r>
                    </a:p>
                  </a:txBody>
                  <a:tcPr marL="73152" marR="73152" marT="27432" marB="27432" anchor="ctr">
                    <a:solidFill>
                      <a:srgbClr val="F2F4F7"/>
                    </a:solidFill>
                  </a:tcPr>
                </a:tc>
                <a:extLst>
                  <a:ext uri="{0D108BD9-81ED-4DB2-BD59-A6C34878D82A}">
                    <a16:rowId xmlns:a16="http://schemas.microsoft.com/office/drawing/2014/main" val="10004"/>
                  </a:ext>
                </a:extLst>
              </a:tr>
              <a:tr h="561702">
                <a:tc>
                  <a:txBody>
                    <a:bodyPr/>
                    <a:lstStyle/>
                    <a:p>
                      <a:r>
                        <a:rPr sz="1250" b="0" i="0">
                          <a:solidFill>
                            <a:srgbClr val="222A33"/>
                          </a:solidFill>
                          <a:latin typeface="Calibri"/>
                        </a:rPr>
                        <a:t>Digital signature</a:t>
                      </a:r>
                    </a:p>
                  </a:txBody>
                  <a:tcPr marL="73152" marR="73152" marT="27432" marB="27432" anchor="ctr">
                    <a:solidFill>
                      <a:srgbClr val="FFFFFF"/>
                    </a:solidFill>
                  </a:tcPr>
                </a:tc>
                <a:tc>
                  <a:txBody>
                    <a:bodyPr/>
                    <a:lstStyle/>
                    <a:p>
                      <a:r>
                        <a:rPr sz="1250" b="0" i="0">
                          <a:solidFill>
                            <a:srgbClr val="222A33"/>
                          </a:solidFill>
                          <a:latin typeface="Calibri"/>
                        </a:rPr>
                        <a:t>Integrity, authentication, non-repudiation</a:t>
                      </a:r>
                    </a:p>
                  </a:txBody>
                  <a:tcPr marL="73152" marR="73152" marT="27432" marB="27432" anchor="ctr">
                    <a:solidFill>
                      <a:srgbClr val="FFFFFF"/>
                    </a:solidFill>
                  </a:tcPr>
                </a:tc>
                <a:tc>
                  <a:txBody>
                    <a:bodyPr/>
                    <a:lstStyle/>
                    <a:p>
                      <a:r>
                        <a:rPr sz="1250" b="0" i="0">
                          <a:solidFill>
                            <a:srgbClr val="222A33"/>
                          </a:solidFill>
                          <a:latin typeface="Calibri"/>
                        </a:rPr>
                        <a:t>A private key, and trust in the public key</a:t>
                      </a:r>
                    </a:p>
                  </a:txBody>
                  <a:tcPr marL="73152" marR="73152" marT="27432" marB="27432" anchor="ctr">
                    <a:solidFill>
                      <a:srgbClr val="FFFFFF"/>
                    </a:solidFill>
                  </a:tcPr>
                </a:tc>
                <a:tc>
                  <a:txBody>
                    <a:bodyPr/>
                    <a:lstStyle/>
                    <a:p>
                      <a:r>
                        <a:rPr sz="1250" b="0" i="0">
                          <a:solidFill>
                            <a:srgbClr val="222A33"/>
                          </a:solidFill>
                          <a:latin typeface="Calibri"/>
                        </a:rPr>
                        <a:t>RSA, ECDSA, Ed25519</a:t>
                      </a:r>
                    </a:p>
                  </a:txBody>
                  <a:tcPr marL="73152" marR="73152" marT="27432" marB="27432" anchor="ctr">
                    <a:solidFill>
                      <a:srgbClr val="FFFFFF"/>
                    </a:solidFill>
                  </a:tcPr>
                </a:tc>
                <a:extLst>
                  <a:ext uri="{0D108BD9-81ED-4DB2-BD59-A6C34878D82A}">
                    <a16:rowId xmlns:a16="http://schemas.microsoft.com/office/drawing/2014/main" val="10005"/>
                  </a:ext>
                </a:extLst>
              </a:tr>
              <a:tr h="561708">
                <a:tc>
                  <a:txBody>
                    <a:bodyPr/>
                    <a:lstStyle/>
                    <a:p>
                      <a:r>
                        <a:rPr sz="1250" b="0" i="0">
                          <a:solidFill>
                            <a:srgbClr val="222A33"/>
                          </a:solidFill>
                          <a:latin typeface="Calibri"/>
                        </a:rPr>
                        <a:t>Certificate and PKI</a:t>
                      </a:r>
                    </a:p>
                  </a:txBody>
                  <a:tcPr marL="73152" marR="73152" marT="27432" marB="27432" anchor="ctr">
                    <a:solidFill>
                      <a:srgbClr val="F2F4F7"/>
                    </a:solidFill>
                  </a:tcPr>
                </a:tc>
                <a:tc>
                  <a:txBody>
                    <a:bodyPr/>
                    <a:lstStyle/>
                    <a:p>
                      <a:r>
                        <a:rPr sz="1250" b="0" i="0">
                          <a:solidFill>
                            <a:srgbClr val="222A33"/>
                          </a:solidFill>
                          <a:latin typeface="Calibri"/>
                        </a:rPr>
                        <a:t>Trust that a public key belongs to a named identity</a:t>
                      </a:r>
                    </a:p>
                  </a:txBody>
                  <a:tcPr marL="73152" marR="73152" marT="27432" marB="27432" anchor="ctr">
                    <a:solidFill>
                      <a:srgbClr val="F2F4F7"/>
                    </a:solidFill>
                  </a:tcPr>
                </a:tc>
                <a:tc>
                  <a:txBody>
                    <a:bodyPr/>
                    <a:lstStyle/>
                    <a:p>
                      <a:r>
                        <a:rPr sz="1250" b="0" i="0">
                          <a:solidFill>
                            <a:srgbClr val="222A33"/>
                          </a:solidFill>
                          <a:latin typeface="Calibri"/>
                        </a:rPr>
                        <a:t>A trusted CA and a chain of trust</a:t>
                      </a:r>
                    </a:p>
                  </a:txBody>
                  <a:tcPr marL="73152" marR="73152" marT="27432" marB="27432" anchor="ctr">
                    <a:solidFill>
                      <a:srgbClr val="F2F4F7"/>
                    </a:solidFill>
                  </a:tcPr>
                </a:tc>
                <a:tc>
                  <a:txBody>
                    <a:bodyPr/>
                    <a:lstStyle/>
                    <a:p>
                      <a:r>
                        <a:rPr sz="1250" b="0" i="0">
                          <a:solidFill>
                            <a:srgbClr val="222A33"/>
                          </a:solidFill>
                          <a:latin typeface="Calibri"/>
                        </a:rPr>
                        <a:t>X.509, CA hierarchies</a:t>
                      </a:r>
                    </a:p>
                  </a:txBody>
                  <a:tcPr marL="73152" marR="73152" marT="27432" marB="27432" anchor="ctr">
                    <a:solidFill>
                      <a:srgbClr val="F2F4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Cisco PKI Overview: Trustpoint and Enrolment</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OPTIONAL: CISCO</a:t>
            </a:r>
          </a:p>
        </p:txBody>
      </p:sp>
      <p:sp>
        <p:nvSpPr>
          <p:cNvPr id="4" name="TextBox 3"/>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400" b="0" i="0">
                <a:solidFill>
                  <a:srgbClr val="222A33"/>
                </a:solidFill>
                <a:latin typeface="Calibri"/>
              </a:rPr>
              <a:t>A Cisco router that needs a certificate (for IPsec or SSL VPN authentication) first generates its own RSA key pair, then defines a trustpoint: a named object describing which CA to use, how to enrol, and which key to use.</a:t>
            </a:r>
          </a:p>
          <a:p>
            <a:pPr marL="201168" indent="-201168">
              <a:spcAft>
                <a:spcPts val="1100"/>
              </a:spcAft>
              <a:buFont typeface="Arial"/>
              <a:buChar char="–"/>
            </a:pPr>
            <a:r>
              <a:rPr sz="1400" b="0" i="0">
                <a:solidFill>
                  <a:srgbClr val="222A33"/>
                </a:solidFill>
                <a:latin typeface="Calibri"/>
              </a:rPr>
              <a:t>Authenticate: the router downloads the CA's own certificate and checks its fingerprint, ideally against a value obtained out of band. This is the step that establishes the root of trust.</a:t>
            </a:r>
          </a:p>
          <a:p>
            <a:pPr marL="201168" indent="-201168">
              <a:spcAft>
                <a:spcPts val="1100"/>
              </a:spcAft>
              <a:buFont typeface="Arial"/>
              <a:buChar char="–"/>
            </a:pPr>
            <a:r>
              <a:rPr sz="1400" b="0" i="0">
                <a:solidFill>
                  <a:srgbClr val="222A33"/>
                </a:solidFill>
                <a:latin typeface="Calibri"/>
              </a:rPr>
              <a:t>Enrol: the router sends a certificate request containing its public key and identity, and the CA returns the router's signed certificate.</a:t>
            </a:r>
          </a:p>
          <a:p>
            <a:pPr marL="201168" indent="-201168">
              <a:spcAft>
                <a:spcPts val="1100"/>
              </a:spcAft>
              <a:buFont typeface="Arial"/>
              <a:buChar char="–"/>
            </a:pPr>
            <a:r>
              <a:rPr sz="1400" b="0" i="0">
                <a:solidFill>
                  <a:srgbClr val="222A33"/>
                </a:solidFill>
                <a:latin typeface="Calibri"/>
              </a:rPr>
              <a:t>Once enrolled, VPN peers can authenticate with certificates instead of pre-shared keys, replacing the PSK mechanism from the Week 9 IPsec framework with the stronger, scalable option.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sz="2400" b="1" i="0">
                <a:solidFill>
                  <a:srgbClr val="FFFFFF"/>
                </a:solidFill>
                <a:latin typeface="Cambria"/>
              </a:rPr>
              <a:t>Cisco PKI Configuration Template</a:t>
            </a:r>
          </a:p>
        </p:txBody>
      </p:sp>
      <p:sp>
        <p:nvSpPr>
          <p:cNvPr id="3" name="TextBox 2"/>
          <p:cNvSpPr txBox="1"/>
          <p:nvPr/>
        </p:nvSpPr>
        <p:spPr>
          <a:xfrm>
            <a:off x="548640" y="365760"/>
            <a:ext cx="7315200" cy="365760"/>
          </a:xfrm>
          <a:prstGeom prst="rect">
            <a:avLst/>
          </a:prstGeom>
          <a:noFill/>
        </p:spPr>
        <p:txBody>
          <a:bodyPr wrap="none">
            <a:spAutoFit/>
          </a:bodyPr>
          <a:lstStyle/>
          <a:p>
            <a:r>
              <a:rPr sz="1300" b="1" i="0">
                <a:solidFill>
                  <a:srgbClr val="E97132"/>
                </a:solidFill>
                <a:latin typeface="Calibri"/>
              </a:rPr>
              <a:t>OPTIONAL: CISCO</a:t>
            </a:r>
          </a:p>
        </p:txBody>
      </p:sp>
      <p:sp>
        <p:nvSpPr>
          <p:cNvPr id="4" name="Rounded Rectangle 3"/>
          <p:cNvSpPr/>
          <p:nvPr/>
        </p:nvSpPr>
        <p:spPr>
          <a:xfrm>
            <a:off x="548640" y="1828800"/>
            <a:ext cx="11064240" cy="3017520"/>
          </a:xfrm>
          <a:prstGeom prst="roundRect">
            <a:avLst/>
          </a:prstGeom>
          <a:solidFill>
            <a:srgbClr val="F2F4F7"/>
          </a:solidFill>
          <a:ln w="12700">
            <a:solidFill>
              <a:srgbClr val="6B7682"/>
            </a:solidFill>
          </a:ln>
          <a:effectLst/>
        </p:spPr>
        <p:style>
          <a:lnRef idx="1">
            <a:schemeClr val="accent1"/>
          </a:lnRef>
          <a:fillRef idx="3">
            <a:schemeClr val="accent1"/>
          </a:fillRef>
          <a:effectRef idx="2">
            <a:schemeClr val="accent1"/>
          </a:effectRef>
          <a:fontRef idx="minor">
            <a:schemeClr val="lt1"/>
          </a:fontRef>
        </p:style>
        <p:txBody>
          <a:bodyPr wrap="square" lIns="182880" tIns="109728" rIns="73152" bIns="36576" rtlCol="0" anchor="ctr"/>
          <a:lstStyle/>
          <a:p>
            <a:pPr algn="l">
              <a:spcAft>
                <a:spcPts val="100"/>
              </a:spcAft>
            </a:pPr>
            <a:r>
              <a:rPr sz="1300" b="0" i="0">
                <a:solidFill>
                  <a:srgbClr val="222A33"/>
                </a:solidFill>
                <a:latin typeface="Consolas"/>
              </a:rPr>
              <a:t>ip domain-name lab.local</a:t>
            </a:r>
          </a:p>
          <a:p>
            <a:pPr algn="l">
              <a:spcAft>
                <a:spcPts val="100"/>
              </a:spcAft>
            </a:pPr>
            <a:r>
              <a:rPr sz="1300" b="0" i="0">
                <a:solidFill>
                  <a:srgbClr val="222A33"/>
                </a:solidFill>
                <a:latin typeface="Consolas"/>
              </a:rPr>
              <a:t>crypto key generate rsa general-keys label RTR-KEYS modulus 2048</a:t>
            </a:r>
          </a:p>
          <a:p>
            <a:pPr algn="l">
              <a:spcAft>
                <a:spcPts val="100"/>
              </a:spcAft>
            </a:pPr>
            <a:r>
              <a:rPr sz="1300" b="0" i="0">
                <a:solidFill>
                  <a:srgbClr val="222A33"/>
                </a:solidFill>
                <a:latin typeface="Consolas"/>
              </a:rPr>
              <a:t>crypto pki trustpoint CORP-CA</a:t>
            </a:r>
          </a:p>
          <a:p>
            <a:pPr algn="l">
              <a:spcAft>
                <a:spcPts val="100"/>
              </a:spcAft>
            </a:pPr>
            <a:r>
              <a:rPr sz="1300" b="0" i="0">
                <a:solidFill>
                  <a:srgbClr val="222A33"/>
                </a:solidFill>
                <a:latin typeface="Consolas"/>
              </a:rPr>
              <a:t> enrollment url http://192.168.1.50:80</a:t>
            </a:r>
          </a:p>
          <a:p>
            <a:pPr algn="l">
              <a:spcAft>
                <a:spcPts val="100"/>
              </a:spcAft>
            </a:pPr>
            <a:r>
              <a:rPr sz="1300" b="0" i="0">
                <a:solidFill>
                  <a:srgbClr val="222A33"/>
                </a:solidFill>
                <a:latin typeface="Consolas"/>
              </a:rPr>
              <a:t> subject-name CN=R1.lab.local</a:t>
            </a:r>
          </a:p>
          <a:p>
            <a:pPr algn="l">
              <a:spcAft>
                <a:spcPts val="100"/>
              </a:spcAft>
            </a:pPr>
            <a:r>
              <a:rPr sz="1300" b="0" i="0">
                <a:solidFill>
                  <a:srgbClr val="222A33"/>
                </a:solidFill>
                <a:latin typeface="Consolas"/>
              </a:rPr>
              <a:t> rsakeypair RTR-KEYS</a:t>
            </a:r>
          </a:p>
          <a:p>
            <a:pPr algn="l">
              <a:spcAft>
                <a:spcPts val="100"/>
              </a:spcAft>
            </a:pPr>
            <a:r>
              <a:rPr sz="1300" b="0" i="0">
                <a:solidFill>
                  <a:srgbClr val="222A33"/>
                </a:solidFill>
                <a:latin typeface="Consolas"/>
              </a:rPr>
              <a:t> revocation-check none</a:t>
            </a:r>
          </a:p>
          <a:p>
            <a:pPr algn="l">
              <a:spcAft>
                <a:spcPts val="100"/>
              </a:spcAft>
            </a:pPr>
            <a:r>
              <a:rPr sz="1300" b="0" i="0">
                <a:solidFill>
                  <a:srgbClr val="222A33"/>
                </a:solidFill>
                <a:latin typeface="Consolas"/>
              </a:rPr>
              <a:t>crypto pki authenticate CORP-CA</a:t>
            </a:r>
          </a:p>
          <a:p>
            <a:pPr algn="l">
              <a:spcAft>
                <a:spcPts val="100"/>
              </a:spcAft>
            </a:pPr>
            <a:r>
              <a:rPr sz="1300" b="0" i="0">
                <a:solidFill>
                  <a:srgbClr val="222A33"/>
                </a:solidFill>
                <a:latin typeface="Consolas"/>
              </a:rPr>
              <a:t>crypto pki enroll CORP-CA</a:t>
            </a:r>
          </a:p>
          <a:p>
            <a:pPr algn="l">
              <a:spcAft>
                <a:spcPts val="100"/>
              </a:spcAft>
            </a:pPr>
            <a:r>
              <a:rPr sz="1300" b="0" i="0">
                <a:solidFill>
                  <a:srgbClr val="222A33"/>
                </a:solidFill>
                <a:latin typeface="Consolas"/>
              </a:rPr>
              <a:t>show crypto pki certificates</a:t>
            </a:r>
          </a:p>
        </p:txBody>
      </p:sp>
      <p:sp>
        <p:nvSpPr>
          <p:cNvPr id="5" name="TextBox 4"/>
          <p:cNvSpPr txBox="1"/>
          <p:nvPr/>
        </p:nvSpPr>
        <p:spPr>
          <a:xfrm>
            <a:off x="731520" y="4937760"/>
            <a:ext cx="10698480" cy="1005840"/>
          </a:xfrm>
          <a:prstGeom prst="rect">
            <a:avLst/>
          </a:prstGeom>
          <a:noFill/>
        </p:spPr>
        <p:txBody>
          <a:bodyPr wrap="square">
            <a:spAutoFit/>
          </a:bodyPr>
          <a:lstStyle/>
          <a:p>
            <a:pPr marL="201168" indent="-201168">
              <a:spcAft>
                <a:spcPts val="1100"/>
              </a:spcAft>
              <a:buFont typeface="Arial"/>
              <a:buChar char="–"/>
            </a:pPr>
            <a:r>
              <a:rPr sz="1300" b="0" i="0">
                <a:solidFill>
                  <a:srgbClr val="222A33"/>
                </a:solidFill>
                <a:latin typeface="Calibri"/>
              </a:rPr>
              <a:t>Order matters: key pair first, then the trustpoint, then authenticate (fetch and verify the CA certificate), then enrol (get the router's own certificate).</a:t>
            </a:r>
          </a:p>
          <a:p>
            <a:pPr marL="201168" indent="-201168">
              <a:spcAft>
                <a:spcPts val="1100"/>
              </a:spcAft>
              <a:buFont typeface="Arial"/>
              <a:buChar char="–"/>
            </a:pPr>
            <a:r>
              <a:rPr sz="1300" b="0" i="0">
                <a:solidFill>
                  <a:srgbClr val="222A33"/>
                </a:solidFill>
                <a:latin typeface="Calibri"/>
              </a:rPr>
              <a:t>revocation-check none suits a lab only. In production, leave revocation checking on, so a revoked certificate is actually rejected.</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Summary</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A hash gives a fixed-size fingerprint, but with no secret anyone can recompute it. A MAC adds a shared key for integrity and authentication. A digital signature uses a key pair to add non-repudiation.</a:t>
            </a:r>
          </a:p>
          <a:p>
            <a:pPr marL="201168" indent="-201168">
              <a:spcAft>
                <a:spcPts val="1100"/>
              </a:spcAft>
              <a:buFont typeface="Arial"/>
              <a:buChar char="–"/>
            </a:pPr>
            <a:r>
              <a:rPr sz="1500" b="0" i="0">
                <a:solidFill>
                  <a:srgbClr val="222A33"/>
                </a:solidFill>
                <a:latin typeface="Calibri"/>
              </a:rPr>
              <a:t>Signatures prove possession of a private key, not whose key it is. Certificates bind an identity to a public key, signed by a CA.</a:t>
            </a:r>
          </a:p>
          <a:p>
            <a:pPr marL="201168" indent="-201168">
              <a:spcAft>
                <a:spcPts val="1100"/>
              </a:spcAft>
              <a:buFont typeface="Arial"/>
              <a:buChar char="–"/>
            </a:pPr>
            <a:r>
              <a:rPr sz="1500" b="0" i="0">
                <a:solidFill>
                  <a:srgbClr val="222A33"/>
                </a:solidFill>
                <a:latin typeface="Calibri"/>
              </a:rPr>
              <a:t>PKI scales that trust through chains of trust from root stores, with expiry and revocation to recover from mistakes. It is only as strong as the CAs it trusts, as DigiNotar showed.</a:t>
            </a:r>
          </a:p>
          <a:p>
            <a:pPr marL="201168" indent="-201168">
              <a:spcAft>
                <a:spcPts val="1100"/>
              </a:spcAft>
              <a:buFont typeface="Arial"/>
              <a:buChar char="–"/>
            </a:pPr>
            <a:r>
              <a:rPr sz="1500" b="0" i="0">
                <a:solidFill>
                  <a:srgbClr val="222A33"/>
                </a:solidFill>
                <a:latin typeface="Calibri"/>
              </a:rPr>
              <a:t>A TLS handshake uses every primitive from both decks: key agreement, a certificate, a signature, a MAC, and finally symmetric encryption.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Coming Up</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500" b="0" i="0">
                <a:solidFill>
                  <a:srgbClr val="222A33"/>
                </a:solidFill>
                <a:latin typeface="Calibri"/>
              </a:rPr>
              <a:t>Tutorial worksheets for both cryptography decks: study-notes questions for the mid-semester test and final exam.</a:t>
            </a:r>
          </a:p>
          <a:p>
            <a:pPr marL="201168" indent="-201168">
              <a:spcAft>
                <a:spcPts val="1100"/>
              </a:spcAft>
              <a:buFont typeface="Arial"/>
              <a:buChar char="–"/>
            </a:pPr>
            <a:r>
              <a:rPr sz="1500" b="0" i="0">
                <a:solidFill>
                  <a:srgbClr val="222A33"/>
                </a:solidFill>
                <a:latin typeface="Calibri"/>
              </a:rPr>
              <a:t>A hands-on practical to follow, built around hashing a file, tampering with it, and verifying a signature, so you see these primitives work rather than just read about them.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i="0">
                <a:solidFill>
                  <a:srgbClr val="FFFFFF"/>
                </a:solidFill>
                <a:latin typeface="Cambria"/>
              </a:rPr>
              <a:t>References</a:t>
            </a:r>
          </a:p>
        </p:txBody>
      </p:sp>
      <p:sp>
        <p:nvSpPr>
          <p:cNvPr id="3" name="TextBox 2"/>
          <p:cNvSpPr txBox="1"/>
          <p:nvPr/>
        </p:nvSpPr>
        <p:spPr>
          <a:xfrm>
            <a:off x="731520" y="1828800"/>
            <a:ext cx="10698480" cy="4023360"/>
          </a:xfrm>
          <a:prstGeom prst="rect">
            <a:avLst/>
          </a:prstGeom>
          <a:noFill/>
        </p:spPr>
        <p:txBody>
          <a:bodyPr wrap="square">
            <a:spAutoFit/>
          </a:bodyPr>
          <a:lstStyle/>
          <a:p>
            <a:pPr marL="201168" indent="-201168">
              <a:spcAft>
                <a:spcPts val="1100"/>
              </a:spcAft>
              <a:buFont typeface="Arial"/>
              <a:buChar char="–"/>
            </a:pPr>
            <a:r>
              <a:rPr sz="1600" b="0" i="0">
                <a:solidFill>
                  <a:srgbClr val="222A33"/>
                </a:solidFill>
                <a:latin typeface="Calibri"/>
              </a:rPr>
              <a:t>Stallings, Cryptography and Network Security: Principles and Practice, 8th Ed., Pearson.</a:t>
            </a:r>
          </a:p>
          <a:p>
            <a:pPr marL="201168" indent="-201168">
              <a:spcAft>
                <a:spcPts val="1100"/>
              </a:spcAft>
              <a:buFont typeface="Arial"/>
              <a:buChar char="–"/>
            </a:pPr>
            <a:r>
              <a:rPr sz="1600" b="0" i="0">
                <a:solidFill>
                  <a:srgbClr val="222A33"/>
                </a:solidFill>
                <a:latin typeface="Calibri"/>
              </a:rPr>
              <a:t>Santos and Stuppi, CCNA Security 210-260 Official Cert Guide, Cisco Press.</a:t>
            </a:r>
          </a:p>
          <a:p>
            <a:pPr marL="201168" indent="-201168">
              <a:spcAft>
                <a:spcPts val="1100"/>
              </a:spcAft>
              <a:buFont typeface="Arial"/>
              <a:buChar char="–"/>
            </a:pPr>
            <a:r>
              <a:rPr sz="1600" b="0" i="0">
                <a:solidFill>
                  <a:srgbClr val="222A33"/>
                </a:solidFill>
                <a:latin typeface="Calibri"/>
              </a:rPr>
              <a:t>NIST FIPS 180-4, Secure Hash Standard, and FIPS 202, SHA-3 Standard.</a:t>
            </a:r>
          </a:p>
          <a:p>
            <a:pPr marL="201168" indent="-201168">
              <a:spcAft>
                <a:spcPts val="1100"/>
              </a:spcAft>
              <a:buFont typeface="Arial"/>
              <a:buChar char="–"/>
            </a:pPr>
            <a:r>
              <a:rPr sz="1600" b="0" i="0">
                <a:solidFill>
                  <a:srgbClr val="222A33"/>
                </a:solidFill>
                <a:latin typeface="Calibri"/>
              </a:rPr>
              <a:t>NIST FIPS 186-5, Digital Signature Standard.</a:t>
            </a:r>
          </a:p>
          <a:p>
            <a:pPr marL="201168" indent="-201168">
              <a:spcAft>
                <a:spcPts val="1100"/>
              </a:spcAft>
              <a:buFont typeface="Arial"/>
              <a:buChar char="–"/>
            </a:pPr>
            <a:r>
              <a:rPr sz="1600" b="0" i="0">
                <a:solidFill>
                  <a:srgbClr val="222A33"/>
                </a:solidFill>
                <a:latin typeface="Calibri"/>
              </a:rPr>
              <a:t>IETF RFC 2104, HMAC; RFC 5280, Internet X.509 PKI Certificate and CRL Profile; RFC 8446, TLS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337832b-e06e-4e87-85f5-ecfde68f9c8e}" enabled="1" method="Standard" siteId="{44e3cf94-19c9-4e32-96c3-14f5bf01391a}" contentBits="1" removed="0"/>
</clbl:labelList>
</file>

<file path=docProps/app.xml><?xml version="1.0" encoding="utf-8"?>
<Properties xmlns="http://schemas.openxmlformats.org/officeDocument/2006/extended-properties" xmlns:vt="http://schemas.openxmlformats.org/officeDocument/2006/docPropsVTypes">
  <TotalTime>552</TotalTime>
  <Words>4962</Words>
  <Application>Microsoft Office PowerPoint</Application>
  <PresentationFormat>Widescreen</PresentationFormat>
  <Paragraphs>474</Paragraphs>
  <Slides>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Aptos</vt:lpstr>
      <vt:lpstr>Aptos Display</vt:lpstr>
      <vt:lpstr>Arial</vt:lpstr>
      <vt:lpstr>Calibri</vt:lpstr>
      <vt:lpstr>Cambria</vt:lpstr>
      <vt:lpstr>Consolas</vt:lpstr>
      <vt:lpstr>Office Theme</vt:lpstr>
      <vt:lpstr>PowerPoint Presentation</vt:lpstr>
      <vt:lpstr>Today's Agenda</vt:lpstr>
      <vt:lpstr>Learning Outcomes for Today</vt:lpstr>
      <vt:lpstr>Hash Functions</vt:lpstr>
      <vt:lpstr>What a Hash Function Is</vt:lpstr>
      <vt:lpstr>The Avalanche Effect: A Worked Example</vt:lpstr>
      <vt:lpstr>Hash Algorithms: MD5, SHA-1, SHA-2, SHA-3</vt:lpstr>
      <vt:lpstr>Attacks on Hashes</vt:lpstr>
      <vt:lpstr>Hash Use Cases</vt:lpstr>
      <vt:lpstr>Hash Functions: Strengths, Weaknesses, Use Cases</vt:lpstr>
      <vt:lpstr>MACs and HMAC</vt:lpstr>
      <vt:lpstr>Why a Hash Alone Is Not Enough</vt:lpstr>
      <vt:lpstr>MAC Concept and HMAC</vt:lpstr>
      <vt:lpstr>MACs: Strengths, Weaknesses, Use Cases</vt:lpstr>
      <vt:lpstr>Digital Signatures</vt:lpstr>
      <vt:lpstr>How Signing and Verifying Work</vt:lpstr>
      <vt:lpstr>What a Signature Guarantees</vt:lpstr>
      <vt:lpstr>Signature Algorithms: RSA, DSA, ECDSA, EdDSA</vt:lpstr>
      <vt:lpstr>Why Non-Repudiation Needs Asymmetric Keys</vt:lpstr>
      <vt:lpstr>Digital Signatures: Strengths, Weaknesses, Use Cases</vt:lpstr>
      <vt:lpstr>Hash vs MAC vs Digital Signature</vt:lpstr>
      <vt:lpstr>The Hook: But Whose Public Key Is This?</vt:lpstr>
      <vt:lpstr>Digital Certificates</vt:lpstr>
      <vt:lpstr>The Man-in-the-Middle Problem</vt:lpstr>
      <vt:lpstr>What a Certificate Is: X.509</vt:lpstr>
      <vt:lpstr>Certificate Anatomy</vt:lpstr>
      <vt:lpstr>How a Certificate Is Verified</vt:lpstr>
      <vt:lpstr>Certificate Types: DV, OV, EV, Self-Signed</vt:lpstr>
      <vt:lpstr>Public Key Infrastructure</vt:lpstr>
      <vt:lpstr>PKI Components</vt:lpstr>
      <vt:lpstr>Chain of Trust: Root, Intermediate, Leaf</vt:lpstr>
      <vt:lpstr>Root Stores: Trust Is a Policy Decision</vt:lpstr>
      <vt:lpstr>Revocation: CRL vs OCSP</vt:lpstr>
      <vt:lpstr>Certificate Lifecycle</vt:lpstr>
      <vt:lpstr>Case Study: DigiNotar, 2011</vt:lpstr>
      <vt:lpstr>PKI: Strengths, Weaknesses, Use Cases</vt:lpstr>
      <vt:lpstr>Putting It Together</vt:lpstr>
      <vt:lpstr>A TLS 1.3 Handshake, Primitive by Primitive</vt:lpstr>
      <vt:lpstr>Which Primitive Does What</vt:lpstr>
      <vt:lpstr>Cisco PKI Overview: Trustpoint and Enrolment</vt:lpstr>
      <vt:lpstr>Cisco PKI Configuration Template</vt:lpstr>
      <vt:lpstr>Summary</vt:lpstr>
      <vt:lpstr>Coming Up</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Chathurangika Kahandawaarachchi</dc:creator>
  <cp:lastModifiedBy>Harinda Fernando</cp:lastModifiedBy>
  <cp:revision>202</cp:revision>
  <dcterms:created xsi:type="dcterms:W3CDTF">2026-02-25T14:32:17Z</dcterms:created>
  <dcterms:modified xsi:type="dcterms:W3CDTF">2026-10-07T12:26:16Z</dcterms:modified>
</cp:coreProperties>
</file>